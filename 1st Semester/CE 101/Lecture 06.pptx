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handoutMasterIdLst>
    <p:handoutMasterId r:id="rId29"/>
  </p:handoutMasterIdLst>
  <p:sldIdLst>
    <p:sldId id="517" r:id="rId3"/>
    <p:sldId id="488" r:id="rId4"/>
    <p:sldId id="489" r:id="rId5"/>
    <p:sldId id="490" r:id="rId6"/>
    <p:sldId id="491" r:id="rId7"/>
    <p:sldId id="505" r:id="rId8"/>
    <p:sldId id="506" r:id="rId9"/>
    <p:sldId id="492" r:id="rId10"/>
    <p:sldId id="493" r:id="rId11"/>
    <p:sldId id="495" r:id="rId12"/>
    <p:sldId id="510" r:id="rId13"/>
    <p:sldId id="494" r:id="rId14"/>
    <p:sldId id="496" r:id="rId15"/>
    <p:sldId id="516" r:id="rId16"/>
    <p:sldId id="498" r:id="rId17"/>
    <p:sldId id="499" r:id="rId18"/>
    <p:sldId id="508" r:id="rId19"/>
    <p:sldId id="509" r:id="rId20"/>
    <p:sldId id="511" r:id="rId21"/>
    <p:sldId id="513" r:id="rId22"/>
    <p:sldId id="514" r:id="rId23"/>
    <p:sldId id="515" r:id="rId24"/>
    <p:sldId id="512" r:id="rId25"/>
    <p:sldId id="501" r:id="rId26"/>
    <p:sldId id="518" r:id="rId2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5439" autoAdjust="0"/>
  </p:normalViewPr>
  <p:slideViewPr>
    <p:cSldViewPr>
      <p:cViewPr varScale="1">
        <p:scale>
          <a:sx n="83" d="100"/>
          <a:sy n="83" d="100"/>
        </p:scale>
        <p:origin x="145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/>
              <a:t>ME 111 Projection of Points lecture 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CE1EF4C-8853-491B-95EC-94BE6B743CBB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S Senthilvelan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39B3A54-B537-4AFF-B1A2-4AA249F25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050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/>
              <a:t>ME 111 Projection of Points lecture 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69CE3E0-C80E-4611-8B66-4302BC89F1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S Senthilvelan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4B2127C-C721-4FAC-9BE7-9897A9F4DA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2374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Today we will discuss about the Modeling 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54EA00-3FE7-45BB-8861-608A115B0E7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207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DB1EC8-DED6-4434-9958-20786FCCD45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917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889FF8-08A2-4672-9B01-631AA67B438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8357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03E7CD-51B9-47D7-9265-1563060B2F0A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6346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5A16D6-AAA1-45FC-9C2F-E8A44F24DC3D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6280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A9E35A-DED4-4FA8-BB29-244B1780440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124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E97592-F51B-4D46-878E-48DAEC3A0F92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205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0AFFF5-E6F1-4692-A034-A1D1EF21915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169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5519E5-B083-4AB7-8A56-86EA344D1D7C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911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A6F753-E94E-4506-AC8A-E0FF48BEFE96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088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86D020-848F-483D-B818-338BB437134A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74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F47E64-3EE4-4A5E-834A-9AAFE578F59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 September 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CE101 Lec2: Conics and Curves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237F3A-BB05-4587-9A37-8B5E8F8C248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00119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77054"/>
          </a:xfrm>
        </p:spPr>
        <p:txBody>
          <a:bodyPr>
            <a:spAutoFit/>
          </a:bodyPr>
          <a:lstStyle>
            <a:lvl1pPr algn="ctr">
              <a:defRPr sz="2800" b="1" u="sng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>
          <a:xfrm>
            <a:off x="228600" y="228600"/>
            <a:ext cx="1828800" cy="365125"/>
          </a:xfrm>
        </p:spPr>
        <p:txBody>
          <a:bodyPr anchor="ctr" anchorCtr="0"/>
          <a:lstStyle>
            <a:lvl1pPr algn="ctr">
              <a:defRPr sz="2400" b="1" i="1">
                <a:solidFill>
                  <a:schemeClr val="tx1"/>
                </a:solidFill>
                <a:latin typeface="Monotype Corsiva" pitchFamily="66" charset="0"/>
                <a:cs typeface="Times New Roman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2F53F-7AE5-4973-B54E-2DB46515C0B3}" type="datetime3">
              <a:rPr kumimoji="0" lang="en-US" sz="2400" b="1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itchFamily="66" charset="0"/>
                <a:ea typeface="+mn-ea"/>
                <a:cs typeface="Times New Roman" pitchFamily="18" charset="0"/>
              </a:rPr>
              <a:t>1 September 2023</a:t>
            </a:fld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otype Corsiva" pitchFamily="66" charset="0"/>
              <a:ea typeface="+mn-ea"/>
              <a:cs typeface="Times New Roman" pitchFamily="18" charset="0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1981200" y="228600"/>
            <a:ext cx="5562600" cy="369888"/>
          </a:xfrm>
        </p:spPr>
        <p:txBody>
          <a:bodyPr wrap="square" anchor="ctr" anchorCtr="0">
            <a:sp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2400" b="1" dirty="0" smtClean="0">
                <a:solidFill>
                  <a:schemeClr val="tx1"/>
                </a:solidFill>
                <a:latin typeface="Monotype Corsiva" pitchFamily="66" charset="0"/>
                <a:cs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itchFamily="66" charset="0"/>
                <a:ea typeface="+mn-ea"/>
                <a:cs typeface="Times New Roman" pitchFamily="18" charset="0"/>
              </a:rPr>
              <a:t>CE101 Lec2: Conics and Curves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otype Corsiva" pitchFamily="66" charset="0"/>
              <a:ea typeface="+mn-ea"/>
              <a:cs typeface="Times New Roman" pitchFamily="18" charset="0"/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7772400" y="244475"/>
            <a:ext cx="914400" cy="365125"/>
          </a:xfrm>
        </p:spPr>
        <p:txBody>
          <a:bodyPr anchor="ctr" anchorCtr="0"/>
          <a:lstStyle>
            <a:lvl1pPr algn="ctr">
              <a:defRPr sz="2400" b="1">
                <a:solidFill>
                  <a:schemeClr val="tx1"/>
                </a:solidFill>
                <a:latin typeface="Monotype Corsiva" pitchFamily="66" charset="0"/>
                <a:cs typeface="Times New Roman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F63554-3180-4DAB-8FBB-F3364C1A10A9}" type="slidenum"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itchFamily="66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otype Corsiva" pitchFamily="66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046714"/>
          </a:xfrm>
        </p:spPr>
        <p:txBody>
          <a:bodyPr>
            <a:spAutoFit/>
          </a:bodyPr>
          <a:lstStyle>
            <a:lvl1pPr algn="just">
              <a:spcBef>
                <a:spcPts val="600"/>
              </a:spcBef>
              <a:spcAft>
                <a:spcPts val="300"/>
              </a:spcAft>
              <a:buClrTx/>
              <a:buSzPct val="80000"/>
              <a:defRPr sz="2400">
                <a:latin typeface="Times New Roman" pitchFamily="18" charset="0"/>
                <a:cs typeface="Times New Roman" pitchFamily="18" charset="0"/>
              </a:defRPr>
            </a:lvl1pPr>
            <a:lvl2pPr algn="just">
              <a:spcBef>
                <a:spcPts val="6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v"/>
              <a:defRPr sz="2000" i="0">
                <a:latin typeface="Times New Roman" pitchFamily="18" charset="0"/>
                <a:cs typeface="Times New Roman" pitchFamily="18" charset="0"/>
              </a:defRPr>
            </a:lvl2pPr>
            <a:lvl3pPr algn="just">
              <a:spcBef>
                <a:spcPts val="600"/>
              </a:spcBef>
              <a:spcAft>
                <a:spcPts val="300"/>
              </a:spcAft>
              <a:buClr>
                <a:srgbClr val="7030A0"/>
              </a:buClr>
              <a:buFont typeface="Wingdings" pitchFamily="2" charset="2"/>
              <a:buChar char="§"/>
              <a:defRPr sz="1800">
                <a:latin typeface="Times New Roman" pitchFamily="18" charset="0"/>
                <a:cs typeface="Times New Roman" pitchFamily="18" charset="0"/>
              </a:defRPr>
            </a:lvl3pPr>
            <a:lvl4pPr algn="just">
              <a:spcBef>
                <a:spcPts val="600"/>
              </a:spcBef>
              <a:spcAft>
                <a:spcPts val="300"/>
              </a:spcAft>
              <a:buClrTx/>
              <a:defRPr sz="1600"/>
            </a:lvl4pPr>
            <a:lvl5pPr algn="just">
              <a:spcBef>
                <a:spcPts val="6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Ø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17914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1B06D-4784-4CAA-82F2-A97A05E6B819}" type="datetime3">
              <a:rPr lang="en-US" smtClean="0"/>
              <a:t>1 September 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CE101 Lec2: Conics and Curves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E46E4-BA92-427D-A35F-E0F3BAA969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33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dobe Caslon Pro Bol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New Century Schoolbook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38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638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u="none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0C6FA8-9FD2-4020-9B92-AAD957B8F55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 September 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u="none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CE101 Lec2: Conics and Curves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u="none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25A11F-53B3-45DC-85D0-8C2518F7BDF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639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40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/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Franklin Gothic Medium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72250" y="4733925"/>
            <a:ext cx="1581150" cy="1581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449" y="834747"/>
            <a:ext cx="8763000" cy="3508653"/>
          </a:xfr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CE101</a:t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Drawing</a:t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Lec5: </a:t>
            </a:r>
            <a:r>
              <a:rPr lang="en-IN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Projection of Planes</a:t>
            </a:r>
            <a:r>
              <a:rPr lang="en-US" sz="4000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800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5518404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charset="0"/>
                <a:ea typeface="+mn-ea"/>
                <a:cs typeface="Arial" panose="020B0604020202020204" pitchFamily="34" charset="0"/>
              </a:rPr>
              <a:t>Indian Institute of Technology Guwahati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175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Plane: Two-dimensional geometrical entity</a:t>
            </a:r>
          </a:p>
          <a:p>
            <a:r>
              <a:rPr lang="en-US" dirty="0"/>
              <a:t>For practical purpose, a flat face of an object can be treated as plane</a:t>
            </a:r>
          </a:p>
          <a:p>
            <a:r>
              <a:rPr lang="en-US" b="1" i="1" dirty="0"/>
              <a:t>Lamina</a:t>
            </a:r>
            <a:r>
              <a:rPr lang="en-US" dirty="0"/>
              <a:t>: A plane having limited extent</a:t>
            </a:r>
          </a:p>
          <a:p>
            <a:r>
              <a:rPr lang="en-US" dirty="0"/>
              <a:t>Plane can be located by</a:t>
            </a:r>
          </a:p>
          <a:p>
            <a:pPr lvl="1"/>
            <a:r>
              <a:rPr lang="en-US" dirty="0"/>
              <a:t>Three non-collinear points</a:t>
            </a:r>
          </a:p>
          <a:p>
            <a:pPr lvl="1"/>
            <a:r>
              <a:rPr lang="en-US" dirty="0"/>
              <a:t>A straight line and a point outside it</a:t>
            </a:r>
          </a:p>
          <a:p>
            <a:pPr lvl="1"/>
            <a:r>
              <a:rPr lang="en-US" dirty="0"/>
              <a:t>Two parallel or intersecting lines</a:t>
            </a:r>
          </a:p>
          <a:p>
            <a:pPr lvl="1"/>
            <a:r>
              <a:rPr lang="en-US" dirty="0"/>
              <a:t>Traces of lines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sz="1800" dirty="0"/>
              <a:t>Triangular plane, square plane, rectangle plane, pentagonal plane, hexagonal plane, circular plane, semicircular plane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Positions of 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Plane parallel to an RP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Plane parallel to the HP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Plane parallel to the VP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Plane inclined to one RP and perpendicular to the other RP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Plane is inclined to the HP and perpendicular to the VP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Plane is inclined to the VP and perpendicular to the HP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Plane perpendicular to both the RPs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Plane inclined to both the RPs (Oblique planes)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Used In Projections of Planes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tabLst>
                <a:tab pos="461963" algn="l"/>
              </a:tabLst>
            </a:pPr>
            <a:r>
              <a:rPr lang="en-US" b="1" dirty="0"/>
              <a:t>True Length (TL):</a:t>
            </a:r>
            <a:r>
              <a:rPr lang="en-US" dirty="0"/>
              <a:t> The actual length of a plane is called its </a:t>
            </a:r>
            <a:r>
              <a:rPr lang="en-US" i="1" dirty="0"/>
              <a:t>true length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Inclination with the HP (</a:t>
            </a:r>
            <a:r>
              <a:rPr lang="en-US" b="1" dirty="0" err="1">
                <a:cs typeface="Times New Roman" pitchFamily="18" charset="0"/>
              </a:rPr>
              <a:t>θ</a:t>
            </a:r>
            <a:r>
              <a:rPr lang="en-US" b="1" baseline="-25000" dirty="0" err="1">
                <a:cs typeface="Times New Roman" pitchFamily="18" charset="0"/>
              </a:rPr>
              <a:t>p</a:t>
            </a:r>
            <a:r>
              <a:rPr lang="en-US" b="1" dirty="0"/>
              <a:t>):</a:t>
            </a:r>
            <a:r>
              <a:rPr lang="en-US" dirty="0"/>
              <a:t> It is the true angle that a plane makes with its projection on the HP. It is indicated by </a:t>
            </a:r>
            <a:r>
              <a:rPr lang="en-US" dirty="0" err="1">
                <a:cs typeface="Times New Roman" pitchFamily="18" charset="0"/>
              </a:rPr>
              <a:t>θ</a:t>
            </a:r>
            <a:r>
              <a:rPr lang="en-US" baseline="-25000" dirty="0" err="1">
                <a:cs typeface="Times New Roman" pitchFamily="18" charset="0"/>
              </a:rPr>
              <a:t>p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Inclination with the VP (</a:t>
            </a:r>
            <a:r>
              <a:rPr lang="en-US" b="1" dirty="0" err="1">
                <a:cs typeface="Times New Roman" pitchFamily="18" charset="0"/>
              </a:rPr>
              <a:t>Φ</a:t>
            </a:r>
            <a:r>
              <a:rPr lang="en-US" b="1" baseline="-25000" dirty="0" err="1">
                <a:cs typeface="Times New Roman" pitchFamily="18" charset="0"/>
              </a:rPr>
              <a:t>p</a:t>
            </a:r>
            <a:r>
              <a:rPr lang="en-US" b="1" dirty="0"/>
              <a:t>):</a:t>
            </a:r>
            <a:r>
              <a:rPr lang="en-US" dirty="0"/>
              <a:t> It is the true angle that a plane makes with its projection on the VP. It is indicated by </a:t>
            </a:r>
            <a:r>
              <a:rPr lang="en-US" dirty="0" err="1">
                <a:cs typeface="Times New Roman" pitchFamily="18" charset="0"/>
              </a:rPr>
              <a:t>Φ</a:t>
            </a:r>
            <a:r>
              <a:rPr lang="en-US" baseline="-25000" dirty="0" err="1">
                <a:cs typeface="Times New Roman" pitchFamily="18" charset="0"/>
              </a:rPr>
              <a:t>p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Horizontal Trace (HT):</a:t>
            </a:r>
            <a:r>
              <a:rPr lang="en-US" dirty="0"/>
              <a:t> The real or imaginary line of intersection of a plane with the HP is called the </a:t>
            </a:r>
            <a:r>
              <a:rPr lang="en-US" i="1" dirty="0"/>
              <a:t>horizontal trace </a:t>
            </a:r>
            <a:r>
              <a:rPr lang="en-US" dirty="0"/>
              <a:t>of the plane.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Vertical Trace (VT):</a:t>
            </a:r>
            <a:r>
              <a:rPr lang="en-US" dirty="0"/>
              <a:t> The real or imaginary line of intersection of a </a:t>
            </a:r>
            <a:r>
              <a:rPr lang="en-US"/>
              <a:t>plane with </a:t>
            </a:r>
            <a:r>
              <a:rPr lang="en-US" dirty="0"/>
              <a:t>the VP is called the </a:t>
            </a:r>
            <a:r>
              <a:rPr lang="en-US" i="1" dirty="0"/>
              <a:t>vertical trace </a:t>
            </a:r>
            <a:r>
              <a:rPr lang="en-US" dirty="0"/>
              <a:t>of the plane.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Perpendicular Planes:</a:t>
            </a:r>
            <a:r>
              <a:rPr lang="en-US" dirty="0"/>
              <a:t> The planes perpendicular to one or both the RPs.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Oblique Planes:</a:t>
            </a:r>
            <a:r>
              <a:rPr lang="en-US" dirty="0"/>
              <a:t> Planes inclined to both the RPs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Line View or Edge View:</a:t>
            </a:r>
            <a:r>
              <a:rPr lang="en-US" dirty="0"/>
              <a:t> The view of a plane seen as a 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Plane Parallel to An RP</a:t>
            </a:r>
          </a:p>
        </p:txBody>
      </p:sp>
      <p:grpSp>
        <p:nvGrpSpPr>
          <p:cNvPr id="44" name="Group 110"/>
          <p:cNvGrpSpPr>
            <a:grpSpLocks/>
          </p:cNvGrpSpPr>
          <p:nvPr/>
        </p:nvGrpSpPr>
        <p:grpSpPr bwMode="auto">
          <a:xfrm>
            <a:off x="536575" y="1695440"/>
            <a:ext cx="2587625" cy="2865437"/>
            <a:chOff x="96" y="288"/>
            <a:chExt cx="1891" cy="2094"/>
          </a:xfrm>
        </p:grpSpPr>
        <p:sp>
          <p:nvSpPr>
            <p:cNvPr id="45" name="AutoShape 111"/>
            <p:cNvSpPr>
              <a:spLocks noChangeArrowheads="1"/>
            </p:cNvSpPr>
            <p:nvPr/>
          </p:nvSpPr>
          <p:spPr bwMode="auto">
            <a:xfrm rot="19742203" flipV="1">
              <a:off x="234" y="1380"/>
              <a:ext cx="1753" cy="959"/>
            </a:xfrm>
            <a:prstGeom prst="parallelogram">
              <a:avLst>
                <a:gd name="adj" fmla="val 60551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AutoShape 112"/>
            <p:cNvSpPr>
              <a:spLocks noChangeArrowheads="1"/>
            </p:cNvSpPr>
            <p:nvPr/>
          </p:nvSpPr>
          <p:spPr bwMode="auto">
            <a:xfrm rot="5239215" flipV="1">
              <a:off x="-196" y="580"/>
              <a:ext cx="1577" cy="993"/>
            </a:xfrm>
            <a:prstGeom prst="parallelogram">
              <a:avLst>
                <a:gd name="adj" fmla="val 52606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graphicFrame>
          <p:nvGraphicFramePr>
            <p:cNvPr id="47" name="Object 113"/>
            <p:cNvGraphicFramePr>
              <a:graphicFrameLocks noChangeAspect="1"/>
            </p:cNvGraphicFramePr>
            <p:nvPr/>
          </p:nvGraphicFramePr>
          <p:xfrm>
            <a:off x="96" y="747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" name="CorelDRAW" r:id="rId3" imgW="417960" imgH="505440" progId="">
                    <p:embed/>
                  </p:oleObj>
                </mc:Choice>
                <mc:Fallback>
                  <p:oleObj name="CorelDRAW" r:id="rId3" imgW="417960" imgH="505440" progId="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747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114"/>
            <p:cNvGraphicFramePr>
              <a:graphicFrameLocks noChangeAspect="1"/>
            </p:cNvGraphicFramePr>
            <p:nvPr/>
          </p:nvGraphicFramePr>
          <p:xfrm>
            <a:off x="991" y="2255"/>
            <a:ext cx="27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" name="CorelDRAW" r:id="rId5" imgW="668520" imgH="320400" progId="">
                    <p:embed/>
                  </p:oleObj>
                </mc:Choice>
                <mc:Fallback>
                  <p:oleObj name="CorelDRAW" r:id="rId5" imgW="668520" imgH="320400" progId="">
                    <p:embed/>
                    <p:pic>
                      <p:nvPicPr>
                        <p:cNvPr id="0" name="Object 1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1" y="2255"/>
                          <a:ext cx="27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AutoShape 115"/>
          <p:cNvSpPr>
            <a:spLocks noChangeArrowheads="1"/>
          </p:cNvSpPr>
          <p:nvPr/>
        </p:nvSpPr>
        <p:spPr bwMode="auto">
          <a:xfrm rot="19819119" flipH="1">
            <a:off x="1406525" y="3643313"/>
            <a:ext cx="1189038" cy="422275"/>
          </a:xfrm>
          <a:prstGeom prst="parallelogram">
            <a:avLst>
              <a:gd name="adj" fmla="val 4998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50" name="Group 116"/>
          <p:cNvGrpSpPr>
            <a:grpSpLocks/>
          </p:cNvGrpSpPr>
          <p:nvPr/>
        </p:nvGrpSpPr>
        <p:grpSpPr bwMode="auto">
          <a:xfrm>
            <a:off x="892175" y="2278063"/>
            <a:ext cx="1306513" cy="817562"/>
            <a:chOff x="328" y="790"/>
            <a:chExt cx="954" cy="597"/>
          </a:xfrm>
        </p:grpSpPr>
        <p:sp>
          <p:nvSpPr>
            <p:cNvPr id="51" name="Line 117"/>
            <p:cNvSpPr>
              <a:spLocks noChangeShapeType="1"/>
            </p:cNvSpPr>
            <p:nvPr/>
          </p:nvSpPr>
          <p:spPr bwMode="auto">
            <a:xfrm rot="-196882" flipH="1" flipV="1">
              <a:off x="328" y="1125"/>
              <a:ext cx="337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Line 118"/>
            <p:cNvSpPr>
              <a:spLocks noChangeShapeType="1"/>
            </p:cNvSpPr>
            <p:nvPr/>
          </p:nvSpPr>
          <p:spPr bwMode="auto">
            <a:xfrm rot="-196882" flipH="1" flipV="1">
              <a:off x="945" y="790"/>
              <a:ext cx="337" cy="26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Line 119"/>
            <p:cNvSpPr>
              <a:spLocks noChangeShapeType="1"/>
            </p:cNvSpPr>
            <p:nvPr/>
          </p:nvSpPr>
          <p:spPr bwMode="auto">
            <a:xfrm rot="-196882" flipH="1" flipV="1">
              <a:off x="414" y="1192"/>
              <a:ext cx="149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" name="Line 120"/>
            <p:cNvSpPr>
              <a:spLocks noChangeShapeType="1"/>
            </p:cNvSpPr>
            <p:nvPr/>
          </p:nvSpPr>
          <p:spPr bwMode="auto">
            <a:xfrm rot="-196882" flipH="1" flipV="1">
              <a:off x="1027" y="865"/>
              <a:ext cx="15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5" name="WordArt 121"/>
          <p:cNvSpPr>
            <a:spLocks noChangeArrowheads="1" noChangeShapeType="1" noTextEdit="1"/>
          </p:cNvSpPr>
          <p:nvPr/>
        </p:nvSpPr>
        <p:spPr bwMode="auto">
          <a:xfrm rot="132865">
            <a:off x="1176338" y="2198688"/>
            <a:ext cx="255587" cy="25876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IN" sz="12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Arial"/>
                <a:cs typeface="Arial"/>
              </a:rPr>
              <a:t>FV</a:t>
            </a:r>
          </a:p>
        </p:txBody>
      </p:sp>
      <p:sp>
        <p:nvSpPr>
          <p:cNvPr id="56" name="WordArt 122" descr="Paper bag"/>
          <p:cNvSpPr>
            <a:spLocks noChangeArrowheads="1" noChangeShapeType="1" noTextEdit="1"/>
          </p:cNvSpPr>
          <p:nvPr/>
        </p:nvSpPr>
        <p:spPr bwMode="auto">
          <a:xfrm rot="-2035882">
            <a:off x="1905000" y="3733800"/>
            <a:ext cx="354013" cy="1539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6361"/>
              </a:avLst>
            </a:prstTxWarp>
          </a:bodyPr>
          <a:lstStyle/>
          <a:p>
            <a:pPr algn="ctr"/>
            <a:r>
              <a:rPr lang="en-IN" sz="800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7"/>
                  <a:srcRect/>
                  <a:tile tx="0" ty="0" sx="100000" sy="100000" flip="none" algn="tl"/>
                </a:blipFill>
                <a:latin typeface="Arial"/>
                <a:cs typeface="Arial"/>
              </a:rPr>
              <a:t>T V</a:t>
            </a:r>
          </a:p>
        </p:txBody>
      </p:sp>
      <p:grpSp>
        <p:nvGrpSpPr>
          <p:cNvPr id="57" name="Group 123"/>
          <p:cNvGrpSpPr>
            <a:grpSpLocks/>
          </p:cNvGrpSpPr>
          <p:nvPr/>
        </p:nvGrpSpPr>
        <p:grpSpPr bwMode="auto">
          <a:xfrm>
            <a:off x="839788" y="2238375"/>
            <a:ext cx="919162" cy="509588"/>
            <a:chOff x="300" y="780"/>
            <a:chExt cx="672" cy="373"/>
          </a:xfrm>
        </p:grpSpPr>
        <p:sp>
          <p:nvSpPr>
            <p:cNvPr id="58" name="Line 124"/>
            <p:cNvSpPr>
              <a:spLocks noChangeShapeType="1"/>
            </p:cNvSpPr>
            <p:nvPr/>
          </p:nvSpPr>
          <p:spPr bwMode="auto">
            <a:xfrm rot="21582178" flipH="1">
              <a:off x="336" y="816"/>
              <a:ext cx="636" cy="3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Oval 125"/>
            <p:cNvSpPr>
              <a:spLocks noChangeArrowheads="1"/>
            </p:cNvSpPr>
            <p:nvPr/>
          </p:nvSpPr>
          <p:spPr bwMode="auto">
            <a:xfrm>
              <a:off x="918" y="78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" name="Oval 126"/>
            <p:cNvSpPr>
              <a:spLocks noChangeArrowheads="1"/>
            </p:cNvSpPr>
            <p:nvPr/>
          </p:nvSpPr>
          <p:spPr bwMode="auto">
            <a:xfrm>
              <a:off x="300" y="110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1" name="Group 130"/>
          <p:cNvGrpSpPr>
            <a:grpSpLocks/>
          </p:cNvGrpSpPr>
          <p:nvPr/>
        </p:nvGrpSpPr>
        <p:grpSpPr bwMode="auto">
          <a:xfrm>
            <a:off x="2016125" y="1636713"/>
            <a:ext cx="274638" cy="725487"/>
            <a:chOff x="1093" y="203"/>
            <a:chExt cx="200" cy="529"/>
          </a:xfrm>
        </p:grpSpPr>
        <p:sp>
          <p:nvSpPr>
            <p:cNvPr id="62" name="Line 131"/>
            <p:cNvSpPr>
              <a:spLocks noChangeShapeType="1"/>
            </p:cNvSpPr>
            <p:nvPr/>
          </p:nvSpPr>
          <p:spPr bwMode="auto">
            <a:xfrm>
              <a:off x="1230" y="336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" name="Text Box 132"/>
            <p:cNvSpPr txBox="1">
              <a:spLocks noChangeArrowheads="1"/>
            </p:cNvSpPr>
            <p:nvPr/>
          </p:nvSpPr>
          <p:spPr bwMode="auto">
            <a:xfrm rot="-5445560">
              <a:off x="936" y="360"/>
              <a:ext cx="514" cy="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i="1" dirty="0">
                  <a:latin typeface="Times New Roman" charset="0"/>
                </a:rPr>
                <a:t>For T.V.</a:t>
              </a:r>
            </a:p>
          </p:txBody>
        </p:sp>
      </p:grpSp>
      <p:grpSp>
        <p:nvGrpSpPr>
          <p:cNvPr id="64" name="Group 139"/>
          <p:cNvGrpSpPr>
            <a:grpSpLocks/>
          </p:cNvGrpSpPr>
          <p:nvPr/>
        </p:nvGrpSpPr>
        <p:grpSpPr bwMode="auto">
          <a:xfrm>
            <a:off x="1390650" y="2676525"/>
            <a:ext cx="1182688" cy="1566863"/>
            <a:chOff x="672" y="1014"/>
            <a:chExt cx="864" cy="1146"/>
          </a:xfrm>
        </p:grpSpPr>
        <p:grpSp>
          <p:nvGrpSpPr>
            <p:cNvPr id="65" name="Group 140"/>
            <p:cNvGrpSpPr>
              <a:grpSpLocks/>
            </p:cNvGrpSpPr>
            <p:nvPr/>
          </p:nvGrpSpPr>
          <p:grpSpPr bwMode="auto">
            <a:xfrm>
              <a:off x="1272" y="1014"/>
              <a:ext cx="0" cy="624"/>
              <a:chOff x="1272" y="1014"/>
              <a:chExt cx="0" cy="624"/>
            </a:xfrm>
          </p:grpSpPr>
          <p:sp>
            <p:nvSpPr>
              <p:cNvPr id="75" name="Line 141"/>
              <p:cNvSpPr>
                <a:spLocks noChangeShapeType="1"/>
              </p:cNvSpPr>
              <p:nvPr/>
            </p:nvSpPr>
            <p:spPr bwMode="auto">
              <a:xfrm>
                <a:off x="1272" y="1014"/>
                <a:ext cx="0" cy="624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6" name="Line 142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14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66" name="Group 143"/>
            <p:cNvGrpSpPr>
              <a:grpSpLocks/>
            </p:cNvGrpSpPr>
            <p:nvPr/>
          </p:nvGrpSpPr>
          <p:grpSpPr bwMode="auto">
            <a:xfrm>
              <a:off x="672" y="1344"/>
              <a:ext cx="0" cy="624"/>
              <a:chOff x="672" y="1344"/>
              <a:chExt cx="0" cy="624"/>
            </a:xfrm>
          </p:grpSpPr>
          <p:sp>
            <p:nvSpPr>
              <p:cNvPr id="73" name="Line 144"/>
              <p:cNvSpPr>
                <a:spLocks noChangeShapeType="1"/>
              </p:cNvSpPr>
              <p:nvPr/>
            </p:nvSpPr>
            <p:spPr bwMode="auto">
              <a:xfrm>
                <a:off x="672" y="1344"/>
                <a:ext cx="0" cy="624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4" name="Line 145"/>
              <p:cNvSpPr>
                <a:spLocks noChangeShapeType="1"/>
              </p:cNvSpPr>
              <p:nvPr/>
            </p:nvSpPr>
            <p:spPr bwMode="auto">
              <a:xfrm>
                <a:off x="672" y="1680"/>
                <a:ext cx="0" cy="14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67" name="Group 146"/>
            <p:cNvGrpSpPr>
              <a:grpSpLocks/>
            </p:cNvGrpSpPr>
            <p:nvPr/>
          </p:nvGrpSpPr>
          <p:grpSpPr bwMode="auto">
            <a:xfrm>
              <a:off x="930" y="1536"/>
              <a:ext cx="0" cy="624"/>
              <a:chOff x="930" y="1536"/>
              <a:chExt cx="0" cy="624"/>
            </a:xfrm>
          </p:grpSpPr>
          <p:sp>
            <p:nvSpPr>
              <p:cNvPr id="71" name="Line 147"/>
              <p:cNvSpPr>
                <a:spLocks noChangeShapeType="1"/>
              </p:cNvSpPr>
              <p:nvPr/>
            </p:nvSpPr>
            <p:spPr bwMode="auto">
              <a:xfrm>
                <a:off x="930" y="1536"/>
                <a:ext cx="0" cy="624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2" name="Line 148"/>
              <p:cNvSpPr>
                <a:spLocks noChangeShapeType="1"/>
              </p:cNvSpPr>
              <p:nvPr/>
            </p:nvSpPr>
            <p:spPr bwMode="auto">
              <a:xfrm>
                <a:off x="930" y="1776"/>
                <a:ext cx="0" cy="192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68" name="Group 149"/>
            <p:cNvGrpSpPr>
              <a:grpSpLocks/>
            </p:cNvGrpSpPr>
            <p:nvPr/>
          </p:nvGrpSpPr>
          <p:grpSpPr bwMode="auto">
            <a:xfrm>
              <a:off x="1536" y="1200"/>
              <a:ext cx="0" cy="624"/>
              <a:chOff x="1536" y="1200"/>
              <a:chExt cx="0" cy="624"/>
            </a:xfrm>
          </p:grpSpPr>
          <p:sp>
            <p:nvSpPr>
              <p:cNvPr id="69" name="Line 150"/>
              <p:cNvSpPr>
                <a:spLocks noChangeShapeType="1"/>
              </p:cNvSpPr>
              <p:nvPr/>
            </p:nvSpPr>
            <p:spPr bwMode="auto">
              <a:xfrm>
                <a:off x="1536" y="1200"/>
                <a:ext cx="0" cy="624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0" name="Line 151"/>
              <p:cNvSpPr>
                <a:spLocks noChangeShapeType="1"/>
              </p:cNvSpPr>
              <p:nvPr/>
            </p:nvSpPr>
            <p:spPr bwMode="auto">
              <a:xfrm>
                <a:off x="1536" y="1530"/>
                <a:ext cx="0" cy="14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77" name="AutoShape 173"/>
          <p:cNvSpPr>
            <a:spLocks noChangeArrowheads="1"/>
          </p:cNvSpPr>
          <p:nvPr/>
        </p:nvSpPr>
        <p:spPr bwMode="auto">
          <a:xfrm rot="19819119" flipH="1">
            <a:off x="1387475" y="2735263"/>
            <a:ext cx="1209675" cy="460375"/>
          </a:xfrm>
          <a:prstGeom prst="parallelogram">
            <a:avLst>
              <a:gd name="adj" fmla="val 46640"/>
            </a:avLst>
          </a:prstGeom>
          <a:solidFill>
            <a:schemeClr val="hlink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8" name="Text Box 195"/>
          <p:cNvSpPr txBox="1">
            <a:spLocks noChangeArrowheads="1"/>
          </p:cNvSpPr>
          <p:nvPr/>
        </p:nvSpPr>
        <p:spPr bwMode="auto">
          <a:xfrm>
            <a:off x="685800" y="762000"/>
            <a:ext cx="25246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Rectangular plane </a:t>
            </a:r>
            <a:r>
              <a:rPr lang="en-US" sz="2000" b="1" dirty="0"/>
              <a:t>PARALLEL</a:t>
            </a:r>
            <a:r>
              <a:rPr lang="en-US" sz="2000" dirty="0"/>
              <a:t> TO HP</a:t>
            </a:r>
          </a:p>
        </p:txBody>
      </p:sp>
      <p:grpSp>
        <p:nvGrpSpPr>
          <p:cNvPr id="79" name="Group 29"/>
          <p:cNvGrpSpPr>
            <a:grpSpLocks/>
          </p:cNvGrpSpPr>
          <p:nvPr/>
        </p:nvGrpSpPr>
        <p:grpSpPr bwMode="auto">
          <a:xfrm>
            <a:off x="890588" y="4792662"/>
            <a:ext cx="2005012" cy="925513"/>
            <a:chOff x="280" y="2699"/>
            <a:chExt cx="1352" cy="762"/>
          </a:xfrm>
        </p:grpSpPr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336" y="2736"/>
              <a:ext cx="1296" cy="72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280" y="2699"/>
              <a:ext cx="255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>
                  <a:latin typeface="Times New Roman" charset="0"/>
                </a:rPr>
                <a:t>VP</a:t>
              </a:r>
            </a:p>
          </p:txBody>
        </p:sp>
        <p:sp>
          <p:nvSpPr>
            <p:cNvPr id="82" name="Line 32"/>
            <p:cNvSpPr>
              <a:spLocks noChangeShapeType="1"/>
            </p:cNvSpPr>
            <p:nvPr/>
          </p:nvSpPr>
          <p:spPr bwMode="auto">
            <a:xfrm>
              <a:off x="624" y="3267"/>
              <a:ext cx="672" cy="0"/>
            </a:xfrm>
            <a:prstGeom prst="line">
              <a:avLst/>
            </a:prstGeom>
            <a:ln w="2857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83" name="Group 33"/>
            <p:cNvGrpSpPr>
              <a:grpSpLocks/>
            </p:cNvGrpSpPr>
            <p:nvPr/>
          </p:nvGrpSpPr>
          <p:grpSpPr bwMode="auto">
            <a:xfrm>
              <a:off x="467" y="3139"/>
              <a:ext cx="992" cy="322"/>
              <a:chOff x="467" y="3139"/>
              <a:chExt cx="992" cy="322"/>
            </a:xfrm>
          </p:grpSpPr>
          <p:sp>
            <p:nvSpPr>
              <p:cNvPr id="84" name="Text Box 34"/>
              <p:cNvSpPr txBox="1">
                <a:spLocks noChangeArrowheads="1"/>
              </p:cNvSpPr>
              <p:nvPr/>
            </p:nvSpPr>
            <p:spPr bwMode="auto">
              <a:xfrm>
                <a:off x="468" y="3141"/>
                <a:ext cx="205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>
                    <a:latin typeface="Times New Roman" charset="0"/>
                  </a:rPr>
                  <a:t>a’</a:t>
                </a:r>
              </a:p>
            </p:txBody>
          </p:sp>
          <p:sp>
            <p:nvSpPr>
              <p:cNvPr id="85" name="Text Box 35"/>
              <p:cNvSpPr txBox="1">
                <a:spLocks noChangeArrowheads="1"/>
              </p:cNvSpPr>
              <p:nvPr/>
            </p:nvSpPr>
            <p:spPr bwMode="auto">
              <a:xfrm>
                <a:off x="1249" y="3139"/>
                <a:ext cx="210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>
                    <a:latin typeface="Times New Roman" charset="0"/>
                  </a:rPr>
                  <a:t>d’</a:t>
                </a:r>
              </a:p>
            </p:txBody>
          </p:sp>
          <p:grpSp>
            <p:nvGrpSpPr>
              <p:cNvPr id="86" name="Group 36"/>
              <p:cNvGrpSpPr>
                <a:grpSpLocks/>
              </p:cNvGrpSpPr>
              <p:nvPr/>
            </p:nvGrpSpPr>
            <p:grpSpPr bwMode="auto">
              <a:xfrm>
                <a:off x="467" y="3235"/>
                <a:ext cx="984" cy="226"/>
                <a:chOff x="467" y="3232"/>
                <a:chExt cx="984" cy="226"/>
              </a:xfrm>
            </p:grpSpPr>
            <p:sp>
              <p:nvSpPr>
                <p:cNvPr id="8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247" y="3232"/>
                  <a:ext cx="204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>
                      <a:latin typeface="Times New Roman" charset="0"/>
                    </a:rPr>
                    <a:t>c’</a:t>
                  </a:r>
                </a:p>
              </p:txBody>
            </p:sp>
            <p:sp>
              <p:nvSpPr>
                <p:cNvPr id="88" name="Rectangle 38"/>
                <p:cNvSpPr>
                  <a:spLocks noChangeArrowheads="1"/>
                </p:cNvSpPr>
                <p:nvPr/>
              </p:nvSpPr>
              <p:spPr bwMode="auto">
                <a:xfrm>
                  <a:off x="467" y="3232"/>
                  <a:ext cx="210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>
                      <a:latin typeface="Times New Roman" charset="0"/>
                    </a:rPr>
                    <a:t>b’</a:t>
                  </a:r>
                </a:p>
              </p:txBody>
            </p:sp>
          </p:grpSp>
        </p:grpSp>
      </p:grpSp>
      <p:grpSp>
        <p:nvGrpSpPr>
          <p:cNvPr id="89" name="Group 152"/>
          <p:cNvGrpSpPr>
            <a:grpSpLocks/>
          </p:cNvGrpSpPr>
          <p:nvPr/>
        </p:nvGrpSpPr>
        <p:grpSpPr bwMode="auto">
          <a:xfrm>
            <a:off x="890588" y="5354637"/>
            <a:ext cx="2005012" cy="1503363"/>
            <a:chOff x="280" y="3216"/>
            <a:chExt cx="1352" cy="1013"/>
          </a:xfrm>
        </p:grpSpPr>
        <p:sp>
          <p:nvSpPr>
            <p:cNvPr id="90" name="Rectangle 153"/>
            <p:cNvSpPr>
              <a:spLocks noChangeArrowheads="1"/>
            </p:cNvSpPr>
            <p:nvPr/>
          </p:nvSpPr>
          <p:spPr bwMode="auto">
            <a:xfrm>
              <a:off x="336" y="3453"/>
              <a:ext cx="1296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" name="Rectangle 154"/>
            <p:cNvSpPr>
              <a:spLocks noChangeArrowheads="1"/>
            </p:cNvSpPr>
            <p:nvPr/>
          </p:nvSpPr>
          <p:spPr bwMode="auto">
            <a:xfrm>
              <a:off x="630" y="3648"/>
              <a:ext cx="67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" name="Line 155"/>
            <p:cNvSpPr>
              <a:spLocks noChangeShapeType="1"/>
            </p:cNvSpPr>
            <p:nvPr/>
          </p:nvSpPr>
          <p:spPr bwMode="auto">
            <a:xfrm flipV="1">
              <a:off x="624" y="3216"/>
              <a:ext cx="0" cy="528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IN"/>
            </a:p>
          </p:txBody>
        </p:sp>
        <p:sp>
          <p:nvSpPr>
            <p:cNvPr id="93" name="Line 156"/>
            <p:cNvSpPr>
              <a:spLocks noChangeShapeType="1"/>
            </p:cNvSpPr>
            <p:nvPr/>
          </p:nvSpPr>
          <p:spPr bwMode="auto">
            <a:xfrm flipV="1">
              <a:off x="1296" y="3216"/>
              <a:ext cx="0" cy="57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IN"/>
            </a:p>
          </p:txBody>
        </p:sp>
        <p:sp>
          <p:nvSpPr>
            <p:cNvPr id="94" name="Text Box 157"/>
            <p:cNvSpPr txBox="1">
              <a:spLocks noChangeArrowheads="1"/>
            </p:cNvSpPr>
            <p:nvPr/>
          </p:nvSpPr>
          <p:spPr bwMode="auto">
            <a:xfrm>
              <a:off x="280" y="4044"/>
              <a:ext cx="255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>
                  <a:latin typeface="Times New Roman" charset="0"/>
                </a:rPr>
                <a:t>HP</a:t>
              </a:r>
            </a:p>
          </p:txBody>
        </p:sp>
        <p:sp>
          <p:nvSpPr>
            <p:cNvPr id="95" name="Text Box 158"/>
            <p:cNvSpPr txBox="1">
              <a:spLocks noChangeArrowheads="1"/>
            </p:cNvSpPr>
            <p:nvPr/>
          </p:nvSpPr>
          <p:spPr bwMode="auto">
            <a:xfrm>
              <a:off x="477" y="3567"/>
              <a:ext cx="170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>
                  <a:latin typeface="Times New Roman" charset="0"/>
                </a:rPr>
                <a:t>a</a:t>
              </a:r>
            </a:p>
          </p:txBody>
        </p:sp>
        <p:sp>
          <p:nvSpPr>
            <p:cNvPr id="96" name="Text Box 159"/>
            <p:cNvSpPr txBox="1">
              <a:spLocks noChangeArrowheads="1"/>
            </p:cNvSpPr>
            <p:nvPr/>
          </p:nvSpPr>
          <p:spPr bwMode="auto">
            <a:xfrm>
              <a:off x="478" y="3807"/>
              <a:ext cx="176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>
                  <a:latin typeface="Times New Roman" charset="0"/>
                </a:rPr>
                <a:t>b</a:t>
              </a:r>
            </a:p>
          </p:txBody>
        </p:sp>
        <p:sp>
          <p:nvSpPr>
            <p:cNvPr id="97" name="Text Box 160"/>
            <p:cNvSpPr txBox="1">
              <a:spLocks noChangeArrowheads="1"/>
            </p:cNvSpPr>
            <p:nvPr/>
          </p:nvSpPr>
          <p:spPr bwMode="auto">
            <a:xfrm>
              <a:off x="1270" y="3807"/>
              <a:ext cx="170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>
                  <a:latin typeface="Times New Roman" charset="0"/>
                </a:rPr>
                <a:t>c</a:t>
              </a:r>
            </a:p>
          </p:txBody>
        </p:sp>
        <p:sp>
          <p:nvSpPr>
            <p:cNvPr id="98" name="Text Box 161"/>
            <p:cNvSpPr txBox="1">
              <a:spLocks noChangeArrowheads="1"/>
            </p:cNvSpPr>
            <p:nvPr/>
          </p:nvSpPr>
          <p:spPr bwMode="auto">
            <a:xfrm>
              <a:off x="1270" y="3567"/>
              <a:ext cx="176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>
                  <a:latin typeface="Times New Roman" charset="0"/>
                </a:rPr>
                <a:t>d</a:t>
              </a: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4572000" y="9144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" pitchFamily="18" charset="0"/>
              </a:rPr>
              <a:t>A regular pentagon ABCDE of side 30 mm is parallel to the VP. The side AB is perpendicular to the HP. Draw the projections of the pentagon.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4741198" y="2297668"/>
            <a:ext cx="1964402" cy="1969532"/>
            <a:chOff x="4741198" y="2297668"/>
            <a:chExt cx="1964402" cy="1969532"/>
          </a:xfrm>
        </p:grpSpPr>
        <p:sp>
          <p:nvSpPr>
            <p:cNvPr id="101" name="Regular Pentagon 100"/>
            <p:cNvSpPr/>
            <p:nvPr/>
          </p:nvSpPr>
          <p:spPr>
            <a:xfrm rot="5400000">
              <a:off x="5029200" y="2590800"/>
              <a:ext cx="1371600" cy="1371600"/>
            </a:xfrm>
            <a:prstGeom prst="pentagon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779850" y="2590800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a’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4741198" y="350520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b’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562600" y="3897868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c’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341398" y="304800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d’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715000" y="229766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e’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4495708" y="4114800"/>
            <a:ext cx="4640368" cy="381000"/>
            <a:chOff x="4495708" y="4114800"/>
            <a:chExt cx="4640368" cy="381000"/>
          </a:xfrm>
        </p:grpSpPr>
        <p:cxnSp>
          <p:nvCxnSpPr>
            <p:cNvPr id="100" name="Straight Connector 99"/>
            <p:cNvCxnSpPr/>
            <p:nvPr/>
          </p:nvCxnSpPr>
          <p:spPr>
            <a:xfrm>
              <a:off x="4800600" y="4343400"/>
              <a:ext cx="4038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4495708" y="412646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8839200" y="411480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5029200" y="2595921"/>
            <a:ext cx="1371600" cy="3122866"/>
            <a:chOff x="5029200" y="2595921"/>
            <a:chExt cx="1371600" cy="3122866"/>
          </a:xfrm>
        </p:grpSpPr>
        <p:cxnSp>
          <p:nvCxnSpPr>
            <p:cNvPr id="118" name="Straight Connector 117"/>
            <p:cNvCxnSpPr/>
            <p:nvPr/>
          </p:nvCxnSpPr>
          <p:spPr>
            <a:xfrm flipV="1">
              <a:off x="6400800" y="3276098"/>
              <a:ext cx="0" cy="2438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5867400" y="2595921"/>
              <a:ext cx="0" cy="31190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5029200" y="3707107"/>
              <a:ext cx="0" cy="20116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4953000" y="5715000"/>
            <a:ext cx="1600200" cy="722531"/>
            <a:chOff x="4953000" y="5715000"/>
            <a:chExt cx="1600200" cy="722531"/>
          </a:xfrm>
        </p:grpSpPr>
        <p:cxnSp>
          <p:nvCxnSpPr>
            <p:cNvPr id="115" name="Straight Connector 114"/>
            <p:cNvCxnSpPr/>
            <p:nvPr/>
          </p:nvCxnSpPr>
          <p:spPr>
            <a:xfrm>
              <a:off x="5029200" y="5715000"/>
              <a:ext cx="13716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4953000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  <a:p>
              <a:r>
                <a:rPr lang="en-US" dirty="0"/>
                <a:t>b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713306" y="579120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  <a:p>
              <a:r>
                <a:rPr lang="en-US" dirty="0"/>
                <a:t>e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246706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  <a:p>
              <a:endParaRPr lang="en-US" dirty="0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6969490" y="2133600"/>
            <a:ext cx="421910" cy="4255532"/>
            <a:chOff x="6969490" y="2133600"/>
            <a:chExt cx="421910" cy="4255532"/>
          </a:xfrm>
        </p:grpSpPr>
        <p:cxnSp>
          <p:nvCxnSpPr>
            <p:cNvPr id="135" name="Straight Connector 134"/>
            <p:cNvCxnSpPr/>
            <p:nvPr/>
          </p:nvCxnSpPr>
          <p:spPr>
            <a:xfrm>
              <a:off x="7010400" y="2209800"/>
              <a:ext cx="0" cy="4038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TextBox 135"/>
            <p:cNvSpPr txBox="1"/>
            <p:nvPr/>
          </p:nvSpPr>
          <p:spPr>
            <a:xfrm>
              <a:off x="6969490" y="2133600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X1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977504" y="6019800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Y1</a:t>
              </a:r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5029200" y="2590800"/>
            <a:ext cx="3174682" cy="1373982"/>
            <a:chOff x="5029200" y="2590800"/>
            <a:chExt cx="3174682" cy="1373982"/>
          </a:xfrm>
        </p:grpSpPr>
        <p:cxnSp>
          <p:nvCxnSpPr>
            <p:cNvPr id="141" name="Straight Connector 140"/>
            <p:cNvCxnSpPr/>
            <p:nvPr/>
          </p:nvCxnSpPr>
          <p:spPr>
            <a:xfrm>
              <a:off x="5029200" y="2859024"/>
              <a:ext cx="316382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5872162" y="2590800"/>
              <a:ext cx="2331720" cy="23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5031581" y="3700466"/>
              <a:ext cx="3154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6400800" y="3276600"/>
              <a:ext cx="17830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V="1">
              <a:off x="5874542" y="3962400"/>
              <a:ext cx="2313432" cy="23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/>
          <p:cNvGrpSpPr/>
          <p:nvPr/>
        </p:nvGrpSpPr>
        <p:grpSpPr>
          <a:xfrm>
            <a:off x="6374553" y="3962400"/>
            <a:ext cx="2083647" cy="2057400"/>
            <a:chOff x="6374553" y="3962400"/>
            <a:chExt cx="2083647" cy="2057400"/>
          </a:xfrm>
        </p:grpSpPr>
        <p:cxnSp>
          <p:nvCxnSpPr>
            <p:cNvPr id="147" name="Straight Connector 146"/>
            <p:cNvCxnSpPr/>
            <p:nvPr/>
          </p:nvCxnSpPr>
          <p:spPr>
            <a:xfrm>
              <a:off x="7010400" y="4343400"/>
              <a:ext cx="1447800" cy="1676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374553" y="5715000"/>
              <a:ext cx="182964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flipV="1">
              <a:off x="8197850" y="3962400"/>
              <a:ext cx="0" cy="1752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/>
          <p:cNvGrpSpPr/>
          <p:nvPr/>
        </p:nvGrpSpPr>
        <p:grpSpPr>
          <a:xfrm>
            <a:off x="8153400" y="2419171"/>
            <a:ext cx="341760" cy="1708160"/>
            <a:chOff x="8153400" y="2419171"/>
            <a:chExt cx="341760" cy="1708160"/>
          </a:xfrm>
        </p:grpSpPr>
        <p:cxnSp>
          <p:nvCxnSpPr>
            <p:cNvPr id="154" name="Straight Connector 153"/>
            <p:cNvCxnSpPr/>
            <p:nvPr/>
          </p:nvCxnSpPr>
          <p:spPr>
            <a:xfrm flipV="1">
              <a:off x="8197850" y="2590800"/>
              <a:ext cx="0" cy="13716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/>
            <p:cNvSpPr txBox="1"/>
            <p:nvPr/>
          </p:nvSpPr>
          <p:spPr>
            <a:xfrm>
              <a:off x="8153400" y="2419171"/>
              <a:ext cx="341760" cy="1708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e’’</a:t>
              </a:r>
            </a:p>
            <a:p>
              <a:endParaRPr lang="en-US" sz="800" dirty="0"/>
            </a:p>
            <a:p>
              <a:r>
                <a:rPr lang="en-US" sz="1200" dirty="0"/>
                <a:t>a’’</a:t>
              </a:r>
            </a:p>
            <a:p>
              <a:endParaRPr lang="en-US" sz="1400" dirty="0"/>
            </a:p>
            <a:p>
              <a:r>
                <a:rPr lang="en-US" sz="1200" dirty="0"/>
                <a:t>d’’</a:t>
              </a:r>
            </a:p>
            <a:p>
              <a:endParaRPr lang="en-US" sz="1600" dirty="0"/>
            </a:p>
            <a:p>
              <a:r>
                <a:rPr lang="en-US" sz="1200" dirty="0"/>
                <a:t>b’’</a:t>
              </a:r>
            </a:p>
            <a:p>
              <a:endParaRPr lang="en-US" sz="500" dirty="0"/>
            </a:p>
            <a:p>
              <a:r>
                <a:rPr lang="en-US" sz="1200" dirty="0"/>
                <a:t>c’’</a:t>
              </a:r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3962400" y="251460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FV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962400" y="52578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5" grpId="0" animBg="1"/>
      <p:bldP spid="56" grpId="0" animBg="1"/>
      <p:bldP spid="77" grpId="0" animBg="1"/>
      <p:bldP spid="78" grpId="0" autoUpdateAnimBg="0"/>
      <p:bldP spid="102" grpId="0"/>
      <p:bldP spid="169" grpId="0"/>
      <p:bldP spid="1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6224588" y="5572125"/>
            <a:ext cx="2005012" cy="1150938"/>
            <a:chOff x="3929" y="3459"/>
            <a:chExt cx="1351" cy="776"/>
          </a:xfrm>
        </p:grpSpPr>
        <p:sp>
          <p:nvSpPr>
            <p:cNvPr id="6349" name="Rectangle 3"/>
            <p:cNvSpPr>
              <a:spLocks noChangeArrowheads="1"/>
            </p:cNvSpPr>
            <p:nvPr/>
          </p:nvSpPr>
          <p:spPr bwMode="auto">
            <a:xfrm>
              <a:off x="3984" y="3459"/>
              <a:ext cx="1296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350" name="Rectangle 4"/>
            <p:cNvSpPr>
              <a:spLocks noChangeArrowheads="1"/>
            </p:cNvSpPr>
            <p:nvPr/>
          </p:nvSpPr>
          <p:spPr bwMode="auto">
            <a:xfrm rot="-2401154">
              <a:off x="4416" y="3696"/>
              <a:ext cx="52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" name="Text Box 5"/>
            <p:cNvSpPr txBox="1">
              <a:spLocks noChangeArrowheads="1"/>
            </p:cNvSpPr>
            <p:nvPr/>
          </p:nvSpPr>
          <p:spPr bwMode="auto">
            <a:xfrm>
              <a:off x="3929" y="4050"/>
              <a:ext cx="255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HP</a:t>
              </a:r>
            </a:p>
          </p:txBody>
        </p:sp>
        <p:grpSp>
          <p:nvGrpSpPr>
            <p:cNvPr id="6352" name="Group 6"/>
            <p:cNvGrpSpPr>
              <a:grpSpLocks/>
            </p:cNvGrpSpPr>
            <p:nvPr/>
          </p:nvGrpSpPr>
          <p:grpSpPr bwMode="auto">
            <a:xfrm rot="-2461732">
              <a:off x="4241" y="3582"/>
              <a:ext cx="841" cy="488"/>
              <a:chOff x="2403" y="3551"/>
              <a:chExt cx="841" cy="488"/>
            </a:xfrm>
          </p:grpSpPr>
          <p:sp>
            <p:nvSpPr>
              <p:cNvPr id="6353" name="Text Box 7"/>
              <p:cNvSpPr txBox="1">
                <a:spLocks noChangeArrowheads="1"/>
              </p:cNvSpPr>
              <p:nvPr/>
            </p:nvSpPr>
            <p:spPr bwMode="auto">
              <a:xfrm>
                <a:off x="2405" y="3564"/>
                <a:ext cx="204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" name="Text Box 8"/>
              <p:cNvSpPr txBox="1">
                <a:spLocks noChangeArrowheads="1"/>
              </p:cNvSpPr>
              <p:nvPr/>
            </p:nvSpPr>
            <p:spPr bwMode="auto">
              <a:xfrm>
                <a:off x="2403" y="3852"/>
                <a:ext cx="210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355" name="Text Box 9"/>
              <p:cNvSpPr txBox="1">
                <a:spLocks noChangeArrowheads="1"/>
              </p:cNvSpPr>
              <p:nvPr/>
            </p:nvSpPr>
            <p:spPr bwMode="auto">
              <a:xfrm>
                <a:off x="3026" y="3854"/>
                <a:ext cx="204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c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356" name="Text Box 10"/>
              <p:cNvSpPr txBox="1">
                <a:spLocks noChangeArrowheads="1"/>
              </p:cNvSpPr>
              <p:nvPr/>
            </p:nvSpPr>
            <p:spPr bwMode="auto">
              <a:xfrm>
                <a:off x="3034" y="3551"/>
                <a:ext cx="210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6155" name="Group 11"/>
          <p:cNvGrpSpPr>
            <a:grpSpLocks/>
          </p:cNvGrpSpPr>
          <p:nvPr/>
        </p:nvGrpSpPr>
        <p:grpSpPr bwMode="auto">
          <a:xfrm>
            <a:off x="6224588" y="4572000"/>
            <a:ext cx="2005012" cy="1965325"/>
            <a:chOff x="3929" y="2706"/>
            <a:chExt cx="1351" cy="1422"/>
          </a:xfrm>
        </p:grpSpPr>
        <p:sp>
          <p:nvSpPr>
            <p:cNvPr id="4" name="Rectangle 12"/>
            <p:cNvSpPr>
              <a:spLocks noChangeArrowheads="1"/>
            </p:cNvSpPr>
            <p:nvPr/>
          </p:nvSpPr>
          <p:spPr bwMode="auto">
            <a:xfrm>
              <a:off x="3984" y="2742"/>
              <a:ext cx="1296" cy="72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" name="Line 13"/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05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14"/>
            <p:cNvSpPr>
              <a:spLocks noChangeShapeType="1"/>
            </p:cNvSpPr>
            <p:nvPr/>
          </p:nvSpPr>
          <p:spPr bwMode="auto">
            <a:xfrm flipV="1">
              <a:off x="4782" y="2832"/>
              <a:ext cx="0" cy="72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flipV="1">
              <a:off x="4965" y="2832"/>
              <a:ext cx="0" cy="96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 flipV="1">
              <a:off x="4560" y="2880"/>
              <a:ext cx="0" cy="124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3929" y="2706"/>
              <a:ext cx="255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VP</a:t>
              </a:r>
            </a:p>
          </p:txBody>
        </p:sp>
      </p:grpSp>
      <p:grpSp>
        <p:nvGrpSpPr>
          <p:cNvPr id="6162" name="Group 18"/>
          <p:cNvGrpSpPr>
            <a:grpSpLocks/>
          </p:cNvGrpSpPr>
          <p:nvPr/>
        </p:nvGrpSpPr>
        <p:grpSpPr bwMode="auto">
          <a:xfrm>
            <a:off x="3321050" y="4648200"/>
            <a:ext cx="2012950" cy="923925"/>
            <a:chOff x="2099" y="2706"/>
            <a:chExt cx="1357" cy="753"/>
          </a:xfrm>
        </p:grpSpPr>
        <p:sp>
          <p:nvSpPr>
            <p:cNvPr id="10" name="Rectangle 19"/>
            <p:cNvSpPr>
              <a:spLocks noChangeArrowheads="1"/>
            </p:cNvSpPr>
            <p:nvPr/>
          </p:nvSpPr>
          <p:spPr bwMode="auto">
            <a:xfrm>
              <a:off x="2160" y="2739"/>
              <a:ext cx="1296" cy="72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2304" y="326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 flipV="1">
              <a:off x="2544" y="2928"/>
              <a:ext cx="528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2099" y="2706"/>
              <a:ext cx="255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VP</a:t>
              </a:r>
            </a:p>
          </p:txBody>
        </p:sp>
        <p:grpSp>
          <p:nvGrpSpPr>
            <p:cNvPr id="6337" name="Group 23"/>
            <p:cNvGrpSpPr>
              <a:grpSpLocks/>
            </p:cNvGrpSpPr>
            <p:nvPr/>
          </p:nvGrpSpPr>
          <p:grpSpPr bwMode="auto">
            <a:xfrm rot="-1871115">
              <a:off x="2335" y="2906"/>
              <a:ext cx="962" cy="399"/>
              <a:chOff x="463" y="3092"/>
              <a:chExt cx="1021" cy="399"/>
            </a:xfrm>
          </p:grpSpPr>
          <p:sp>
            <p:nvSpPr>
              <p:cNvPr id="6338" name="Text Box 24"/>
              <p:cNvSpPr txBox="1">
                <a:spLocks noChangeArrowheads="1"/>
              </p:cNvSpPr>
              <p:nvPr/>
            </p:nvSpPr>
            <p:spPr bwMode="auto">
              <a:xfrm>
                <a:off x="477" y="3177"/>
                <a:ext cx="216" cy="2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a’</a:t>
                </a:r>
              </a:p>
            </p:txBody>
          </p:sp>
          <p:sp>
            <p:nvSpPr>
              <p:cNvPr id="14" name="Text Box 25"/>
              <p:cNvSpPr txBox="1">
                <a:spLocks noChangeArrowheads="1"/>
              </p:cNvSpPr>
              <p:nvPr/>
            </p:nvSpPr>
            <p:spPr bwMode="auto">
              <a:xfrm>
                <a:off x="1261" y="3092"/>
                <a:ext cx="223" cy="2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d’</a:t>
                </a:r>
              </a:p>
            </p:txBody>
          </p:sp>
          <p:grpSp>
            <p:nvGrpSpPr>
              <p:cNvPr id="15" name="Group 26"/>
              <p:cNvGrpSpPr>
                <a:grpSpLocks/>
              </p:cNvGrpSpPr>
              <p:nvPr/>
            </p:nvGrpSpPr>
            <p:grpSpPr bwMode="auto">
              <a:xfrm>
                <a:off x="463" y="3190"/>
                <a:ext cx="1001" cy="301"/>
                <a:chOff x="452" y="3189"/>
                <a:chExt cx="1001" cy="301"/>
              </a:xfrm>
            </p:grpSpPr>
            <p:sp>
              <p:nvSpPr>
                <p:cNvPr id="1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237" y="3189"/>
                  <a:ext cx="216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c’</a:t>
                  </a:r>
                </a:p>
              </p:txBody>
            </p:sp>
            <p:sp>
              <p:nvSpPr>
                <p:cNvPr id="17" name="Rectangle 28"/>
                <p:cNvSpPr>
                  <a:spLocks noChangeArrowheads="1"/>
                </p:cNvSpPr>
                <p:nvPr/>
              </p:nvSpPr>
              <p:spPr bwMode="auto">
                <a:xfrm>
                  <a:off x="452" y="3266"/>
                  <a:ext cx="222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b’</a:t>
                  </a:r>
                </a:p>
              </p:txBody>
            </p:sp>
          </p:grpSp>
        </p:grpSp>
      </p:grpSp>
      <p:grpSp>
        <p:nvGrpSpPr>
          <p:cNvPr id="6173" name="Group 29"/>
          <p:cNvGrpSpPr>
            <a:grpSpLocks/>
          </p:cNvGrpSpPr>
          <p:nvPr/>
        </p:nvGrpSpPr>
        <p:grpSpPr bwMode="auto">
          <a:xfrm>
            <a:off x="427038" y="4648200"/>
            <a:ext cx="2005012" cy="925513"/>
            <a:chOff x="280" y="2699"/>
            <a:chExt cx="1352" cy="762"/>
          </a:xfrm>
        </p:grpSpPr>
        <p:sp>
          <p:nvSpPr>
            <p:cNvPr id="6324" name="Rectangle 30"/>
            <p:cNvSpPr>
              <a:spLocks noChangeArrowheads="1"/>
            </p:cNvSpPr>
            <p:nvPr/>
          </p:nvSpPr>
          <p:spPr bwMode="auto">
            <a:xfrm>
              <a:off x="336" y="2736"/>
              <a:ext cx="1296" cy="72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325" name="Text Box 31"/>
            <p:cNvSpPr txBox="1">
              <a:spLocks noChangeArrowheads="1"/>
            </p:cNvSpPr>
            <p:nvPr/>
          </p:nvSpPr>
          <p:spPr bwMode="auto">
            <a:xfrm>
              <a:off x="280" y="2699"/>
              <a:ext cx="255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VP</a:t>
              </a:r>
            </a:p>
          </p:txBody>
        </p:sp>
        <p:sp>
          <p:nvSpPr>
            <p:cNvPr id="6326" name="Line 32"/>
            <p:cNvSpPr>
              <a:spLocks noChangeShapeType="1"/>
            </p:cNvSpPr>
            <p:nvPr/>
          </p:nvSpPr>
          <p:spPr bwMode="auto">
            <a:xfrm>
              <a:off x="624" y="3267"/>
              <a:ext cx="6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327" name="Group 33"/>
            <p:cNvGrpSpPr>
              <a:grpSpLocks/>
            </p:cNvGrpSpPr>
            <p:nvPr/>
          </p:nvGrpSpPr>
          <p:grpSpPr bwMode="auto">
            <a:xfrm>
              <a:off x="467" y="3139"/>
              <a:ext cx="992" cy="322"/>
              <a:chOff x="467" y="3139"/>
              <a:chExt cx="992" cy="322"/>
            </a:xfrm>
          </p:grpSpPr>
          <p:sp>
            <p:nvSpPr>
              <p:cNvPr id="6328" name="Text Box 34"/>
              <p:cNvSpPr txBox="1">
                <a:spLocks noChangeArrowheads="1"/>
              </p:cNvSpPr>
              <p:nvPr/>
            </p:nvSpPr>
            <p:spPr bwMode="auto">
              <a:xfrm>
                <a:off x="468" y="3141"/>
                <a:ext cx="205" cy="2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a’</a:t>
                </a:r>
              </a:p>
            </p:txBody>
          </p:sp>
          <p:sp>
            <p:nvSpPr>
              <p:cNvPr id="6329" name="Text Box 35"/>
              <p:cNvSpPr txBox="1">
                <a:spLocks noChangeArrowheads="1"/>
              </p:cNvSpPr>
              <p:nvPr/>
            </p:nvSpPr>
            <p:spPr bwMode="auto">
              <a:xfrm>
                <a:off x="1249" y="3139"/>
                <a:ext cx="210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d’</a:t>
                </a:r>
              </a:p>
            </p:txBody>
          </p:sp>
          <p:grpSp>
            <p:nvGrpSpPr>
              <p:cNvPr id="6330" name="Group 36"/>
              <p:cNvGrpSpPr>
                <a:grpSpLocks/>
              </p:cNvGrpSpPr>
              <p:nvPr/>
            </p:nvGrpSpPr>
            <p:grpSpPr bwMode="auto">
              <a:xfrm>
                <a:off x="467" y="3235"/>
                <a:ext cx="984" cy="226"/>
                <a:chOff x="467" y="3232"/>
                <a:chExt cx="984" cy="226"/>
              </a:xfrm>
            </p:grpSpPr>
            <p:sp>
              <p:nvSpPr>
                <p:cNvPr id="633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247" y="3232"/>
                  <a:ext cx="204" cy="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c’</a:t>
                  </a:r>
                </a:p>
              </p:txBody>
            </p:sp>
            <p:sp>
              <p:nvSpPr>
                <p:cNvPr id="6332" name="Rectangle 38"/>
                <p:cNvSpPr>
                  <a:spLocks noChangeArrowheads="1"/>
                </p:cNvSpPr>
                <p:nvPr/>
              </p:nvSpPr>
              <p:spPr bwMode="auto">
                <a:xfrm>
                  <a:off x="467" y="3232"/>
                  <a:ext cx="210" cy="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b’</a:t>
                  </a:r>
                </a:p>
              </p:txBody>
            </p:sp>
          </p:grpSp>
        </p:grpSp>
      </p:grpSp>
      <p:grpSp>
        <p:nvGrpSpPr>
          <p:cNvPr id="6183" name="Group 39"/>
          <p:cNvGrpSpPr>
            <a:grpSpLocks/>
          </p:cNvGrpSpPr>
          <p:nvPr/>
        </p:nvGrpSpPr>
        <p:grpSpPr bwMode="auto">
          <a:xfrm>
            <a:off x="6199188" y="831850"/>
            <a:ext cx="2701925" cy="3130550"/>
            <a:chOff x="3792" y="192"/>
            <a:chExt cx="1821" cy="2109"/>
          </a:xfrm>
        </p:grpSpPr>
        <p:sp>
          <p:nvSpPr>
            <p:cNvPr id="6320" name="AutoShape 40"/>
            <p:cNvSpPr>
              <a:spLocks noChangeArrowheads="1"/>
            </p:cNvSpPr>
            <p:nvPr/>
          </p:nvSpPr>
          <p:spPr bwMode="auto">
            <a:xfrm rot="5323066" flipV="1">
              <a:off x="3476" y="508"/>
              <a:ext cx="1588" cy="956"/>
            </a:xfrm>
            <a:prstGeom prst="parallelogram">
              <a:avLst>
                <a:gd name="adj" fmla="val 55024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321" name="AutoShape 41"/>
            <p:cNvSpPr>
              <a:spLocks noChangeArrowheads="1"/>
            </p:cNvSpPr>
            <p:nvPr/>
          </p:nvSpPr>
          <p:spPr bwMode="auto">
            <a:xfrm rot="19742203" flipV="1">
              <a:off x="3925" y="1292"/>
              <a:ext cx="1688" cy="966"/>
            </a:xfrm>
            <a:prstGeom prst="parallelogram">
              <a:avLst>
                <a:gd name="adj" fmla="val 57883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graphicFrame>
          <p:nvGraphicFramePr>
            <p:cNvPr id="6322" name="Object 42"/>
            <p:cNvGraphicFramePr>
              <a:graphicFrameLocks noChangeAspect="1"/>
            </p:cNvGraphicFramePr>
            <p:nvPr/>
          </p:nvGraphicFramePr>
          <p:xfrm>
            <a:off x="3792" y="654"/>
            <a:ext cx="193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" name="CorelDRAW" r:id="rId4" imgW="457200" imgH="457200" progId="CorelDRAW.Graphic.11">
                    <p:embed/>
                  </p:oleObj>
                </mc:Choice>
                <mc:Fallback>
                  <p:oleObj name="CorelDRAW" r:id="rId4" imgW="457200" imgH="457200" progId="CorelDRAW.Graphic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654"/>
                          <a:ext cx="193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23" name="Object 43"/>
            <p:cNvGraphicFramePr>
              <a:graphicFrameLocks noChangeAspect="1"/>
            </p:cNvGraphicFramePr>
            <p:nvPr/>
          </p:nvGraphicFramePr>
          <p:xfrm>
            <a:off x="4654" y="2173"/>
            <a:ext cx="267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" name="CorelDRAW" r:id="rId6" imgW="457200" imgH="457200" progId="CorelDRAW.Graphic.11">
                    <p:embed/>
                  </p:oleObj>
                </mc:Choice>
                <mc:Fallback>
                  <p:oleObj name="CorelDRAW" r:id="rId6" imgW="457200" imgH="457200" progId="CorelDRAW.Graphic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4" y="2173"/>
                          <a:ext cx="267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88" name="AutoShape 44"/>
          <p:cNvSpPr>
            <a:spLocks noChangeArrowheads="1"/>
          </p:cNvSpPr>
          <p:nvPr/>
        </p:nvSpPr>
        <p:spPr bwMode="auto">
          <a:xfrm rot="16971031" flipV="1">
            <a:off x="7246937" y="2146301"/>
            <a:ext cx="1120775" cy="425450"/>
          </a:xfrm>
          <a:prstGeom prst="parallelogram">
            <a:avLst>
              <a:gd name="adj" fmla="val 31075"/>
            </a:avLst>
          </a:prstGeom>
          <a:solidFill>
            <a:schemeClr val="hlink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189" name="WordArt 45"/>
          <p:cNvSpPr>
            <a:spLocks noChangeArrowheads="1" noChangeShapeType="1" noTextEdit="1"/>
          </p:cNvSpPr>
          <p:nvPr/>
        </p:nvSpPr>
        <p:spPr bwMode="auto">
          <a:xfrm rot="385241">
            <a:off x="6567488" y="1724025"/>
            <a:ext cx="268287" cy="27146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US" sz="1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cs typeface="Arial" panose="020B0604020202020204" pitchFamily="34" charset="0"/>
              </a:rPr>
              <a:t>FV-3</a:t>
            </a:r>
          </a:p>
        </p:txBody>
      </p:sp>
      <p:grpSp>
        <p:nvGrpSpPr>
          <p:cNvPr id="6190" name="Group 46"/>
          <p:cNvGrpSpPr>
            <a:grpSpLocks/>
          </p:cNvGrpSpPr>
          <p:nvPr/>
        </p:nvGrpSpPr>
        <p:grpSpPr bwMode="auto">
          <a:xfrm>
            <a:off x="6705600" y="1390650"/>
            <a:ext cx="1371600" cy="1427163"/>
            <a:chOff x="4224" y="1110"/>
            <a:chExt cx="960" cy="999"/>
          </a:xfrm>
        </p:grpSpPr>
        <p:sp>
          <p:nvSpPr>
            <p:cNvPr id="6312" name="Line 47"/>
            <p:cNvSpPr>
              <a:spLocks noChangeShapeType="1"/>
            </p:cNvSpPr>
            <p:nvPr/>
          </p:nvSpPr>
          <p:spPr bwMode="auto">
            <a:xfrm flipH="1" flipV="1">
              <a:off x="4224" y="1779"/>
              <a:ext cx="537" cy="33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3" name="Line 48"/>
            <p:cNvSpPr>
              <a:spLocks noChangeShapeType="1"/>
            </p:cNvSpPr>
            <p:nvPr/>
          </p:nvSpPr>
          <p:spPr bwMode="auto">
            <a:xfrm flipH="1" flipV="1">
              <a:off x="4464" y="1680"/>
              <a:ext cx="636" cy="42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4" name="Line 49"/>
            <p:cNvSpPr>
              <a:spLocks noChangeShapeType="1"/>
            </p:cNvSpPr>
            <p:nvPr/>
          </p:nvSpPr>
          <p:spPr bwMode="auto">
            <a:xfrm flipH="1" flipV="1">
              <a:off x="4464" y="1232"/>
              <a:ext cx="453" cy="2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5" name="Line 50"/>
            <p:cNvSpPr>
              <a:spLocks noChangeShapeType="1"/>
            </p:cNvSpPr>
            <p:nvPr/>
          </p:nvSpPr>
          <p:spPr bwMode="auto">
            <a:xfrm flipH="1" flipV="1">
              <a:off x="4644" y="1110"/>
              <a:ext cx="540" cy="3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6" name="Line 51"/>
            <p:cNvSpPr>
              <a:spLocks noChangeShapeType="1"/>
            </p:cNvSpPr>
            <p:nvPr/>
          </p:nvSpPr>
          <p:spPr bwMode="auto">
            <a:xfrm flipH="1" flipV="1">
              <a:off x="4758" y="117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52"/>
            <p:cNvSpPr>
              <a:spLocks noChangeShapeType="1"/>
            </p:cNvSpPr>
            <p:nvPr/>
          </p:nvSpPr>
          <p:spPr bwMode="auto">
            <a:xfrm flipH="1" flipV="1">
              <a:off x="4626" y="178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53"/>
            <p:cNvSpPr>
              <a:spLocks noChangeShapeType="1"/>
            </p:cNvSpPr>
            <p:nvPr/>
          </p:nvSpPr>
          <p:spPr bwMode="auto">
            <a:xfrm flipH="1" flipV="1">
              <a:off x="4464" y="192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54"/>
            <p:cNvSpPr>
              <a:spLocks noChangeShapeType="1"/>
            </p:cNvSpPr>
            <p:nvPr/>
          </p:nvSpPr>
          <p:spPr bwMode="auto">
            <a:xfrm flipH="1" flipV="1">
              <a:off x="4614" y="132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99" name="Group 55"/>
          <p:cNvGrpSpPr>
            <a:grpSpLocks/>
          </p:cNvGrpSpPr>
          <p:nvPr/>
        </p:nvGrpSpPr>
        <p:grpSpPr bwMode="auto">
          <a:xfrm>
            <a:off x="6604000" y="1354138"/>
            <a:ext cx="711200" cy="1150937"/>
            <a:chOff x="4065" y="544"/>
            <a:chExt cx="479" cy="775"/>
          </a:xfrm>
        </p:grpSpPr>
        <p:sp>
          <p:nvSpPr>
            <p:cNvPr id="6307" name="Line 56"/>
            <p:cNvSpPr>
              <a:spLocks noChangeShapeType="1"/>
            </p:cNvSpPr>
            <p:nvPr/>
          </p:nvSpPr>
          <p:spPr bwMode="auto">
            <a:xfrm flipV="1">
              <a:off x="4180" y="1116"/>
              <a:ext cx="189" cy="1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08" name="Line 57"/>
            <p:cNvSpPr>
              <a:spLocks noChangeShapeType="1"/>
            </p:cNvSpPr>
            <p:nvPr/>
          </p:nvSpPr>
          <p:spPr bwMode="auto">
            <a:xfrm flipV="1">
              <a:off x="4365" y="562"/>
              <a:ext cx="170" cy="55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09" name="Line 58"/>
            <p:cNvSpPr>
              <a:spLocks noChangeShapeType="1"/>
            </p:cNvSpPr>
            <p:nvPr/>
          </p:nvSpPr>
          <p:spPr bwMode="auto">
            <a:xfrm flipH="1">
              <a:off x="4163" y="666"/>
              <a:ext cx="190" cy="57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0" name="Line 59"/>
            <p:cNvSpPr>
              <a:spLocks noChangeShapeType="1"/>
            </p:cNvSpPr>
            <p:nvPr/>
          </p:nvSpPr>
          <p:spPr bwMode="auto">
            <a:xfrm flipV="1">
              <a:off x="4325" y="544"/>
              <a:ext cx="219" cy="15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11" name="Line 60"/>
            <p:cNvSpPr>
              <a:spLocks noChangeShapeType="1"/>
            </p:cNvSpPr>
            <p:nvPr/>
          </p:nvSpPr>
          <p:spPr bwMode="auto">
            <a:xfrm flipV="1">
              <a:off x="4065" y="1041"/>
              <a:ext cx="416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05" name="AutoShape 61"/>
          <p:cNvSpPr>
            <a:spLocks noChangeArrowheads="1"/>
          </p:cNvSpPr>
          <p:nvPr/>
        </p:nvSpPr>
        <p:spPr bwMode="auto">
          <a:xfrm>
            <a:off x="7477125" y="3087688"/>
            <a:ext cx="677863" cy="479425"/>
          </a:xfrm>
          <a:prstGeom prst="parallelogram">
            <a:avLst>
              <a:gd name="adj" fmla="val 41239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6206" name="Group 62"/>
          <p:cNvGrpSpPr>
            <a:grpSpLocks/>
          </p:cNvGrpSpPr>
          <p:nvPr/>
        </p:nvGrpSpPr>
        <p:grpSpPr bwMode="auto">
          <a:xfrm>
            <a:off x="7477125" y="1860550"/>
            <a:ext cx="669925" cy="1727200"/>
            <a:chOff x="4654" y="885"/>
            <a:chExt cx="451" cy="1163"/>
          </a:xfrm>
        </p:grpSpPr>
        <p:grpSp>
          <p:nvGrpSpPr>
            <p:cNvPr id="6298" name="Group 63"/>
            <p:cNvGrpSpPr>
              <a:grpSpLocks/>
            </p:cNvGrpSpPr>
            <p:nvPr/>
          </p:nvGrpSpPr>
          <p:grpSpPr bwMode="auto">
            <a:xfrm>
              <a:off x="4654" y="885"/>
              <a:ext cx="451" cy="1163"/>
              <a:chOff x="4654" y="885"/>
              <a:chExt cx="451" cy="1163"/>
            </a:xfrm>
          </p:grpSpPr>
          <p:sp>
            <p:nvSpPr>
              <p:cNvPr id="6300" name="Line 64"/>
              <p:cNvSpPr>
                <a:spLocks noChangeShapeType="1"/>
              </p:cNvSpPr>
              <p:nvPr/>
            </p:nvSpPr>
            <p:spPr bwMode="auto">
              <a:xfrm>
                <a:off x="4801" y="1533"/>
                <a:ext cx="0" cy="18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1" name="Line 65"/>
              <p:cNvSpPr>
                <a:spLocks noChangeShapeType="1"/>
              </p:cNvSpPr>
              <p:nvPr/>
            </p:nvSpPr>
            <p:spPr bwMode="auto">
              <a:xfrm flipH="1">
                <a:off x="4654" y="1533"/>
                <a:ext cx="6" cy="46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2" name="Line 66"/>
              <p:cNvSpPr>
                <a:spLocks noChangeShapeType="1"/>
              </p:cNvSpPr>
              <p:nvPr/>
            </p:nvSpPr>
            <p:spPr bwMode="auto">
              <a:xfrm>
                <a:off x="5105" y="885"/>
                <a:ext cx="0" cy="87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3" name="Line 67"/>
              <p:cNvSpPr>
                <a:spLocks noChangeShapeType="1"/>
              </p:cNvSpPr>
              <p:nvPr/>
            </p:nvSpPr>
            <p:spPr bwMode="auto">
              <a:xfrm>
                <a:off x="4663" y="1671"/>
                <a:ext cx="0" cy="1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4" name="Line 68"/>
              <p:cNvSpPr>
                <a:spLocks noChangeShapeType="1"/>
              </p:cNvSpPr>
              <p:nvPr/>
            </p:nvSpPr>
            <p:spPr bwMode="auto">
              <a:xfrm>
                <a:off x="4966" y="1533"/>
                <a:ext cx="0" cy="51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05" name="Line 69"/>
              <p:cNvSpPr>
                <a:spLocks noChangeShapeType="1"/>
              </p:cNvSpPr>
              <p:nvPr/>
            </p:nvSpPr>
            <p:spPr bwMode="auto">
              <a:xfrm>
                <a:off x="4966" y="1711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70"/>
              <p:cNvSpPr>
                <a:spLocks noChangeShapeType="1"/>
              </p:cNvSpPr>
              <p:nvPr/>
            </p:nvSpPr>
            <p:spPr bwMode="auto">
              <a:xfrm>
                <a:off x="5105" y="1455"/>
                <a:ext cx="0" cy="1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99" name="Line 71"/>
            <p:cNvSpPr>
              <a:spLocks noChangeShapeType="1"/>
            </p:cNvSpPr>
            <p:nvPr/>
          </p:nvSpPr>
          <p:spPr bwMode="auto">
            <a:xfrm>
              <a:off x="4801" y="1579"/>
              <a:ext cx="0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16" name="WordArt 72" descr="Paper bag"/>
          <p:cNvSpPr>
            <a:spLocks noChangeArrowheads="1" noChangeShapeType="1" noTextEdit="1"/>
          </p:cNvSpPr>
          <p:nvPr/>
        </p:nvSpPr>
        <p:spPr bwMode="auto">
          <a:xfrm rot="-4252640">
            <a:off x="7596188" y="3243263"/>
            <a:ext cx="339725" cy="149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6361"/>
              </a:avLst>
            </a:prstTxWarp>
          </a:bodyPr>
          <a:lstStyle/>
          <a:p>
            <a:pPr algn="ctr"/>
            <a:r>
              <a:rPr lang="en-US" sz="8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8"/>
                  <a:srcRect/>
                  <a:tile tx="0" ty="0" sx="100000" sy="100000" flip="none" algn="tl"/>
                </a:blipFill>
                <a:cs typeface="Arial" panose="020B0604020202020204" pitchFamily="34" charset="0"/>
              </a:rPr>
              <a:t>T V-3</a:t>
            </a:r>
          </a:p>
        </p:txBody>
      </p:sp>
      <p:grpSp>
        <p:nvGrpSpPr>
          <p:cNvPr id="6217" name="Group 73"/>
          <p:cNvGrpSpPr>
            <a:grpSpLocks/>
          </p:cNvGrpSpPr>
          <p:nvPr/>
        </p:nvGrpSpPr>
        <p:grpSpPr bwMode="auto">
          <a:xfrm>
            <a:off x="3313113" y="866775"/>
            <a:ext cx="2630487" cy="3048000"/>
            <a:chOff x="1872" y="173"/>
            <a:chExt cx="1891" cy="2190"/>
          </a:xfrm>
        </p:grpSpPr>
        <p:sp>
          <p:nvSpPr>
            <p:cNvPr id="6294" name="AutoShape 74"/>
            <p:cNvSpPr>
              <a:spLocks noChangeArrowheads="1"/>
            </p:cNvSpPr>
            <p:nvPr/>
          </p:nvSpPr>
          <p:spPr bwMode="auto">
            <a:xfrm rot="5323066" flipV="1">
              <a:off x="1544" y="501"/>
              <a:ext cx="1649" cy="993"/>
            </a:xfrm>
            <a:prstGeom prst="parallelogram">
              <a:avLst>
                <a:gd name="adj" fmla="val 55008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95" name="AutoShape 75"/>
            <p:cNvSpPr>
              <a:spLocks noChangeArrowheads="1"/>
            </p:cNvSpPr>
            <p:nvPr/>
          </p:nvSpPr>
          <p:spPr bwMode="auto">
            <a:xfrm rot="19742203" flipV="1">
              <a:off x="2010" y="1315"/>
              <a:ext cx="1753" cy="1003"/>
            </a:xfrm>
            <a:prstGeom prst="parallelogram">
              <a:avLst>
                <a:gd name="adj" fmla="val 5789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graphicFrame>
          <p:nvGraphicFramePr>
            <p:cNvPr id="22" name="Object 76"/>
            <p:cNvGraphicFramePr>
              <a:graphicFrameLocks noChangeAspect="1"/>
            </p:cNvGraphicFramePr>
            <p:nvPr/>
          </p:nvGraphicFramePr>
          <p:xfrm>
            <a:off x="1872" y="653"/>
            <a:ext cx="20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" name="CorelDRAW" r:id="rId9" imgW="457200" imgH="457200" progId="CorelDRAW.Graphic.11">
                    <p:embed/>
                  </p:oleObj>
                </mc:Choice>
                <mc:Fallback>
                  <p:oleObj name="CorelDRAW" r:id="rId9" imgW="457200" imgH="457200" progId="CorelDRAW.Graphic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653"/>
                          <a:ext cx="20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97" name="Object 77"/>
            <p:cNvGraphicFramePr>
              <a:graphicFrameLocks noChangeAspect="1"/>
            </p:cNvGraphicFramePr>
            <p:nvPr/>
          </p:nvGraphicFramePr>
          <p:xfrm>
            <a:off x="2767" y="2230"/>
            <a:ext cx="277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5" name="CorelDRAW" r:id="rId10" imgW="457200" imgH="457200" progId="CorelDRAW.Graphic.11">
                    <p:embed/>
                  </p:oleObj>
                </mc:Choice>
                <mc:Fallback>
                  <p:oleObj name="CorelDRAW" r:id="rId10" imgW="457200" imgH="457200" progId="CorelDRAW.Graphic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7" y="2230"/>
                          <a:ext cx="277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22" name="AutoShape 78"/>
          <p:cNvSpPr>
            <a:spLocks noChangeArrowheads="1"/>
          </p:cNvSpPr>
          <p:nvPr/>
        </p:nvSpPr>
        <p:spPr bwMode="auto">
          <a:xfrm rot="19659806" flipH="1">
            <a:off x="4405313" y="3162300"/>
            <a:ext cx="927100" cy="382588"/>
          </a:xfrm>
          <a:prstGeom prst="parallelogram">
            <a:avLst>
              <a:gd name="adj" fmla="val 5606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6223" name="Group 79"/>
          <p:cNvGrpSpPr>
            <a:grpSpLocks/>
          </p:cNvGrpSpPr>
          <p:nvPr/>
        </p:nvGrpSpPr>
        <p:grpSpPr bwMode="auto">
          <a:xfrm>
            <a:off x="4381500" y="1838325"/>
            <a:ext cx="909638" cy="1855788"/>
            <a:chOff x="2592" y="881"/>
            <a:chExt cx="654" cy="1334"/>
          </a:xfrm>
        </p:grpSpPr>
        <p:grpSp>
          <p:nvGrpSpPr>
            <p:cNvPr id="6282" name="Group 80"/>
            <p:cNvGrpSpPr>
              <a:grpSpLocks/>
            </p:cNvGrpSpPr>
            <p:nvPr/>
          </p:nvGrpSpPr>
          <p:grpSpPr bwMode="auto">
            <a:xfrm>
              <a:off x="2848" y="1579"/>
              <a:ext cx="2" cy="636"/>
              <a:chOff x="2848" y="1579"/>
              <a:chExt cx="2" cy="636"/>
            </a:xfrm>
          </p:grpSpPr>
          <p:sp>
            <p:nvSpPr>
              <p:cNvPr id="6292" name="Line 81"/>
              <p:cNvSpPr>
                <a:spLocks noChangeShapeType="1"/>
              </p:cNvSpPr>
              <p:nvPr/>
            </p:nvSpPr>
            <p:spPr bwMode="auto">
              <a:xfrm>
                <a:off x="2850" y="1579"/>
                <a:ext cx="0" cy="6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93" name="Line 82"/>
              <p:cNvSpPr>
                <a:spLocks noChangeShapeType="1"/>
              </p:cNvSpPr>
              <p:nvPr/>
            </p:nvSpPr>
            <p:spPr bwMode="auto">
              <a:xfrm>
                <a:off x="2848" y="1832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" name="Group 83"/>
            <p:cNvGrpSpPr>
              <a:grpSpLocks/>
            </p:cNvGrpSpPr>
            <p:nvPr/>
          </p:nvGrpSpPr>
          <p:grpSpPr bwMode="auto">
            <a:xfrm>
              <a:off x="3246" y="1032"/>
              <a:ext cx="0" cy="864"/>
              <a:chOff x="3288" y="1085"/>
              <a:chExt cx="0" cy="864"/>
            </a:xfrm>
          </p:grpSpPr>
          <p:sp>
            <p:nvSpPr>
              <p:cNvPr id="6290" name="Line 84"/>
              <p:cNvSpPr>
                <a:spLocks noChangeShapeType="1"/>
              </p:cNvSpPr>
              <p:nvPr/>
            </p:nvSpPr>
            <p:spPr bwMode="auto">
              <a:xfrm>
                <a:off x="3288" y="1085"/>
                <a:ext cx="0" cy="86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91" name="Line 85"/>
              <p:cNvSpPr>
                <a:spLocks noChangeShapeType="1"/>
              </p:cNvSpPr>
              <p:nvPr/>
            </p:nvSpPr>
            <p:spPr bwMode="auto">
              <a:xfrm>
                <a:off x="3288" y="1616"/>
                <a:ext cx="0" cy="18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84" name="Group 86"/>
            <p:cNvGrpSpPr>
              <a:grpSpLocks/>
            </p:cNvGrpSpPr>
            <p:nvPr/>
          </p:nvGrpSpPr>
          <p:grpSpPr bwMode="auto">
            <a:xfrm>
              <a:off x="2592" y="1392"/>
              <a:ext cx="0" cy="636"/>
              <a:chOff x="2592" y="1392"/>
              <a:chExt cx="0" cy="636"/>
            </a:xfrm>
          </p:grpSpPr>
          <p:sp>
            <p:nvSpPr>
              <p:cNvPr id="6288" name="Line 87"/>
              <p:cNvSpPr>
                <a:spLocks noChangeShapeType="1"/>
              </p:cNvSpPr>
              <p:nvPr/>
            </p:nvSpPr>
            <p:spPr bwMode="auto">
              <a:xfrm>
                <a:off x="2592" y="1392"/>
                <a:ext cx="0" cy="636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89" name="Line 88"/>
              <p:cNvSpPr>
                <a:spLocks noChangeShapeType="1"/>
              </p:cNvSpPr>
              <p:nvPr/>
            </p:nvSpPr>
            <p:spPr bwMode="auto">
              <a:xfrm>
                <a:off x="2592" y="1654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85" name="Group 89"/>
            <p:cNvGrpSpPr>
              <a:grpSpLocks/>
            </p:cNvGrpSpPr>
            <p:nvPr/>
          </p:nvGrpSpPr>
          <p:grpSpPr bwMode="auto">
            <a:xfrm>
              <a:off x="2994" y="881"/>
              <a:ext cx="0" cy="912"/>
              <a:chOff x="3042" y="845"/>
              <a:chExt cx="0" cy="912"/>
            </a:xfrm>
          </p:grpSpPr>
          <p:sp>
            <p:nvSpPr>
              <p:cNvPr id="6286" name="Line 90"/>
              <p:cNvSpPr>
                <a:spLocks noChangeShapeType="1"/>
              </p:cNvSpPr>
              <p:nvPr/>
            </p:nvSpPr>
            <p:spPr bwMode="auto">
              <a:xfrm>
                <a:off x="3042" y="845"/>
                <a:ext cx="0" cy="91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87" name="Line 91"/>
              <p:cNvSpPr>
                <a:spLocks noChangeShapeType="1"/>
              </p:cNvSpPr>
              <p:nvPr/>
            </p:nvSpPr>
            <p:spPr bwMode="auto">
              <a:xfrm>
                <a:off x="3042" y="1405"/>
                <a:ext cx="0" cy="2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236" name="Group 92"/>
          <p:cNvGrpSpPr>
            <a:grpSpLocks/>
          </p:cNvGrpSpPr>
          <p:nvPr/>
        </p:nvGrpSpPr>
        <p:grpSpPr bwMode="auto">
          <a:xfrm rot="-401303">
            <a:off x="3790950" y="1354138"/>
            <a:ext cx="1138238" cy="1147762"/>
            <a:chOff x="2257" y="557"/>
            <a:chExt cx="828" cy="835"/>
          </a:xfrm>
        </p:grpSpPr>
        <p:sp>
          <p:nvSpPr>
            <p:cNvPr id="6278" name="Line 93"/>
            <p:cNvSpPr>
              <a:spLocks noChangeShapeType="1"/>
            </p:cNvSpPr>
            <p:nvPr/>
          </p:nvSpPr>
          <p:spPr bwMode="auto">
            <a:xfrm flipH="1" flipV="1">
              <a:off x="2257" y="1130"/>
              <a:ext cx="337" cy="26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9" name="Line 94"/>
            <p:cNvSpPr>
              <a:spLocks noChangeShapeType="1"/>
            </p:cNvSpPr>
            <p:nvPr/>
          </p:nvSpPr>
          <p:spPr bwMode="auto">
            <a:xfrm flipH="1" flipV="1">
              <a:off x="2640" y="557"/>
              <a:ext cx="445" cy="346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95"/>
            <p:cNvSpPr>
              <a:spLocks noChangeShapeType="1"/>
            </p:cNvSpPr>
            <p:nvPr/>
          </p:nvSpPr>
          <p:spPr bwMode="auto">
            <a:xfrm flipH="1" flipV="1">
              <a:off x="2332" y="1195"/>
              <a:ext cx="149" cy="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1" name="Line 96"/>
            <p:cNvSpPr>
              <a:spLocks noChangeShapeType="1"/>
            </p:cNvSpPr>
            <p:nvPr/>
          </p:nvSpPr>
          <p:spPr bwMode="auto">
            <a:xfrm flipH="1" flipV="1">
              <a:off x="2812" y="701"/>
              <a:ext cx="150" cy="1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41" name="Rectangle 97"/>
          <p:cNvSpPr>
            <a:spLocks noChangeArrowheads="1"/>
          </p:cNvSpPr>
          <p:nvPr/>
        </p:nvSpPr>
        <p:spPr bwMode="auto">
          <a:xfrm rot="-3318593">
            <a:off x="4344193" y="1977232"/>
            <a:ext cx="931863" cy="577850"/>
          </a:xfrm>
          <a:prstGeom prst="rect">
            <a:avLst/>
          </a:prstGeom>
          <a:solidFill>
            <a:schemeClr val="hlink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242" name="Line 98"/>
          <p:cNvSpPr>
            <a:spLocks noChangeShapeType="1"/>
          </p:cNvSpPr>
          <p:nvPr/>
        </p:nvSpPr>
        <p:spPr bwMode="auto">
          <a:xfrm rot="21198697" flipV="1">
            <a:off x="4725988" y="2416175"/>
            <a:ext cx="728662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43" name="Group 99"/>
          <p:cNvGrpSpPr>
            <a:grpSpLocks/>
          </p:cNvGrpSpPr>
          <p:nvPr/>
        </p:nvGrpSpPr>
        <p:grpSpPr bwMode="auto">
          <a:xfrm>
            <a:off x="5410200" y="2438400"/>
            <a:ext cx="717550" cy="274638"/>
            <a:chOff x="3360" y="1866"/>
            <a:chExt cx="516" cy="198"/>
          </a:xfrm>
        </p:grpSpPr>
        <p:sp>
          <p:nvSpPr>
            <p:cNvPr id="6276" name="Line 100"/>
            <p:cNvSpPr>
              <a:spLocks noChangeShapeType="1"/>
            </p:cNvSpPr>
            <p:nvPr/>
          </p:nvSpPr>
          <p:spPr bwMode="auto">
            <a:xfrm flipH="1" flipV="1">
              <a:off x="3360" y="1872"/>
              <a:ext cx="283" cy="1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101"/>
            <p:cNvSpPr txBox="1">
              <a:spLocks noChangeArrowheads="1"/>
            </p:cNvSpPr>
            <p:nvPr/>
          </p:nvSpPr>
          <p:spPr bwMode="auto">
            <a:xfrm rot="1539104">
              <a:off x="3449" y="1866"/>
              <a:ext cx="427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Times New Roman" panose="02020603050405020304" pitchFamily="18" charset="0"/>
                </a:rPr>
                <a:t>For Fv</a:t>
              </a:r>
            </a:p>
          </p:txBody>
        </p:sp>
      </p:grpSp>
      <p:grpSp>
        <p:nvGrpSpPr>
          <p:cNvPr id="6246" name="Group 102"/>
          <p:cNvGrpSpPr>
            <a:grpSpLocks/>
          </p:cNvGrpSpPr>
          <p:nvPr/>
        </p:nvGrpSpPr>
        <p:grpSpPr bwMode="auto">
          <a:xfrm>
            <a:off x="4951413" y="908050"/>
            <a:ext cx="328612" cy="615950"/>
            <a:chOff x="2976" y="109"/>
            <a:chExt cx="236" cy="442"/>
          </a:xfrm>
        </p:grpSpPr>
        <p:sp>
          <p:nvSpPr>
            <p:cNvPr id="26" name="Line 103"/>
            <p:cNvSpPr>
              <a:spLocks noChangeShapeType="1"/>
            </p:cNvSpPr>
            <p:nvPr/>
          </p:nvSpPr>
          <p:spPr bwMode="auto">
            <a:xfrm>
              <a:off x="2976" y="269"/>
              <a:ext cx="0" cy="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75" name="Text Box 104"/>
            <p:cNvSpPr txBox="1">
              <a:spLocks noChangeArrowheads="1"/>
            </p:cNvSpPr>
            <p:nvPr/>
          </p:nvSpPr>
          <p:spPr bwMode="auto">
            <a:xfrm rot="-5503748">
              <a:off x="2897" y="227"/>
              <a:ext cx="433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Times New Roman" panose="02020603050405020304" pitchFamily="18" charset="0"/>
                </a:rPr>
                <a:t>For Tv</a:t>
              </a:r>
            </a:p>
          </p:txBody>
        </p:sp>
      </p:grpSp>
      <p:grpSp>
        <p:nvGrpSpPr>
          <p:cNvPr id="6249" name="Group 105"/>
          <p:cNvGrpSpPr>
            <a:grpSpLocks/>
          </p:cNvGrpSpPr>
          <p:nvPr/>
        </p:nvGrpSpPr>
        <p:grpSpPr bwMode="auto">
          <a:xfrm>
            <a:off x="3597275" y="1395413"/>
            <a:ext cx="869950" cy="935037"/>
            <a:chOff x="2112" y="557"/>
            <a:chExt cx="624" cy="636"/>
          </a:xfrm>
        </p:grpSpPr>
        <p:sp>
          <p:nvSpPr>
            <p:cNvPr id="6270" name="Line 106"/>
            <p:cNvSpPr>
              <a:spLocks noChangeShapeType="1"/>
            </p:cNvSpPr>
            <p:nvPr/>
          </p:nvSpPr>
          <p:spPr bwMode="auto">
            <a:xfrm flipV="1">
              <a:off x="2244" y="577"/>
              <a:ext cx="432" cy="5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107"/>
            <p:cNvSpPr>
              <a:spLocks noChangeShapeType="1"/>
            </p:cNvSpPr>
            <p:nvPr/>
          </p:nvSpPr>
          <p:spPr bwMode="auto">
            <a:xfrm flipV="1">
              <a:off x="2112" y="773"/>
              <a:ext cx="624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2" name="Oval 108"/>
            <p:cNvSpPr>
              <a:spLocks noChangeArrowheads="1"/>
            </p:cNvSpPr>
            <p:nvPr/>
          </p:nvSpPr>
          <p:spPr bwMode="auto">
            <a:xfrm>
              <a:off x="2208" y="1085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73" name="Oval 109"/>
            <p:cNvSpPr>
              <a:spLocks noChangeArrowheads="1"/>
            </p:cNvSpPr>
            <p:nvPr/>
          </p:nvSpPr>
          <p:spPr bwMode="auto">
            <a:xfrm>
              <a:off x="2640" y="557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grpSp>
        <p:nvGrpSpPr>
          <p:cNvPr id="6254" name="Group 110"/>
          <p:cNvGrpSpPr>
            <a:grpSpLocks/>
          </p:cNvGrpSpPr>
          <p:nvPr/>
        </p:nvGrpSpPr>
        <p:grpSpPr bwMode="auto">
          <a:xfrm>
            <a:off x="307975" y="1020763"/>
            <a:ext cx="2587625" cy="2865437"/>
            <a:chOff x="96" y="288"/>
            <a:chExt cx="1891" cy="2094"/>
          </a:xfrm>
        </p:grpSpPr>
        <p:sp>
          <p:nvSpPr>
            <p:cNvPr id="28" name="AutoShape 111"/>
            <p:cNvSpPr>
              <a:spLocks noChangeArrowheads="1"/>
            </p:cNvSpPr>
            <p:nvPr/>
          </p:nvSpPr>
          <p:spPr bwMode="auto">
            <a:xfrm rot="19742203" flipV="1">
              <a:off x="234" y="1380"/>
              <a:ext cx="1753" cy="959"/>
            </a:xfrm>
            <a:prstGeom prst="parallelogram">
              <a:avLst>
                <a:gd name="adj" fmla="val 60551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9" name="AutoShape 112"/>
            <p:cNvSpPr>
              <a:spLocks noChangeArrowheads="1"/>
            </p:cNvSpPr>
            <p:nvPr/>
          </p:nvSpPr>
          <p:spPr bwMode="auto">
            <a:xfrm rot="5323066" flipV="1">
              <a:off x="-196" y="580"/>
              <a:ext cx="1577" cy="993"/>
            </a:xfrm>
            <a:prstGeom prst="parallelogram">
              <a:avLst>
                <a:gd name="adj" fmla="val 52606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graphicFrame>
          <p:nvGraphicFramePr>
            <p:cNvPr id="6268" name="Object 113"/>
            <p:cNvGraphicFramePr>
              <a:graphicFrameLocks noChangeAspect="1"/>
            </p:cNvGraphicFramePr>
            <p:nvPr/>
          </p:nvGraphicFramePr>
          <p:xfrm>
            <a:off x="96" y="747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6" name="CorelDRAW" r:id="rId11" imgW="457200" imgH="457200" progId="CorelDRAW.Graphic.11">
                    <p:embed/>
                  </p:oleObj>
                </mc:Choice>
                <mc:Fallback>
                  <p:oleObj name="CorelDRAW" r:id="rId11" imgW="457200" imgH="457200" progId="CorelDRAW.Graphic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747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69" name="Object 114"/>
            <p:cNvGraphicFramePr>
              <a:graphicFrameLocks noChangeAspect="1"/>
            </p:cNvGraphicFramePr>
            <p:nvPr/>
          </p:nvGraphicFramePr>
          <p:xfrm>
            <a:off x="991" y="2255"/>
            <a:ext cx="27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" name="CorelDRAW" r:id="rId12" imgW="457200" imgH="457200" progId="CorelDRAW.Graphic.11">
                    <p:embed/>
                  </p:oleObj>
                </mc:Choice>
                <mc:Fallback>
                  <p:oleObj name="CorelDRAW" r:id="rId12" imgW="457200" imgH="457200" progId="CorelDRAW.Graphic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1" y="2255"/>
                          <a:ext cx="27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59" name="AutoShape 115"/>
          <p:cNvSpPr>
            <a:spLocks noChangeArrowheads="1"/>
          </p:cNvSpPr>
          <p:nvPr/>
        </p:nvSpPr>
        <p:spPr bwMode="auto">
          <a:xfrm rot="19819119" flipH="1">
            <a:off x="1177925" y="2957513"/>
            <a:ext cx="1189038" cy="422275"/>
          </a:xfrm>
          <a:prstGeom prst="parallelogram">
            <a:avLst>
              <a:gd name="adj" fmla="val 4998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6260" name="Group 116"/>
          <p:cNvGrpSpPr>
            <a:grpSpLocks/>
          </p:cNvGrpSpPr>
          <p:nvPr/>
        </p:nvGrpSpPr>
        <p:grpSpPr bwMode="auto">
          <a:xfrm>
            <a:off x="663575" y="1592263"/>
            <a:ext cx="1306513" cy="817562"/>
            <a:chOff x="328" y="790"/>
            <a:chExt cx="954" cy="597"/>
          </a:xfrm>
        </p:grpSpPr>
        <p:sp>
          <p:nvSpPr>
            <p:cNvPr id="6262" name="Line 117"/>
            <p:cNvSpPr>
              <a:spLocks noChangeShapeType="1"/>
            </p:cNvSpPr>
            <p:nvPr/>
          </p:nvSpPr>
          <p:spPr bwMode="auto">
            <a:xfrm rot="-196882" flipH="1" flipV="1">
              <a:off x="328" y="1125"/>
              <a:ext cx="337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3" name="Line 118"/>
            <p:cNvSpPr>
              <a:spLocks noChangeShapeType="1"/>
            </p:cNvSpPr>
            <p:nvPr/>
          </p:nvSpPr>
          <p:spPr bwMode="auto">
            <a:xfrm rot="-196882" flipH="1" flipV="1">
              <a:off x="945" y="790"/>
              <a:ext cx="337" cy="262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4" name="Line 119"/>
            <p:cNvSpPr>
              <a:spLocks noChangeShapeType="1"/>
            </p:cNvSpPr>
            <p:nvPr/>
          </p:nvSpPr>
          <p:spPr bwMode="auto">
            <a:xfrm rot="-196882" flipH="1" flipV="1">
              <a:off x="414" y="1192"/>
              <a:ext cx="149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120"/>
            <p:cNvSpPr>
              <a:spLocks noChangeShapeType="1"/>
            </p:cNvSpPr>
            <p:nvPr/>
          </p:nvSpPr>
          <p:spPr bwMode="auto">
            <a:xfrm rot="-196882" flipH="1" flipV="1">
              <a:off x="1027" y="865"/>
              <a:ext cx="15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65" name="WordArt 121"/>
          <p:cNvSpPr>
            <a:spLocks noChangeArrowheads="1" noChangeShapeType="1" noTextEdit="1"/>
          </p:cNvSpPr>
          <p:nvPr/>
        </p:nvSpPr>
        <p:spPr bwMode="auto">
          <a:xfrm rot="132865">
            <a:off x="947738" y="1512888"/>
            <a:ext cx="255587" cy="258762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US" sz="1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cs typeface="Arial" panose="020B0604020202020204" pitchFamily="34" charset="0"/>
              </a:rPr>
              <a:t>FV-1</a:t>
            </a:r>
          </a:p>
        </p:txBody>
      </p:sp>
      <p:sp>
        <p:nvSpPr>
          <p:cNvPr id="6266" name="WordArt 122" descr="Paper bag"/>
          <p:cNvSpPr>
            <a:spLocks noChangeArrowheads="1" noChangeShapeType="1" noTextEdit="1"/>
          </p:cNvSpPr>
          <p:nvPr/>
        </p:nvSpPr>
        <p:spPr bwMode="auto">
          <a:xfrm rot="-2035882">
            <a:off x="1676400" y="3048000"/>
            <a:ext cx="354013" cy="1539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6361"/>
              </a:avLst>
            </a:prstTxWarp>
          </a:bodyPr>
          <a:lstStyle/>
          <a:p>
            <a:pPr algn="ctr"/>
            <a:r>
              <a:rPr lang="en-US" sz="8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8"/>
                  <a:srcRect/>
                  <a:tile tx="0" ty="0" sx="100000" sy="100000" flip="none" algn="tl"/>
                </a:blipFill>
                <a:cs typeface="Arial" panose="020B0604020202020204" pitchFamily="34" charset="0"/>
              </a:rPr>
              <a:t>T V-1</a:t>
            </a:r>
          </a:p>
        </p:txBody>
      </p:sp>
      <p:grpSp>
        <p:nvGrpSpPr>
          <p:cNvPr id="6267" name="Group 123"/>
          <p:cNvGrpSpPr>
            <a:grpSpLocks/>
          </p:cNvGrpSpPr>
          <p:nvPr/>
        </p:nvGrpSpPr>
        <p:grpSpPr bwMode="auto">
          <a:xfrm>
            <a:off x="611188" y="1552575"/>
            <a:ext cx="919162" cy="509588"/>
            <a:chOff x="300" y="780"/>
            <a:chExt cx="672" cy="373"/>
          </a:xfrm>
        </p:grpSpPr>
        <p:sp>
          <p:nvSpPr>
            <p:cNvPr id="31" name="Line 124"/>
            <p:cNvSpPr>
              <a:spLocks noChangeShapeType="1"/>
            </p:cNvSpPr>
            <p:nvPr/>
          </p:nvSpPr>
          <p:spPr bwMode="auto">
            <a:xfrm rot="21582178" flipH="1">
              <a:off x="336" y="816"/>
              <a:ext cx="636" cy="3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Oval 125"/>
            <p:cNvSpPr>
              <a:spLocks noChangeArrowheads="1"/>
            </p:cNvSpPr>
            <p:nvPr/>
          </p:nvSpPr>
          <p:spPr bwMode="auto">
            <a:xfrm>
              <a:off x="918" y="78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61" name="Oval 126"/>
            <p:cNvSpPr>
              <a:spLocks noChangeArrowheads="1"/>
            </p:cNvSpPr>
            <p:nvPr/>
          </p:nvSpPr>
          <p:spPr bwMode="auto">
            <a:xfrm>
              <a:off x="300" y="110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grpSp>
        <p:nvGrpSpPr>
          <p:cNvPr id="6271" name="Group 127"/>
          <p:cNvGrpSpPr>
            <a:grpSpLocks/>
          </p:cNvGrpSpPr>
          <p:nvPr/>
        </p:nvGrpSpPr>
        <p:grpSpPr bwMode="auto">
          <a:xfrm>
            <a:off x="2438400" y="2590800"/>
            <a:ext cx="769938" cy="293688"/>
            <a:chOff x="1722" y="2016"/>
            <a:chExt cx="519" cy="198"/>
          </a:xfrm>
        </p:grpSpPr>
        <p:sp>
          <p:nvSpPr>
            <p:cNvPr id="6257" name="Line 128"/>
            <p:cNvSpPr>
              <a:spLocks noChangeShapeType="1"/>
            </p:cNvSpPr>
            <p:nvPr/>
          </p:nvSpPr>
          <p:spPr bwMode="auto">
            <a:xfrm flipH="1" flipV="1">
              <a:off x="1722" y="2022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" name="Text Box 129"/>
            <p:cNvSpPr txBox="1">
              <a:spLocks noChangeArrowheads="1"/>
            </p:cNvSpPr>
            <p:nvPr/>
          </p:nvSpPr>
          <p:spPr bwMode="auto">
            <a:xfrm rot="1545351">
              <a:off x="1760" y="2016"/>
              <a:ext cx="481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latin typeface="Times New Roman" panose="02020603050405020304" pitchFamily="18" charset="0"/>
                </a:rPr>
                <a:t>For F.V.</a:t>
              </a:r>
            </a:p>
          </p:txBody>
        </p:sp>
      </p:grpSp>
      <p:grpSp>
        <p:nvGrpSpPr>
          <p:cNvPr id="6274" name="Group 130"/>
          <p:cNvGrpSpPr>
            <a:grpSpLocks/>
          </p:cNvGrpSpPr>
          <p:nvPr/>
        </p:nvGrpSpPr>
        <p:grpSpPr bwMode="auto">
          <a:xfrm>
            <a:off x="1787525" y="950913"/>
            <a:ext cx="274638" cy="725487"/>
            <a:chOff x="1093" y="203"/>
            <a:chExt cx="200" cy="529"/>
          </a:xfrm>
        </p:grpSpPr>
        <p:sp>
          <p:nvSpPr>
            <p:cNvPr id="6255" name="Line 131"/>
            <p:cNvSpPr>
              <a:spLocks noChangeShapeType="1"/>
            </p:cNvSpPr>
            <p:nvPr/>
          </p:nvSpPr>
          <p:spPr bwMode="auto">
            <a:xfrm>
              <a:off x="1230" y="336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6" name="Text Box 132"/>
            <p:cNvSpPr txBox="1">
              <a:spLocks noChangeArrowheads="1"/>
            </p:cNvSpPr>
            <p:nvPr/>
          </p:nvSpPr>
          <p:spPr bwMode="auto">
            <a:xfrm rot="-5445560">
              <a:off x="936" y="360"/>
              <a:ext cx="514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latin typeface="Times New Roman" panose="02020603050405020304" pitchFamily="18" charset="0"/>
                </a:rPr>
                <a:t>For T.V.</a:t>
              </a:r>
            </a:p>
          </p:txBody>
        </p:sp>
      </p:grpSp>
      <p:grpSp>
        <p:nvGrpSpPr>
          <p:cNvPr id="6277" name="Group 133"/>
          <p:cNvGrpSpPr>
            <a:grpSpLocks/>
          </p:cNvGrpSpPr>
          <p:nvPr/>
        </p:nvGrpSpPr>
        <p:grpSpPr bwMode="auto">
          <a:xfrm>
            <a:off x="7723188" y="876300"/>
            <a:ext cx="274637" cy="752475"/>
            <a:chOff x="1095" y="224"/>
            <a:chExt cx="186" cy="508"/>
          </a:xfrm>
        </p:grpSpPr>
        <p:sp>
          <p:nvSpPr>
            <p:cNvPr id="6253" name="Line 134"/>
            <p:cNvSpPr>
              <a:spLocks noChangeShapeType="1"/>
            </p:cNvSpPr>
            <p:nvPr/>
          </p:nvSpPr>
          <p:spPr bwMode="auto">
            <a:xfrm>
              <a:off x="1230" y="336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Text Box 135"/>
            <p:cNvSpPr txBox="1">
              <a:spLocks noChangeArrowheads="1"/>
            </p:cNvSpPr>
            <p:nvPr/>
          </p:nvSpPr>
          <p:spPr bwMode="auto">
            <a:xfrm rot="-5445560">
              <a:off x="950" y="369"/>
              <a:ext cx="475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latin typeface="Times New Roman" panose="02020603050405020304" pitchFamily="18" charset="0"/>
                </a:rPr>
                <a:t>For T.V.</a:t>
              </a:r>
            </a:p>
          </p:txBody>
        </p:sp>
      </p:grpSp>
      <p:grpSp>
        <p:nvGrpSpPr>
          <p:cNvPr id="6280" name="Group 136"/>
          <p:cNvGrpSpPr>
            <a:grpSpLocks/>
          </p:cNvGrpSpPr>
          <p:nvPr/>
        </p:nvGrpSpPr>
        <p:grpSpPr bwMode="auto">
          <a:xfrm rot="210307">
            <a:off x="8370888" y="2540000"/>
            <a:ext cx="773112" cy="295275"/>
            <a:chOff x="1722" y="2015"/>
            <a:chExt cx="521" cy="199"/>
          </a:xfrm>
        </p:grpSpPr>
        <p:sp>
          <p:nvSpPr>
            <p:cNvPr id="6251" name="Line 137"/>
            <p:cNvSpPr>
              <a:spLocks noChangeShapeType="1"/>
            </p:cNvSpPr>
            <p:nvPr/>
          </p:nvSpPr>
          <p:spPr bwMode="auto">
            <a:xfrm flipH="1" flipV="1">
              <a:off x="1722" y="2022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2" name="Text Box 138"/>
            <p:cNvSpPr txBox="1">
              <a:spLocks noChangeArrowheads="1"/>
            </p:cNvSpPr>
            <p:nvPr/>
          </p:nvSpPr>
          <p:spPr bwMode="auto">
            <a:xfrm rot="1545351">
              <a:off x="1762" y="2015"/>
              <a:ext cx="481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latin typeface="Times New Roman" panose="02020603050405020304" pitchFamily="18" charset="0"/>
                </a:rPr>
                <a:t>For F.V.</a:t>
              </a:r>
            </a:p>
          </p:txBody>
        </p:sp>
      </p:grpSp>
      <p:grpSp>
        <p:nvGrpSpPr>
          <p:cNvPr id="6283" name="Group 139"/>
          <p:cNvGrpSpPr>
            <a:grpSpLocks/>
          </p:cNvGrpSpPr>
          <p:nvPr/>
        </p:nvGrpSpPr>
        <p:grpSpPr bwMode="auto">
          <a:xfrm>
            <a:off x="1162050" y="1990725"/>
            <a:ext cx="1182688" cy="1566863"/>
            <a:chOff x="672" y="1014"/>
            <a:chExt cx="864" cy="1146"/>
          </a:xfrm>
        </p:grpSpPr>
        <p:grpSp>
          <p:nvGrpSpPr>
            <p:cNvPr id="6239" name="Group 140"/>
            <p:cNvGrpSpPr>
              <a:grpSpLocks/>
            </p:cNvGrpSpPr>
            <p:nvPr/>
          </p:nvGrpSpPr>
          <p:grpSpPr bwMode="auto">
            <a:xfrm>
              <a:off x="1272" y="1014"/>
              <a:ext cx="0" cy="624"/>
              <a:chOff x="1272" y="1014"/>
              <a:chExt cx="0" cy="624"/>
            </a:xfrm>
          </p:grpSpPr>
          <p:sp>
            <p:nvSpPr>
              <p:cNvPr id="34" name="Line 141"/>
              <p:cNvSpPr>
                <a:spLocks noChangeShapeType="1"/>
              </p:cNvSpPr>
              <p:nvPr/>
            </p:nvSpPr>
            <p:spPr bwMode="auto">
              <a:xfrm>
                <a:off x="1272" y="1014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" name="Line 142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40" name="Group 143"/>
            <p:cNvGrpSpPr>
              <a:grpSpLocks/>
            </p:cNvGrpSpPr>
            <p:nvPr/>
          </p:nvGrpSpPr>
          <p:grpSpPr bwMode="auto">
            <a:xfrm>
              <a:off x="672" y="1344"/>
              <a:ext cx="0" cy="624"/>
              <a:chOff x="672" y="1344"/>
              <a:chExt cx="0" cy="624"/>
            </a:xfrm>
          </p:grpSpPr>
          <p:sp>
            <p:nvSpPr>
              <p:cNvPr id="6247" name="Line 144"/>
              <p:cNvSpPr>
                <a:spLocks noChangeShapeType="1"/>
              </p:cNvSpPr>
              <p:nvPr/>
            </p:nvSpPr>
            <p:spPr bwMode="auto">
              <a:xfrm>
                <a:off x="672" y="1344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" name="Line 145"/>
              <p:cNvSpPr>
                <a:spLocks noChangeShapeType="1"/>
              </p:cNvSpPr>
              <p:nvPr/>
            </p:nvSpPr>
            <p:spPr bwMode="auto">
              <a:xfrm>
                <a:off x="672" y="168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" name="Group 146"/>
            <p:cNvGrpSpPr>
              <a:grpSpLocks/>
            </p:cNvGrpSpPr>
            <p:nvPr/>
          </p:nvGrpSpPr>
          <p:grpSpPr bwMode="auto">
            <a:xfrm>
              <a:off x="930" y="1536"/>
              <a:ext cx="0" cy="624"/>
              <a:chOff x="930" y="1536"/>
              <a:chExt cx="0" cy="624"/>
            </a:xfrm>
          </p:grpSpPr>
          <p:sp>
            <p:nvSpPr>
              <p:cNvPr id="6245" name="Line 147"/>
              <p:cNvSpPr>
                <a:spLocks noChangeShapeType="1"/>
              </p:cNvSpPr>
              <p:nvPr/>
            </p:nvSpPr>
            <p:spPr bwMode="auto">
              <a:xfrm>
                <a:off x="930" y="153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148"/>
              <p:cNvSpPr>
                <a:spLocks noChangeShapeType="1"/>
              </p:cNvSpPr>
              <p:nvPr/>
            </p:nvSpPr>
            <p:spPr bwMode="auto">
              <a:xfrm>
                <a:off x="930" y="177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" name="Group 149"/>
            <p:cNvGrpSpPr>
              <a:grpSpLocks/>
            </p:cNvGrpSpPr>
            <p:nvPr/>
          </p:nvGrpSpPr>
          <p:grpSpPr bwMode="auto">
            <a:xfrm>
              <a:off x="1536" y="1200"/>
              <a:ext cx="0" cy="624"/>
              <a:chOff x="1536" y="1200"/>
              <a:chExt cx="0" cy="624"/>
            </a:xfrm>
          </p:grpSpPr>
          <p:sp>
            <p:nvSpPr>
              <p:cNvPr id="38" name="Line 150"/>
              <p:cNvSpPr>
                <a:spLocks noChangeShapeType="1"/>
              </p:cNvSpPr>
              <p:nvPr/>
            </p:nvSpPr>
            <p:spPr bwMode="auto">
              <a:xfrm>
                <a:off x="1536" y="1200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4" name="Line 151"/>
              <p:cNvSpPr>
                <a:spLocks noChangeShapeType="1"/>
              </p:cNvSpPr>
              <p:nvPr/>
            </p:nvSpPr>
            <p:spPr bwMode="auto">
              <a:xfrm>
                <a:off x="1536" y="153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296" name="Group 152"/>
          <p:cNvGrpSpPr>
            <a:grpSpLocks/>
          </p:cNvGrpSpPr>
          <p:nvPr/>
        </p:nvGrpSpPr>
        <p:grpSpPr bwMode="auto">
          <a:xfrm>
            <a:off x="427038" y="5210175"/>
            <a:ext cx="2005012" cy="1503363"/>
            <a:chOff x="280" y="3216"/>
            <a:chExt cx="1352" cy="1013"/>
          </a:xfrm>
        </p:grpSpPr>
        <p:sp>
          <p:nvSpPr>
            <p:cNvPr id="6230" name="Rectangle 153"/>
            <p:cNvSpPr>
              <a:spLocks noChangeArrowheads="1"/>
            </p:cNvSpPr>
            <p:nvPr/>
          </p:nvSpPr>
          <p:spPr bwMode="auto">
            <a:xfrm>
              <a:off x="336" y="3453"/>
              <a:ext cx="1296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31" name="Rectangle 154"/>
            <p:cNvSpPr>
              <a:spLocks noChangeArrowheads="1"/>
            </p:cNvSpPr>
            <p:nvPr/>
          </p:nvSpPr>
          <p:spPr bwMode="auto">
            <a:xfrm>
              <a:off x="630" y="3648"/>
              <a:ext cx="67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32" name="Line 155"/>
            <p:cNvSpPr>
              <a:spLocks noChangeShapeType="1"/>
            </p:cNvSpPr>
            <p:nvPr/>
          </p:nvSpPr>
          <p:spPr bwMode="auto">
            <a:xfrm flipV="1">
              <a:off x="624" y="3216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33" name="Line 156"/>
            <p:cNvSpPr>
              <a:spLocks noChangeShapeType="1"/>
            </p:cNvSpPr>
            <p:nvPr/>
          </p:nvSpPr>
          <p:spPr bwMode="auto">
            <a:xfrm flipV="1">
              <a:off x="1296" y="3216"/>
              <a:ext cx="0" cy="5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34" name="Text Box 157"/>
            <p:cNvSpPr txBox="1">
              <a:spLocks noChangeArrowheads="1"/>
            </p:cNvSpPr>
            <p:nvPr/>
          </p:nvSpPr>
          <p:spPr bwMode="auto">
            <a:xfrm>
              <a:off x="280" y="4044"/>
              <a:ext cx="255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HP</a:t>
              </a:r>
            </a:p>
          </p:txBody>
        </p:sp>
        <p:sp>
          <p:nvSpPr>
            <p:cNvPr id="6235" name="Text Box 158"/>
            <p:cNvSpPr txBox="1">
              <a:spLocks noChangeArrowheads="1"/>
            </p:cNvSpPr>
            <p:nvPr/>
          </p:nvSpPr>
          <p:spPr bwMode="auto">
            <a:xfrm>
              <a:off x="477" y="3567"/>
              <a:ext cx="170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" name="Text Box 159"/>
            <p:cNvSpPr txBox="1">
              <a:spLocks noChangeArrowheads="1"/>
            </p:cNvSpPr>
            <p:nvPr/>
          </p:nvSpPr>
          <p:spPr bwMode="auto">
            <a:xfrm>
              <a:off x="478" y="3807"/>
              <a:ext cx="176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237" name="Text Box 160"/>
            <p:cNvSpPr txBox="1">
              <a:spLocks noChangeArrowheads="1"/>
            </p:cNvSpPr>
            <p:nvPr/>
          </p:nvSpPr>
          <p:spPr bwMode="auto">
            <a:xfrm>
              <a:off x="1270" y="3807"/>
              <a:ext cx="170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238" name="Text Box 161"/>
            <p:cNvSpPr txBox="1">
              <a:spLocks noChangeArrowheads="1"/>
            </p:cNvSpPr>
            <p:nvPr/>
          </p:nvSpPr>
          <p:spPr bwMode="auto">
            <a:xfrm>
              <a:off x="1270" y="3567"/>
              <a:ext cx="176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6306" name="Group 162"/>
          <p:cNvGrpSpPr>
            <a:grpSpLocks/>
          </p:cNvGrpSpPr>
          <p:nvPr/>
        </p:nvGrpSpPr>
        <p:grpSpPr bwMode="auto">
          <a:xfrm>
            <a:off x="4354513" y="4724400"/>
            <a:ext cx="3875087" cy="728663"/>
            <a:chOff x="2928" y="2806"/>
            <a:chExt cx="2256" cy="577"/>
          </a:xfrm>
        </p:grpSpPr>
        <p:sp>
          <p:nvSpPr>
            <p:cNvPr id="6220" name="Line 163"/>
            <p:cNvSpPr>
              <a:spLocks noChangeShapeType="1"/>
            </p:cNvSpPr>
            <p:nvPr/>
          </p:nvSpPr>
          <p:spPr bwMode="auto">
            <a:xfrm>
              <a:off x="2928" y="2928"/>
              <a:ext cx="2256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21" name="Line 164"/>
            <p:cNvSpPr>
              <a:spLocks noChangeShapeType="1"/>
            </p:cNvSpPr>
            <p:nvPr/>
          </p:nvSpPr>
          <p:spPr bwMode="auto">
            <a:xfrm>
              <a:off x="3168" y="3264"/>
              <a:ext cx="196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65"/>
            <p:cNvSpPr>
              <a:spLocks noChangeShapeType="1"/>
            </p:cNvSpPr>
            <p:nvPr/>
          </p:nvSpPr>
          <p:spPr bwMode="auto">
            <a:xfrm>
              <a:off x="4752" y="2928"/>
              <a:ext cx="19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166"/>
            <p:cNvSpPr>
              <a:spLocks noChangeShapeType="1"/>
            </p:cNvSpPr>
            <p:nvPr/>
          </p:nvSpPr>
          <p:spPr bwMode="auto">
            <a:xfrm>
              <a:off x="4368" y="3264"/>
              <a:ext cx="19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24" name="Line 167"/>
            <p:cNvSpPr>
              <a:spLocks noChangeShapeType="1"/>
            </p:cNvSpPr>
            <p:nvPr/>
          </p:nvSpPr>
          <p:spPr bwMode="auto">
            <a:xfrm flipH="1">
              <a:off x="4368" y="2928"/>
              <a:ext cx="384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25" name="Line 168"/>
            <p:cNvSpPr>
              <a:spLocks noChangeShapeType="1"/>
            </p:cNvSpPr>
            <p:nvPr/>
          </p:nvSpPr>
          <p:spPr bwMode="auto">
            <a:xfrm flipH="1">
              <a:off x="4560" y="2928"/>
              <a:ext cx="384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26" name="Text Box 169"/>
            <p:cNvSpPr txBox="1">
              <a:spLocks noChangeArrowheads="1"/>
            </p:cNvSpPr>
            <p:nvPr/>
          </p:nvSpPr>
          <p:spPr bwMode="auto">
            <a:xfrm>
              <a:off x="4239" y="3135"/>
              <a:ext cx="207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a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  <a:r>
                <a:rPr lang="en-US" altLang="en-US" sz="1200">
                  <a:latin typeface="Times New Roman" panose="02020603050405020304" pitchFamily="18" charset="0"/>
                </a:rPr>
                <a:t>’</a:t>
              </a:r>
              <a:endParaRPr lang="en-US" altLang="en-US" sz="12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227" name="Text Box 170"/>
            <p:cNvSpPr txBox="1">
              <a:spLocks noChangeArrowheads="1"/>
            </p:cNvSpPr>
            <p:nvPr/>
          </p:nvSpPr>
          <p:spPr bwMode="auto">
            <a:xfrm>
              <a:off x="4582" y="2812"/>
              <a:ext cx="211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d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  <a:r>
                <a:rPr lang="en-US" altLang="en-US" sz="1200">
                  <a:latin typeface="Times New Roman" panose="02020603050405020304" pitchFamily="18" charset="0"/>
                </a:rPr>
                <a:t>’</a:t>
              </a:r>
              <a:endParaRPr lang="en-US" altLang="en-US" sz="12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228" name="Text Box 171"/>
            <p:cNvSpPr txBox="1">
              <a:spLocks noChangeArrowheads="1"/>
            </p:cNvSpPr>
            <p:nvPr/>
          </p:nvSpPr>
          <p:spPr bwMode="auto">
            <a:xfrm>
              <a:off x="4912" y="2806"/>
              <a:ext cx="20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c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  <a:r>
                <a:rPr lang="en-US" altLang="en-US" sz="1200">
                  <a:latin typeface="Times New Roman" panose="02020603050405020304" pitchFamily="18" charset="0"/>
                </a:rPr>
                <a:t>’</a:t>
              </a:r>
              <a:endParaRPr lang="en-US" altLang="en-US" sz="12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229" name="Text Box 172"/>
            <p:cNvSpPr txBox="1">
              <a:spLocks noChangeArrowheads="1"/>
            </p:cNvSpPr>
            <p:nvPr/>
          </p:nvSpPr>
          <p:spPr bwMode="auto">
            <a:xfrm>
              <a:off x="4564" y="3166"/>
              <a:ext cx="211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Times New Roman" panose="02020603050405020304" pitchFamily="18" charset="0"/>
                </a:rPr>
                <a:t>b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  <a:r>
                <a:rPr lang="en-US" altLang="en-US" sz="1200">
                  <a:latin typeface="Times New Roman" panose="02020603050405020304" pitchFamily="18" charset="0"/>
                </a:rPr>
                <a:t>’</a:t>
              </a:r>
              <a:endParaRPr lang="en-US" altLang="en-US" sz="1200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6317" name="AutoShape 173"/>
          <p:cNvSpPr>
            <a:spLocks noChangeArrowheads="1"/>
          </p:cNvSpPr>
          <p:nvPr/>
        </p:nvSpPr>
        <p:spPr bwMode="auto">
          <a:xfrm rot="19819119" flipH="1">
            <a:off x="1158875" y="2049463"/>
            <a:ext cx="1209675" cy="460375"/>
          </a:xfrm>
          <a:prstGeom prst="parallelogram">
            <a:avLst>
              <a:gd name="adj" fmla="val 46640"/>
            </a:avLst>
          </a:prstGeom>
          <a:solidFill>
            <a:schemeClr val="hlink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318" name="Line 174"/>
          <p:cNvSpPr>
            <a:spLocks noChangeShapeType="1"/>
          </p:cNvSpPr>
          <p:nvPr/>
        </p:nvSpPr>
        <p:spPr bwMode="auto">
          <a:xfrm flipV="1">
            <a:off x="6564313" y="2643188"/>
            <a:ext cx="276225" cy="18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319" name="Group 175"/>
          <p:cNvGrpSpPr>
            <a:grpSpLocks/>
          </p:cNvGrpSpPr>
          <p:nvPr/>
        </p:nvGrpSpPr>
        <p:grpSpPr bwMode="auto">
          <a:xfrm>
            <a:off x="1844675" y="4711700"/>
            <a:ext cx="3489325" cy="2001838"/>
            <a:chOff x="1104" y="2880"/>
            <a:chExt cx="2352" cy="1349"/>
          </a:xfrm>
        </p:grpSpPr>
        <p:grpSp>
          <p:nvGrpSpPr>
            <p:cNvPr id="6207" name="Group 176"/>
            <p:cNvGrpSpPr>
              <a:grpSpLocks/>
            </p:cNvGrpSpPr>
            <p:nvPr/>
          </p:nvGrpSpPr>
          <p:grpSpPr bwMode="auto">
            <a:xfrm>
              <a:off x="1104" y="3456"/>
              <a:ext cx="2352" cy="773"/>
              <a:chOff x="1104" y="3456"/>
              <a:chExt cx="2352" cy="773"/>
            </a:xfrm>
          </p:grpSpPr>
          <p:sp>
            <p:nvSpPr>
              <p:cNvPr id="6210" name="Rectangle 177"/>
              <p:cNvSpPr>
                <a:spLocks noChangeArrowheads="1"/>
              </p:cNvSpPr>
              <p:nvPr/>
            </p:nvSpPr>
            <p:spPr bwMode="auto">
              <a:xfrm>
                <a:off x="2160" y="3456"/>
                <a:ext cx="1296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6211" name="Rectangle 178"/>
              <p:cNvSpPr>
                <a:spLocks noChangeArrowheads="1"/>
              </p:cNvSpPr>
              <p:nvPr/>
            </p:nvSpPr>
            <p:spPr bwMode="auto">
              <a:xfrm>
                <a:off x="2550" y="3648"/>
                <a:ext cx="522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6212" name="Text Box 179"/>
              <p:cNvSpPr txBox="1">
                <a:spLocks noChangeArrowheads="1"/>
              </p:cNvSpPr>
              <p:nvPr/>
            </p:nvSpPr>
            <p:spPr bwMode="auto">
              <a:xfrm>
                <a:off x="2105" y="4044"/>
                <a:ext cx="255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200">
                    <a:latin typeface="Times New Roman" panose="02020603050405020304" pitchFamily="18" charset="0"/>
                  </a:rPr>
                  <a:t>HP</a:t>
                </a:r>
              </a:p>
            </p:txBody>
          </p:sp>
          <p:grpSp>
            <p:nvGrpSpPr>
              <p:cNvPr id="6213" name="Group 180"/>
              <p:cNvGrpSpPr>
                <a:grpSpLocks/>
              </p:cNvGrpSpPr>
              <p:nvPr/>
            </p:nvGrpSpPr>
            <p:grpSpPr bwMode="auto">
              <a:xfrm>
                <a:off x="2400" y="3555"/>
                <a:ext cx="840" cy="486"/>
                <a:chOff x="2400" y="3555"/>
                <a:chExt cx="840" cy="486"/>
              </a:xfrm>
            </p:grpSpPr>
            <p:sp>
              <p:nvSpPr>
                <p:cNvPr id="42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2400" y="3567"/>
                  <a:ext cx="205" cy="1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en-US" sz="12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3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2401" y="3854"/>
                  <a:ext cx="210" cy="1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en-US" sz="12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6218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3024" y="3855"/>
                  <a:ext cx="204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en-US" sz="12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6219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3030" y="3555"/>
                  <a:ext cx="210" cy="1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d</a:t>
                  </a:r>
                  <a:r>
                    <a:rPr lang="en-US" altLang="en-US" sz="1200" baseline="-250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6214" name="Line 185"/>
              <p:cNvSpPr>
                <a:spLocks noChangeShapeType="1"/>
              </p:cNvSpPr>
              <p:nvPr/>
            </p:nvSpPr>
            <p:spPr bwMode="auto">
              <a:xfrm>
                <a:off x="1104" y="3648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15" name="Line 186"/>
              <p:cNvSpPr>
                <a:spLocks noChangeShapeType="1"/>
              </p:cNvSpPr>
              <p:nvPr/>
            </p:nvSpPr>
            <p:spPr bwMode="auto">
              <a:xfrm>
                <a:off x="1104" y="3936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08" name="Line 187"/>
            <p:cNvSpPr>
              <a:spLocks noChangeShapeType="1"/>
            </p:cNvSpPr>
            <p:nvPr/>
          </p:nvSpPr>
          <p:spPr bwMode="auto">
            <a:xfrm>
              <a:off x="2544" y="32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9" name="Line 188"/>
            <p:cNvSpPr>
              <a:spLocks noChangeShapeType="1"/>
            </p:cNvSpPr>
            <p:nvPr/>
          </p:nvSpPr>
          <p:spPr bwMode="auto">
            <a:xfrm>
              <a:off x="3072" y="288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333" name="Line 189"/>
          <p:cNvSpPr>
            <a:spLocks noChangeShapeType="1"/>
          </p:cNvSpPr>
          <p:nvPr/>
        </p:nvSpPr>
        <p:spPr bwMode="auto">
          <a:xfrm flipH="1">
            <a:off x="6523038" y="2832100"/>
            <a:ext cx="1425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34" name="WordArt 190"/>
          <p:cNvSpPr>
            <a:spLocks noChangeArrowheads="1" noChangeShapeType="1" noTextEdit="1"/>
          </p:cNvSpPr>
          <p:nvPr/>
        </p:nvSpPr>
        <p:spPr bwMode="auto">
          <a:xfrm rot="132865">
            <a:off x="3800475" y="1541463"/>
            <a:ext cx="260350" cy="2635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US" sz="1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cs typeface="Arial" panose="020B0604020202020204" pitchFamily="34" charset="0"/>
              </a:rPr>
              <a:t>FV-2</a:t>
            </a:r>
          </a:p>
        </p:txBody>
      </p:sp>
      <p:sp>
        <p:nvSpPr>
          <p:cNvPr id="6335" name="WordArt 191" descr="Paper bag"/>
          <p:cNvSpPr>
            <a:spLocks noChangeArrowheads="1" noChangeShapeType="1" noTextEdit="1"/>
          </p:cNvSpPr>
          <p:nvPr/>
        </p:nvSpPr>
        <p:spPr bwMode="auto">
          <a:xfrm rot="-2035882">
            <a:off x="4848225" y="3236913"/>
            <a:ext cx="339725" cy="1460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6361"/>
              </a:avLst>
            </a:prstTxWarp>
          </a:bodyPr>
          <a:lstStyle/>
          <a:p>
            <a:pPr algn="ctr"/>
            <a:r>
              <a:rPr lang="en-US" sz="8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8"/>
                  <a:srcRect/>
                  <a:tile tx="0" ty="0" sx="100000" sy="100000" flip="none" algn="tl"/>
                </a:blipFill>
                <a:cs typeface="Arial" panose="020B0604020202020204" pitchFamily="34" charset="0"/>
              </a:rPr>
              <a:t>T V-2</a:t>
            </a:r>
          </a:p>
        </p:txBody>
      </p:sp>
      <p:grpSp>
        <p:nvGrpSpPr>
          <p:cNvPr id="6336" name="Group 192"/>
          <p:cNvGrpSpPr>
            <a:grpSpLocks/>
          </p:cNvGrpSpPr>
          <p:nvPr/>
        </p:nvGrpSpPr>
        <p:grpSpPr bwMode="auto">
          <a:xfrm>
            <a:off x="1600200" y="14288"/>
            <a:ext cx="5638800" cy="381000"/>
            <a:chOff x="1008" y="9"/>
            <a:chExt cx="3552" cy="240"/>
          </a:xfrm>
        </p:grpSpPr>
        <p:sp>
          <p:nvSpPr>
            <p:cNvPr id="44" name="Rectangle 193"/>
            <p:cNvSpPr>
              <a:spLocks noChangeArrowheads="1"/>
            </p:cNvSpPr>
            <p:nvPr/>
          </p:nvSpPr>
          <p:spPr bwMode="auto">
            <a:xfrm>
              <a:off x="1008" y="9"/>
              <a:ext cx="3552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5" name="Text Box 194"/>
            <p:cNvSpPr txBox="1">
              <a:spLocks noChangeArrowheads="1"/>
            </p:cNvSpPr>
            <p:nvPr/>
          </p:nvSpPr>
          <p:spPr bwMode="auto">
            <a:xfrm>
              <a:off x="1094" y="18"/>
              <a:ext cx="342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b="1">
                  <a:solidFill>
                    <a:srgbClr val="FFFF66"/>
                  </a:solidFill>
                </a:rPr>
                <a:t>CASE OF A RECTANGLE – OBSERVE AND NOTE ALL STEPS.</a:t>
              </a:r>
            </a:p>
          </p:txBody>
        </p:sp>
      </p:grpSp>
      <p:sp>
        <p:nvSpPr>
          <p:cNvPr id="6339" name="Text Box 195"/>
          <p:cNvSpPr txBox="1">
            <a:spLocks noChangeArrowheads="1"/>
          </p:cNvSpPr>
          <p:nvPr/>
        </p:nvSpPr>
        <p:spPr bwMode="auto">
          <a:xfrm>
            <a:off x="128588" y="438150"/>
            <a:ext cx="2624137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SURFACE </a:t>
            </a:r>
            <a:r>
              <a:rPr lang="en-US" altLang="en-US" sz="1400" b="1">
                <a:solidFill>
                  <a:srgbClr val="CC0066"/>
                </a:solidFill>
              </a:rPr>
              <a:t>PARALLEL</a:t>
            </a:r>
            <a:r>
              <a:rPr lang="en-US" altLang="en-US" sz="1400"/>
              <a:t> </a:t>
            </a:r>
            <a:r>
              <a:rPr lang="en-US" altLang="en-US" sz="1400">
                <a:solidFill>
                  <a:srgbClr val="CC0066"/>
                </a:solidFill>
              </a:rPr>
              <a:t>TO HP</a:t>
            </a:r>
          </a:p>
          <a:p>
            <a:pPr algn="ctr" eaLnBrk="1" hangingPunct="1"/>
            <a:r>
              <a:rPr lang="en-US" altLang="en-US" sz="1200" i="1"/>
              <a:t>PICTORIAL PRESENTATION</a:t>
            </a:r>
          </a:p>
        </p:txBody>
      </p:sp>
      <p:sp>
        <p:nvSpPr>
          <p:cNvPr id="6340" name="Text Box 196"/>
          <p:cNvSpPr txBox="1">
            <a:spLocks noChangeArrowheads="1"/>
          </p:cNvSpPr>
          <p:nvPr/>
        </p:nvSpPr>
        <p:spPr bwMode="auto">
          <a:xfrm>
            <a:off x="3260725" y="428625"/>
            <a:ext cx="2516188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SURFACE </a:t>
            </a:r>
            <a:r>
              <a:rPr lang="en-US" altLang="en-US" sz="1400" b="1">
                <a:solidFill>
                  <a:srgbClr val="CC0066"/>
                </a:solidFill>
              </a:rPr>
              <a:t>INCLINED</a:t>
            </a:r>
            <a:r>
              <a:rPr lang="en-US" altLang="en-US" sz="1400"/>
              <a:t> </a:t>
            </a:r>
            <a:r>
              <a:rPr lang="en-US" altLang="en-US" sz="1400">
                <a:solidFill>
                  <a:srgbClr val="CC0066"/>
                </a:solidFill>
              </a:rPr>
              <a:t>TO HP</a:t>
            </a:r>
          </a:p>
          <a:p>
            <a:pPr algn="ctr" eaLnBrk="1" hangingPunct="1"/>
            <a:r>
              <a:rPr lang="en-US" altLang="en-US" sz="1200" i="1"/>
              <a:t>PICTORIAL PRESENTATION</a:t>
            </a:r>
          </a:p>
        </p:txBody>
      </p:sp>
      <p:sp>
        <p:nvSpPr>
          <p:cNvPr id="6341" name="Text Box 197"/>
          <p:cNvSpPr txBox="1">
            <a:spLocks noChangeArrowheads="1"/>
          </p:cNvSpPr>
          <p:nvPr/>
        </p:nvSpPr>
        <p:spPr bwMode="auto">
          <a:xfrm>
            <a:off x="5883275" y="409575"/>
            <a:ext cx="316706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>
                <a:solidFill>
                  <a:srgbClr val="CC0066"/>
                </a:solidFill>
              </a:rPr>
              <a:t>ONE SMALL SIDE INCLINED </a:t>
            </a:r>
            <a:r>
              <a:rPr lang="en-US" altLang="en-US" sz="1400">
                <a:solidFill>
                  <a:srgbClr val="CC0066"/>
                </a:solidFill>
              </a:rPr>
              <a:t>TO VP</a:t>
            </a:r>
          </a:p>
          <a:p>
            <a:pPr algn="ctr" eaLnBrk="1" hangingPunct="1"/>
            <a:r>
              <a:rPr lang="en-US" altLang="en-US" sz="1200" i="1"/>
              <a:t>PICTORIAL PRESENTATION</a:t>
            </a:r>
          </a:p>
        </p:txBody>
      </p:sp>
      <p:sp>
        <p:nvSpPr>
          <p:cNvPr id="6342" name="Text Box 198"/>
          <p:cNvSpPr txBox="1">
            <a:spLocks noChangeArrowheads="1"/>
          </p:cNvSpPr>
          <p:nvPr/>
        </p:nvSpPr>
        <p:spPr bwMode="auto">
          <a:xfrm>
            <a:off x="704850" y="3962400"/>
            <a:ext cx="164623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u="sng">
                <a:solidFill>
                  <a:srgbClr val="CC0066"/>
                </a:solidFill>
              </a:rPr>
              <a:t>ORTHOGRAPHIC</a:t>
            </a:r>
          </a:p>
          <a:p>
            <a:pPr algn="ctr" eaLnBrk="1" hangingPunct="1"/>
            <a:r>
              <a:rPr lang="en-US" altLang="en-US" sz="1400"/>
              <a:t>TV-True Shape</a:t>
            </a:r>
          </a:p>
          <a:p>
            <a:pPr algn="ctr" eaLnBrk="1" hangingPunct="1"/>
            <a:r>
              <a:rPr lang="en-US" altLang="en-US" sz="1400"/>
              <a:t>  FV- Line // to xy </a:t>
            </a:r>
          </a:p>
        </p:txBody>
      </p:sp>
      <p:sp>
        <p:nvSpPr>
          <p:cNvPr id="6343" name="Text Box 199"/>
          <p:cNvSpPr txBox="1">
            <a:spLocks noChangeArrowheads="1"/>
          </p:cNvSpPr>
          <p:nvPr/>
        </p:nvSpPr>
        <p:spPr bwMode="auto">
          <a:xfrm>
            <a:off x="3470275" y="3962400"/>
            <a:ext cx="183991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u="sng">
                <a:solidFill>
                  <a:srgbClr val="CC0066"/>
                </a:solidFill>
              </a:rPr>
              <a:t>ORTHOGRAPHIC</a:t>
            </a:r>
          </a:p>
          <a:p>
            <a:pPr algn="ctr" eaLnBrk="1" hangingPunct="1"/>
            <a:r>
              <a:rPr lang="en-US" altLang="en-US" sz="1400"/>
              <a:t>FV- Inclined to XY</a:t>
            </a:r>
          </a:p>
          <a:p>
            <a:pPr algn="ctr" eaLnBrk="1" hangingPunct="1"/>
            <a:r>
              <a:rPr lang="en-US" altLang="en-US" sz="1400"/>
              <a:t>TV- Reduced Shape </a:t>
            </a:r>
          </a:p>
        </p:txBody>
      </p:sp>
      <p:sp>
        <p:nvSpPr>
          <p:cNvPr id="6344" name="Text Box 200"/>
          <p:cNvSpPr txBox="1">
            <a:spLocks noChangeArrowheads="1"/>
          </p:cNvSpPr>
          <p:nvPr/>
        </p:nvSpPr>
        <p:spPr bwMode="auto">
          <a:xfrm>
            <a:off x="6345238" y="3933825"/>
            <a:ext cx="180022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u="sng">
                <a:solidFill>
                  <a:srgbClr val="CC0066"/>
                </a:solidFill>
              </a:rPr>
              <a:t>ORTHOGRAPHIC</a:t>
            </a:r>
          </a:p>
          <a:p>
            <a:pPr algn="ctr" eaLnBrk="1" hangingPunct="1"/>
            <a:r>
              <a:rPr lang="en-US" altLang="en-US" sz="1400"/>
              <a:t>FV- Apparent Shape</a:t>
            </a:r>
          </a:p>
          <a:p>
            <a:pPr algn="ctr" eaLnBrk="1" hangingPunct="1"/>
            <a:r>
              <a:rPr lang="en-US" altLang="en-US" sz="1400"/>
              <a:t>TV-Previous Shape </a:t>
            </a:r>
          </a:p>
        </p:txBody>
      </p:sp>
      <p:sp>
        <p:nvSpPr>
          <p:cNvPr id="6345" name="AutoShape 201"/>
          <p:cNvSpPr>
            <a:spLocks noChangeArrowheads="1"/>
          </p:cNvSpPr>
          <p:nvPr/>
        </p:nvSpPr>
        <p:spPr bwMode="auto">
          <a:xfrm>
            <a:off x="533400" y="3657600"/>
            <a:ext cx="228600" cy="685800"/>
          </a:xfrm>
          <a:prstGeom prst="upDownArrow">
            <a:avLst>
              <a:gd name="adj1" fmla="val 50000"/>
              <a:gd name="adj2" fmla="val 60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346" name="AutoShape 202"/>
          <p:cNvSpPr>
            <a:spLocks noChangeArrowheads="1"/>
          </p:cNvSpPr>
          <p:nvPr/>
        </p:nvSpPr>
        <p:spPr bwMode="auto">
          <a:xfrm>
            <a:off x="3352800" y="3657600"/>
            <a:ext cx="228600" cy="685800"/>
          </a:xfrm>
          <a:prstGeom prst="upDownArrow">
            <a:avLst>
              <a:gd name="adj1" fmla="val 50000"/>
              <a:gd name="adj2" fmla="val 60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347" name="AutoShape 203"/>
          <p:cNvSpPr>
            <a:spLocks noChangeArrowheads="1"/>
          </p:cNvSpPr>
          <p:nvPr/>
        </p:nvSpPr>
        <p:spPr bwMode="auto">
          <a:xfrm>
            <a:off x="8153400" y="3810000"/>
            <a:ext cx="228600" cy="685800"/>
          </a:xfrm>
          <a:prstGeom prst="upDownArrow">
            <a:avLst>
              <a:gd name="adj1" fmla="val 50000"/>
              <a:gd name="adj2" fmla="val 60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6348" name="Group 204"/>
          <p:cNvGrpSpPr>
            <a:grpSpLocks/>
          </p:cNvGrpSpPr>
          <p:nvPr/>
        </p:nvGrpSpPr>
        <p:grpSpPr bwMode="auto">
          <a:xfrm>
            <a:off x="2514600" y="6324600"/>
            <a:ext cx="457200" cy="457200"/>
            <a:chOff x="1584" y="3120"/>
            <a:chExt cx="288" cy="288"/>
          </a:xfrm>
        </p:grpSpPr>
        <p:sp>
          <p:nvSpPr>
            <p:cNvPr id="6203" name="Oval 205"/>
            <p:cNvSpPr>
              <a:spLocks noChangeArrowheads="1"/>
            </p:cNvSpPr>
            <p:nvPr/>
          </p:nvSpPr>
          <p:spPr bwMode="auto">
            <a:xfrm>
              <a:off x="1584" y="3120"/>
              <a:ext cx="288" cy="28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04" name="Text Box 206"/>
            <p:cNvSpPr txBox="1">
              <a:spLocks noChangeArrowheads="1"/>
            </p:cNvSpPr>
            <p:nvPr/>
          </p:nvSpPr>
          <p:spPr bwMode="auto">
            <a:xfrm>
              <a:off x="1625" y="3158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b="1"/>
                <a:t>A</a:t>
              </a:r>
            </a:p>
          </p:txBody>
        </p:sp>
      </p:grpSp>
      <p:grpSp>
        <p:nvGrpSpPr>
          <p:cNvPr id="6351" name="Group 207"/>
          <p:cNvGrpSpPr>
            <a:grpSpLocks/>
          </p:cNvGrpSpPr>
          <p:nvPr/>
        </p:nvGrpSpPr>
        <p:grpSpPr bwMode="auto">
          <a:xfrm>
            <a:off x="5410200" y="6324600"/>
            <a:ext cx="457200" cy="457200"/>
            <a:chOff x="1584" y="3120"/>
            <a:chExt cx="288" cy="288"/>
          </a:xfrm>
        </p:grpSpPr>
        <p:sp>
          <p:nvSpPr>
            <p:cNvPr id="6201" name="Oval 208"/>
            <p:cNvSpPr>
              <a:spLocks noChangeArrowheads="1"/>
            </p:cNvSpPr>
            <p:nvPr/>
          </p:nvSpPr>
          <p:spPr bwMode="auto">
            <a:xfrm>
              <a:off x="1584" y="3120"/>
              <a:ext cx="288" cy="28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02" name="Text Box 209"/>
            <p:cNvSpPr txBox="1">
              <a:spLocks noChangeArrowheads="1"/>
            </p:cNvSpPr>
            <p:nvPr/>
          </p:nvSpPr>
          <p:spPr bwMode="auto">
            <a:xfrm>
              <a:off x="1625" y="3158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b="1"/>
                <a:t>B</a:t>
              </a:r>
            </a:p>
          </p:txBody>
        </p:sp>
      </p:grpSp>
      <p:grpSp>
        <p:nvGrpSpPr>
          <p:cNvPr id="6354" name="Group 210"/>
          <p:cNvGrpSpPr>
            <a:grpSpLocks/>
          </p:cNvGrpSpPr>
          <p:nvPr/>
        </p:nvGrpSpPr>
        <p:grpSpPr bwMode="auto">
          <a:xfrm>
            <a:off x="8305800" y="6248400"/>
            <a:ext cx="457200" cy="457200"/>
            <a:chOff x="1584" y="3120"/>
            <a:chExt cx="288" cy="288"/>
          </a:xfrm>
        </p:grpSpPr>
        <p:sp>
          <p:nvSpPr>
            <p:cNvPr id="46" name="Oval 211"/>
            <p:cNvSpPr>
              <a:spLocks noChangeArrowheads="1"/>
            </p:cNvSpPr>
            <p:nvPr/>
          </p:nvSpPr>
          <p:spPr bwMode="auto">
            <a:xfrm>
              <a:off x="1584" y="3120"/>
              <a:ext cx="288" cy="28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00" name="Text Box 212"/>
            <p:cNvSpPr txBox="1">
              <a:spLocks noChangeArrowheads="1"/>
            </p:cNvSpPr>
            <p:nvPr/>
          </p:nvSpPr>
          <p:spPr bwMode="auto">
            <a:xfrm>
              <a:off x="1625" y="3158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b="1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97317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6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3" dur="500"/>
                                        <p:tgtEl>
                                          <p:spTgt spid="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8" dur="500"/>
                                        <p:tgtEl>
                                          <p:spTgt spid="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0" dur="500"/>
                                        <p:tgtEl>
                                          <p:spTgt spid="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5" dur="5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0" dur="500"/>
                                        <p:tgtEl>
                                          <p:spTgt spid="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6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7" dur="500"/>
                                        <p:tgtEl>
                                          <p:spTgt spid="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2" dur="500"/>
                                        <p:tgtEl>
                                          <p:spTgt spid="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6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6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6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6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6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6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6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6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6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6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6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6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6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6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6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6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6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6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6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6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6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6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6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6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6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6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6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6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6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Par">
                      <p:stCondLst>
                        <p:cond delay="indefinite"/>
                      </p:stCondLst>
                      <p:childTnLst>
                        <p:par>
                          <p:cTn id="3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6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6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6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6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0"/>
                                        <p:tgtEl>
                                          <p:spTgt spid="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8" grpId="0" animBg="1"/>
      <p:bldP spid="6189" grpId="0" animBg="1"/>
      <p:bldP spid="6205" grpId="0" animBg="1"/>
      <p:bldP spid="6216" grpId="0" animBg="1"/>
      <p:bldP spid="6222" grpId="0" animBg="1"/>
      <p:bldP spid="6241" grpId="0" animBg="1"/>
      <p:bldP spid="6242" grpId="0" animBg="1"/>
      <p:bldP spid="6259" grpId="0" animBg="1"/>
      <p:bldP spid="6265" grpId="0" animBg="1"/>
      <p:bldP spid="6266" grpId="0" animBg="1"/>
      <p:bldP spid="6317" grpId="0" animBg="1"/>
      <p:bldP spid="6318" grpId="0" animBg="1"/>
      <p:bldP spid="6333" grpId="0" animBg="1"/>
      <p:bldP spid="6334" grpId="0" animBg="1"/>
      <p:bldP spid="6335" grpId="0" animBg="1"/>
      <p:bldP spid="6339" grpId="0" autoUpdateAnimBg="0"/>
      <p:bldP spid="6340" grpId="0" autoUpdateAnimBg="0"/>
      <p:bldP spid="6341" grpId="0" autoUpdateAnimBg="0"/>
      <p:bldP spid="6342" grpId="0" autoUpdateAnimBg="0"/>
      <p:bldP spid="6343" grpId="0" autoUpdateAnimBg="0"/>
      <p:bldP spid="6344" grpId="0" autoUpdateAnimBg="0"/>
      <p:bldP spid="6345" grpId="0" animBg="1"/>
      <p:bldP spid="6346" grpId="0" animBg="1"/>
      <p:bldP spid="63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533400" y="4237038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28600" y="40084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8077200" y="39322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1219200" y="4694238"/>
            <a:ext cx="21336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838200" y="4465638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762000" y="545623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3276600" y="5380038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3352800" y="45418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 flipV="1">
            <a:off x="1219200" y="3627438"/>
            <a:ext cx="0" cy="1066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 flipV="1">
            <a:off x="3352800" y="3627438"/>
            <a:ext cx="0" cy="1066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1219200" y="3733800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3962400" y="3856038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4210050" y="3703638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3276600" y="324643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c’</a:t>
            </a: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3429000" y="324643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d’</a:t>
            </a:r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V="1">
            <a:off x="4267200" y="3094038"/>
            <a:ext cx="121920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4267200" y="4084638"/>
            <a:ext cx="0" cy="1600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5486400" y="2865438"/>
            <a:ext cx="0" cy="28956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0" name="Line 20"/>
          <p:cNvSpPr>
            <a:spLocks noChangeShapeType="1"/>
          </p:cNvSpPr>
          <p:nvPr/>
        </p:nvSpPr>
        <p:spPr bwMode="auto">
          <a:xfrm>
            <a:off x="3352800" y="4694238"/>
            <a:ext cx="23622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1" name="Line 21"/>
          <p:cNvSpPr>
            <a:spLocks noChangeShapeType="1"/>
          </p:cNvSpPr>
          <p:nvPr/>
        </p:nvSpPr>
        <p:spPr bwMode="auto">
          <a:xfrm>
            <a:off x="3352800" y="5608638"/>
            <a:ext cx="23622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3810000" y="446563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3987800" y="5456238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b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5334000" y="545623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4724400" y="4465638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4267200" y="4694238"/>
            <a:ext cx="12192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47" name="Text Box 27"/>
          <p:cNvSpPr txBox="1">
            <a:spLocks noChangeArrowheads="1"/>
          </p:cNvSpPr>
          <p:nvPr/>
        </p:nvSpPr>
        <p:spPr bwMode="auto">
          <a:xfrm rot="2853562">
            <a:off x="6578600" y="4364038"/>
            <a:ext cx="473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8" name="Text Box 28"/>
          <p:cNvSpPr txBox="1">
            <a:spLocks noChangeArrowheads="1"/>
          </p:cNvSpPr>
          <p:nvPr/>
        </p:nvSpPr>
        <p:spPr bwMode="auto">
          <a:xfrm rot="2853562">
            <a:off x="5946775" y="50419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b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9" name="Text Box 29"/>
          <p:cNvSpPr txBox="1">
            <a:spLocks noChangeArrowheads="1"/>
          </p:cNvSpPr>
          <p:nvPr/>
        </p:nvSpPr>
        <p:spPr bwMode="auto">
          <a:xfrm rot="2853562">
            <a:off x="6796088" y="6096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50" name="Text Box 30"/>
          <p:cNvSpPr txBox="1">
            <a:spLocks noChangeArrowheads="1"/>
          </p:cNvSpPr>
          <p:nvPr/>
        </p:nvSpPr>
        <p:spPr bwMode="auto">
          <a:xfrm rot="2853562">
            <a:off x="7624762" y="544036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 rot="2853562">
            <a:off x="6372225" y="4945063"/>
            <a:ext cx="12192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52" name="Line 32"/>
          <p:cNvSpPr>
            <a:spLocks noChangeShapeType="1"/>
          </p:cNvSpPr>
          <p:nvPr/>
        </p:nvSpPr>
        <p:spPr bwMode="auto">
          <a:xfrm flipV="1">
            <a:off x="6858000" y="4237038"/>
            <a:ext cx="457200" cy="457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3" name="Line 33"/>
          <p:cNvSpPr>
            <a:spLocks noChangeShapeType="1"/>
          </p:cNvSpPr>
          <p:nvPr/>
        </p:nvSpPr>
        <p:spPr bwMode="auto">
          <a:xfrm flipV="1">
            <a:off x="6248400" y="2865438"/>
            <a:ext cx="0" cy="2362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4" name="Line 34"/>
          <p:cNvSpPr>
            <a:spLocks noChangeShapeType="1"/>
          </p:cNvSpPr>
          <p:nvPr/>
        </p:nvSpPr>
        <p:spPr bwMode="auto">
          <a:xfrm flipV="1">
            <a:off x="7086600" y="3094038"/>
            <a:ext cx="0" cy="30480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5" name="Line 35"/>
          <p:cNvSpPr>
            <a:spLocks noChangeShapeType="1"/>
          </p:cNvSpPr>
          <p:nvPr/>
        </p:nvSpPr>
        <p:spPr bwMode="auto">
          <a:xfrm flipV="1">
            <a:off x="7713663" y="2789238"/>
            <a:ext cx="0" cy="2743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6" name="Line 36"/>
          <p:cNvSpPr>
            <a:spLocks noChangeShapeType="1"/>
          </p:cNvSpPr>
          <p:nvPr/>
        </p:nvSpPr>
        <p:spPr bwMode="auto">
          <a:xfrm>
            <a:off x="5486400" y="3094038"/>
            <a:ext cx="25908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7" name="Oval 37"/>
          <p:cNvSpPr>
            <a:spLocks noChangeArrowheads="1"/>
          </p:cNvSpPr>
          <p:nvPr/>
        </p:nvSpPr>
        <p:spPr bwMode="auto">
          <a:xfrm>
            <a:off x="6213475" y="42195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58" name="Oval 38"/>
          <p:cNvSpPr>
            <a:spLocks noChangeArrowheads="1"/>
          </p:cNvSpPr>
          <p:nvPr/>
        </p:nvSpPr>
        <p:spPr bwMode="auto">
          <a:xfrm>
            <a:off x="6858000" y="41957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59" name="Oval 39"/>
          <p:cNvSpPr>
            <a:spLocks noChangeArrowheads="1"/>
          </p:cNvSpPr>
          <p:nvPr/>
        </p:nvSpPr>
        <p:spPr bwMode="auto">
          <a:xfrm>
            <a:off x="7051675" y="30591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60" name="Oval 40"/>
          <p:cNvSpPr>
            <a:spLocks noChangeArrowheads="1"/>
          </p:cNvSpPr>
          <p:nvPr/>
        </p:nvSpPr>
        <p:spPr bwMode="auto">
          <a:xfrm>
            <a:off x="7654925" y="30464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0761" name="Line 41"/>
          <p:cNvSpPr>
            <a:spLocks noChangeShapeType="1"/>
          </p:cNvSpPr>
          <p:nvPr/>
        </p:nvSpPr>
        <p:spPr bwMode="auto">
          <a:xfrm flipH="1">
            <a:off x="6248400" y="3094038"/>
            <a:ext cx="83820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2" name="Line 42"/>
          <p:cNvSpPr>
            <a:spLocks noChangeShapeType="1"/>
          </p:cNvSpPr>
          <p:nvPr/>
        </p:nvSpPr>
        <p:spPr bwMode="auto">
          <a:xfrm flipH="1">
            <a:off x="6934200" y="3094038"/>
            <a:ext cx="76200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3" name="Line 43"/>
          <p:cNvSpPr>
            <a:spLocks noChangeShapeType="1"/>
          </p:cNvSpPr>
          <p:nvPr/>
        </p:nvSpPr>
        <p:spPr bwMode="auto">
          <a:xfrm>
            <a:off x="6248400" y="423703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4" name="Line 44"/>
          <p:cNvSpPr>
            <a:spLocks noChangeShapeType="1"/>
          </p:cNvSpPr>
          <p:nvPr/>
        </p:nvSpPr>
        <p:spPr bwMode="auto">
          <a:xfrm>
            <a:off x="7086600" y="30940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5" name="Text Box 45"/>
          <p:cNvSpPr txBox="1">
            <a:spLocks noChangeArrowheads="1"/>
          </p:cNvSpPr>
          <p:nvPr/>
        </p:nvSpPr>
        <p:spPr bwMode="auto">
          <a:xfrm>
            <a:off x="685800" y="3398838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0766" name="Text Box 46"/>
          <p:cNvSpPr txBox="1">
            <a:spLocks noChangeArrowheads="1"/>
          </p:cNvSpPr>
          <p:nvPr/>
        </p:nvSpPr>
        <p:spPr bwMode="auto">
          <a:xfrm>
            <a:off x="933450" y="3398838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0767" name="Text Box 47"/>
          <p:cNvSpPr txBox="1">
            <a:spLocks noChangeArrowheads="1"/>
          </p:cNvSpPr>
          <p:nvPr/>
        </p:nvSpPr>
        <p:spPr bwMode="auto">
          <a:xfrm>
            <a:off x="5029200" y="278923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d’</a:t>
            </a:r>
          </a:p>
        </p:txBody>
      </p:sp>
      <p:sp>
        <p:nvSpPr>
          <p:cNvPr id="30768" name="Text Box 48"/>
          <p:cNvSpPr txBox="1">
            <a:spLocks noChangeArrowheads="1"/>
          </p:cNvSpPr>
          <p:nvPr/>
        </p:nvSpPr>
        <p:spPr bwMode="auto">
          <a:xfrm>
            <a:off x="5410200" y="278923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c’</a:t>
            </a:r>
          </a:p>
        </p:txBody>
      </p:sp>
      <p:sp>
        <p:nvSpPr>
          <p:cNvPr id="30769" name="Text Box 49"/>
          <p:cNvSpPr txBox="1">
            <a:spLocks noChangeArrowheads="1"/>
          </p:cNvSpPr>
          <p:nvPr/>
        </p:nvSpPr>
        <p:spPr bwMode="auto">
          <a:xfrm>
            <a:off x="6858000" y="2667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70" name="Text Box 50"/>
          <p:cNvSpPr txBox="1">
            <a:spLocks noChangeArrowheads="1"/>
          </p:cNvSpPr>
          <p:nvPr/>
        </p:nvSpPr>
        <p:spPr bwMode="auto">
          <a:xfrm>
            <a:off x="7620000" y="2667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71" name="Text Box 51"/>
          <p:cNvSpPr txBox="1">
            <a:spLocks noChangeArrowheads="1"/>
          </p:cNvSpPr>
          <p:nvPr/>
        </p:nvSpPr>
        <p:spPr bwMode="auto">
          <a:xfrm>
            <a:off x="5867400" y="3856038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b’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72" name="Text Box 52"/>
          <p:cNvSpPr txBox="1">
            <a:spLocks noChangeArrowheads="1"/>
          </p:cNvSpPr>
          <p:nvPr/>
        </p:nvSpPr>
        <p:spPr bwMode="auto">
          <a:xfrm>
            <a:off x="7010400" y="385603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a’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73" name="Text Box 53"/>
          <p:cNvSpPr txBox="1">
            <a:spLocks noChangeArrowheads="1"/>
          </p:cNvSpPr>
          <p:nvPr/>
        </p:nvSpPr>
        <p:spPr bwMode="auto">
          <a:xfrm>
            <a:off x="4478338" y="3908425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45</a:t>
            </a:r>
            <a:r>
              <a:rPr lang="en-US" altLang="en-US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74" name="Text Box 54"/>
          <p:cNvSpPr txBox="1">
            <a:spLocks noChangeArrowheads="1"/>
          </p:cNvSpPr>
          <p:nvPr/>
        </p:nvSpPr>
        <p:spPr bwMode="auto">
          <a:xfrm>
            <a:off x="6705600" y="419100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30</a:t>
            </a:r>
            <a:r>
              <a:rPr lang="en-US" altLang="en-US" baseline="30000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30775" name="Group 55"/>
          <p:cNvGrpSpPr>
            <a:grpSpLocks/>
          </p:cNvGrpSpPr>
          <p:nvPr/>
        </p:nvGrpSpPr>
        <p:grpSpPr bwMode="auto">
          <a:xfrm>
            <a:off x="228600" y="228600"/>
            <a:ext cx="3429000" cy="2286000"/>
            <a:chOff x="144" y="144"/>
            <a:chExt cx="2160" cy="1440"/>
          </a:xfrm>
        </p:grpSpPr>
        <p:sp>
          <p:nvSpPr>
            <p:cNvPr id="8255" name="Rectangle 56"/>
            <p:cNvSpPr>
              <a:spLocks noChangeArrowheads="1"/>
            </p:cNvSpPr>
            <p:nvPr/>
          </p:nvSpPr>
          <p:spPr bwMode="auto">
            <a:xfrm>
              <a:off x="144" y="144"/>
              <a:ext cx="2160" cy="14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56" name="Text Box 57"/>
            <p:cNvSpPr txBox="1">
              <a:spLocks noChangeArrowheads="1"/>
            </p:cNvSpPr>
            <p:nvPr/>
          </p:nvSpPr>
          <p:spPr bwMode="auto">
            <a:xfrm>
              <a:off x="192" y="204"/>
              <a:ext cx="2016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/>
              <a:r>
                <a:rPr lang="en-US" altLang="en-US" b="1">
                  <a:solidFill>
                    <a:srgbClr val="CC0066"/>
                  </a:solidFill>
                  <a:latin typeface="Times New Roman" panose="02020603050405020304" pitchFamily="18" charset="0"/>
                </a:rPr>
                <a:t>Problem 1:</a:t>
              </a:r>
            </a:p>
            <a:p>
              <a:pPr algn="just" eaLnBrk="1" hangingPunct="1"/>
              <a:r>
                <a:rPr lang="en-US" altLang="en-US">
                  <a:latin typeface="Times New Roman" panose="02020603050405020304" pitchFamily="18" charset="0"/>
                </a:rPr>
                <a:t>Rectangle 30mm and 50mm sides is resting on HP on one small side which is 30</a:t>
              </a:r>
              <a:r>
                <a:rPr lang="en-US" altLang="en-US" baseline="30000">
                  <a:latin typeface="Times New Roman" panose="02020603050405020304" pitchFamily="18" charset="0"/>
                </a:rPr>
                <a:t>0 </a:t>
              </a:r>
              <a:r>
                <a:rPr lang="en-US" altLang="en-US">
                  <a:latin typeface="Times New Roman" panose="02020603050405020304" pitchFamily="18" charset="0"/>
                </a:rPr>
                <a:t>inclined to VP,while the surface of the plane makes 45</a:t>
              </a:r>
              <a:r>
                <a:rPr lang="en-US" altLang="en-US" baseline="30000"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 inclination with HP. Draw it’s projections.</a:t>
              </a:r>
            </a:p>
          </p:txBody>
        </p:sp>
      </p:grpSp>
      <p:grpSp>
        <p:nvGrpSpPr>
          <p:cNvPr id="30778" name="Group 58"/>
          <p:cNvGrpSpPr>
            <a:grpSpLocks/>
          </p:cNvGrpSpPr>
          <p:nvPr/>
        </p:nvGrpSpPr>
        <p:grpSpPr bwMode="auto">
          <a:xfrm>
            <a:off x="3603625" y="228600"/>
            <a:ext cx="5207000" cy="2286000"/>
            <a:chOff x="2270" y="144"/>
            <a:chExt cx="3280" cy="1440"/>
          </a:xfrm>
        </p:grpSpPr>
        <p:sp>
          <p:nvSpPr>
            <p:cNvPr id="8253" name="Rectangle 59"/>
            <p:cNvSpPr>
              <a:spLocks noChangeArrowheads="1"/>
            </p:cNvSpPr>
            <p:nvPr/>
          </p:nvSpPr>
          <p:spPr bwMode="auto">
            <a:xfrm>
              <a:off x="2400" y="144"/>
              <a:ext cx="3120" cy="14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54" name="Text Box 60"/>
            <p:cNvSpPr txBox="1">
              <a:spLocks noChangeArrowheads="1"/>
            </p:cNvSpPr>
            <p:nvPr/>
          </p:nvSpPr>
          <p:spPr bwMode="auto">
            <a:xfrm>
              <a:off x="2270" y="192"/>
              <a:ext cx="3280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Read problem and answer following questions</a:t>
              </a:r>
            </a:p>
            <a:p>
              <a:pPr algn="ctr" eaLnBrk="1" hangingPunct="1"/>
              <a:r>
                <a:rPr lang="en-US" altLang="en-US">
                  <a:latin typeface="Times New Roman" panose="02020603050405020304" pitchFamily="18" charset="0"/>
                </a:rPr>
                <a:t>1. Surface inclined to which plane? -------      HP</a:t>
              </a:r>
            </a:p>
            <a:p>
              <a:pPr algn="ctr" eaLnBrk="1" hangingPunct="1"/>
              <a:r>
                <a:rPr lang="en-US" altLang="en-US">
                  <a:latin typeface="Times New Roman" panose="02020603050405020304" pitchFamily="18" charset="0"/>
                </a:rPr>
                <a:t>  2. Assumption for initial position?    ------// to HP</a:t>
              </a:r>
            </a:p>
            <a:p>
              <a:pPr algn="ctr" eaLnBrk="1" hangingPunct="1"/>
              <a:r>
                <a:rPr lang="en-US" altLang="en-US">
                  <a:latin typeface="Times New Roman" panose="02020603050405020304" pitchFamily="18" charset="0"/>
                </a:rPr>
                <a:t>  3. So which view will show True shape? ---    TV</a:t>
              </a:r>
            </a:p>
            <a:p>
              <a:pPr algn="ctr" eaLnBrk="1" hangingPunct="1"/>
              <a:r>
                <a:rPr lang="en-US" altLang="en-US">
                  <a:latin typeface="Times New Roman" panose="02020603050405020304" pitchFamily="18" charset="0"/>
                </a:rPr>
                <a:t>    4. Which side will be vertical?   ---One small side.</a:t>
              </a:r>
            </a:p>
            <a:p>
              <a:pPr algn="ctr" eaLnBrk="1" hangingPunct="1"/>
              <a:r>
                <a:rPr lang="en-US" altLang="en-US" b="1">
                  <a:solidFill>
                    <a:srgbClr val="CC0066"/>
                  </a:solidFill>
                  <a:latin typeface="Times New Roman" panose="02020603050405020304" pitchFamily="18" charset="0"/>
                </a:rPr>
                <a:t>    Hence begin with TV, draw rectangle below X-Y </a:t>
              </a:r>
            </a:p>
            <a:p>
              <a:pPr algn="ctr" eaLnBrk="1" hangingPunct="1"/>
              <a:r>
                <a:rPr lang="en-US" altLang="en-US" b="1">
                  <a:solidFill>
                    <a:srgbClr val="CC0066"/>
                  </a:solidFill>
                  <a:latin typeface="Times New Roman" panose="02020603050405020304" pitchFamily="18" charset="0"/>
                </a:rPr>
                <a:t>drawing one small side vertical.</a:t>
              </a:r>
            </a:p>
          </p:txBody>
        </p:sp>
      </p:grpSp>
      <p:sp>
        <p:nvSpPr>
          <p:cNvPr id="30781" name="Line 61"/>
          <p:cNvSpPr>
            <a:spLocks noChangeShapeType="1"/>
          </p:cNvSpPr>
          <p:nvPr/>
        </p:nvSpPr>
        <p:spPr bwMode="auto">
          <a:xfrm flipV="1">
            <a:off x="6915150" y="4114800"/>
            <a:ext cx="0" cy="6096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2" name="Text Box 62"/>
          <p:cNvSpPr txBox="1">
            <a:spLocks noChangeArrowheads="1"/>
          </p:cNvSpPr>
          <p:nvPr/>
        </p:nvSpPr>
        <p:spPr bwMode="auto">
          <a:xfrm>
            <a:off x="1447800" y="2590800"/>
            <a:ext cx="14843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dirty="0">
                <a:solidFill>
                  <a:srgbClr val="FF3300"/>
                </a:solidFill>
              </a:rPr>
              <a:t>Surface // to </a:t>
            </a:r>
            <a:r>
              <a:rPr lang="en-US" altLang="en-US" sz="1400" b="1" dirty="0" err="1">
                <a:solidFill>
                  <a:srgbClr val="FF3300"/>
                </a:solidFill>
              </a:rPr>
              <a:t>Hp</a:t>
            </a:r>
            <a:endParaRPr lang="en-US" altLang="en-US" sz="1400" b="1" dirty="0">
              <a:solidFill>
                <a:srgbClr val="FF3300"/>
              </a:solidFill>
            </a:endParaRPr>
          </a:p>
        </p:txBody>
      </p:sp>
      <p:sp>
        <p:nvSpPr>
          <p:cNvPr id="30783" name="Text Box 63"/>
          <p:cNvSpPr txBox="1">
            <a:spLocks noChangeArrowheads="1"/>
          </p:cNvSpPr>
          <p:nvPr/>
        </p:nvSpPr>
        <p:spPr bwMode="auto">
          <a:xfrm>
            <a:off x="3581400" y="2590800"/>
            <a:ext cx="2054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Surface inclined to Hp</a:t>
            </a:r>
          </a:p>
        </p:txBody>
      </p:sp>
      <p:sp>
        <p:nvSpPr>
          <p:cNvPr id="30784" name="Text Box 64"/>
          <p:cNvSpPr txBox="1">
            <a:spLocks noChangeArrowheads="1"/>
          </p:cNvSpPr>
          <p:nvPr/>
        </p:nvSpPr>
        <p:spPr bwMode="auto">
          <a:xfrm>
            <a:off x="7832725" y="4648200"/>
            <a:ext cx="85248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Side </a:t>
            </a:r>
          </a:p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Inclined</a:t>
            </a:r>
          </a:p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 to Vp</a:t>
            </a:r>
          </a:p>
        </p:txBody>
      </p:sp>
      <p:sp>
        <p:nvSpPr>
          <p:cNvPr id="65" name="Text Box 62"/>
          <p:cNvSpPr txBox="1">
            <a:spLocks noChangeArrowheads="1"/>
          </p:cNvSpPr>
          <p:nvPr/>
        </p:nvSpPr>
        <p:spPr bwMode="auto">
          <a:xfrm>
            <a:off x="3156672" y="6142037"/>
            <a:ext cx="22108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Common question</a:t>
            </a:r>
          </a:p>
        </p:txBody>
      </p:sp>
    </p:spTree>
    <p:extLst>
      <p:ext uri="{BB962C8B-B14F-4D97-AF65-F5344CB8AC3E}">
        <p14:creationId xmlns:p14="http://schemas.microsoft.com/office/powerpoint/2010/main" val="27226391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0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0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30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30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30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30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7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30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30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30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30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30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30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30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30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0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30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3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3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30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30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30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30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30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30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30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30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30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30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30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30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 nodeType="clickPar">
                      <p:stCondLst>
                        <p:cond delay="indefinite"/>
                      </p:stCondLst>
                      <p:childTnLst>
                        <p:par>
                          <p:cTn id="3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30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30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 nodeType="clickPar">
                      <p:stCondLst>
                        <p:cond delay="indefinite"/>
                      </p:stCondLst>
                      <p:childTnLst>
                        <p:par>
                          <p:cTn id="3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30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30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30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30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30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30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 nodeType="clickPar">
                      <p:stCondLst>
                        <p:cond delay="indefinite"/>
                      </p:stCondLst>
                      <p:childTnLst>
                        <p:par>
                          <p:cTn id="3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0723" grpId="0" autoUpdateAnimBg="0"/>
      <p:bldP spid="30724" grpId="0" autoUpdateAnimBg="0"/>
      <p:bldP spid="30725" grpId="0" animBg="1"/>
      <p:bldP spid="30726" grpId="0" autoUpdateAnimBg="0"/>
      <p:bldP spid="30727" grpId="0" autoUpdateAnimBg="0"/>
      <p:bldP spid="30728" grpId="0" autoUpdateAnimBg="0"/>
      <p:bldP spid="30729" grpId="0" autoUpdateAnimBg="0"/>
      <p:bldP spid="30730" grpId="0" animBg="1"/>
      <p:bldP spid="30731" grpId="0" animBg="1"/>
      <p:bldP spid="30732" grpId="0" animBg="1"/>
      <p:bldP spid="30733" grpId="0" autoUpdateAnimBg="0"/>
      <p:bldP spid="30734" grpId="0" autoUpdateAnimBg="0"/>
      <p:bldP spid="30735" grpId="0" autoUpdateAnimBg="0"/>
      <p:bldP spid="30736" grpId="0" autoUpdateAnimBg="0"/>
      <p:bldP spid="30737" grpId="0" animBg="1"/>
      <p:bldP spid="30738" grpId="0" animBg="1"/>
      <p:bldP spid="30739" grpId="0" animBg="1"/>
      <p:bldP spid="30740" grpId="0" animBg="1"/>
      <p:bldP spid="30741" grpId="0" animBg="1"/>
      <p:bldP spid="30742" grpId="0" autoUpdateAnimBg="0"/>
      <p:bldP spid="30743" grpId="0" autoUpdateAnimBg="0"/>
      <p:bldP spid="30744" grpId="0" autoUpdateAnimBg="0"/>
      <p:bldP spid="30745" grpId="0" autoUpdateAnimBg="0"/>
      <p:bldP spid="30746" grpId="0" animBg="1"/>
      <p:bldP spid="30747" grpId="0" autoUpdateAnimBg="0"/>
      <p:bldP spid="30748" grpId="0" autoUpdateAnimBg="0"/>
      <p:bldP spid="30749" grpId="0" autoUpdateAnimBg="0"/>
      <p:bldP spid="30750" grpId="0" autoUpdateAnimBg="0"/>
      <p:bldP spid="30751" grpId="0" animBg="1"/>
      <p:bldP spid="30752" grpId="0" animBg="1"/>
      <p:bldP spid="30753" grpId="0" animBg="1"/>
      <p:bldP spid="30754" grpId="0" animBg="1"/>
      <p:bldP spid="30755" grpId="0" animBg="1"/>
      <p:bldP spid="30756" grpId="0" animBg="1"/>
      <p:bldP spid="30757" grpId="0" animBg="1"/>
      <p:bldP spid="30758" grpId="0" animBg="1"/>
      <p:bldP spid="30759" grpId="0" animBg="1"/>
      <p:bldP spid="30760" grpId="0" animBg="1"/>
      <p:bldP spid="30761" grpId="0" animBg="1"/>
      <p:bldP spid="30762" grpId="0" animBg="1"/>
      <p:bldP spid="30763" grpId="0" animBg="1"/>
      <p:bldP spid="30764" grpId="0" animBg="1"/>
      <p:bldP spid="30765" grpId="0" autoUpdateAnimBg="0"/>
      <p:bldP spid="30766" grpId="0" autoUpdateAnimBg="0"/>
      <p:bldP spid="30767" grpId="0" autoUpdateAnimBg="0"/>
      <p:bldP spid="30768" grpId="0" autoUpdateAnimBg="0"/>
      <p:bldP spid="30769" grpId="0" autoUpdateAnimBg="0"/>
      <p:bldP spid="30770" grpId="0" autoUpdateAnimBg="0"/>
      <p:bldP spid="30771" grpId="0" autoUpdateAnimBg="0"/>
      <p:bldP spid="30772" grpId="0" autoUpdateAnimBg="0"/>
      <p:bldP spid="30773" grpId="0" autoUpdateAnimBg="0"/>
      <p:bldP spid="30774" grpId="0" autoUpdateAnimBg="0"/>
      <p:bldP spid="30781" grpId="0" animBg="1"/>
      <p:bldP spid="30782" grpId="0" autoUpdateAnimBg="0"/>
      <p:bldP spid="30783" grpId="0" autoUpdateAnimBg="0"/>
      <p:bldP spid="30784" grpId="0" autoUpdateAnimBg="0"/>
      <p:bldP spid="6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/>
          <p:cNvSpPr/>
          <p:nvPr/>
        </p:nvSpPr>
        <p:spPr>
          <a:xfrm>
            <a:off x="5486400" y="1447800"/>
            <a:ext cx="2819400" cy="304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r>
              <a:rPr lang="en-US" dirty="0"/>
              <a:t>Plane Inclined to One RP and Perpendicular to Other RP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1411069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" pitchFamily="18" charset="0"/>
              </a:rPr>
              <a:t>Problem 2:</a:t>
            </a:r>
            <a:r>
              <a:rPr lang="en-US" dirty="0">
                <a:latin typeface="Times" pitchFamily="18" charset="0"/>
              </a:rPr>
              <a:t> A regular pentagon ABCDE of side 30 mm is inclined at 45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VP and perpendicular to the HP. The side AB is perpendicular to the HP. Draw the projections of the pentagon.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691722" y="2489537"/>
            <a:ext cx="1964402" cy="1969532"/>
            <a:chOff x="4741198" y="2297668"/>
            <a:chExt cx="1964402" cy="1969532"/>
          </a:xfrm>
        </p:grpSpPr>
        <p:sp>
          <p:nvSpPr>
            <p:cNvPr id="46" name="Regular Pentagon 45"/>
            <p:cNvSpPr/>
            <p:nvPr/>
          </p:nvSpPr>
          <p:spPr>
            <a:xfrm rot="5400000">
              <a:off x="5029200" y="2590800"/>
              <a:ext cx="1371600" cy="1371600"/>
            </a:xfrm>
            <a:prstGeom prst="pentagon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820694" y="2486799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a’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741198" y="37059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b’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62600" y="3897868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c’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41398" y="304800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d’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715000" y="229766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e’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2446232" y="4306669"/>
            <a:ext cx="4640368" cy="381000"/>
            <a:chOff x="4495708" y="4114800"/>
            <a:chExt cx="4640368" cy="381000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4800600" y="4343400"/>
              <a:ext cx="4038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495708" y="412646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839200" y="411480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2979724" y="2787790"/>
            <a:ext cx="1371600" cy="3122866"/>
            <a:chOff x="5029200" y="2595921"/>
            <a:chExt cx="1371600" cy="3122866"/>
          </a:xfrm>
        </p:grpSpPr>
        <p:cxnSp>
          <p:nvCxnSpPr>
            <p:cNvPr id="57" name="Straight Connector 56"/>
            <p:cNvCxnSpPr/>
            <p:nvPr/>
          </p:nvCxnSpPr>
          <p:spPr>
            <a:xfrm flipV="1">
              <a:off x="6400800" y="3276098"/>
              <a:ext cx="0" cy="2438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5867400" y="2595921"/>
              <a:ext cx="0" cy="31190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5029200" y="3707107"/>
              <a:ext cx="0" cy="20116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2903524" y="5906869"/>
            <a:ext cx="1600200" cy="722531"/>
            <a:chOff x="4953000" y="5715000"/>
            <a:chExt cx="1600200" cy="722531"/>
          </a:xfrm>
        </p:grpSpPr>
        <p:cxnSp>
          <p:nvCxnSpPr>
            <p:cNvPr id="61" name="Straight Connector 60"/>
            <p:cNvCxnSpPr/>
            <p:nvPr/>
          </p:nvCxnSpPr>
          <p:spPr>
            <a:xfrm>
              <a:off x="5029200" y="5715000"/>
              <a:ext cx="137160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4953000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  <a:p>
              <a:r>
                <a:rPr lang="en-US" dirty="0"/>
                <a:t>b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713306" y="579120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  <a:p>
              <a:r>
                <a:rPr lang="en-US" dirty="0"/>
                <a:t>e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246706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  <a:p>
              <a:endParaRPr lang="en-US" dirty="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979724" y="2785051"/>
            <a:ext cx="3725876" cy="1371600"/>
            <a:chOff x="5029200" y="2593182"/>
            <a:chExt cx="3725876" cy="1371600"/>
          </a:xfrm>
        </p:grpSpPr>
        <p:cxnSp>
          <p:nvCxnSpPr>
            <p:cNvPr id="70" name="Straight Connector 69"/>
            <p:cNvCxnSpPr/>
            <p:nvPr/>
          </p:nvCxnSpPr>
          <p:spPr>
            <a:xfrm flipV="1">
              <a:off x="5029200" y="2856131"/>
              <a:ext cx="2811476" cy="28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872162" y="2593182"/>
              <a:ext cx="25781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5031581" y="3694331"/>
              <a:ext cx="2809095" cy="61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6400800" y="3273707"/>
              <a:ext cx="23542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5874542" y="3964782"/>
              <a:ext cx="257573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TextBox 81"/>
          <p:cNvSpPr txBox="1"/>
          <p:nvPr/>
        </p:nvSpPr>
        <p:spPr>
          <a:xfrm>
            <a:off x="1912924" y="2706469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12924" y="544966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</a:t>
            </a:r>
          </a:p>
        </p:txBody>
      </p:sp>
      <p:cxnSp>
        <p:nvCxnSpPr>
          <p:cNvPr id="89" name="Straight Connector 88"/>
          <p:cNvCxnSpPr/>
          <p:nvPr/>
        </p:nvCxnSpPr>
        <p:spPr>
          <a:xfrm>
            <a:off x="5791200" y="5193792"/>
            <a:ext cx="914400" cy="9144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5105400" y="4383024"/>
            <a:ext cx="822960" cy="822960"/>
            <a:chOff x="5105400" y="4383024"/>
            <a:chExt cx="723504" cy="822960"/>
          </a:xfrm>
        </p:grpSpPr>
        <p:cxnSp>
          <p:nvCxnSpPr>
            <p:cNvPr id="85" name="Straight Connector 84"/>
            <p:cNvCxnSpPr/>
            <p:nvPr/>
          </p:nvCxnSpPr>
          <p:spPr>
            <a:xfrm>
              <a:off x="5105400" y="4520184"/>
              <a:ext cx="602920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Group 94"/>
            <p:cNvGrpSpPr/>
            <p:nvPr/>
          </p:nvGrpSpPr>
          <p:grpSpPr>
            <a:xfrm>
              <a:off x="5157216" y="4383024"/>
              <a:ext cx="671688" cy="558308"/>
              <a:chOff x="5157216" y="4383024"/>
              <a:chExt cx="671688" cy="558308"/>
            </a:xfrm>
          </p:grpSpPr>
          <p:sp>
            <p:nvSpPr>
              <p:cNvPr id="93" name="TextBox 92"/>
              <p:cNvSpPr txBox="1"/>
              <p:nvPr/>
            </p:nvSpPr>
            <p:spPr>
              <a:xfrm>
                <a:off x="5410200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45</a:t>
                </a:r>
              </a:p>
            </p:txBody>
          </p:sp>
          <p:sp>
            <p:nvSpPr>
              <p:cNvPr id="94" name="Arc 93"/>
              <p:cNvSpPr/>
              <p:nvPr/>
            </p:nvSpPr>
            <p:spPr>
              <a:xfrm rot="5400000">
                <a:off x="5157216" y="4383024"/>
                <a:ext cx="381000" cy="381000"/>
              </a:xfrm>
              <a:prstGeom prst="arc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7" name="TextBox 96"/>
          <p:cNvSpPr txBox="1"/>
          <p:nvPr/>
        </p:nvSpPr>
        <p:spPr>
          <a:xfrm>
            <a:off x="5480462" y="5117592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</a:t>
            </a:r>
          </a:p>
          <a:p>
            <a:r>
              <a:rPr lang="en-US" dirty="0"/>
              <a:t>b1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19800" y="5678269"/>
            <a:ext cx="41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  <a:p>
            <a:r>
              <a:rPr lang="en-US" dirty="0"/>
              <a:t>e1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90546" y="6111085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  <a:p>
            <a:endParaRPr lang="en-US" dirty="0"/>
          </a:p>
        </p:txBody>
      </p:sp>
      <p:grpSp>
        <p:nvGrpSpPr>
          <p:cNvPr id="113" name="Group 112"/>
          <p:cNvGrpSpPr/>
          <p:nvPr/>
        </p:nvGrpSpPr>
        <p:grpSpPr>
          <a:xfrm>
            <a:off x="5791200" y="2743200"/>
            <a:ext cx="914400" cy="3352800"/>
            <a:chOff x="5791200" y="2743200"/>
            <a:chExt cx="914400" cy="3352800"/>
          </a:xfrm>
        </p:grpSpPr>
        <p:cxnSp>
          <p:nvCxnSpPr>
            <p:cNvPr id="101" name="Straight Connector 100"/>
            <p:cNvCxnSpPr/>
            <p:nvPr/>
          </p:nvCxnSpPr>
          <p:spPr>
            <a:xfrm flipV="1">
              <a:off x="5791200" y="3048000"/>
              <a:ext cx="0" cy="2133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6356350" y="2743200"/>
              <a:ext cx="0" cy="30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6705600" y="3429000"/>
              <a:ext cx="0" cy="2667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TextBox 113"/>
          <p:cNvSpPr txBox="1"/>
          <p:nvPr/>
        </p:nvSpPr>
        <p:spPr>
          <a:xfrm>
            <a:off x="5410200" y="2983468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a1’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98008" y="3834384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b1’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94424" y="41021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c1’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3212068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d1’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245006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e1’</a:t>
            </a:r>
          </a:p>
        </p:txBody>
      </p:sp>
      <p:sp>
        <p:nvSpPr>
          <p:cNvPr id="141" name="Regular Pentagon 140"/>
          <p:cNvSpPr/>
          <p:nvPr/>
        </p:nvSpPr>
        <p:spPr>
          <a:xfrm rot="5400000">
            <a:off x="5571744" y="3007614"/>
            <a:ext cx="1353312" cy="914400"/>
          </a:xfrm>
          <a:prstGeom prst="pen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3352800" y="2133600"/>
            <a:ext cx="86761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752390" y="2133600"/>
            <a:ext cx="86600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Stage II</a:t>
            </a:r>
          </a:p>
        </p:txBody>
      </p:sp>
      <p:cxnSp>
        <p:nvCxnSpPr>
          <p:cNvPr id="144" name="Straight Connector 143"/>
          <p:cNvCxnSpPr/>
          <p:nvPr/>
        </p:nvCxnSpPr>
        <p:spPr>
          <a:xfrm>
            <a:off x="2971800" y="5903976"/>
            <a:ext cx="1371600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1" name="Group 150"/>
          <p:cNvGrpSpPr/>
          <p:nvPr/>
        </p:nvGrpSpPr>
        <p:grpSpPr>
          <a:xfrm>
            <a:off x="2324496" y="3048000"/>
            <a:ext cx="571104" cy="874776"/>
            <a:chOff x="2324496" y="3048000"/>
            <a:chExt cx="571104" cy="874776"/>
          </a:xfrm>
        </p:grpSpPr>
        <p:cxnSp>
          <p:nvCxnSpPr>
            <p:cNvPr id="146" name="Straight Connector 145"/>
            <p:cNvCxnSpPr/>
            <p:nvPr/>
          </p:nvCxnSpPr>
          <p:spPr>
            <a:xfrm flipH="1">
              <a:off x="2426208" y="3922776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H="1">
              <a:off x="2438400" y="3048000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/>
            <p:nvPr/>
          </p:nvCxnSpPr>
          <p:spPr>
            <a:xfrm flipV="1">
              <a:off x="2667000" y="3048000"/>
              <a:ext cx="0" cy="86868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TextBox 149"/>
            <p:cNvSpPr txBox="1"/>
            <p:nvPr/>
          </p:nvSpPr>
          <p:spPr>
            <a:xfrm>
              <a:off x="2324496" y="3276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76200" y="3200400"/>
            <a:ext cx="205652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Side a’-b’ is </a:t>
            </a:r>
          </a:p>
          <a:p>
            <a:r>
              <a:rPr lang="en-US" dirty="0"/>
              <a:t>Perpendicular to 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" y="4267200"/>
            <a:ext cx="1637756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Projectors from</a:t>
            </a:r>
          </a:p>
          <a:p>
            <a:r>
              <a:rPr lang="en-US" dirty="0"/>
              <a:t>a’, b’, c’, d’, e’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62800" y="5029200"/>
            <a:ext cx="1779654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Projectors from</a:t>
            </a:r>
          </a:p>
          <a:p>
            <a:r>
              <a:rPr lang="en-US" dirty="0"/>
              <a:t>a1, b1, c1, d1, e1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67600" y="3048000"/>
            <a:ext cx="1299779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Point of </a:t>
            </a:r>
          </a:p>
          <a:p>
            <a:r>
              <a:rPr lang="en-US" dirty="0"/>
              <a:t>intersection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139 L 0.26667 -0.05689 " pathEditMode="relative" ptsTypes="AA">
                                      <p:cBhvr>
                                        <p:cTn id="70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44" grpId="0"/>
      <p:bldP spid="82" grpId="0"/>
      <p:bldP spid="83" grpId="0"/>
      <p:bldP spid="97" grpId="0"/>
      <p:bldP spid="98" grpId="0"/>
      <p:bldP spid="99" grpId="0"/>
      <p:bldP spid="114" grpId="0"/>
      <p:bldP spid="115" grpId="0"/>
      <p:bldP spid="116" grpId="0"/>
      <p:bldP spid="117" grpId="0"/>
      <p:bldP spid="118" grpId="0"/>
      <p:bldP spid="141" grpId="0" animBg="1"/>
      <p:bldP spid="142" grpId="0" animBg="1"/>
      <p:bldP spid="143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Line 4"/>
          <p:cNvSpPr>
            <a:spLocks noChangeShapeType="1"/>
          </p:cNvSpPr>
          <p:nvPr/>
        </p:nvSpPr>
        <p:spPr bwMode="auto">
          <a:xfrm flipV="1">
            <a:off x="2071687" y="3527425"/>
            <a:ext cx="5489575" cy="1587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752600" y="3387725"/>
            <a:ext cx="423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X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7739062" y="3403600"/>
            <a:ext cx="277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Y</a:t>
            </a:r>
          </a:p>
        </p:txBody>
      </p:sp>
      <p:sp>
        <p:nvSpPr>
          <p:cNvPr id="7173" name="Text Box 7"/>
          <p:cNvSpPr txBox="1">
            <a:spLocks noChangeArrowheads="1"/>
          </p:cNvSpPr>
          <p:nvPr/>
        </p:nvSpPr>
        <p:spPr bwMode="auto">
          <a:xfrm>
            <a:off x="457200" y="1371600"/>
            <a:ext cx="8229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Times" pitchFamily="18" charset="0"/>
              </a:rPr>
              <a:t>Problem 3:</a:t>
            </a:r>
            <a:r>
              <a:rPr lang="en-US" dirty="0">
                <a:latin typeface="Times" pitchFamily="18" charset="0"/>
              </a:rPr>
              <a:t> A regular pentagon of 25mm side has one side on the ground. Its plane is inclined at 45</a:t>
            </a:r>
            <a:r>
              <a:rPr lang="en-US" dirty="0">
                <a:latin typeface="Times" pitchFamily="18" charset="0"/>
                <a:cs typeface="Arial" charset="0"/>
              </a:rPr>
              <a:t>º to the HP and perpendicular to the VP. Draw its projections and show its traces</a:t>
            </a:r>
          </a:p>
        </p:txBody>
      </p:sp>
      <p:sp>
        <p:nvSpPr>
          <p:cNvPr id="47118" name="AutoShape 14"/>
          <p:cNvSpPr>
            <a:spLocks noChangeArrowheads="1"/>
          </p:cNvSpPr>
          <p:nvPr/>
        </p:nvSpPr>
        <p:spPr bwMode="auto">
          <a:xfrm rot="5400000">
            <a:off x="2700337" y="4397375"/>
            <a:ext cx="1498600" cy="1441450"/>
          </a:xfrm>
          <a:prstGeom prst="pentagon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2446338" y="4368800"/>
            <a:ext cx="3730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a</a:t>
            </a:r>
          </a:p>
        </p:txBody>
      </p:sp>
      <p:sp>
        <p:nvSpPr>
          <p:cNvPr id="47120" name="Text Box 16"/>
          <p:cNvSpPr txBox="1">
            <a:spLocks noChangeArrowheads="1"/>
          </p:cNvSpPr>
          <p:nvPr/>
        </p:nvSpPr>
        <p:spPr bwMode="auto">
          <a:xfrm>
            <a:off x="3505200" y="4064000"/>
            <a:ext cx="3730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</a:t>
            </a:r>
          </a:p>
        </p:txBody>
      </p:sp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4170362" y="4933950"/>
            <a:ext cx="3730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c</a:t>
            </a:r>
          </a:p>
        </p:txBody>
      </p:sp>
      <p:sp>
        <p:nvSpPr>
          <p:cNvPr id="47122" name="Text Box 18"/>
          <p:cNvSpPr txBox="1">
            <a:spLocks noChangeArrowheads="1"/>
          </p:cNvSpPr>
          <p:nvPr/>
        </p:nvSpPr>
        <p:spPr bwMode="auto">
          <a:xfrm>
            <a:off x="3505200" y="5867400"/>
            <a:ext cx="3730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d</a:t>
            </a:r>
          </a:p>
        </p:txBody>
      </p:sp>
      <p:sp>
        <p:nvSpPr>
          <p:cNvPr id="47123" name="Text Box 19"/>
          <p:cNvSpPr txBox="1">
            <a:spLocks noChangeArrowheads="1"/>
          </p:cNvSpPr>
          <p:nvPr/>
        </p:nvSpPr>
        <p:spPr bwMode="auto">
          <a:xfrm>
            <a:off x="2355850" y="5562600"/>
            <a:ext cx="3730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e</a:t>
            </a:r>
          </a:p>
        </p:txBody>
      </p:sp>
      <p:sp>
        <p:nvSpPr>
          <p:cNvPr id="47124" name="Line 20"/>
          <p:cNvSpPr>
            <a:spLocks noChangeShapeType="1"/>
          </p:cNvSpPr>
          <p:nvPr/>
        </p:nvSpPr>
        <p:spPr bwMode="auto">
          <a:xfrm flipH="1">
            <a:off x="2176462" y="4648200"/>
            <a:ext cx="474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25" name="Line 21"/>
          <p:cNvSpPr>
            <a:spLocks noChangeShapeType="1"/>
          </p:cNvSpPr>
          <p:nvPr/>
        </p:nvSpPr>
        <p:spPr bwMode="auto">
          <a:xfrm flipH="1">
            <a:off x="2176462" y="5562600"/>
            <a:ext cx="474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26" name="Line 22"/>
          <p:cNvSpPr>
            <a:spLocks noChangeShapeType="1"/>
          </p:cNvSpPr>
          <p:nvPr/>
        </p:nvSpPr>
        <p:spPr bwMode="auto">
          <a:xfrm>
            <a:off x="2232025" y="4648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 rot="-5400000">
            <a:off x="1807369" y="4918868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25</a:t>
            </a:r>
          </a:p>
        </p:txBody>
      </p:sp>
      <p:sp>
        <p:nvSpPr>
          <p:cNvPr id="47128" name="Line 24"/>
          <p:cNvSpPr>
            <a:spLocks noChangeShapeType="1"/>
          </p:cNvSpPr>
          <p:nvPr/>
        </p:nvSpPr>
        <p:spPr bwMode="auto">
          <a:xfrm flipH="1">
            <a:off x="2728912" y="3527425"/>
            <a:ext cx="0" cy="1146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29" name="Line 25"/>
          <p:cNvSpPr>
            <a:spLocks noChangeShapeType="1"/>
          </p:cNvSpPr>
          <p:nvPr/>
        </p:nvSpPr>
        <p:spPr bwMode="auto">
          <a:xfrm flipH="1">
            <a:off x="3617912" y="3543300"/>
            <a:ext cx="0" cy="2324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0" name="Line 26"/>
          <p:cNvSpPr>
            <a:spLocks noChangeShapeType="1"/>
          </p:cNvSpPr>
          <p:nvPr/>
        </p:nvSpPr>
        <p:spPr bwMode="auto">
          <a:xfrm flipH="1">
            <a:off x="4170362" y="3543300"/>
            <a:ext cx="0" cy="156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1" name="Line 27"/>
          <p:cNvSpPr>
            <a:spLocks noChangeShapeType="1"/>
          </p:cNvSpPr>
          <p:nvPr/>
        </p:nvSpPr>
        <p:spPr bwMode="auto">
          <a:xfrm>
            <a:off x="2728912" y="3543300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2" name="Text Box 28"/>
          <p:cNvSpPr txBox="1">
            <a:spLocks noChangeArrowheads="1"/>
          </p:cNvSpPr>
          <p:nvPr/>
        </p:nvSpPr>
        <p:spPr bwMode="auto">
          <a:xfrm>
            <a:off x="2601912" y="2870200"/>
            <a:ext cx="381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a’e’</a:t>
            </a:r>
          </a:p>
        </p:txBody>
      </p: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3427412" y="2870200"/>
            <a:ext cx="381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b’d’</a:t>
            </a:r>
          </a:p>
        </p:txBody>
      </p:sp>
      <p:sp>
        <p:nvSpPr>
          <p:cNvPr id="47135" name="Text Box 31"/>
          <p:cNvSpPr txBox="1">
            <a:spLocks noChangeArrowheads="1"/>
          </p:cNvSpPr>
          <p:nvPr/>
        </p:nvSpPr>
        <p:spPr bwMode="auto">
          <a:xfrm>
            <a:off x="3979862" y="3068638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c’</a:t>
            </a:r>
            <a:endParaRPr lang="en-US"/>
          </a:p>
        </p:txBody>
      </p:sp>
      <p:sp>
        <p:nvSpPr>
          <p:cNvPr id="47136" name="Oval 32"/>
          <p:cNvSpPr>
            <a:spLocks noChangeArrowheads="1"/>
          </p:cNvSpPr>
          <p:nvPr/>
        </p:nvSpPr>
        <p:spPr bwMode="auto">
          <a:xfrm>
            <a:off x="2709862" y="3522663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37" name="Oval 33"/>
          <p:cNvSpPr>
            <a:spLocks noChangeArrowheads="1"/>
          </p:cNvSpPr>
          <p:nvPr/>
        </p:nvSpPr>
        <p:spPr bwMode="auto">
          <a:xfrm>
            <a:off x="3592512" y="3519488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38" name="Oval 34"/>
          <p:cNvSpPr>
            <a:spLocks noChangeArrowheads="1"/>
          </p:cNvSpPr>
          <p:nvPr/>
        </p:nvSpPr>
        <p:spPr bwMode="auto">
          <a:xfrm>
            <a:off x="4146550" y="3509963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 rot="-2700000">
            <a:off x="4735512" y="2433638"/>
            <a:ext cx="1758950" cy="698500"/>
            <a:chOff x="2236" y="1030"/>
            <a:chExt cx="1108" cy="440"/>
          </a:xfrm>
        </p:grpSpPr>
        <p:sp>
          <p:nvSpPr>
            <p:cNvPr id="7217" name="Line 36"/>
            <p:cNvSpPr>
              <a:spLocks noChangeShapeType="1"/>
            </p:cNvSpPr>
            <p:nvPr/>
          </p:nvSpPr>
          <p:spPr bwMode="auto">
            <a:xfrm>
              <a:off x="2316" y="1454"/>
              <a:ext cx="9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18" name="Text Box 37"/>
            <p:cNvSpPr txBox="1">
              <a:spLocks noChangeArrowheads="1"/>
            </p:cNvSpPr>
            <p:nvPr/>
          </p:nvSpPr>
          <p:spPr bwMode="auto">
            <a:xfrm>
              <a:off x="2236" y="1030"/>
              <a:ext cx="24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/>
                <a:t>a’e’</a:t>
              </a:r>
            </a:p>
          </p:txBody>
        </p:sp>
        <p:sp>
          <p:nvSpPr>
            <p:cNvPr id="7219" name="Text Box 38"/>
            <p:cNvSpPr txBox="1">
              <a:spLocks noChangeArrowheads="1"/>
            </p:cNvSpPr>
            <p:nvPr/>
          </p:nvSpPr>
          <p:spPr bwMode="auto">
            <a:xfrm>
              <a:off x="2756" y="1030"/>
              <a:ext cx="24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/>
                <a:t>b’d’</a:t>
              </a:r>
            </a:p>
          </p:txBody>
        </p:sp>
        <p:sp>
          <p:nvSpPr>
            <p:cNvPr id="7220" name="Text Box 39"/>
            <p:cNvSpPr txBox="1">
              <a:spLocks noChangeArrowheads="1"/>
            </p:cNvSpPr>
            <p:nvPr/>
          </p:nvSpPr>
          <p:spPr bwMode="auto">
            <a:xfrm>
              <a:off x="3104" y="115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c’</a:t>
              </a:r>
              <a:endParaRPr lang="en-US"/>
            </a:p>
          </p:txBody>
        </p:sp>
        <p:sp>
          <p:nvSpPr>
            <p:cNvPr id="7221" name="Oval 40"/>
            <p:cNvSpPr>
              <a:spLocks noChangeArrowheads="1"/>
            </p:cNvSpPr>
            <p:nvPr/>
          </p:nvSpPr>
          <p:spPr bwMode="auto">
            <a:xfrm>
              <a:off x="2304" y="1441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22" name="Oval 41"/>
            <p:cNvSpPr>
              <a:spLocks noChangeArrowheads="1"/>
            </p:cNvSpPr>
            <p:nvPr/>
          </p:nvSpPr>
          <p:spPr bwMode="auto">
            <a:xfrm>
              <a:off x="2860" y="1439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23" name="Oval 42"/>
            <p:cNvSpPr>
              <a:spLocks noChangeArrowheads="1"/>
            </p:cNvSpPr>
            <p:nvPr/>
          </p:nvSpPr>
          <p:spPr bwMode="auto">
            <a:xfrm>
              <a:off x="3209" y="1433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7148" name="Line 44"/>
          <p:cNvSpPr>
            <a:spLocks noChangeShapeType="1"/>
          </p:cNvSpPr>
          <p:nvPr/>
        </p:nvSpPr>
        <p:spPr bwMode="auto">
          <a:xfrm flipH="1">
            <a:off x="5314950" y="3543300"/>
            <a:ext cx="0" cy="23241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7149" name="Line 45"/>
          <p:cNvSpPr>
            <a:spLocks noChangeShapeType="1"/>
          </p:cNvSpPr>
          <p:nvPr/>
        </p:nvSpPr>
        <p:spPr bwMode="auto">
          <a:xfrm flipH="1">
            <a:off x="5938837" y="2914650"/>
            <a:ext cx="0" cy="295275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7150" name="Line 46"/>
          <p:cNvSpPr>
            <a:spLocks noChangeShapeType="1"/>
          </p:cNvSpPr>
          <p:nvPr/>
        </p:nvSpPr>
        <p:spPr bwMode="auto">
          <a:xfrm flipH="1">
            <a:off x="6324600" y="2530475"/>
            <a:ext cx="0" cy="270827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7151" name="Line 47"/>
          <p:cNvSpPr>
            <a:spLocks noChangeShapeType="1"/>
          </p:cNvSpPr>
          <p:nvPr/>
        </p:nvSpPr>
        <p:spPr bwMode="auto">
          <a:xfrm>
            <a:off x="2728912" y="4648200"/>
            <a:ext cx="2586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2" name="Line 48"/>
          <p:cNvSpPr>
            <a:spLocks noChangeShapeType="1"/>
          </p:cNvSpPr>
          <p:nvPr/>
        </p:nvSpPr>
        <p:spPr bwMode="auto">
          <a:xfrm>
            <a:off x="2730500" y="5562600"/>
            <a:ext cx="2586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3" name="Line 49"/>
          <p:cNvSpPr>
            <a:spLocks noChangeShapeType="1"/>
          </p:cNvSpPr>
          <p:nvPr/>
        </p:nvSpPr>
        <p:spPr bwMode="auto">
          <a:xfrm>
            <a:off x="3617912" y="4368800"/>
            <a:ext cx="2586038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7154" name="Line 50"/>
          <p:cNvSpPr>
            <a:spLocks noChangeShapeType="1"/>
          </p:cNvSpPr>
          <p:nvPr/>
        </p:nvSpPr>
        <p:spPr bwMode="auto">
          <a:xfrm>
            <a:off x="3608387" y="5864225"/>
            <a:ext cx="2586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5" name="Line 51"/>
          <p:cNvSpPr>
            <a:spLocks noChangeShapeType="1"/>
          </p:cNvSpPr>
          <p:nvPr/>
        </p:nvSpPr>
        <p:spPr bwMode="auto">
          <a:xfrm>
            <a:off x="4173537" y="5108575"/>
            <a:ext cx="2586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6" name="Oval 52"/>
          <p:cNvSpPr>
            <a:spLocks noChangeArrowheads="1"/>
          </p:cNvSpPr>
          <p:nvPr/>
        </p:nvSpPr>
        <p:spPr bwMode="auto">
          <a:xfrm>
            <a:off x="5292725" y="4624388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57" name="Oval 53"/>
          <p:cNvSpPr>
            <a:spLocks noChangeArrowheads="1"/>
          </p:cNvSpPr>
          <p:nvPr/>
        </p:nvSpPr>
        <p:spPr bwMode="auto">
          <a:xfrm>
            <a:off x="5915025" y="4344988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58" name="Oval 54"/>
          <p:cNvSpPr>
            <a:spLocks noChangeArrowheads="1"/>
          </p:cNvSpPr>
          <p:nvPr/>
        </p:nvSpPr>
        <p:spPr bwMode="auto">
          <a:xfrm>
            <a:off x="6299200" y="5084763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59" name="Oval 55"/>
          <p:cNvSpPr>
            <a:spLocks noChangeArrowheads="1"/>
          </p:cNvSpPr>
          <p:nvPr/>
        </p:nvSpPr>
        <p:spPr bwMode="auto">
          <a:xfrm>
            <a:off x="5915025" y="5840413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60" name="Oval 56"/>
          <p:cNvSpPr>
            <a:spLocks noChangeArrowheads="1"/>
          </p:cNvSpPr>
          <p:nvPr/>
        </p:nvSpPr>
        <p:spPr bwMode="auto">
          <a:xfrm flipV="1">
            <a:off x="5292725" y="5519738"/>
            <a:ext cx="44450" cy="428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61" name="AutoShape 57"/>
          <p:cNvSpPr>
            <a:spLocks noChangeArrowheads="1"/>
          </p:cNvSpPr>
          <p:nvPr/>
        </p:nvSpPr>
        <p:spPr bwMode="auto">
          <a:xfrm rot="5400000">
            <a:off x="5083968" y="4599782"/>
            <a:ext cx="1471613" cy="1009650"/>
          </a:xfrm>
          <a:prstGeom prst="pentagon">
            <a:avLst/>
          </a:prstGeom>
          <a:solidFill>
            <a:schemeClr val="accent1">
              <a:alpha val="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62" name="Text Box 58"/>
          <p:cNvSpPr txBox="1">
            <a:spLocks noChangeArrowheads="1"/>
          </p:cNvSpPr>
          <p:nvPr/>
        </p:nvSpPr>
        <p:spPr bwMode="auto">
          <a:xfrm>
            <a:off x="5011737" y="4360863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a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47163" name="Text Box 59"/>
          <p:cNvSpPr txBox="1">
            <a:spLocks noChangeArrowheads="1"/>
          </p:cNvSpPr>
          <p:nvPr/>
        </p:nvSpPr>
        <p:spPr bwMode="auto">
          <a:xfrm>
            <a:off x="5837237" y="4064000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47164" name="Text Box 60"/>
          <p:cNvSpPr txBox="1">
            <a:spLocks noChangeArrowheads="1"/>
          </p:cNvSpPr>
          <p:nvPr/>
        </p:nvSpPr>
        <p:spPr bwMode="auto">
          <a:xfrm>
            <a:off x="6324600" y="4932363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c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47165" name="Text Box 61"/>
          <p:cNvSpPr txBox="1">
            <a:spLocks noChangeArrowheads="1"/>
          </p:cNvSpPr>
          <p:nvPr/>
        </p:nvSpPr>
        <p:spPr bwMode="auto">
          <a:xfrm>
            <a:off x="5837237" y="5864225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d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47166" name="Text Box 62"/>
          <p:cNvSpPr txBox="1">
            <a:spLocks noChangeArrowheads="1"/>
          </p:cNvSpPr>
          <p:nvPr/>
        </p:nvSpPr>
        <p:spPr bwMode="auto">
          <a:xfrm>
            <a:off x="5011737" y="5519738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e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47168" name="Arc 64"/>
          <p:cNvSpPr>
            <a:spLocks/>
          </p:cNvSpPr>
          <p:nvPr/>
        </p:nvSpPr>
        <p:spPr bwMode="auto">
          <a:xfrm>
            <a:off x="5430837" y="3328988"/>
            <a:ext cx="220663" cy="204787"/>
          </a:xfrm>
          <a:custGeom>
            <a:avLst/>
            <a:gdLst>
              <a:gd name="T0" fmla="*/ 97623 w 21600"/>
              <a:gd name="T1" fmla="*/ 0 h 19371"/>
              <a:gd name="T2" fmla="*/ 220663 w 21600"/>
              <a:gd name="T3" fmla="*/ 204787 h 19371"/>
              <a:gd name="T4" fmla="*/ 0 w 21600"/>
              <a:gd name="T5" fmla="*/ 204787 h 19371"/>
              <a:gd name="T6" fmla="*/ 0 60000 65536"/>
              <a:gd name="T7" fmla="*/ 0 60000 65536"/>
              <a:gd name="T8" fmla="*/ 0 60000 65536"/>
              <a:gd name="T9" fmla="*/ 0 w 21600"/>
              <a:gd name="T10" fmla="*/ 0 h 19371"/>
              <a:gd name="T11" fmla="*/ 21600 w 21600"/>
              <a:gd name="T12" fmla="*/ 19371 h 193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371" fill="none" extrusionOk="0">
                <a:moveTo>
                  <a:pt x="9556" y="-1"/>
                </a:moveTo>
                <a:cubicBezTo>
                  <a:pt x="16930" y="3637"/>
                  <a:pt x="21600" y="11147"/>
                  <a:pt x="21600" y="19371"/>
                </a:cubicBezTo>
              </a:path>
              <a:path w="21600" h="19371" stroke="0" extrusionOk="0">
                <a:moveTo>
                  <a:pt x="9556" y="-1"/>
                </a:moveTo>
                <a:cubicBezTo>
                  <a:pt x="16930" y="3637"/>
                  <a:pt x="21600" y="11147"/>
                  <a:pt x="21600" y="19371"/>
                </a:cubicBezTo>
                <a:lnTo>
                  <a:pt x="0" y="1937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7169" name="Text Box 65"/>
          <p:cNvSpPr txBox="1">
            <a:spLocks noChangeArrowheads="1"/>
          </p:cNvSpPr>
          <p:nvPr/>
        </p:nvSpPr>
        <p:spPr bwMode="auto">
          <a:xfrm>
            <a:off x="5588000" y="3263900"/>
            <a:ext cx="498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45</a:t>
            </a:r>
            <a:r>
              <a:rPr lang="en-US" sz="1400">
                <a:cs typeface="Arial" charset="0"/>
              </a:rPr>
              <a:t>º</a:t>
            </a:r>
          </a:p>
        </p:txBody>
      </p:sp>
      <p:sp>
        <p:nvSpPr>
          <p:cNvPr id="5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r>
              <a:rPr lang="en-US" dirty="0"/>
              <a:t>Plane Inclined to One RP and Perpendicular to Other RP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95600" y="6324600"/>
            <a:ext cx="86761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8800" y="6324600"/>
            <a:ext cx="86761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" y="5562600"/>
            <a:ext cx="155151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One side</a:t>
            </a:r>
          </a:p>
          <a:p>
            <a:pPr algn="ctr"/>
            <a:r>
              <a:rPr lang="en-US" dirty="0"/>
              <a:t>On the ground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10400" y="2514600"/>
            <a:ext cx="155151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One side</a:t>
            </a:r>
          </a:p>
          <a:p>
            <a:pPr algn="ctr"/>
            <a:r>
              <a:rPr lang="en-US" dirty="0"/>
              <a:t>On the ground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4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4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8" grpId="0" animBg="1"/>
      <p:bldP spid="47119" grpId="0"/>
      <p:bldP spid="47120" grpId="0"/>
      <p:bldP spid="47121" grpId="0"/>
      <p:bldP spid="47122" grpId="0"/>
      <p:bldP spid="47123" grpId="0"/>
      <p:bldP spid="47124" grpId="0" animBg="1"/>
      <p:bldP spid="47125" grpId="0" animBg="1"/>
      <p:bldP spid="47126" grpId="0" animBg="1"/>
      <p:bldP spid="47127" grpId="0"/>
      <p:bldP spid="47128" grpId="0" animBg="1"/>
      <p:bldP spid="47129" grpId="0" animBg="1"/>
      <p:bldP spid="47130" grpId="0" animBg="1"/>
      <p:bldP spid="47131" grpId="0" animBg="1"/>
      <p:bldP spid="47132" grpId="0"/>
      <p:bldP spid="47133" grpId="0"/>
      <p:bldP spid="47135" grpId="0"/>
      <p:bldP spid="47136" grpId="0" animBg="1"/>
      <p:bldP spid="47137" grpId="0" animBg="1"/>
      <p:bldP spid="47138" grpId="0" animBg="1"/>
      <p:bldP spid="47148" grpId="0" animBg="1"/>
      <p:bldP spid="47149" grpId="0" animBg="1"/>
      <p:bldP spid="47150" grpId="0" animBg="1"/>
      <p:bldP spid="47151" grpId="0" animBg="1"/>
      <p:bldP spid="47152" grpId="0" animBg="1"/>
      <p:bldP spid="47153" grpId="0" animBg="1"/>
      <p:bldP spid="47154" grpId="0" animBg="1"/>
      <p:bldP spid="47155" grpId="0" animBg="1"/>
      <p:bldP spid="47156" grpId="0" animBg="1"/>
      <p:bldP spid="47157" grpId="0" animBg="1"/>
      <p:bldP spid="47158" grpId="0" animBg="1"/>
      <p:bldP spid="47159" grpId="0" animBg="1"/>
      <p:bldP spid="47160" grpId="0" animBg="1"/>
      <p:bldP spid="47161" grpId="0" animBg="1"/>
      <p:bldP spid="47162" grpId="0"/>
      <p:bldP spid="47163" grpId="0"/>
      <p:bldP spid="47164" grpId="0"/>
      <p:bldP spid="47165" grpId="0"/>
      <p:bldP spid="47166" grpId="0"/>
      <p:bldP spid="47168" grpId="0" animBg="1"/>
      <p:bldP spid="47169" grpId="0"/>
      <p:bldP spid="59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457200" y="1295400"/>
            <a:ext cx="8229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Times" pitchFamily="18" charset="0"/>
              </a:rPr>
              <a:t>Problem 4:</a:t>
            </a:r>
            <a:r>
              <a:rPr lang="en-US" dirty="0">
                <a:latin typeface="Times" pitchFamily="18" charset="0"/>
              </a:rPr>
              <a:t> Draw the projections of a circle of 50 mm diameter having its plane vertical and inclined at 30</a:t>
            </a:r>
            <a:r>
              <a:rPr lang="en-US" dirty="0">
                <a:latin typeface="Times" pitchFamily="18" charset="0"/>
                <a:cs typeface="Arial" charset="0"/>
              </a:rPr>
              <a:t>º to the VP. Its centre is 30 mm above the HP and 20 mm in front of the VP.</a:t>
            </a:r>
          </a:p>
        </p:txBody>
      </p:sp>
      <p:sp>
        <p:nvSpPr>
          <p:cNvPr id="49157" name="Line 5"/>
          <p:cNvSpPr>
            <a:spLocks noChangeShapeType="1"/>
          </p:cNvSpPr>
          <p:nvPr/>
        </p:nvSpPr>
        <p:spPr bwMode="auto">
          <a:xfrm>
            <a:off x="1531937" y="4908263"/>
            <a:ext cx="5959475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1285875" y="4736813"/>
            <a:ext cx="423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X</a:t>
            </a: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7494587" y="4755863"/>
            <a:ext cx="277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Y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797050" y="2644488"/>
            <a:ext cx="2586037" cy="2451100"/>
            <a:chOff x="2819" y="828"/>
            <a:chExt cx="1629" cy="1544"/>
          </a:xfrm>
        </p:grpSpPr>
        <p:sp>
          <p:nvSpPr>
            <p:cNvPr id="8292" name="Text Box 19"/>
            <p:cNvSpPr txBox="1">
              <a:spLocks noChangeArrowheads="1"/>
            </p:cNvSpPr>
            <p:nvPr/>
          </p:nvSpPr>
          <p:spPr bwMode="auto">
            <a:xfrm>
              <a:off x="2819" y="15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1’</a:t>
              </a:r>
            </a:p>
          </p:txBody>
        </p:sp>
        <p:sp>
          <p:nvSpPr>
            <p:cNvPr id="8293" name="Text Box 20"/>
            <p:cNvSpPr txBox="1">
              <a:spLocks noChangeArrowheads="1"/>
            </p:cNvSpPr>
            <p:nvPr/>
          </p:nvSpPr>
          <p:spPr bwMode="auto">
            <a:xfrm>
              <a:off x="2935" y="1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2’</a:t>
              </a:r>
            </a:p>
          </p:txBody>
        </p:sp>
        <p:sp>
          <p:nvSpPr>
            <p:cNvPr id="8294" name="Text Box 21"/>
            <p:cNvSpPr txBox="1">
              <a:spLocks noChangeArrowheads="1"/>
            </p:cNvSpPr>
            <p:nvPr/>
          </p:nvSpPr>
          <p:spPr bwMode="auto">
            <a:xfrm>
              <a:off x="3151" y="9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3’</a:t>
              </a:r>
            </a:p>
          </p:txBody>
        </p:sp>
        <p:sp>
          <p:nvSpPr>
            <p:cNvPr id="8295" name="Text Box 22"/>
            <p:cNvSpPr txBox="1">
              <a:spLocks noChangeArrowheads="1"/>
            </p:cNvSpPr>
            <p:nvPr/>
          </p:nvSpPr>
          <p:spPr bwMode="auto">
            <a:xfrm>
              <a:off x="3512" y="8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4’</a:t>
              </a:r>
            </a:p>
          </p:txBody>
        </p:sp>
        <p:sp>
          <p:nvSpPr>
            <p:cNvPr id="8296" name="Text Box 23"/>
            <p:cNvSpPr txBox="1">
              <a:spLocks noChangeArrowheads="1"/>
            </p:cNvSpPr>
            <p:nvPr/>
          </p:nvSpPr>
          <p:spPr bwMode="auto">
            <a:xfrm>
              <a:off x="3848" y="9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5’</a:t>
              </a:r>
            </a:p>
          </p:txBody>
        </p:sp>
        <p:sp>
          <p:nvSpPr>
            <p:cNvPr id="8297" name="Text Box 24"/>
            <p:cNvSpPr txBox="1">
              <a:spLocks noChangeArrowheads="1"/>
            </p:cNvSpPr>
            <p:nvPr/>
          </p:nvSpPr>
          <p:spPr bwMode="auto">
            <a:xfrm>
              <a:off x="4088" y="1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6’</a:t>
              </a:r>
            </a:p>
          </p:txBody>
        </p:sp>
        <p:sp>
          <p:nvSpPr>
            <p:cNvPr id="8298" name="Text Box 25"/>
            <p:cNvSpPr txBox="1">
              <a:spLocks noChangeArrowheads="1"/>
            </p:cNvSpPr>
            <p:nvPr/>
          </p:nvSpPr>
          <p:spPr bwMode="auto">
            <a:xfrm>
              <a:off x="4208" y="15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7’</a:t>
              </a:r>
            </a:p>
          </p:txBody>
        </p:sp>
        <p:sp>
          <p:nvSpPr>
            <p:cNvPr id="8299" name="Text Box 26"/>
            <p:cNvSpPr txBox="1">
              <a:spLocks noChangeArrowheads="1"/>
            </p:cNvSpPr>
            <p:nvPr/>
          </p:nvSpPr>
          <p:spPr bwMode="auto">
            <a:xfrm>
              <a:off x="4104" y="17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8’</a:t>
              </a:r>
            </a:p>
          </p:txBody>
        </p:sp>
        <p:sp>
          <p:nvSpPr>
            <p:cNvPr id="8300" name="Text Box 27"/>
            <p:cNvSpPr txBox="1">
              <a:spLocks noChangeArrowheads="1"/>
            </p:cNvSpPr>
            <p:nvPr/>
          </p:nvSpPr>
          <p:spPr bwMode="auto">
            <a:xfrm>
              <a:off x="3912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9’</a:t>
              </a:r>
            </a:p>
          </p:txBody>
        </p:sp>
        <p:sp>
          <p:nvSpPr>
            <p:cNvPr id="8301" name="Text Box 28"/>
            <p:cNvSpPr txBox="1">
              <a:spLocks noChangeArrowheads="1"/>
            </p:cNvSpPr>
            <p:nvPr/>
          </p:nvSpPr>
          <p:spPr bwMode="auto">
            <a:xfrm>
              <a:off x="3512" y="2180"/>
              <a:ext cx="33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10’</a:t>
              </a:r>
            </a:p>
          </p:txBody>
        </p:sp>
        <p:sp>
          <p:nvSpPr>
            <p:cNvPr id="8302" name="Text Box 29"/>
            <p:cNvSpPr txBox="1">
              <a:spLocks noChangeArrowheads="1"/>
            </p:cNvSpPr>
            <p:nvPr/>
          </p:nvSpPr>
          <p:spPr bwMode="auto">
            <a:xfrm>
              <a:off x="3175" y="2064"/>
              <a:ext cx="33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11’</a:t>
              </a:r>
            </a:p>
          </p:txBody>
        </p:sp>
        <p:sp>
          <p:nvSpPr>
            <p:cNvPr id="8303" name="Text Box 30"/>
            <p:cNvSpPr txBox="1">
              <a:spLocks noChangeArrowheads="1"/>
            </p:cNvSpPr>
            <p:nvPr/>
          </p:nvSpPr>
          <p:spPr bwMode="auto">
            <a:xfrm>
              <a:off x="2891" y="1792"/>
              <a:ext cx="33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/>
                <a:t>12’</a:t>
              </a:r>
            </a:p>
          </p:txBody>
        </p:sp>
      </p:grp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1709737" y="3817651"/>
            <a:ext cx="0" cy="1077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9185" name="Line 33"/>
          <p:cNvSpPr>
            <a:spLocks noChangeShapeType="1"/>
          </p:cNvSpPr>
          <p:nvPr/>
        </p:nvSpPr>
        <p:spPr bwMode="auto">
          <a:xfrm>
            <a:off x="1585912" y="3817651"/>
            <a:ext cx="434975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86" name="Line 34"/>
          <p:cNvSpPr>
            <a:spLocks noChangeShapeType="1"/>
          </p:cNvSpPr>
          <p:nvPr/>
        </p:nvSpPr>
        <p:spPr bwMode="auto">
          <a:xfrm>
            <a:off x="2181225" y="5632163"/>
            <a:ext cx="1830387" cy="0"/>
          </a:xfrm>
          <a:prstGeom prst="line">
            <a:avLst/>
          </a:prstGeom>
          <a:noFill/>
          <a:ln w="9906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1709737" y="4911438"/>
            <a:ext cx="0" cy="722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>
            <a:off x="1492250" y="5635338"/>
            <a:ext cx="2774950" cy="3462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 rot="-5400000">
            <a:off x="1352550" y="4190713"/>
            <a:ext cx="4651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 rot="-5400000">
            <a:off x="1347787" y="5090826"/>
            <a:ext cx="4651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49191" name="Line 39"/>
          <p:cNvSpPr>
            <a:spLocks noChangeShapeType="1"/>
          </p:cNvSpPr>
          <p:nvPr/>
        </p:nvSpPr>
        <p:spPr bwMode="auto">
          <a:xfrm>
            <a:off x="2178050" y="3817651"/>
            <a:ext cx="1587" cy="181768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92" name="Line 40"/>
          <p:cNvSpPr>
            <a:spLocks noChangeShapeType="1"/>
          </p:cNvSpPr>
          <p:nvPr/>
        </p:nvSpPr>
        <p:spPr bwMode="auto">
          <a:xfrm>
            <a:off x="4010025" y="3827176"/>
            <a:ext cx="1587" cy="1817687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93" name="Line 41"/>
          <p:cNvSpPr>
            <a:spLocks noChangeShapeType="1"/>
          </p:cNvSpPr>
          <p:nvPr/>
        </p:nvSpPr>
        <p:spPr bwMode="auto">
          <a:xfrm>
            <a:off x="2298700" y="3365213"/>
            <a:ext cx="0" cy="226695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94" name="Line 42"/>
          <p:cNvSpPr>
            <a:spLocks noChangeShapeType="1"/>
          </p:cNvSpPr>
          <p:nvPr/>
        </p:nvSpPr>
        <p:spPr bwMode="auto">
          <a:xfrm>
            <a:off x="3879850" y="3365213"/>
            <a:ext cx="0" cy="226695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95" name="Line 43"/>
          <p:cNvSpPr>
            <a:spLocks noChangeShapeType="1"/>
          </p:cNvSpPr>
          <p:nvPr/>
        </p:nvSpPr>
        <p:spPr bwMode="auto">
          <a:xfrm>
            <a:off x="2635250" y="3031838"/>
            <a:ext cx="0" cy="260032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96" name="Line 44"/>
          <p:cNvSpPr>
            <a:spLocks noChangeShapeType="1"/>
          </p:cNvSpPr>
          <p:nvPr/>
        </p:nvSpPr>
        <p:spPr bwMode="auto">
          <a:xfrm>
            <a:off x="3551237" y="3028663"/>
            <a:ext cx="0" cy="260032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197" name="Line 45"/>
          <p:cNvSpPr>
            <a:spLocks noChangeShapeType="1"/>
          </p:cNvSpPr>
          <p:nvPr/>
        </p:nvSpPr>
        <p:spPr bwMode="auto">
          <a:xfrm>
            <a:off x="3092450" y="2896901"/>
            <a:ext cx="0" cy="2735262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12" name="Text Box 60"/>
          <p:cNvSpPr txBox="1">
            <a:spLocks noChangeArrowheads="1"/>
          </p:cNvSpPr>
          <p:nvPr/>
        </p:nvSpPr>
        <p:spPr bwMode="auto">
          <a:xfrm>
            <a:off x="1914525" y="5644863"/>
            <a:ext cx="266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1</a:t>
            </a:r>
          </a:p>
        </p:txBody>
      </p:sp>
      <p:sp>
        <p:nvSpPr>
          <p:cNvPr id="49213" name="Oval 61"/>
          <p:cNvSpPr>
            <a:spLocks noChangeArrowheads="1"/>
          </p:cNvSpPr>
          <p:nvPr/>
        </p:nvSpPr>
        <p:spPr bwMode="auto">
          <a:xfrm>
            <a:off x="2154237" y="5608351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14" name="Text Box 62"/>
          <p:cNvSpPr txBox="1">
            <a:spLocks noChangeArrowheads="1"/>
          </p:cNvSpPr>
          <p:nvPr/>
        </p:nvSpPr>
        <p:spPr bwMode="auto">
          <a:xfrm>
            <a:off x="2154237" y="5654388"/>
            <a:ext cx="388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2, 12</a:t>
            </a:r>
          </a:p>
        </p:txBody>
      </p:sp>
      <p:sp>
        <p:nvSpPr>
          <p:cNvPr id="49215" name="Oval 63"/>
          <p:cNvSpPr>
            <a:spLocks noChangeArrowheads="1"/>
          </p:cNvSpPr>
          <p:nvPr/>
        </p:nvSpPr>
        <p:spPr bwMode="auto">
          <a:xfrm>
            <a:off x="2278062" y="5606763"/>
            <a:ext cx="46038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16" name="Oval 64"/>
          <p:cNvSpPr>
            <a:spLocks noChangeArrowheads="1"/>
          </p:cNvSpPr>
          <p:nvPr/>
        </p:nvSpPr>
        <p:spPr bwMode="auto">
          <a:xfrm>
            <a:off x="2611437" y="5603588"/>
            <a:ext cx="46038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17" name="Oval 65"/>
          <p:cNvSpPr>
            <a:spLocks noChangeArrowheads="1"/>
          </p:cNvSpPr>
          <p:nvPr/>
        </p:nvSpPr>
        <p:spPr bwMode="auto">
          <a:xfrm>
            <a:off x="3068637" y="5611526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18" name="Oval 66"/>
          <p:cNvSpPr>
            <a:spLocks noChangeArrowheads="1"/>
          </p:cNvSpPr>
          <p:nvPr/>
        </p:nvSpPr>
        <p:spPr bwMode="auto">
          <a:xfrm>
            <a:off x="3532187" y="5611526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19" name="Oval 67"/>
          <p:cNvSpPr>
            <a:spLocks noChangeArrowheads="1"/>
          </p:cNvSpPr>
          <p:nvPr/>
        </p:nvSpPr>
        <p:spPr bwMode="auto">
          <a:xfrm>
            <a:off x="3856037" y="5608351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20" name="Oval 68"/>
          <p:cNvSpPr>
            <a:spLocks noChangeArrowheads="1"/>
          </p:cNvSpPr>
          <p:nvPr/>
        </p:nvSpPr>
        <p:spPr bwMode="auto">
          <a:xfrm>
            <a:off x="3987800" y="5606763"/>
            <a:ext cx="46037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21" name="Text Box 69"/>
          <p:cNvSpPr txBox="1">
            <a:spLocks noChangeArrowheads="1"/>
          </p:cNvSpPr>
          <p:nvPr/>
        </p:nvSpPr>
        <p:spPr bwMode="auto">
          <a:xfrm>
            <a:off x="2462212" y="5657563"/>
            <a:ext cx="388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3, 11</a:t>
            </a:r>
          </a:p>
        </p:txBody>
      </p:sp>
      <p:sp>
        <p:nvSpPr>
          <p:cNvPr id="49222" name="Text Box 70"/>
          <p:cNvSpPr txBox="1">
            <a:spLocks noChangeArrowheads="1"/>
          </p:cNvSpPr>
          <p:nvPr/>
        </p:nvSpPr>
        <p:spPr bwMode="auto">
          <a:xfrm>
            <a:off x="2889250" y="5657563"/>
            <a:ext cx="388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4, 10</a:t>
            </a:r>
          </a:p>
        </p:txBody>
      </p:sp>
      <p:sp>
        <p:nvSpPr>
          <p:cNvPr id="49223" name="Text Box 71"/>
          <p:cNvSpPr txBox="1">
            <a:spLocks noChangeArrowheads="1"/>
          </p:cNvSpPr>
          <p:nvPr/>
        </p:nvSpPr>
        <p:spPr bwMode="auto">
          <a:xfrm>
            <a:off x="3336925" y="5657563"/>
            <a:ext cx="31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5, 9</a:t>
            </a:r>
          </a:p>
        </p:txBody>
      </p:sp>
      <p:sp>
        <p:nvSpPr>
          <p:cNvPr id="49224" name="Text Box 72"/>
          <p:cNvSpPr txBox="1">
            <a:spLocks noChangeArrowheads="1"/>
          </p:cNvSpPr>
          <p:nvPr/>
        </p:nvSpPr>
        <p:spPr bwMode="auto">
          <a:xfrm>
            <a:off x="3698875" y="5628988"/>
            <a:ext cx="31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6, 8</a:t>
            </a:r>
          </a:p>
        </p:txBody>
      </p:sp>
      <p:sp>
        <p:nvSpPr>
          <p:cNvPr id="49225" name="Text Box 73"/>
          <p:cNvSpPr txBox="1">
            <a:spLocks noChangeArrowheads="1"/>
          </p:cNvSpPr>
          <p:nvPr/>
        </p:nvSpPr>
        <p:spPr bwMode="auto">
          <a:xfrm>
            <a:off x="3951287" y="5632163"/>
            <a:ext cx="266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7</a:t>
            </a:r>
          </a:p>
        </p:txBody>
      </p:sp>
      <p:grpSp>
        <p:nvGrpSpPr>
          <p:cNvPr id="4" name="Group 104"/>
          <p:cNvGrpSpPr>
            <a:grpSpLocks/>
          </p:cNvGrpSpPr>
          <p:nvPr/>
        </p:nvGrpSpPr>
        <p:grpSpPr bwMode="auto">
          <a:xfrm rot="1800000">
            <a:off x="4964112" y="5576601"/>
            <a:ext cx="2303463" cy="511175"/>
            <a:chOff x="2577" y="3134"/>
            <a:chExt cx="1451" cy="322"/>
          </a:xfrm>
        </p:grpSpPr>
        <p:sp>
          <p:nvSpPr>
            <p:cNvPr id="8277" name="Line 89"/>
            <p:cNvSpPr>
              <a:spLocks noChangeShapeType="1"/>
            </p:cNvSpPr>
            <p:nvPr/>
          </p:nvSpPr>
          <p:spPr bwMode="auto">
            <a:xfrm>
              <a:off x="2745" y="3152"/>
              <a:ext cx="115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78" name="Text Box 90"/>
            <p:cNvSpPr txBox="1">
              <a:spLocks noChangeArrowheads="1"/>
            </p:cNvSpPr>
            <p:nvPr/>
          </p:nvSpPr>
          <p:spPr bwMode="auto">
            <a:xfrm>
              <a:off x="2577" y="3160"/>
              <a:ext cx="1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8279" name="Oval 91"/>
            <p:cNvSpPr>
              <a:spLocks noChangeArrowheads="1"/>
            </p:cNvSpPr>
            <p:nvPr/>
          </p:nvSpPr>
          <p:spPr bwMode="auto">
            <a:xfrm>
              <a:off x="2728" y="3137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0" name="Text Box 92"/>
            <p:cNvSpPr txBox="1">
              <a:spLocks noChangeArrowheads="1"/>
            </p:cNvSpPr>
            <p:nvPr/>
          </p:nvSpPr>
          <p:spPr bwMode="auto">
            <a:xfrm>
              <a:off x="2728" y="3166"/>
              <a:ext cx="2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2, 12</a:t>
              </a:r>
            </a:p>
          </p:txBody>
        </p:sp>
        <p:sp>
          <p:nvSpPr>
            <p:cNvPr id="8281" name="Oval 93"/>
            <p:cNvSpPr>
              <a:spLocks noChangeArrowheads="1"/>
            </p:cNvSpPr>
            <p:nvPr/>
          </p:nvSpPr>
          <p:spPr bwMode="auto">
            <a:xfrm>
              <a:off x="2806" y="3136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2" name="Oval 94"/>
            <p:cNvSpPr>
              <a:spLocks noChangeArrowheads="1"/>
            </p:cNvSpPr>
            <p:nvPr/>
          </p:nvSpPr>
          <p:spPr bwMode="auto">
            <a:xfrm>
              <a:off x="3016" y="3134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3" name="Oval 95"/>
            <p:cNvSpPr>
              <a:spLocks noChangeArrowheads="1"/>
            </p:cNvSpPr>
            <p:nvPr/>
          </p:nvSpPr>
          <p:spPr bwMode="auto">
            <a:xfrm>
              <a:off x="3304" y="3139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4" name="Oval 96"/>
            <p:cNvSpPr>
              <a:spLocks noChangeArrowheads="1"/>
            </p:cNvSpPr>
            <p:nvPr/>
          </p:nvSpPr>
          <p:spPr bwMode="auto">
            <a:xfrm>
              <a:off x="3596" y="3139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5" name="Oval 97"/>
            <p:cNvSpPr>
              <a:spLocks noChangeArrowheads="1"/>
            </p:cNvSpPr>
            <p:nvPr/>
          </p:nvSpPr>
          <p:spPr bwMode="auto">
            <a:xfrm>
              <a:off x="3800" y="3137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6" name="Oval 98"/>
            <p:cNvSpPr>
              <a:spLocks noChangeArrowheads="1"/>
            </p:cNvSpPr>
            <p:nvPr/>
          </p:nvSpPr>
          <p:spPr bwMode="auto">
            <a:xfrm>
              <a:off x="3883" y="3136"/>
              <a:ext cx="29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87" name="Text Box 99"/>
            <p:cNvSpPr txBox="1">
              <a:spLocks noChangeArrowheads="1"/>
            </p:cNvSpPr>
            <p:nvPr/>
          </p:nvSpPr>
          <p:spPr bwMode="auto">
            <a:xfrm>
              <a:off x="2922" y="3168"/>
              <a:ext cx="2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3, 11</a:t>
              </a:r>
            </a:p>
          </p:txBody>
        </p:sp>
        <p:sp>
          <p:nvSpPr>
            <p:cNvPr id="8288" name="Text Box 100"/>
            <p:cNvSpPr txBox="1">
              <a:spLocks noChangeArrowheads="1"/>
            </p:cNvSpPr>
            <p:nvPr/>
          </p:nvSpPr>
          <p:spPr bwMode="auto">
            <a:xfrm>
              <a:off x="3191" y="3168"/>
              <a:ext cx="2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4, 10</a:t>
              </a:r>
            </a:p>
          </p:txBody>
        </p:sp>
        <p:sp>
          <p:nvSpPr>
            <p:cNvPr id="8289" name="Text Box 101"/>
            <p:cNvSpPr txBox="1">
              <a:spLocks noChangeArrowheads="1"/>
            </p:cNvSpPr>
            <p:nvPr/>
          </p:nvSpPr>
          <p:spPr bwMode="auto">
            <a:xfrm>
              <a:off x="3473" y="3168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5, 9</a:t>
              </a:r>
            </a:p>
          </p:txBody>
        </p:sp>
        <p:sp>
          <p:nvSpPr>
            <p:cNvPr id="8290" name="Text Box 102"/>
            <p:cNvSpPr txBox="1">
              <a:spLocks noChangeArrowheads="1"/>
            </p:cNvSpPr>
            <p:nvPr/>
          </p:nvSpPr>
          <p:spPr bwMode="auto">
            <a:xfrm>
              <a:off x="3701" y="3150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6, 8</a:t>
              </a:r>
            </a:p>
          </p:txBody>
        </p:sp>
        <p:sp>
          <p:nvSpPr>
            <p:cNvPr id="8291" name="Text Box 103"/>
            <p:cNvSpPr txBox="1">
              <a:spLocks noChangeArrowheads="1"/>
            </p:cNvSpPr>
            <p:nvPr/>
          </p:nvSpPr>
          <p:spPr bwMode="auto">
            <a:xfrm>
              <a:off x="3860" y="3152"/>
              <a:ext cx="1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7</a:t>
              </a:r>
            </a:p>
          </p:txBody>
        </p:sp>
      </p:grpSp>
      <p:sp>
        <p:nvSpPr>
          <p:cNvPr id="49257" name="Line 105"/>
          <p:cNvSpPr>
            <a:spLocks noChangeShapeType="1"/>
          </p:cNvSpPr>
          <p:nvPr/>
        </p:nvSpPr>
        <p:spPr bwMode="auto">
          <a:xfrm flipV="1">
            <a:off x="3092450" y="5638800"/>
            <a:ext cx="4541837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58" name="Arc 106"/>
          <p:cNvSpPr>
            <a:spLocks/>
          </p:cNvSpPr>
          <p:nvPr/>
        </p:nvSpPr>
        <p:spPr bwMode="auto">
          <a:xfrm rot="-5924769">
            <a:off x="5985669" y="5513894"/>
            <a:ext cx="125412" cy="123825"/>
          </a:xfrm>
          <a:custGeom>
            <a:avLst/>
            <a:gdLst>
              <a:gd name="T0" fmla="*/ 0 w 18443"/>
              <a:gd name="T1" fmla="*/ 0 h 21600"/>
              <a:gd name="T2" fmla="*/ 125412 w 18443"/>
              <a:gd name="T3" fmla="*/ 59367 h 21600"/>
              <a:gd name="T4" fmla="*/ 0 w 18443"/>
              <a:gd name="T5" fmla="*/ 123825 h 21600"/>
              <a:gd name="T6" fmla="*/ 0 60000 65536"/>
              <a:gd name="T7" fmla="*/ 0 60000 65536"/>
              <a:gd name="T8" fmla="*/ 0 60000 65536"/>
              <a:gd name="T9" fmla="*/ 0 w 18443"/>
              <a:gd name="T10" fmla="*/ 0 h 21600"/>
              <a:gd name="T11" fmla="*/ 18443 w 1844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43" h="21600" fill="none" extrusionOk="0">
                <a:moveTo>
                  <a:pt x="-1" y="0"/>
                </a:moveTo>
                <a:cubicBezTo>
                  <a:pt x="7532" y="0"/>
                  <a:pt x="14521" y="3924"/>
                  <a:pt x="18442" y="10356"/>
                </a:cubicBezTo>
              </a:path>
              <a:path w="18443" h="21600" stroke="0" extrusionOk="0">
                <a:moveTo>
                  <a:pt x="-1" y="0"/>
                </a:moveTo>
                <a:cubicBezTo>
                  <a:pt x="7532" y="0"/>
                  <a:pt x="14521" y="3924"/>
                  <a:pt x="18442" y="10356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59" name="Text Box 107"/>
          <p:cNvSpPr txBox="1">
            <a:spLocks noChangeArrowheads="1"/>
          </p:cNvSpPr>
          <p:nvPr/>
        </p:nvSpPr>
        <p:spPr bwMode="auto">
          <a:xfrm>
            <a:off x="6010275" y="5328951"/>
            <a:ext cx="4365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30</a:t>
            </a:r>
            <a:r>
              <a:rPr lang="en-US" sz="1200">
                <a:cs typeface="Arial" charset="0"/>
              </a:rPr>
              <a:t>º</a:t>
            </a:r>
          </a:p>
        </p:txBody>
      </p:sp>
      <p:sp>
        <p:nvSpPr>
          <p:cNvPr id="49260" name="Line 108"/>
          <p:cNvSpPr>
            <a:spLocks noChangeShapeType="1"/>
          </p:cNvSpPr>
          <p:nvPr/>
        </p:nvSpPr>
        <p:spPr bwMode="auto">
          <a:xfrm flipH="1" flipV="1">
            <a:off x="4964112" y="4898738"/>
            <a:ext cx="2060575" cy="120015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1" name="Line 109"/>
          <p:cNvSpPr>
            <a:spLocks noChangeShapeType="1"/>
          </p:cNvSpPr>
          <p:nvPr/>
        </p:nvSpPr>
        <p:spPr bwMode="auto">
          <a:xfrm flipV="1">
            <a:off x="5457825" y="3736688"/>
            <a:ext cx="0" cy="1449388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2" name="Line 110"/>
          <p:cNvSpPr>
            <a:spLocks noChangeShapeType="1"/>
          </p:cNvSpPr>
          <p:nvPr/>
        </p:nvSpPr>
        <p:spPr bwMode="auto">
          <a:xfrm flipV="1">
            <a:off x="5562600" y="3088988"/>
            <a:ext cx="0" cy="216217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3" name="Line 111"/>
          <p:cNvSpPr>
            <a:spLocks noChangeShapeType="1"/>
          </p:cNvSpPr>
          <p:nvPr/>
        </p:nvSpPr>
        <p:spPr bwMode="auto">
          <a:xfrm flipV="1">
            <a:off x="5851525" y="2377788"/>
            <a:ext cx="0" cy="30353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4" name="Line 112"/>
          <p:cNvSpPr>
            <a:spLocks noChangeShapeType="1"/>
          </p:cNvSpPr>
          <p:nvPr/>
        </p:nvSpPr>
        <p:spPr bwMode="auto">
          <a:xfrm flipV="1">
            <a:off x="6245225" y="2623851"/>
            <a:ext cx="0" cy="30353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5" name="Line 113"/>
          <p:cNvSpPr>
            <a:spLocks noChangeShapeType="1"/>
          </p:cNvSpPr>
          <p:nvPr/>
        </p:nvSpPr>
        <p:spPr bwMode="auto">
          <a:xfrm flipV="1">
            <a:off x="6651625" y="2842926"/>
            <a:ext cx="0" cy="30353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6" name="Line 114"/>
          <p:cNvSpPr>
            <a:spLocks noChangeShapeType="1"/>
          </p:cNvSpPr>
          <p:nvPr/>
        </p:nvSpPr>
        <p:spPr bwMode="auto">
          <a:xfrm flipV="1">
            <a:off x="6929437" y="3001676"/>
            <a:ext cx="0" cy="30353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7" name="Line 115"/>
          <p:cNvSpPr>
            <a:spLocks noChangeShapeType="1"/>
          </p:cNvSpPr>
          <p:nvPr/>
        </p:nvSpPr>
        <p:spPr bwMode="auto">
          <a:xfrm flipV="1">
            <a:off x="7043737" y="3065176"/>
            <a:ext cx="0" cy="30353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8" name="Line 116"/>
          <p:cNvSpPr>
            <a:spLocks noChangeShapeType="1"/>
          </p:cNvSpPr>
          <p:nvPr/>
        </p:nvSpPr>
        <p:spPr bwMode="auto">
          <a:xfrm>
            <a:off x="3092450" y="2898488"/>
            <a:ext cx="3179762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69" name="Oval 117"/>
          <p:cNvSpPr>
            <a:spLocks noChangeArrowheads="1"/>
          </p:cNvSpPr>
          <p:nvPr/>
        </p:nvSpPr>
        <p:spPr bwMode="auto">
          <a:xfrm>
            <a:off x="6221412" y="2873088"/>
            <a:ext cx="46038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70" name="Text Box 118"/>
          <p:cNvSpPr txBox="1">
            <a:spLocks noChangeArrowheads="1"/>
          </p:cNvSpPr>
          <p:nvPr/>
        </p:nvSpPr>
        <p:spPr bwMode="auto">
          <a:xfrm>
            <a:off x="6091237" y="2598451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4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71" name="Line 119"/>
          <p:cNvSpPr>
            <a:spLocks noChangeShapeType="1"/>
          </p:cNvSpPr>
          <p:nvPr/>
        </p:nvSpPr>
        <p:spPr bwMode="auto">
          <a:xfrm>
            <a:off x="2641600" y="3031838"/>
            <a:ext cx="403225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72" name="Oval 120"/>
          <p:cNvSpPr>
            <a:spLocks noChangeArrowheads="1"/>
          </p:cNvSpPr>
          <p:nvPr/>
        </p:nvSpPr>
        <p:spPr bwMode="auto">
          <a:xfrm>
            <a:off x="5829300" y="3008026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73" name="Oval 121"/>
          <p:cNvSpPr>
            <a:spLocks noChangeArrowheads="1"/>
          </p:cNvSpPr>
          <p:nvPr/>
        </p:nvSpPr>
        <p:spPr bwMode="auto">
          <a:xfrm>
            <a:off x="6632575" y="3003263"/>
            <a:ext cx="46037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74" name="Text Box 122"/>
          <p:cNvSpPr txBox="1">
            <a:spLocks noChangeArrowheads="1"/>
          </p:cNvSpPr>
          <p:nvPr/>
        </p:nvSpPr>
        <p:spPr bwMode="auto">
          <a:xfrm>
            <a:off x="5494337" y="2766726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3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75" name="Text Box 123"/>
          <p:cNvSpPr txBox="1">
            <a:spLocks noChangeArrowheads="1"/>
          </p:cNvSpPr>
          <p:nvPr/>
        </p:nvSpPr>
        <p:spPr bwMode="auto">
          <a:xfrm>
            <a:off x="6577012" y="2784188"/>
            <a:ext cx="447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5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76" name="Line 124"/>
          <p:cNvSpPr>
            <a:spLocks noChangeShapeType="1"/>
          </p:cNvSpPr>
          <p:nvPr/>
        </p:nvSpPr>
        <p:spPr bwMode="auto">
          <a:xfrm>
            <a:off x="2305050" y="3365213"/>
            <a:ext cx="4765675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77" name="Oval 125"/>
          <p:cNvSpPr>
            <a:spLocks noChangeArrowheads="1"/>
          </p:cNvSpPr>
          <p:nvPr/>
        </p:nvSpPr>
        <p:spPr bwMode="auto">
          <a:xfrm>
            <a:off x="5530850" y="3341401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78" name="Oval 126"/>
          <p:cNvSpPr>
            <a:spLocks noChangeArrowheads="1"/>
          </p:cNvSpPr>
          <p:nvPr/>
        </p:nvSpPr>
        <p:spPr bwMode="auto">
          <a:xfrm>
            <a:off x="6908800" y="3341401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79" name="Text Box 127"/>
          <p:cNvSpPr txBox="1">
            <a:spLocks noChangeArrowheads="1"/>
          </p:cNvSpPr>
          <p:nvPr/>
        </p:nvSpPr>
        <p:spPr bwMode="auto">
          <a:xfrm>
            <a:off x="5229225" y="3249326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2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80" name="Text Box 128"/>
          <p:cNvSpPr txBox="1">
            <a:spLocks noChangeArrowheads="1"/>
          </p:cNvSpPr>
          <p:nvPr/>
        </p:nvSpPr>
        <p:spPr bwMode="auto">
          <a:xfrm>
            <a:off x="6915150" y="3163601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6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81" name="Line 129"/>
          <p:cNvSpPr>
            <a:spLocks noChangeShapeType="1"/>
          </p:cNvSpPr>
          <p:nvPr/>
        </p:nvSpPr>
        <p:spPr bwMode="auto">
          <a:xfrm>
            <a:off x="2176462" y="3813175"/>
            <a:ext cx="4894263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82" name="Oval 130"/>
          <p:cNvSpPr>
            <a:spLocks noChangeArrowheads="1"/>
          </p:cNvSpPr>
          <p:nvPr/>
        </p:nvSpPr>
        <p:spPr bwMode="auto">
          <a:xfrm>
            <a:off x="5432425" y="3793838"/>
            <a:ext cx="46037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83" name="Oval 131"/>
          <p:cNvSpPr>
            <a:spLocks noChangeArrowheads="1"/>
          </p:cNvSpPr>
          <p:nvPr/>
        </p:nvSpPr>
        <p:spPr bwMode="auto">
          <a:xfrm>
            <a:off x="7019925" y="3785901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84" name="Text Box 132"/>
          <p:cNvSpPr txBox="1">
            <a:spLocks noChangeArrowheads="1"/>
          </p:cNvSpPr>
          <p:nvPr/>
        </p:nvSpPr>
        <p:spPr bwMode="auto">
          <a:xfrm>
            <a:off x="5095875" y="3655726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1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85" name="Text Box 133"/>
          <p:cNvSpPr txBox="1">
            <a:spLocks noChangeArrowheads="1"/>
          </p:cNvSpPr>
          <p:nvPr/>
        </p:nvSpPr>
        <p:spPr bwMode="auto">
          <a:xfrm>
            <a:off x="7043737" y="3647788"/>
            <a:ext cx="447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7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87" name="Line 135"/>
          <p:cNvSpPr>
            <a:spLocks noChangeShapeType="1"/>
          </p:cNvSpPr>
          <p:nvPr/>
        </p:nvSpPr>
        <p:spPr bwMode="auto">
          <a:xfrm>
            <a:off x="2298700" y="4279613"/>
            <a:ext cx="4765675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88" name="Oval 136"/>
          <p:cNvSpPr>
            <a:spLocks noChangeArrowheads="1"/>
          </p:cNvSpPr>
          <p:nvPr/>
        </p:nvSpPr>
        <p:spPr bwMode="auto">
          <a:xfrm>
            <a:off x="5537200" y="4255801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89" name="Text Box 137"/>
          <p:cNvSpPr txBox="1">
            <a:spLocks noChangeArrowheads="1"/>
          </p:cNvSpPr>
          <p:nvPr/>
        </p:nvSpPr>
        <p:spPr bwMode="auto">
          <a:xfrm>
            <a:off x="5141912" y="4117688"/>
            <a:ext cx="447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12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90" name="Oval 138"/>
          <p:cNvSpPr>
            <a:spLocks noChangeArrowheads="1"/>
          </p:cNvSpPr>
          <p:nvPr/>
        </p:nvSpPr>
        <p:spPr bwMode="auto">
          <a:xfrm>
            <a:off x="6908800" y="4255801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91" name="Text Box 139"/>
          <p:cNvSpPr txBox="1">
            <a:spLocks noChangeArrowheads="1"/>
          </p:cNvSpPr>
          <p:nvPr/>
        </p:nvSpPr>
        <p:spPr bwMode="auto">
          <a:xfrm>
            <a:off x="6921500" y="4117688"/>
            <a:ext cx="447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8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92" name="Line 140"/>
          <p:cNvSpPr>
            <a:spLocks noChangeShapeType="1"/>
          </p:cNvSpPr>
          <p:nvPr/>
        </p:nvSpPr>
        <p:spPr bwMode="auto">
          <a:xfrm>
            <a:off x="2635250" y="4606638"/>
            <a:ext cx="403225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93" name="Oval 141"/>
          <p:cNvSpPr>
            <a:spLocks noChangeArrowheads="1"/>
          </p:cNvSpPr>
          <p:nvPr/>
        </p:nvSpPr>
        <p:spPr bwMode="auto">
          <a:xfrm>
            <a:off x="5827712" y="4582826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94" name="Text Box 142"/>
          <p:cNvSpPr txBox="1">
            <a:spLocks noChangeArrowheads="1"/>
          </p:cNvSpPr>
          <p:nvPr/>
        </p:nvSpPr>
        <p:spPr bwMode="auto">
          <a:xfrm>
            <a:off x="5494337" y="4582826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11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95" name="Oval 143"/>
          <p:cNvSpPr>
            <a:spLocks noChangeArrowheads="1"/>
          </p:cNvSpPr>
          <p:nvPr/>
        </p:nvSpPr>
        <p:spPr bwMode="auto">
          <a:xfrm>
            <a:off x="6630987" y="4573301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96" name="Text Box 144"/>
          <p:cNvSpPr txBox="1">
            <a:spLocks noChangeArrowheads="1"/>
          </p:cNvSpPr>
          <p:nvPr/>
        </p:nvSpPr>
        <p:spPr bwMode="auto">
          <a:xfrm>
            <a:off x="6596062" y="4490751"/>
            <a:ext cx="447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9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297" name="Line 145"/>
          <p:cNvSpPr>
            <a:spLocks noChangeShapeType="1"/>
          </p:cNvSpPr>
          <p:nvPr/>
        </p:nvSpPr>
        <p:spPr bwMode="auto">
          <a:xfrm>
            <a:off x="3089275" y="4733638"/>
            <a:ext cx="3179762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298" name="Oval 146"/>
          <p:cNvSpPr>
            <a:spLocks noChangeArrowheads="1"/>
          </p:cNvSpPr>
          <p:nvPr/>
        </p:nvSpPr>
        <p:spPr bwMode="auto">
          <a:xfrm>
            <a:off x="6227762" y="4709826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299" name="Text Box 147"/>
          <p:cNvSpPr txBox="1">
            <a:spLocks noChangeArrowheads="1"/>
          </p:cNvSpPr>
          <p:nvPr/>
        </p:nvSpPr>
        <p:spPr bwMode="auto">
          <a:xfrm>
            <a:off x="6129337" y="4892388"/>
            <a:ext cx="447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10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49300" name="Oval 148"/>
          <p:cNvSpPr>
            <a:spLocks noChangeArrowheads="1"/>
          </p:cNvSpPr>
          <p:nvPr/>
        </p:nvSpPr>
        <p:spPr bwMode="auto">
          <a:xfrm>
            <a:off x="5457825" y="2896901"/>
            <a:ext cx="1585912" cy="1836737"/>
          </a:xfrm>
          <a:prstGeom prst="ellipse">
            <a:avLst/>
          </a:prstGeom>
          <a:solidFill>
            <a:schemeClr val="accent1">
              <a:alpha val="0"/>
            </a:schemeClr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49301" name="Line 149"/>
          <p:cNvSpPr>
            <a:spLocks noChangeShapeType="1"/>
          </p:cNvSpPr>
          <p:nvPr/>
        </p:nvSpPr>
        <p:spPr bwMode="auto">
          <a:xfrm flipV="1">
            <a:off x="2171700" y="2133313"/>
            <a:ext cx="3175" cy="167957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302" name="Line 150"/>
          <p:cNvSpPr>
            <a:spLocks noChangeShapeType="1"/>
          </p:cNvSpPr>
          <p:nvPr/>
        </p:nvSpPr>
        <p:spPr bwMode="auto">
          <a:xfrm flipV="1">
            <a:off x="4010025" y="2138076"/>
            <a:ext cx="3175" cy="167957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49303" name="Line 151"/>
          <p:cNvSpPr>
            <a:spLocks noChangeShapeType="1"/>
          </p:cNvSpPr>
          <p:nvPr/>
        </p:nvSpPr>
        <p:spPr bwMode="auto">
          <a:xfrm>
            <a:off x="2171700" y="2377788"/>
            <a:ext cx="1836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9304" name="Text Box 152"/>
          <p:cNvSpPr txBox="1">
            <a:spLocks noChangeArrowheads="1"/>
          </p:cNvSpPr>
          <p:nvPr/>
        </p:nvSpPr>
        <p:spPr bwMode="auto">
          <a:xfrm>
            <a:off x="2813050" y="2084101"/>
            <a:ext cx="719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50 </a:t>
            </a:r>
            <a:r>
              <a:rPr lang="en-US">
                <a:cs typeface="Arial" charset="0"/>
              </a:rPr>
              <a:t>Ø</a:t>
            </a:r>
          </a:p>
        </p:txBody>
      </p:sp>
      <p:sp>
        <p:nvSpPr>
          <p:cNvPr id="11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</p:spPr>
        <p:txBody>
          <a:bodyPr/>
          <a:lstStyle/>
          <a:p>
            <a:r>
              <a:rPr lang="en-US" dirty="0"/>
              <a:t>Plane Inclined to One RP and Perpendicular to Other RP</a:t>
            </a:r>
          </a:p>
        </p:txBody>
      </p:sp>
      <p:grpSp>
        <p:nvGrpSpPr>
          <p:cNvPr id="128" name="Group 127"/>
          <p:cNvGrpSpPr/>
          <p:nvPr/>
        </p:nvGrpSpPr>
        <p:grpSpPr>
          <a:xfrm>
            <a:off x="2179637" y="2904838"/>
            <a:ext cx="1828800" cy="1828800"/>
            <a:chOff x="2179637" y="2904838"/>
            <a:chExt cx="1828800" cy="1828800"/>
          </a:xfrm>
        </p:grpSpPr>
        <p:sp>
          <p:nvSpPr>
            <p:cNvPr id="8304" name="AutoShape 8"/>
            <p:cNvSpPr>
              <a:spLocks noChangeArrowheads="1"/>
            </p:cNvSpPr>
            <p:nvPr/>
          </p:nvSpPr>
          <p:spPr bwMode="auto">
            <a:xfrm>
              <a:off x="2179637" y="2904838"/>
              <a:ext cx="1828800" cy="1828800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cxnSp>
          <p:nvCxnSpPr>
            <p:cNvPr id="119" name="Straight Connector 118"/>
            <p:cNvCxnSpPr>
              <a:stCxn id="49292" idx="0"/>
              <a:endCxn id="49196" idx="0"/>
            </p:cNvCxnSpPr>
            <p:nvPr/>
          </p:nvCxnSpPr>
          <p:spPr>
            <a:xfrm flipV="1">
              <a:off x="2635250" y="3028663"/>
              <a:ext cx="915987" cy="15779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endCxn id="49271" idx="0"/>
            </p:cNvCxnSpPr>
            <p:nvPr/>
          </p:nvCxnSpPr>
          <p:spPr>
            <a:xfrm flipH="1" flipV="1">
              <a:off x="2641600" y="3031838"/>
              <a:ext cx="939800" cy="16163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endCxn id="49193" idx="0"/>
            </p:cNvCxnSpPr>
            <p:nvPr/>
          </p:nvCxnSpPr>
          <p:spPr>
            <a:xfrm flipH="1" flipV="1">
              <a:off x="2298700" y="3365213"/>
              <a:ext cx="1587500" cy="9019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endCxn id="49194" idx="0"/>
            </p:cNvCxnSpPr>
            <p:nvPr/>
          </p:nvCxnSpPr>
          <p:spPr>
            <a:xfrm flipV="1">
              <a:off x="2286000" y="3365213"/>
              <a:ext cx="1593850" cy="9019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7" name="TextBox 116"/>
          <p:cNvSpPr txBox="1"/>
          <p:nvPr/>
        </p:nvSpPr>
        <p:spPr>
          <a:xfrm>
            <a:off x="2819400" y="6248400"/>
            <a:ext cx="86761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56990" y="6248400"/>
            <a:ext cx="86761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4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4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4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4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4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4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4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4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4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4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4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4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4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4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4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4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4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4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4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4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4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4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4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4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4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4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4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4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4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4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4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4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4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nimBg="1"/>
      <p:bldP spid="49158" grpId="0"/>
      <p:bldP spid="49159" grpId="0"/>
      <p:bldP spid="49184" grpId="0" animBg="1"/>
      <p:bldP spid="49185" grpId="0" animBg="1"/>
      <p:bldP spid="49186" grpId="0" animBg="1"/>
      <p:bldP spid="49187" grpId="0" animBg="1"/>
      <p:bldP spid="49188" grpId="0" animBg="1"/>
      <p:bldP spid="49189" grpId="0"/>
      <p:bldP spid="49190" grpId="0"/>
      <p:bldP spid="49191" grpId="0" animBg="1"/>
      <p:bldP spid="49192" grpId="0" animBg="1"/>
      <p:bldP spid="49193" grpId="0" animBg="1"/>
      <p:bldP spid="49194" grpId="0" animBg="1"/>
      <p:bldP spid="49195" grpId="0" animBg="1"/>
      <p:bldP spid="49196" grpId="0" animBg="1"/>
      <p:bldP spid="49197" grpId="0" animBg="1"/>
      <p:bldP spid="49212" grpId="0"/>
      <p:bldP spid="49213" grpId="0" animBg="1"/>
      <p:bldP spid="49214" grpId="0"/>
      <p:bldP spid="49215" grpId="0" animBg="1"/>
      <p:bldP spid="49216" grpId="0" animBg="1"/>
      <p:bldP spid="49217" grpId="0" animBg="1"/>
      <p:bldP spid="49218" grpId="0" animBg="1"/>
      <p:bldP spid="49219" grpId="0" animBg="1"/>
      <p:bldP spid="49220" grpId="0" animBg="1"/>
      <p:bldP spid="49221" grpId="0"/>
      <p:bldP spid="49222" grpId="0"/>
      <p:bldP spid="49223" grpId="0"/>
      <p:bldP spid="49224" grpId="0"/>
      <p:bldP spid="49225" grpId="0"/>
      <p:bldP spid="49257" grpId="0" animBg="1"/>
      <p:bldP spid="49258" grpId="0" animBg="1"/>
      <p:bldP spid="49259" grpId="0"/>
      <p:bldP spid="49260" grpId="0" animBg="1"/>
      <p:bldP spid="49261" grpId="0" animBg="1"/>
      <p:bldP spid="49262" grpId="0" animBg="1"/>
      <p:bldP spid="49263" grpId="0" animBg="1"/>
      <p:bldP spid="49264" grpId="0" animBg="1"/>
      <p:bldP spid="49265" grpId="0" animBg="1"/>
      <p:bldP spid="49266" grpId="0" animBg="1"/>
      <p:bldP spid="49267" grpId="0" animBg="1"/>
      <p:bldP spid="49268" grpId="0" animBg="1"/>
      <p:bldP spid="49269" grpId="0" animBg="1"/>
      <p:bldP spid="49270" grpId="0"/>
      <p:bldP spid="49271" grpId="0" animBg="1"/>
      <p:bldP spid="49272" grpId="0" animBg="1"/>
      <p:bldP spid="49273" grpId="0" animBg="1"/>
      <p:bldP spid="49274" grpId="0"/>
      <p:bldP spid="49275" grpId="0"/>
      <p:bldP spid="49276" grpId="0" animBg="1"/>
      <p:bldP spid="49277" grpId="0" animBg="1"/>
      <p:bldP spid="49278" grpId="0" animBg="1"/>
      <p:bldP spid="49279" grpId="0"/>
      <p:bldP spid="49280" grpId="0"/>
      <p:bldP spid="49281" grpId="0" animBg="1"/>
      <p:bldP spid="49282" grpId="0" animBg="1"/>
      <p:bldP spid="49283" grpId="0" animBg="1"/>
      <p:bldP spid="49284" grpId="0"/>
      <p:bldP spid="49285" grpId="0"/>
      <p:bldP spid="49287" grpId="0" animBg="1"/>
      <p:bldP spid="49288" grpId="0" animBg="1"/>
      <p:bldP spid="49289" grpId="0"/>
      <p:bldP spid="49290" grpId="0" animBg="1"/>
      <p:bldP spid="49291" grpId="0"/>
      <p:bldP spid="49292" grpId="0" animBg="1"/>
      <p:bldP spid="49293" grpId="0" animBg="1"/>
      <p:bldP spid="49294" grpId="0"/>
      <p:bldP spid="49295" grpId="0" animBg="1"/>
      <p:bldP spid="49296" grpId="0"/>
      <p:bldP spid="49297" grpId="0" animBg="1"/>
      <p:bldP spid="49298" grpId="0" animBg="1"/>
      <p:bldP spid="49299" grpId="0"/>
      <p:bldP spid="49300" grpId="0" animBg="1"/>
      <p:bldP spid="49301" grpId="0" animBg="1"/>
      <p:bldP spid="49302" grpId="0" animBg="1"/>
      <p:bldP spid="49303" grpId="0" animBg="1"/>
      <p:bldP spid="49304" grpId="0"/>
      <p:bldP spid="1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4343400" y="76200"/>
            <a:ext cx="4686300" cy="18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Read problem and answer following questions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1. Surface inclined to which plane? -------      </a:t>
            </a:r>
            <a:r>
              <a:rPr lang="en-US" altLang="en-US" sz="1600" b="1" i="1">
                <a:latin typeface="Times New Roman" panose="02020603050405020304" pitchFamily="18" charset="0"/>
              </a:rPr>
              <a:t>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2. Assumption for initial position? ------ </a:t>
            </a:r>
            <a:r>
              <a:rPr lang="en-US" altLang="en-US" sz="1600" b="1" i="1">
                <a:latin typeface="Times New Roman" panose="02020603050405020304" pitchFamily="18" charset="0"/>
              </a:rPr>
              <a:t>// to 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3. So which view will show True shape? ---   </a:t>
            </a:r>
            <a:r>
              <a:rPr lang="en-US" altLang="en-US" sz="1600" b="1" i="1">
                <a:latin typeface="Times New Roman" panose="02020603050405020304" pitchFamily="18" charset="0"/>
              </a:rPr>
              <a:t>TV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4. Which side will be vertical?   -------- </a:t>
            </a:r>
            <a:r>
              <a:rPr lang="en-US" altLang="en-US" sz="1600" b="1" i="1">
                <a:latin typeface="Times New Roman" panose="02020603050405020304" pitchFamily="18" charset="0"/>
              </a:rPr>
              <a:t>any side.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    </a:t>
            </a:r>
            <a:r>
              <a:rPr lang="en-US" altLang="en-US" sz="1600" b="1" i="1">
                <a:latin typeface="Times New Roman" panose="02020603050405020304" pitchFamily="18" charset="0"/>
              </a:rPr>
              <a:t>Hence begin with TV,draw pentagon below </a:t>
            </a:r>
          </a:p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     X-Y line, taking one side vertical</a:t>
            </a:r>
            <a:r>
              <a:rPr lang="en-US" altLang="en-US" b="1" i="1">
                <a:latin typeface="Times New Roman" panose="02020603050405020304" pitchFamily="18" charset="0"/>
              </a:rPr>
              <a:t>.</a:t>
            </a:r>
            <a:endParaRPr lang="en-US" altLang="en-US" sz="2400" b="1" i="1">
              <a:latin typeface="Times New Roman" panose="02020603050405020304" pitchFamily="18" charset="0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04800" y="76200"/>
            <a:ext cx="3962400" cy="158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Problem 5:</a:t>
            </a:r>
          </a:p>
          <a:p>
            <a:pPr eaLnBrk="1" hangingPunct="1"/>
            <a:r>
              <a:rPr lang="en-US" altLang="en-US" sz="1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A regular pentagon of 30 mm sides is resting on HP on one of it’s sides with it’s surface 45</a:t>
            </a:r>
            <a:r>
              <a:rPr lang="en-US" altLang="en-US" sz="16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0  </a:t>
            </a:r>
            <a:r>
              <a:rPr lang="en-US" altLang="en-US" sz="1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inclined to HP.</a:t>
            </a:r>
          </a:p>
          <a:p>
            <a:pPr eaLnBrk="1" hangingPunct="1"/>
            <a:r>
              <a:rPr lang="en-US" altLang="en-US" sz="1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Draw it’s projections when the side in HP makes 30</a:t>
            </a:r>
            <a:r>
              <a:rPr lang="en-US" altLang="en-US" sz="16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angle with VP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714500" y="3101975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6869" name="AutoShape 5"/>
          <p:cNvSpPr>
            <a:spLocks noChangeArrowheads="1"/>
          </p:cNvSpPr>
          <p:nvPr/>
        </p:nvSpPr>
        <p:spPr bwMode="auto">
          <a:xfrm rot="5400000">
            <a:off x="1939926" y="3867150"/>
            <a:ext cx="1619250" cy="1539875"/>
          </a:xfrm>
          <a:prstGeom prst="pentagon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 flipV="1">
            <a:off x="1979613" y="3232150"/>
            <a:ext cx="0" cy="1106488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2917825" y="3232150"/>
            <a:ext cx="0" cy="595313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 flipV="1">
            <a:off x="3516313" y="3232150"/>
            <a:ext cx="0" cy="144780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1951038" y="3433763"/>
            <a:ext cx="1584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 rot="-2807395">
            <a:off x="3898107" y="2907506"/>
            <a:ext cx="14478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5081588" y="2379663"/>
            <a:ext cx="0" cy="306705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4751388" y="2720975"/>
            <a:ext cx="0" cy="2725738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4146550" y="3419475"/>
            <a:ext cx="25400" cy="2027238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>
            <a:off x="2746375" y="3827463"/>
            <a:ext cx="2389188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1979613" y="4168775"/>
            <a:ext cx="3155950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3516313" y="4627563"/>
            <a:ext cx="1619250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1979613" y="5105400"/>
            <a:ext cx="3155950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2917825" y="5446713"/>
            <a:ext cx="2217738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AutoShape 19"/>
          <p:cNvSpPr>
            <a:spLocks noChangeArrowheads="1"/>
          </p:cNvSpPr>
          <p:nvPr/>
        </p:nvSpPr>
        <p:spPr bwMode="auto">
          <a:xfrm rot="5400000">
            <a:off x="3802857" y="4125118"/>
            <a:ext cx="1619250" cy="1001713"/>
          </a:xfrm>
          <a:prstGeom prst="pentagon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6884" name="AutoShape 20"/>
          <p:cNvSpPr>
            <a:spLocks noChangeArrowheads="1"/>
          </p:cNvSpPr>
          <p:nvPr/>
        </p:nvSpPr>
        <p:spPr bwMode="auto">
          <a:xfrm rot="-9165139">
            <a:off x="5305425" y="3911600"/>
            <a:ext cx="1619250" cy="1003300"/>
          </a:xfrm>
          <a:prstGeom prst="pentagon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 flipH="1" flipV="1">
            <a:off x="5389563" y="3486150"/>
            <a:ext cx="1365250" cy="6826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 flipV="1">
            <a:off x="5305425" y="2463800"/>
            <a:ext cx="0" cy="1704975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 flipV="1">
            <a:off x="5900738" y="2463800"/>
            <a:ext cx="0" cy="2386013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 flipV="1">
            <a:off x="6738938" y="2463800"/>
            <a:ext cx="0" cy="2386013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 flipV="1">
            <a:off x="6799263" y="2463800"/>
            <a:ext cx="0" cy="1704975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5021263" y="2463800"/>
            <a:ext cx="1792287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>
            <a:off x="4706938" y="2838450"/>
            <a:ext cx="2133600" cy="0"/>
          </a:xfrm>
          <a:prstGeom prst="line">
            <a:avLst/>
          </a:prstGeom>
          <a:noFill/>
          <a:ln w="317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5305425" y="2463800"/>
            <a:ext cx="595313" cy="3413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5340350" y="2782888"/>
            <a:ext cx="596900" cy="681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5900738" y="3419475"/>
            <a:ext cx="854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6711950" y="2827338"/>
            <a:ext cx="84138" cy="681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5900738" y="2463800"/>
            <a:ext cx="854075" cy="427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7" name="Text Box 33"/>
          <p:cNvSpPr txBox="1">
            <a:spLocks noChangeArrowheads="1"/>
          </p:cNvSpPr>
          <p:nvPr/>
        </p:nvSpPr>
        <p:spPr bwMode="auto">
          <a:xfrm>
            <a:off x="1501775" y="3101975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6898" name="Text Box 34"/>
          <p:cNvSpPr txBox="1">
            <a:spLocks noChangeArrowheads="1"/>
          </p:cNvSpPr>
          <p:nvPr/>
        </p:nvSpPr>
        <p:spPr bwMode="auto">
          <a:xfrm>
            <a:off x="3416300" y="3101975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  <a:endParaRPr lang="en-US" altLang="en-US" sz="1400" baseline="-25000">
              <a:latin typeface="Times New Roman" panose="02020603050405020304" pitchFamily="18" charset="0"/>
            </a:endParaRPr>
          </a:p>
        </p:txBody>
      </p:sp>
      <p:sp>
        <p:nvSpPr>
          <p:cNvPr id="36899" name="Text Box 35"/>
          <p:cNvSpPr txBox="1">
            <a:spLocks noChangeArrowheads="1"/>
          </p:cNvSpPr>
          <p:nvPr/>
        </p:nvSpPr>
        <p:spPr bwMode="auto">
          <a:xfrm>
            <a:off x="3735388" y="4908550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00" name="Text Box 36"/>
          <p:cNvSpPr txBox="1">
            <a:spLocks noChangeArrowheads="1"/>
          </p:cNvSpPr>
          <p:nvPr/>
        </p:nvSpPr>
        <p:spPr bwMode="auto">
          <a:xfrm>
            <a:off x="3389313" y="44831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6901" name="Text Box 37"/>
          <p:cNvSpPr txBox="1">
            <a:spLocks noChangeArrowheads="1"/>
          </p:cNvSpPr>
          <p:nvPr/>
        </p:nvSpPr>
        <p:spPr bwMode="auto">
          <a:xfrm>
            <a:off x="4479925" y="5334000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02" name="Text Box 38"/>
          <p:cNvSpPr txBox="1">
            <a:spLocks noChangeArrowheads="1"/>
          </p:cNvSpPr>
          <p:nvPr/>
        </p:nvSpPr>
        <p:spPr bwMode="auto">
          <a:xfrm>
            <a:off x="1714500" y="3951288"/>
            <a:ext cx="263525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6903" name="Text Box 39"/>
          <p:cNvSpPr txBox="1">
            <a:spLocks noChangeArrowheads="1"/>
          </p:cNvSpPr>
          <p:nvPr/>
        </p:nvSpPr>
        <p:spPr bwMode="auto">
          <a:xfrm>
            <a:off x="2576513" y="3060700"/>
            <a:ext cx="503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c’e’</a:t>
            </a:r>
          </a:p>
        </p:txBody>
      </p:sp>
      <p:sp>
        <p:nvSpPr>
          <p:cNvPr id="36904" name="Text Box 40"/>
          <p:cNvSpPr txBox="1">
            <a:spLocks noChangeArrowheads="1"/>
          </p:cNvSpPr>
          <p:nvPr/>
        </p:nvSpPr>
        <p:spPr bwMode="auto">
          <a:xfrm>
            <a:off x="1701800" y="4908550"/>
            <a:ext cx="2746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6905" name="Text Box 41"/>
          <p:cNvSpPr txBox="1">
            <a:spLocks noChangeArrowheads="1"/>
          </p:cNvSpPr>
          <p:nvPr/>
        </p:nvSpPr>
        <p:spPr bwMode="auto">
          <a:xfrm>
            <a:off x="2671763" y="5319713"/>
            <a:ext cx="263525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6906" name="Text Box 42"/>
          <p:cNvSpPr txBox="1">
            <a:spLocks noChangeArrowheads="1"/>
          </p:cNvSpPr>
          <p:nvPr/>
        </p:nvSpPr>
        <p:spPr bwMode="auto">
          <a:xfrm>
            <a:off x="5010150" y="4376738"/>
            <a:ext cx="33020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07" name="Text Box 43"/>
          <p:cNvSpPr txBox="1">
            <a:spLocks noChangeArrowheads="1"/>
          </p:cNvSpPr>
          <p:nvPr/>
        </p:nvSpPr>
        <p:spPr bwMode="auto">
          <a:xfrm>
            <a:off x="6711950" y="3154363"/>
            <a:ext cx="3873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08" name="Text Box 44"/>
          <p:cNvSpPr txBox="1">
            <a:spLocks noChangeArrowheads="1"/>
          </p:cNvSpPr>
          <p:nvPr/>
        </p:nvSpPr>
        <p:spPr bwMode="auto">
          <a:xfrm>
            <a:off x="3775075" y="3898900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09" name="Text Box 45"/>
          <p:cNvSpPr txBox="1">
            <a:spLocks noChangeArrowheads="1"/>
          </p:cNvSpPr>
          <p:nvPr/>
        </p:nvSpPr>
        <p:spPr bwMode="auto">
          <a:xfrm>
            <a:off x="4957763" y="2622550"/>
            <a:ext cx="379412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e’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0" name="Text Box 46"/>
          <p:cNvSpPr txBox="1">
            <a:spLocks noChangeArrowheads="1"/>
          </p:cNvSpPr>
          <p:nvPr/>
        </p:nvSpPr>
        <p:spPr bwMode="auto">
          <a:xfrm>
            <a:off x="6711950" y="2570163"/>
            <a:ext cx="412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1" name="Text Box 47"/>
          <p:cNvSpPr txBox="1">
            <a:spLocks noChangeArrowheads="1"/>
          </p:cNvSpPr>
          <p:nvPr/>
        </p:nvSpPr>
        <p:spPr bwMode="auto">
          <a:xfrm>
            <a:off x="5754688" y="2144713"/>
            <a:ext cx="388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2" name="Text Box 48"/>
          <p:cNvSpPr txBox="1">
            <a:spLocks noChangeArrowheads="1"/>
          </p:cNvSpPr>
          <p:nvPr/>
        </p:nvSpPr>
        <p:spPr bwMode="auto">
          <a:xfrm>
            <a:off x="5754688" y="3406775"/>
            <a:ext cx="322262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3" name="Text Box 49"/>
          <p:cNvSpPr txBox="1">
            <a:spLocks noChangeArrowheads="1"/>
          </p:cNvSpPr>
          <p:nvPr/>
        </p:nvSpPr>
        <p:spPr bwMode="auto">
          <a:xfrm>
            <a:off x="6711950" y="3951288"/>
            <a:ext cx="33020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4" name="Text Box 50"/>
          <p:cNvSpPr txBox="1">
            <a:spLocks noChangeArrowheads="1"/>
          </p:cNvSpPr>
          <p:nvPr/>
        </p:nvSpPr>
        <p:spPr bwMode="auto">
          <a:xfrm>
            <a:off x="6711950" y="4695825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5" name="Text Box 51"/>
          <p:cNvSpPr txBox="1">
            <a:spLocks noChangeArrowheads="1"/>
          </p:cNvSpPr>
          <p:nvPr/>
        </p:nvSpPr>
        <p:spPr bwMode="auto">
          <a:xfrm>
            <a:off x="5568950" y="4695825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16" name="Text Box 52"/>
          <p:cNvSpPr txBox="1">
            <a:spLocks noChangeArrowheads="1"/>
          </p:cNvSpPr>
          <p:nvPr/>
        </p:nvSpPr>
        <p:spPr bwMode="auto">
          <a:xfrm>
            <a:off x="4745038" y="2144713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  <a:endParaRPr lang="en-US" altLang="en-US" sz="1400" baseline="-25000">
              <a:latin typeface="Times New Roman" panose="02020603050405020304" pitchFamily="18" charset="0"/>
            </a:endParaRPr>
          </a:p>
        </p:txBody>
      </p:sp>
      <p:sp>
        <p:nvSpPr>
          <p:cNvPr id="36917" name="Text Box 53"/>
          <p:cNvSpPr txBox="1">
            <a:spLocks noChangeArrowheads="1"/>
          </p:cNvSpPr>
          <p:nvPr/>
        </p:nvSpPr>
        <p:spPr bwMode="auto">
          <a:xfrm>
            <a:off x="3948113" y="2995613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6918" name="Text Box 54"/>
          <p:cNvSpPr txBox="1">
            <a:spLocks noChangeArrowheads="1"/>
          </p:cNvSpPr>
          <p:nvPr/>
        </p:nvSpPr>
        <p:spPr bwMode="auto">
          <a:xfrm>
            <a:off x="3746500" y="2995613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6919" name="Text Box 55"/>
          <p:cNvSpPr txBox="1">
            <a:spLocks noChangeArrowheads="1"/>
          </p:cNvSpPr>
          <p:nvPr/>
        </p:nvSpPr>
        <p:spPr bwMode="auto">
          <a:xfrm>
            <a:off x="4267200" y="2463800"/>
            <a:ext cx="501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c’e’</a:t>
            </a:r>
          </a:p>
        </p:txBody>
      </p:sp>
      <p:sp>
        <p:nvSpPr>
          <p:cNvPr id="36920" name="Text Box 56"/>
          <p:cNvSpPr txBox="1">
            <a:spLocks noChangeArrowheads="1"/>
          </p:cNvSpPr>
          <p:nvPr/>
        </p:nvSpPr>
        <p:spPr bwMode="auto">
          <a:xfrm>
            <a:off x="5116513" y="3738563"/>
            <a:ext cx="319087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e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21" name="Text Box 57"/>
          <p:cNvSpPr txBox="1">
            <a:spLocks noChangeArrowheads="1"/>
          </p:cNvSpPr>
          <p:nvPr/>
        </p:nvSpPr>
        <p:spPr bwMode="auto">
          <a:xfrm>
            <a:off x="4532313" y="3500438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e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22" name="Text Box 58"/>
          <p:cNvSpPr txBox="1">
            <a:spLocks noChangeArrowheads="1"/>
          </p:cNvSpPr>
          <p:nvPr/>
        </p:nvSpPr>
        <p:spPr bwMode="auto">
          <a:xfrm>
            <a:off x="5435600" y="3208338"/>
            <a:ext cx="3794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23" name="Line 59"/>
          <p:cNvSpPr>
            <a:spLocks noChangeShapeType="1"/>
          </p:cNvSpPr>
          <p:nvPr/>
        </p:nvSpPr>
        <p:spPr bwMode="auto">
          <a:xfrm>
            <a:off x="1406525" y="3419475"/>
            <a:ext cx="6061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4" name="Text Box 60"/>
          <p:cNvSpPr txBox="1">
            <a:spLocks noChangeArrowheads="1"/>
          </p:cNvSpPr>
          <p:nvPr/>
        </p:nvSpPr>
        <p:spPr bwMode="auto">
          <a:xfrm>
            <a:off x="1143000" y="3141663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6925" name="Text Box 61"/>
          <p:cNvSpPr txBox="1">
            <a:spLocks noChangeArrowheads="1"/>
          </p:cNvSpPr>
          <p:nvPr/>
        </p:nvSpPr>
        <p:spPr bwMode="auto">
          <a:xfrm>
            <a:off x="7031038" y="3154363"/>
            <a:ext cx="312737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6926" name="Text Box 62"/>
          <p:cNvSpPr txBox="1">
            <a:spLocks noChangeArrowheads="1"/>
          </p:cNvSpPr>
          <p:nvPr/>
        </p:nvSpPr>
        <p:spPr bwMode="auto">
          <a:xfrm>
            <a:off x="4200525" y="3205163"/>
            <a:ext cx="355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</a:rPr>
              <a:t>45</a:t>
            </a:r>
            <a:r>
              <a:rPr lang="en-US" altLang="en-US" sz="10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927" name="Text Box 63"/>
          <p:cNvSpPr txBox="1">
            <a:spLocks noChangeArrowheads="1"/>
          </p:cNvSpPr>
          <p:nvPr/>
        </p:nvSpPr>
        <p:spPr bwMode="auto">
          <a:xfrm>
            <a:off x="5981700" y="3508375"/>
            <a:ext cx="355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latin typeface="Times New Roman" panose="02020603050405020304" pitchFamily="18" charset="0"/>
              </a:rPr>
              <a:t>30</a:t>
            </a:r>
            <a:r>
              <a:rPr lang="en-US" altLang="en-US" sz="10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928" name="Arc 64"/>
          <p:cNvSpPr>
            <a:spLocks/>
          </p:cNvSpPr>
          <p:nvPr/>
        </p:nvSpPr>
        <p:spPr bwMode="auto">
          <a:xfrm rot="815633" flipH="1">
            <a:off x="6084888" y="3525838"/>
            <a:ext cx="296862" cy="434975"/>
          </a:xfrm>
          <a:custGeom>
            <a:avLst/>
            <a:gdLst>
              <a:gd name="T0" fmla="*/ 65035 w 21600"/>
              <a:gd name="T1" fmla="*/ 434975 h 27134"/>
              <a:gd name="T2" fmla="*/ 66698 w 21600"/>
              <a:gd name="T3" fmla="*/ 0 h 27134"/>
              <a:gd name="T4" fmla="*/ 296862 w 21600"/>
              <a:gd name="T5" fmla="*/ 218690 h 2713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7134" fill="none" extrusionOk="0">
                <a:moveTo>
                  <a:pt x="4732" y="27133"/>
                </a:moveTo>
                <a:cubicBezTo>
                  <a:pt x="1668" y="23304"/>
                  <a:pt x="0" y="18546"/>
                  <a:pt x="0" y="13642"/>
                </a:cubicBezTo>
                <a:cubicBezTo>
                  <a:pt x="0" y="8671"/>
                  <a:pt x="1714" y="3853"/>
                  <a:pt x="4853" y="0"/>
                </a:cubicBezTo>
              </a:path>
              <a:path w="21600" h="27134" stroke="0" extrusionOk="0">
                <a:moveTo>
                  <a:pt x="4732" y="27133"/>
                </a:moveTo>
                <a:cubicBezTo>
                  <a:pt x="1668" y="23304"/>
                  <a:pt x="0" y="18546"/>
                  <a:pt x="0" y="13642"/>
                </a:cubicBezTo>
                <a:cubicBezTo>
                  <a:pt x="0" y="8671"/>
                  <a:pt x="1714" y="3853"/>
                  <a:pt x="4853" y="0"/>
                </a:cubicBezTo>
                <a:lnTo>
                  <a:pt x="21600" y="13642"/>
                </a:lnTo>
                <a:lnTo>
                  <a:pt x="4732" y="2713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929" name="Text Box 65"/>
          <p:cNvSpPr txBox="1">
            <a:spLocks noChangeArrowheads="1"/>
          </p:cNvSpPr>
          <p:nvPr/>
        </p:nvSpPr>
        <p:spPr bwMode="auto">
          <a:xfrm>
            <a:off x="2789238" y="3525838"/>
            <a:ext cx="3190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 b="1"/>
              <a:t>e</a:t>
            </a:r>
          </a:p>
        </p:txBody>
      </p:sp>
      <p:sp>
        <p:nvSpPr>
          <p:cNvPr id="36930" name="Text Box 66"/>
          <p:cNvSpPr txBox="1">
            <a:spLocks noChangeArrowheads="1"/>
          </p:cNvSpPr>
          <p:nvPr/>
        </p:nvSpPr>
        <p:spPr bwMode="auto">
          <a:xfrm>
            <a:off x="457200" y="1676400"/>
            <a:ext cx="325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i="1">
                <a:solidFill>
                  <a:schemeClr val="accent2"/>
                </a:solidFill>
              </a:rPr>
              <a:t>SURFACE AND SIDE INCLINATIONS</a:t>
            </a:r>
          </a:p>
          <a:p>
            <a:pPr algn="ctr" eaLnBrk="1" hangingPunct="1"/>
            <a:r>
              <a:rPr lang="en-US" altLang="en-US" sz="1400" b="1" i="1">
                <a:solidFill>
                  <a:schemeClr val="accent2"/>
                </a:solidFill>
              </a:rPr>
              <a:t>ARE DIRECTLY GIVEN.</a:t>
            </a:r>
          </a:p>
        </p:txBody>
      </p:sp>
    </p:spTree>
    <p:extLst>
      <p:ext uri="{BB962C8B-B14F-4D97-AF65-F5344CB8AC3E}">
        <p14:creationId xmlns:p14="http://schemas.microsoft.com/office/powerpoint/2010/main" val="2656151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6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6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6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6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6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6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6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6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6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6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6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6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6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6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36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6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6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6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36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36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36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36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36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36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2" dur="5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36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36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36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36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36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36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36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36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36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36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36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36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 nodeType="clickPar">
                      <p:stCondLst>
                        <p:cond delay="indefinite"/>
                      </p:stCondLst>
                      <p:childTnLst>
                        <p:par>
                          <p:cTn id="3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 nodeType="clickPar">
                      <p:stCondLst>
                        <p:cond delay="indefinite"/>
                      </p:stCondLst>
                      <p:childTnLst>
                        <p:par>
                          <p:cTn id="3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36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36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36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36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 nodeType="clickPar">
                      <p:stCondLst>
                        <p:cond delay="indefinite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36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36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36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36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Par">
                      <p:stCondLst>
                        <p:cond delay="indefinite"/>
                      </p:stCondLst>
                      <p:childTnLst>
                        <p:par>
                          <p:cTn id="3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36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36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36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36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 nodeType="clickPar">
                      <p:stCondLst>
                        <p:cond delay="indefinite"/>
                      </p:stCondLst>
                      <p:childTnLst>
                        <p:par>
                          <p:cTn id="3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3" dur="5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5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 nodeType="clickPar">
                      <p:stCondLst>
                        <p:cond delay="indefinite"/>
                      </p:stCondLst>
                      <p:childTnLst>
                        <p:par>
                          <p:cTn id="3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1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 nodeType="clickPar">
                      <p:stCondLst>
                        <p:cond delay="indefinite"/>
                      </p:stCondLst>
                      <p:childTnLst>
                        <p:par>
                          <p:cTn id="3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6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 nodeType="clickPar">
                      <p:stCondLst>
                        <p:cond delay="indefinite"/>
                      </p:stCondLst>
                      <p:childTnLst>
                        <p:par>
                          <p:cTn id="3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1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 nodeType="clickPar">
                      <p:stCondLst>
                        <p:cond delay="indefinite"/>
                      </p:stCondLst>
                      <p:childTnLst>
                        <p:par>
                          <p:cTn id="3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6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36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36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Par">
                      <p:stCondLst>
                        <p:cond delay="indefinite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36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36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 nodeType="clickPar">
                      <p:stCondLst>
                        <p:cond delay="indefinite"/>
                      </p:stCondLst>
                      <p:childTnLst>
                        <p:par>
                          <p:cTn id="4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36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36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9" dur="500" fill="hold"/>
                                        <p:tgtEl>
                                          <p:spTgt spid="36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36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Par">
                      <p:stCondLst>
                        <p:cond delay="indefinite"/>
                      </p:stCondLst>
                      <p:childTnLst>
                        <p:par>
                          <p:cTn id="4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36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500" fill="hold"/>
                                        <p:tgtEl>
                                          <p:spTgt spid="36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autoUpdateAnimBg="0"/>
      <p:bldP spid="36868" grpId="0" autoUpdateAnimBg="0"/>
      <p:bldP spid="36869" grpId="0" animBg="1"/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876" grpId="0" animBg="1"/>
      <p:bldP spid="36877" grpId="0" animBg="1"/>
      <p:bldP spid="36878" grpId="0" animBg="1"/>
      <p:bldP spid="36879" grpId="0" animBg="1"/>
      <p:bldP spid="36880" grpId="0" animBg="1"/>
      <p:bldP spid="36881" grpId="0" animBg="1"/>
      <p:bldP spid="36882" grpId="0" animBg="1"/>
      <p:bldP spid="36883" grpId="0" animBg="1"/>
      <p:bldP spid="36884" grpId="0" animBg="1"/>
      <p:bldP spid="36885" grpId="0" animBg="1"/>
      <p:bldP spid="36886" grpId="0" animBg="1"/>
      <p:bldP spid="36887" grpId="0" animBg="1"/>
      <p:bldP spid="36888" grpId="0" animBg="1"/>
      <p:bldP spid="36889" grpId="0" animBg="1"/>
      <p:bldP spid="36890" grpId="0" animBg="1"/>
      <p:bldP spid="36891" grpId="0" animBg="1"/>
      <p:bldP spid="36892" grpId="0" animBg="1"/>
      <p:bldP spid="36893" grpId="0" animBg="1"/>
      <p:bldP spid="36894" grpId="0" animBg="1"/>
      <p:bldP spid="36895" grpId="0" animBg="1"/>
      <p:bldP spid="36896" grpId="0" animBg="1"/>
      <p:bldP spid="36897" grpId="0" autoUpdateAnimBg="0"/>
      <p:bldP spid="36898" grpId="0" autoUpdateAnimBg="0"/>
      <p:bldP spid="36899" grpId="0" autoUpdateAnimBg="0"/>
      <p:bldP spid="36900" grpId="0" autoUpdateAnimBg="0"/>
      <p:bldP spid="36901" grpId="0" autoUpdateAnimBg="0"/>
      <p:bldP spid="36902" grpId="0" autoUpdateAnimBg="0"/>
      <p:bldP spid="36903" grpId="0" autoUpdateAnimBg="0"/>
      <p:bldP spid="36904" grpId="0" autoUpdateAnimBg="0"/>
      <p:bldP spid="36905" grpId="0" autoUpdateAnimBg="0"/>
      <p:bldP spid="36906" grpId="0" autoUpdateAnimBg="0"/>
      <p:bldP spid="36907" grpId="0" autoUpdateAnimBg="0"/>
      <p:bldP spid="36908" grpId="0" autoUpdateAnimBg="0"/>
      <p:bldP spid="36909" grpId="0" autoUpdateAnimBg="0"/>
      <p:bldP spid="36910" grpId="0" autoUpdateAnimBg="0"/>
      <p:bldP spid="36911" grpId="0" autoUpdateAnimBg="0"/>
      <p:bldP spid="36912" grpId="0" autoUpdateAnimBg="0"/>
      <p:bldP spid="36913" grpId="0" autoUpdateAnimBg="0"/>
      <p:bldP spid="36914" grpId="0" autoUpdateAnimBg="0"/>
      <p:bldP spid="36915" grpId="0" autoUpdateAnimBg="0"/>
      <p:bldP spid="36916" grpId="0" autoUpdateAnimBg="0"/>
      <p:bldP spid="36917" grpId="0" autoUpdateAnimBg="0"/>
      <p:bldP spid="36918" grpId="0" autoUpdateAnimBg="0"/>
      <p:bldP spid="36919" grpId="0" autoUpdateAnimBg="0"/>
      <p:bldP spid="36920" grpId="0" autoUpdateAnimBg="0"/>
      <p:bldP spid="36921" grpId="0" autoUpdateAnimBg="0"/>
      <p:bldP spid="36922" grpId="0" autoUpdateAnimBg="0"/>
      <p:bldP spid="36923" grpId="0" animBg="1"/>
      <p:bldP spid="36924" grpId="0" autoUpdateAnimBg="0"/>
      <p:bldP spid="36925" grpId="0" autoUpdateAnimBg="0"/>
      <p:bldP spid="36926" grpId="0" autoUpdateAnimBg="0"/>
      <p:bldP spid="36927" grpId="0" autoUpdateAnimBg="0"/>
      <p:bldP spid="36928" grpId="0" animBg="1"/>
      <p:bldP spid="36929" grpId="0" autoUpdateAnimBg="0"/>
      <p:bldP spid="3693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457200" y="990600"/>
            <a:ext cx="27432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76600" y="990600"/>
            <a:ext cx="43434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Plane Inclined to Both RPs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" pitchFamily="18" charset="0"/>
              </a:rPr>
              <a:t>Problem 6:</a:t>
            </a:r>
            <a:r>
              <a:rPr lang="en-US" dirty="0">
                <a:latin typeface="Times" pitchFamily="18" charset="0"/>
              </a:rPr>
              <a:t> A regular pentagon ABCDE of side 30 mm has one of its edges parallel to the VP and inclined at 30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HP. The pentagon is inclined at 45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VP. Draw the projections of the pentagon.  </a:t>
            </a:r>
            <a:r>
              <a:rPr lang="en-US" sz="2400" b="1" dirty="0">
                <a:latin typeface="Times" pitchFamily="18" charset="0"/>
              </a:rPr>
              <a:t>(common question)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397926" y="2373868"/>
            <a:ext cx="1964402" cy="1969532"/>
            <a:chOff x="4741198" y="2297668"/>
            <a:chExt cx="1964402" cy="1969532"/>
          </a:xfrm>
        </p:grpSpPr>
        <p:sp>
          <p:nvSpPr>
            <p:cNvPr id="6" name="Regular Pentagon 5"/>
            <p:cNvSpPr/>
            <p:nvPr/>
          </p:nvSpPr>
          <p:spPr>
            <a:xfrm rot="5400000">
              <a:off x="5029200" y="2590800"/>
              <a:ext cx="1371600" cy="1371600"/>
            </a:xfrm>
            <a:prstGeom prst="pentagon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20694" y="2486799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a’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41198" y="37059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b’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562600" y="3897868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c’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41398" y="304800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d’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15000" y="229766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e’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152436" y="4191000"/>
            <a:ext cx="7991565" cy="381000"/>
            <a:chOff x="4495708" y="4114800"/>
            <a:chExt cx="4730581" cy="3810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800600" y="4343400"/>
              <a:ext cx="41550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495708" y="412646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29413" y="411480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685928" y="2672121"/>
            <a:ext cx="1371600" cy="3122866"/>
            <a:chOff x="5029200" y="2595921"/>
            <a:chExt cx="1371600" cy="3122866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6400800" y="3276098"/>
              <a:ext cx="0" cy="2438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867400" y="2595921"/>
              <a:ext cx="0" cy="31190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029200" y="3707107"/>
              <a:ext cx="0" cy="20116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609728" y="5791200"/>
            <a:ext cx="1600200" cy="722531"/>
            <a:chOff x="4953000" y="5715000"/>
            <a:chExt cx="1600200" cy="722531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5029200" y="5715000"/>
              <a:ext cx="137160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953000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  <a:p>
              <a:r>
                <a:rPr lang="en-US" dirty="0"/>
                <a:t>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13306" y="579120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  <a:p>
              <a:r>
                <a:rPr lang="en-US" dirty="0"/>
                <a:t>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46706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  <a:p>
              <a:endParaRPr lang="en-US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685928" y="2669382"/>
            <a:ext cx="3725876" cy="1371600"/>
            <a:chOff x="5029200" y="2593182"/>
            <a:chExt cx="3725876" cy="1371600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5029200" y="2856131"/>
              <a:ext cx="2811476" cy="28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872162" y="2593182"/>
              <a:ext cx="25781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5031581" y="3694331"/>
              <a:ext cx="2809095" cy="61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6400800" y="3273707"/>
              <a:ext cx="23542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874542" y="3964782"/>
              <a:ext cx="257573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619128" y="259080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128" y="5334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4497404" y="5078123"/>
            <a:ext cx="914400" cy="914400"/>
          </a:xfrm>
          <a:prstGeom prst="line">
            <a:avLst/>
          </a:prstGeom>
          <a:ln w="101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3811603" y="4267355"/>
            <a:ext cx="1596903" cy="1728061"/>
            <a:chOff x="5105400" y="4383024"/>
            <a:chExt cx="1403915" cy="1728061"/>
          </a:xfrm>
        </p:grpSpPr>
        <p:cxnSp>
          <p:nvCxnSpPr>
            <p:cNvPr id="35" name="Straight Connector 34"/>
            <p:cNvCxnSpPr>
              <a:endCxn id="41" idx="0"/>
            </p:cNvCxnSpPr>
            <p:nvPr/>
          </p:nvCxnSpPr>
          <p:spPr>
            <a:xfrm>
              <a:off x="5105400" y="4520184"/>
              <a:ext cx="1403915" cy="15909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94"/>
            <p:cNvGrpSpPr/>
            <p:nvPr/>
          </p:nvGrpSpPr>
          <p:grpSpPr>
            <a:xfrm>
              <a:off x="5157216" y="4383024"/>
              <a:ext cx="671688" cy="558308"/>
              <a:chOff x="5157216" y="4383024"/>
              <a:chExt cx="671688" cy="558308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5410200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45</a:t>
                </a:r>
              </a:p>
            </p:txBody>
          </p:sp>
          <p:sp>
            <p:nvSpPr>
              <p:cNvPr id="38" name="Arc 37"/>
              <p:cNvSpPr/>
              <p:nvPr/>
            </p:nvSpPr>
            <p:spPr>
              <a:xfrm rot="5400000">
                <a:off x="5157216" y="4383024"/>
                <a:ext cx="381000" cy="381000"/>
              </a:xfrm>
              <a:prstGeom prst="arc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4186666" y="5001923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</a:t>
            </a:r>
          </a:p>
          <a:p>
            <a:r>
              <a:rPr lang="en-US" dirty="0"/>
              <a:t>b1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6004" y="5562600"/>
            <a:ext cx="41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  <a:p>
            <a:r>
              <a:rPr lang="en-US" dirty="0"/>
              <a:t>e1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6750" y="5995416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  <a:p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4497404" y="2627531"/>
            <a:ext cx="914400" cy="3352800"/>
            <a:chOff x="5791200" y="2743200"/>
            <a:chExt cx="914400" cy="3352800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5791200" y="3048000"/>
              <a:ext cx="0" cy="2133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6356350" y="2743200"/>
              <a:ext cx="0" cy="30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6705600" y="3429000"/>
              <a:ext cx="0" cy="2667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4116404" y="286779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4212" y="3718715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b1’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0628" y="398643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1804" y="3096399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78404" y="233439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e1’</a:t>
            </a:r>
          </a:p>
        </p:txBody>
      </p:sp>
      <p:sp>
        <p:nvSpPr>
          <p:cNvPr id="51" name="Regular Pentagon 50"/>
          <p:cNvSpPr/>
          <p:nvPr/>
        </p:nvSpPr>
        <p:spPr>
          <a:xfrm rot="5400000">
            <a:off x="4277948" y="2891945"/>
            <a:ext cx="1353312" cy="914400"/>
          </a:xfrm>
          <a:prstGeom prst="pentagon">
            <a:avLst/>
          </a:prstGeom>
          <a:noFill/>
          <a:ln w="1016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2057400" y="1752600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1752600"/>
            <a:ext cx="86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II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1030700" y="2932331"/>
            <a:ext cx="571104" cy="874776"/>
            <a:chOff x="2324496" y="3048000"/>
            <a:chExt cx="571104" cy="874776"/>
          </a:xfrm>
        </p:grpSpPr>
        <p:cxnSp>
          <p:nvCxnSpPr>
            <p:cNvPr id="56" name="Straight Connector 55"/>
            <p:cNvCxnSpPr/>
            <p:nvPr/>
          </p:nvCxnSpPr>
          <p:spPr>
            <a:xfrm flipH="1">
              <a:off x="2426208" y="3922776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438400" y="3048000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V="1">
              <a:off x="2667000" y="3048000"/>
              <a:ext cx="0" cy="86868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324496" y="3276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 rot="18075796">
            <a:off x="6148683" y="2310550"/>
            <a:ext cx="1572999" cy="1983643"/>
            <a:chOff x="6185484" y="1789230"/>
            <a:chExt cx="1572999" cy="1983643"/>
          </a:xfrm>
        </p:grpSpPr>
        <p:sp>
          <p:nvSpPr>
            <p:cNvPr id="68" name="TextBox 67"/>
            <p:cNvSpPr txBox="1"/>
            <p:nvPr/>
          </p:nvSpPr>
          <p:spPr>
            <a:xfrm rot="3524204">
              <a:off x="6139361" y="2087531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a2’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 rot="3524204">
              <a:off x="6129539" y="2934800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b2’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 rot="3524204">
              <a:off x="7007244" y="3359619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c2’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 rot="3524204">
              <a:off x="7333206" y="2572371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d2’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 rot="3524204">
              <a:off x="6964440" y="1841969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e2’</a:t>
              </a:r>
            </a:p>
          </p:txBody>
        </p:sp>
        <p:sp>
          <p:nvSpPr>
            <p:cNvPr id="73" name="Regular Pentagon 72"/>
            <p:cNvSpPr/>
            <p:nvPr/>
          </p:nvSpPr>
          <p:spPr>
            <a:xfrm rot="5400000">
              <a:off x="6309722" y="2310146"/>
              <a:ext cx="1353312" cy="914400"/>
            </a:xfrm>
            <a:prstGeom prst="pentag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334124" y="2841402"/>
            <a:ext cx="1228724" cy="3163157"/>
            <a:chOff x="6334124" y="2841402"/>
            <a:chExt cx="1228724" cy="3163157"/>
          </a:xfrm>
        </p:grpSpPr>
        <p:cxnSp>
          <p:nvCxnSpPr>
            <p:cNvPr id="76" name="Straight Connector 75"/>
            <p:cNvCxnSpPr/>
            <p:nvPr/>
          </p:nvCxnSpPr>
          <p:spPr>
            <a:xfrm flipH="1">
              <a:off x="6334124" y="3449586"/>
              <a:ext cx="0" cy="16486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6411565" y="2841402"/>
              <a:ext cx="0" cy="28346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7169565" y="2895599"/>
              <a:ext cx="0" cy="3108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7562848" y="3537691"/>
              <a:ext cx="0" cy="21031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7054695" y="3886200"/>
              <a:ext cx="0" cy="11887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6007608" y="3252216"/>
            <a:ext cx="2983992" cy="1673138"/>
            <a:chOff x="6007608" y="3252216"/>
            <a:chExt cx="2983992" cy="1673138"/>
          </a:xfrm>
        </p:grpSpPr>
        <p:grpSp>
          <p:nvGrpSpPr>
            <p:cNvPr id="65" name="Group 64"/>
            <p:cNvGrpSpPr/>
            <p:nvPr/>
          </p:nvGrpSpPr>
          <p:grpSpPr>
            <a:xfrm>
              <a:off x="6007608" y="3252216"/>
              <a:ext cx="2983992" cy="1624584"/>
              <a:chOff x="6007608" y="3252216"/>
              <a:chExt cx="2983992" cy="1624584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 flipH="1" flipV="1">
                <a:off x="6007608" y="3252216"/>
                <a:ext cx="2602992" cy="16245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8572896" y="44958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</a:t>
                </a:r>
              </a:p>
            </p:txBody>
          </p:sp>
        </p:grpSp>
        <p:sp>
          <p:nvSpPr>
            <p:cNvPr id="87" name="Arc 86"/>
            <p:cNvSpPr/>
            <p:nvPr/>
          </p:nvSpPr>
          <p:spPr>
            <a:xfrm rot="3452699">
              <a:off x="7981620" y="4327997"/>
              <a:ext cx="660963" cy="533751"/>
            </a:xfrm>
            <a:prstGeom prst="arc">
              <a:avLst>
                <a:gd name="adj1" fmla="val 16200000"/>
                <a:gd name="adj2" fmla="val 20431163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4498975" y="5073650"/>
            <a:ext cx="3086099" cy="904478"/>
            <a:chOff x="4498975" y="5073650"/>
            <a:chExt cx="3086099" cy="904478"/>
          </a:xfrm>
        </p:grpSpPr>
        <p:cxnSp>
          <p:nvCxnSpPr>
            <p:cNvPr id="90" name="Straight Connector 89"/>
            <p:cNvCxnSpPr/>
            <p:nvPr/>
          </p:nvCxnSpPr>
          <p:spPr>
            <a:xfrm>
              <a:off x="4498975" y="5073650"/>
              <a:ext cx="25876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5070474" y="5638800"/>
              <a:ext cx="2514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V="1">
              <a:off x="5410200" y="5978128"/>
              <a:ext cx="176944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/>
        </p:nvSpPr>
        <p:spPr>
          <a:xfrm>
            <a:off x="6019800" y="46482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74308" y="472440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01286" y="534566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67886" y="595526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19800" y="5334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grpSp>
        <p:nvGrpSpPr>
          <p:cNvPr id="123" name="Group 122"/>
          <p:cNvGrpSpPr/>
          <p:nvPr/>
        </p:nvGrpSpPr>
        <p:grpSpPr>
          <a:xfrm>
            <a:off x="6324600" y="5072058"/>
            <a:ext cx="1219200" cy="897496"/>
            <a:chOff x="6324600" y="5072058"/>
            <a:chExt cx="1219200" cy="897496"/>
          </a:xfrm>
        </p:grpSpPr>
        <p:cxnSp>
          <p:nvCxnSpPr>
            <p:cNvPr id="107" name="Straight Connector 106"/>
            <p:cNvCxnSpPr/>
            <p:nvPr/>
          </p:nvCxnSpPr>
          <p:spPr>
            <a:xfrm>
              <a:off x="6332220" y="5074920"/>
              <a:ext cx="7315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7058974" y="5072058"/>
              <a:ext cx="484826" cy="56674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H="1">
              <a:off x="7177262" y="5641181"/>
              <a:ext cx="361777" cy="32123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H="1" flipV="1">
              <a:off x="6398419" y="5653086"/>
              <a:ext cx="778842" cy="31646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H="1" flipV="1">
              <a:off x="6324600" y="5093495"/>
              <a:ext cx="83343" cy="5486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TextBox 126"/>
          <p:cNvSpPr txBox="1"/>
          <p:nvPr/>
        </p:nvSpPr>
        <p:spPr>
          <a:xfrm>
            <a:off x="6372994" y="1752600"/>
            <a:ext cx="923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III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5" grpId="0" animBg="1"/>
      <p:bldP spid="4" grpId="0"/>
      <p:bldP spid="31" grpId="0"/>
      <p:bldP spid="32" grpId="0"/>
      <p:bldP spid="39" grpId="0"/>
      <p:bldP spid="40" grpId="0"/>
      <p:bldP spid="41" grpId="0"/>
      <p:bldP spid="46" grpId="0"/>
      <p:bldP spid="47" grpId="0"/>
      <p:bldP spid="48" grpId="0"/>
      <p:bldP spid="49" grpId="0"/>
      <p:bldP spid="50" grpId="0"/>
      <p:bldP spid="51" grpId="0" animBg="1"/>
      <p:bldP spid="52" grpId="0"/>
      <p:bldP spid="53" grpId="0"/>
      <p:bldP spid="96" grpId="0"/>
      <p:bldP spid="97" grpId="0"/>
      <p:bldP spid="98" grpId="0"/>
      <p:bldP spid="99" grpId="0"/>
      <p:bldP spid="100" grpId="0"/>
      <p:bldP spid="1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Plane Inclined to Both RPs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" pitchFamily="18" charset="0"/>
              </a:rPr>
              <a:t>Problem 7:</a:t>
            </a:r>
            <a:r>
              <a:rPr lang="en-US" dirty="0">
                <a:latin typeface="Times" pitchFamily="18" charset="0"/>
              </a:rPr>
              <a:t> Draw the projections of a regular hexagon of 25 mm sides, having one of its side in the HP and inclined at 60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VP and its surface making an angle of 45º with the HP.</a:t>
            </a: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 rot="5400000">
            <a:off x="2013744" y="4006056"/>
            <a:ext cx="1066800" cy="922338"/>
          </a:xfrm>
          <a:prstGeom prst="hexagon">
            <a:avLst>
              <a:gd name="adj" fmla="val 28916"/>
              <a:gd name="vf" fmla="val 115470"/>
            </a:avLst>
          </a:prstGeom>
          <a:solidFill>
            <a:schemeClr val="accent1">
              <a:alpha val="0"/>
            </a:schemeClr>
          </a:solidFill>
          <a:ln w="1016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en-US" sz="14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 flipV="1">
            <a:off x="1120775" y="3781425"/>
            <a:ext cx="7108825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 flipV="1">
            <a:off x="2085975" y="3629025"/>
            <a:ext cx="0" cy="609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V="1">
            <a:off x="3000375" y="3629025"/>
            <a:ext cx="0" cy="685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V="1">
            <a:off x="2543175" y="3629025"/>
            <a:ext cx="0" cy="3810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2085975" y="3790952"/>
            <a:ext cx="9144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rot="-2700000">
            <a:off x="4298950" y="3467100"/>
            <a:ext cx="914400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5070475" y="3095625"/>
            <a:ext cx="0" cy="19050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4765675" y="3400425"/>
            <a:ext cx="0" cy="16002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4451350" y="3781425"/>
            <a:ext cx="0" cy="12192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2543175" y="3933825"/>
            <a:ext cx="2316163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>
            <a:off x="2124075" y="4200525"/>
            <a:ext cx="29464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2085975" y="4714875"/>
            <a:ext cx="29845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>
            <a:off x="2543175" y="5000625"/>
            <a:ext cx="22987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AutoShape 20"/>
          <p:cNvSpPr>
            <a:spLocks noChangeArrowheads="1"/>
          </p:cNvSpPr>
          <p:nvPr/>
        </p:nvSpPr>
        <p:spPr bwMode="auto">
          <a:xfrm rot="5400000">
            <a:off x="4232275" y="4162425"/>
            <a:ext cx="1066800" cy="609600"/>
          </a:xfrm>
          <a:prstGeom prst="hexagon">
            <a:avLst>
              <a:gd name="adj" fmla="val 43750"/>
              <a:gd name="vf" fmla="val 115470"/>
            </a:avLst>
          </a:prstGeom>
          <a:solidFill>
            <a:schemeClr val="accent1">
              <a:alpha val="0"/>
            </a:schemeClr>
          </a:solidFill>
          <a:ln w="1016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 flipV="1">
            <a:off x="5984875" y="3563938"/>
            <a:ext cx="0" cy="990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 flipV="1">
            <a:off x="6118225" y="3171825"/>
            <a:ext cx="0" cy="104775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Line 26"/>
          <p:cNvSpPr>
            <a:spLocks noChangeShapeType="1"/>
          </p:cNvSpPr>
          <p:nvPr/>
        </p:nvSpPr>
        <p:spPr bwMode="auto">
          <a:xfrm>
            <a:off x="5070475" y="3171825"/>
            <a:ext cx="1751013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Line 27"/>
          <p:cNvSpPr>
            <a:spLocks noChangeShapeType="1"/>
          </p:cNvSpPr>
          <p:nvPr/>
        </p:nvSpPr>
        <p:spPr bwMode="auto">
          <a:xfrm>
            <a:off x="4765675" y="3476625"/>
            <a:ext cx="2117725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817563" y="3656013"/>
            <a:ext cx="303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X</a:t>
            </a: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8166100" y="3619500"/>
            <a:ext cx="3032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Y</a:t>
            </a:r>
          </a:p>
        </p:txBody>
      </p:sp>
      <p:grpSp>
        <p:nvGrpSpPr>
          <p:cNvPr id="26" name="Group 31"/>
          <p:cNvGrpSpPr>
            <a:grpSpLocks/>
          </p:cNvGrpSpPr>
          <p:nvPr/>
        </p:nvGrpSpPr>
        <p:grpSpPr bwMode="auto">
          <a:xfrm>
            <a:off x="1841500" y="3776663"/>
            <a:ext cx="1397000" cy="1452562"/>
            <a:chOff x="2630" y="861"/>
            <a:chExt cx="880" cy="915"/>
          </a:xfrm>
        </p:grpSpPr>
        <p:sp>
          <p:nvSpPr>
            <p:cNvPr id="27" name="Text Box 32"/>
            <p:cNvSpPr txBox="1">
              <a:spLocks noChangeArrowheads="1"/>
            </p:cNvSpPr>
            <p:nvPr/>
          </p:nvSpPr>
          <p:spPr bwMode="auto">
            <a:xfrm>
              <a:off x="2630" y="1015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2654" y="1399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3014" y="1584"/>
              <a:ext cx="17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c</a:t>
              </a: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3312" y="139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d</a:t>
              </a:r>
            </a:p>
          </p:txBody>
        </p:sp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3332" y="1015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2918" y="861"/>
              <a:ext cx="14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f</a:t>
              </a:r>
            </a:p>
          </p:txBody>
        </p:sp>
      </p:grpSp>
      <p:grpSp>
        <p:nvGrpSpPr>
          <p:cNvPr id="33" name="Group 42"/>
          <p:cNvGrpSpPr>
            <a:grpSpLocks/>
          </p:cNvGrpSpPr>
          <p:nvPr/>
        </p:nvGrpSpPr>
        <p:grpSpPr bwMode="auto">
          <a:xfrm>
            <a:off x="1838325" y="3533775"/>
            <a:ext cx="1358900" cy="304800"/>
            <a:chOff x="2592" y="432"/>
            <a:chExt cx="856" cy="192"/>
          </a:xfrm>
        </p:grpSpPr>
        <p:sp>
          <p:nvSpPr>
            <p:cNvPr id="34" name="Text Box 43"/>
            <p:cNvSpPr txBox="1">
              <a:spLocks noChangeArrowheads="1"/>
            </p:cNvSpPr>
            <p:nvPr/>
          </p:nvSpPr>
          <p:spPr bwMode="auto">
            <a:xfrm>
              <a:off x="3006" y="438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f’</a:t>
              </a:r>
            </a:p>
          </p:txBody>
        </p:sp>
        <p:sp>
          <p:nvSpPr>
            <p:cNvPr id="35" name="Text Box 44"/>
            <p:cNvSpPr txBox="1">
              <a:spLocks noChangeArrowheads="1"/>
            </p:cNvSpPr>
            <p:nvPr/>
          </p:nvSpPr>
          <p:spPr bwMode="auto">
            <a:xfrm>
              <a:off x="3258" y="444"/>
              <a:ext cx="19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e’</a:t>
              </a:r>
            </a:p>
          </p:txBody>
        </p:sp>
        <p:sp>
          <p:nvSpPr>
            <p:cNvPr id="36" name="Text Box 45"/>
            <p:cNvSpPr txBox="1">
              <a:spLocks noChangeArrowheads="1"/>
            </p:cNvSpPr>
            <p:nvPr/>
          </p:nvSpPr>
          <p:spPr bwMode="auto">
            <a:xfrm>
              <a:off x="3192" y="451"/>
              <a:ext cx="19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d’</a:t>
              </a:r>
            </a:p>
          </p:txBody>
        </p:sp>
        <p:sp>
          <p:nvSpPr>
            <p:cNvPr id="37" name="Text Box 46"/>
            <p:cNvSpPr txBox="1">
              <a:spLocks noChangeArrowheads="1"/>
            </p:cNvSpPr>
            <p:nvPr/>
          </p:nvSpPr>
          <p:spPr bwMode="auto">
            <a:xfrm>
              <a:off x="2928" y="438"/>
              <a:ext cx="18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c’</a:t>
              </a:r>
            </a:p>
          </p:txBody>
        </p:sp>
        <p:sp>
          <p:nvSpPr>
            <p:cNvPr id="38" name="Text Box 47"/>
            <p:cNvSpPr txBox="1">
              <a:spLocks noChangeArrowheads="1"/>
            </p:cNvSpPr>
            <p:nvPr/>
          </p:nvSpPr>
          <p:spPr bwMode="auto">
            <a:xfrm>
              <a:off x="2670" y="432"/>
              <a:ext cx="19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b’</a:t>
              </a:r>
            </a:p>
          </p:txBody>
        </p:sp>
        <p:sp>
          <p:nvSpPr>
            <p:cNvPr id="39" name="Text Box 48"/>
            <p:cNvSpPr txBox="1">
              <a:spLocks noChangeArrowheads="1"/>
            </p:cNvSpPr>
            <p:nvPr/>
          </p:nvSpPr>
          <p:spPr bwMode="auto">
            <a:xfrm>
              <a:off x="2592" y="432"/>
              <a:ext cx="20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/>
                <a:t>a’</a:t>
              </a:r>
            </a:p>
          </p:txBody>
        </p:sp>
      </p:grpSp>
      <p:grpSp>
        <p:nvGrpSpPr>
          <p:cNvPr id="40" name="Group 49"/>
          <p:cNvGrpSpPr>
            <a:grpSpLocks/>
          </p:cNvGrpSpPr>
          <p:nvPr/>
        </p:nvGrpSpPr>
        <p:grpSpPr bwMode="auto">
          <a:xfrm rot="-2633105">
            <a:off x="3994150" y="3228975"/>
            <a:ext cx="1358900" cy="304800"/>
            <a:chOff x="2592" y="432"/>
            <a:chExt cx="856" cy="192"/>
          </a:xfrm>
        </p:grpSpPr>
        <p:sp>
          <p:nvSpPr>
            <p:cNvPr id="41" name="Text Box 50"/>
            <p:cNvSpPr txBox="1">
              <a:spLocks noChangeArrowheads="1"/>
            </p:cNvSpPr>
            <p:nvPr/>
          </p:nvSpPr>
          <p:spPr bwMode="auto">
            <a:xfrm>
              <a:off x="3006" y="438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f’</a:t>
              </a:r>
            </a:p>
          </p:txBody>
        </p:sp>
        <p:sp>
          <p:nvSpPr>
            <p:cNvPr id="42" name="Text Box 51"/>
            <p:cNvSpPr txBox="1">
              <a:spLocks noChangeArrowheads="1"/>
            </p:cNvSpPr>
            <p:nvPr/>
          </p:nvSpPr>
          <p:spPr bwMode="auto">
            <a:xfrm>
              <a:off x="3258" y="444"/>
              <a:ext cx="19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e’</a:t>
              </a:r>
            </a:p>
          </p:txBody>
        </p:sp>
        <p:sp>
          <p:nvSpPr>
            <p:cNvPr id="43" name="Text Box 52"/>
            <p:cNvSpPr txBox="1">
              <a:spLocks noChangeArrowheads="1"/>
            </p:cNvSpPr>
            <p:nvPr/>
          </p:nvSpPr>
          <p:spPr bwMode="auto">
            <a:xfrm>
              <a:off x="3192" y="451"/>
              <a:ext cx="19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d’</a:t>
              </a:r>
            </a:p>
          </p:txBody>
        </p:sp>
        <p:sp>
          <p:nvSpPr>
            <p:cNvPr id="44" name="Text Box 53"/>
            <p:cNvSpPr txBox="1">
              <a:spLocks noChangeArrowheads="1"/>
            </p:cNvSpPr>
            <p:nvPr/>
          </p:nvSpPr>
          <p:spPr bwMode="auto">
            <a:xfrm>
              <a:off x="2928" y="438"/>
              <a:ext cx="18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c’</a:t>
              </a:r>
            </a:p>
          </p:txBody>
        </p:sp>
        <p:sp>
          <p:nvSpPr>
            <p:cNvPr id="45" name="Text Box 54"/>
            <p:cNvSpPr txBox="1">
              <a:spLocks noChangeArrowheads="1"/>
            </p:cNvSpPr>
            <p:nvPr/>
          </p:nvSpPr>
          <p:spPr bwMode="auto">
            <a:xfrm>
              <a:off x="2670" y="432"/>
              <a:ext cx="19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b’</a:t>
              </a:r>
            </a:p>
          </p:txBody>
        </p:sp>
        <p:sp>
          <p:nvSpPr>
            <p:cNvPr id="46" name="Text Box 55"/>
            <p:cNvSpPr txBox="1">
              <a:spLocks noChangeArrowheads="1"/>
            </p:cNvSpPr>
            <p:nvPr/>
          </p:nvSpPr>
          <p:spPr bwMode="auto">
            <a:xfrm>
              <a:off x="2592" y="432"/>
              <a:ext cx="20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/>
                <a:t>a’</a:t>
              </a:r>
            </a:p>
          </p:txBody>
        </p:sp>
      </p:grpSp>
      <p:grpSp>
        <p:nvGrpSpPr>
          <p:cNvPr id="47" name="Group 56"/>
          <p:cNvGrpSpPr>
            <a:grpSpLocks/>
          </p:cNvGrpSpPr>
          <p:nvPr/>
        </p:nvGrpSpPr>
        <p:grpSpPr bwMode="auto">
          <a:xfrm>
            <a:off x="4191000" y="3708400"/>
            <a:ext cx="1135063" cy="1495425"/>
            <a:chOff x="3600" y="858"/>
            <a:chExt cx="680" cy="890"/>
          </a:xfrm>
        </p:grpSpPr>
        <p:sp>
          <p:nvSpPr>
            <p:cNvPr id="48" name="Text Box 57"/>
            <p:cNvSpPr txBox="1">
              <a:spLocks noChangeArrowheads="1"/>
            </p:cNvSpPr>
            <p:nvPr/>
          </p:nvSpPr>
          <p:spPr bwMode="auto">
            <a:xfrm>
              <a:off x="3600" y="1056"/>
              <a:ext cx="20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/>
                <a:t>a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49" name="Text Box 58"/>
            <p:cNvSpPr txBox="1">
              <a:spLocks noChangeArrowheads="1"/>
            </p:cNvSpPr>
            <p:nvPr/>
          </p:nvSpPr>
          <p:spPr bwMode="auto">
            <a:xfrm>
              <a:off x="3605" y="1392"/>
              <a:ext cx="195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b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0" name="Text Box 59"/>
            <p:cNvSpPr txBox="1">
              <a:spLocks noChangeArrowheads="1"/>
            </p:cNvSpPr>
            <p:nvPr/>
          </p:nvSpPr>
          <p:spPr bwMode="auto">
            <a:xfrm>
              <a:off x="3844" y="1584"/>
              <a:ext cx="191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/>
                <a:t>c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1" name="Text Box 60"/>
            <p:cNvSpPr txBox="1">
              <a:spLocks noChangeArrowheads="1"/>
            </p:cNvSpPr>
            <p:nvPr/>
          </p:nvSpPr>
          <p:spPr bwMode="auto">
            <a:xfrm>
              <a:off x="4085" y="1392"/>
              <a:ext cx="195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/>
                <a:t>d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 bwMode="auto">
            <a:xfrm>
              <a:off x="4085" y="1056"/>
              <a:ext cx="19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e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3" name="Text Box 62"/>
            <p:cNvSpPr txBox="1">
              <a:spLocks noChangeArrowheads="1"/>
            </p:cNvSpPr>
            <p:nvPr/>
          </p:nvSpPr>
          <p:spPr bwMode="auto">
            <a:xfrm>
              <a:off x="3916" y="858"/>
              <a:ext cx="170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f</a:t>
              </a:r>
              <a:r>
                <a:rPr lang="en-US" sz="1200" baseline="-25000"/>
                <a:t>1</a:t>
              </a:r>
            </a:p>
          </p:txBody>
        </p:sp>
      </p:grpSp>
      <p:sp>
        <p:nvSpPr>
          <p:cNvPr id="54" name="AutoShape 21"/>
          <p:cNvSpPr>
            <a:spLocks noChangeArrowheads="1"/>
          </p:cNvSpPr>
          <p:nvPr/>
        </p:nvSpPr>
        <p:spPr bwMode="auto">
          <a:xfrm rot="3663816" flipH="1" flipV="1">
            <a:off x="5848350" y="4367213"/>
            <a:ext cx="1066800" cy="609600"/>
          </a:xfrm>
          <a:prstGeom prst="hexagon">
            <a:avLst>
              <a:gd name="adj" fmla="val 43750"/>
              <a:gd name="vf" fmla="val 115470"/>
            </a:avLst>
          </a:prstGeom>
          <a:solidFill>
            <a:schemeClr val="accent1">
              <a:alpha val="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55" name="Group 70"/>
          <p:cNvGrpSpPr>
            <a:grpSpLocks/>
          </p:cNvGrpSpPr>
          <p:nvPr/>
        </p:nvGrpSpPr>
        <p:grpSpPr bwMode="auto">
          <a:xfrm rot="3628006">
            <a:off x="5635625" y="4103688"/>
            <a:ext cx="1489075" cy="1190625"/>
            <a:chOff x="4298" y="828"/>
            <a:chExt cx="938" cy="547"/>
          </a:xfrm>
        </p:grpSpPr>
        <p:sp>
          <p:nvSpPr>
            <p:cNvPr id="56" name="Text Box 71"/>
            <p:cNvSpPr txBox="1">
              <a:spLocks noChangeArrowheads="1"/>
            </p:cNvSpPr>
            <p:nvPr/>
          </p:nvSpPr>
          <p:spPr bwMode="auto">
            <a:xfrm>
              <a:off x="4298" y="960"/>
              <a:ext cx="17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f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7" name="Text Box 72"/>
            <p:cNvSpPr txBox="1">
              <a:spLocks noChangeArrowheads="1"/>
            </p:cNvSpPr>
            <p:nvPr/>
          </p:nvSpPr>
          <p:spPr bwMode="auto">
            <a:xfrm>
              <a:off x="4464" y="1200"/>
              <a:ext cx="20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a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8" name="Text Box 73"/>
            <p:cNvSpPr txBox="1">
              <a:spLocks noChangeArrowheads="1"/>
            </p:cNvSpPr>
            <p:nvPr/>
          </p:nvSpPr>
          <p:spPr bwMode="auto">
            <a:xfrm>
              <a:off x="5036" y="959"/>
              <a:ext cx="20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/>
                <a:t>c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59" name="Text Box 74"/>
            <p:cNvSpPr txBox="1">
              <a:spLocks noChangeArrowheads="1"/>
            </p:cNvSpPr>
            <p:nvPr/>
          </p:nvSpPr>
          <p:spPr bwMode="auto">
            <a:xfrm>
              <a:off x="4800" y="1249"/>
              <a:ext cx="20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b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60" name="Text Box 75"/>
            <p:cNvSpPr txBox="1">
              <a:spLocks noChangeArrowheads="1"/>
            </p:cNvSpPr>
            <p:nvPr/>
          </p:nvSpPr>
          <p:spPr bwMode="auto">
            <a:xfrm>
              <a:off x="4799" y="828"/>
              <a:ext cx="20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/>
                <a:t>d</a:t>
              </a:r>
              <a:r>
                <a:rPr lang="en-US" sz="1200" baseline="-25000"/>
                <a:t>1</a:t>
              </a:r>
            </a:p>
          </p:txBody>
        </p:sp>
        <p:sp>
          <p:nvSpPr>
            <p:cNvPr id="61" name="Text Box 76"/>
            <p:cNvSpPr txBox="1">
              <a:spLocks noChangeArrowheads="1"/>
            </p:cNvSpPr>
            <p:nvPr/>
          </p:nvSpPr>
          <p:spPr bwMode="auto">
            <a:xfrm>
              <a:off x="4529" y="828"/>
              <a:ext cx="20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/>
                <a:t>e</a:t>
              </a:r>
              <a:r>
                <a:rPr lang="en-US" sz="1200" baseline="-25000"/>
                <a:t>1</a:t>
              </a:r>
            </a:p>
          </p:txBody>
        </p:sp>
      </p:grpSp>
      <p:sp>
        <p:nvSpPr>
          <p:cNvPr id="62" name="Arc 77"/>
          <p:cNvSpPr>
            <a:spLocks/>
          </p:cNvSpPr>
          <p:nvPr/>
        </p:nvSpPr>
        <p:spPr bwMode="auto">
          <a:xfrm>
            <a:off x="4457700" y="3625850"/>
            <a:ext cx="168275" cy="158750"/>
          </a:xfrm>
          <a:custGeom>
            <a:avLst/>
            <a:gdLst>
              <a:gd name="T0" fmla="*/ 120433 w 21600"/>
              <a:gd name="T1" fmla="*/ 0 h 15086"/>
              <a:gd name="T2" fmla="*/ 168275 w 21600"/>
              <a:gd name="T3" fmla="*/ 158750 h 15086"/>
              <a:gd name="T4" fmla="*/ 0 w 21600"/>
              <a:gd name="T5" fmla="*/ 158750 h 15086"/>
              <a:gd name="T6" fmla="*/ 0 60000 65536"/>
              <a:gd name="T7" fmla="*/ 0 60000 65536"/>
              <a:gd name="T8" fmla="*/ 0 60000 65536"/>
              <a:gd name="T9" fmla="*/ 0 w 21600"/>
              <a:gd name="T10" fmla="*/ 0 h 15086"/>
              <a:gd name="T11" fmla="*/ 21600 w 21600"/>
              <a:gd name="T12" fmla="*/ 15086 h 150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086" fill="none" extrusionOk="0">
                <a:moveTo>
                  <a:pt x="15458" y="0"/>
                </a:moveTo>
                <a:cubicBezTo>
                  <a:pt x="19396" y="4034"/>
                  <a:pt x="21600" y="9448"/>
                  <a:pt x="21600" y="15086"/>
                </a:cubicBezTo>
              </a:path>
              <a:path w="21600" h="15086" stroke="0" extrusionOk="0">
                <a:moveTo>
                  <a:pt x="15458" y="0"/>
                </a:moveTo>
                <a:cubicBezTo>
                  <a:pt x="19396" y="4034"/>
                  <a:pt x="21600" y="9448"/>
                  <a:pt x="21600" y="15086"/>
                </a:cubicBezTo>
                <a:lnTo>
                  <a:pt x="0" y="150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63" name="Text Box 78"/>
          <p:cNvSpPr txBox="1">
            <a:spLocks noChangeArrowheads="1"/>
          </p:cNvSpPr>
          <p:nvPr/>
        </p:nvSpPr>
        <p:spPr bwMode="auto">
          <a:xfrm>
            <a:off x="4614863" y="3513138"/>
            <a:ext cx="3794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/>
              <a:t>45</a:t>
            </a:r>
            <a:r>
              <a:rPr lang="en-US" sz="1000" dirty="0">
                <a:cs typeface="Arial" charset="0"/>
              </a:rPr>
              <a:t>º</a:t>
            </a:r>
          </a:p>
        </p:txBody>
      </p:sp>
      <p:sp>
        <p:nvSpPr>
          <p:cNvPr id="64" name="Line 79"/>
          <p:cNvSpPr>
            <a:spLocks noChangeShapeType="1"/>
          </p:cNvSpPr>
          <p:nvPr/>
        </p:nvSpPr>
        <p:spPr bwMode="auto">
          <a:xfrm rot="3600000">
            <a:off x="5155406" y="4414044"/>
            <a:ext cx="1449388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65" name="Arc 80"/>
          <p:cNvSpPr>
            <a:spLocks/>
          </p:cNvSpPr>
          <p:nvPr/>
        </p:nvSpPr>
        <p:spPr bwMode="auto">
          <a:xfrm rot="2993946">
            <a:off x="5532437" y="3738563"/>
            <a:ext cx="168275" cy="158750"/>
          </a:xfrm>
          <a:custGeom>
            <a:avLst/>
            <a:gdLst>
              <a:gd name="T0" fmla="*/ 120433 w 21600"/>
              <a:gd name="T1" fmla="*/ 0 h 15086"/>
              <a:gd name="T2" fmla="*/ 168275 w 21600"/>
              <a:gd name="T3" fmla="*/ 158750 h 15086"/>
              <a:gd name="T4" fmla="*/ 0 w 21600"/>
              <a:gd name="T5" fmla="*/ 158750 h 15086"/>
              <a:gd name="T6" fmla="*/ 0 60000 65536"/>
              <a:gd name="T7" fmla="*/ 0 60000 65536"/>
              <a:gd name="T8" fmla="*/ 0 60000 65536"/>
              <a:gd name="T9" fmla="*/ 0 w 21600"/>
              <a:gd name="T10" fmla="*/ 0 h 15086"/>
              <a:gd name="T11" fmla="*/ 21600 w 21600"/>
              <a:gd name="T12" fmla="*/ 15086 h 150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086" fill="none" extrusionOk="0">
                <a:moveTo>
                  <a:pt x="15458" y="0"/>
                </a:moveTo>
                <a:cubicBezTo>
                  <a:pt x="19396" y="4034"/>
                  <a:pt x="21600" y="9448"/>
                  <a:pt x="21600" y="15086"/>
                </a:cubicBezTo>
              </a:path>
              <a:path w="21600" h="15086" stroke="0" extrusionOk="0">
                <a:moveTo>
                  <a:pt x="15458" y="0"/>
                </a:moveTo>
                <a:cubicBezTo>
                  <a:pt x="19396" y="4034"/>
                  <a:pt x="21600" y="9448"/>
                  <a:pt x="21600" y="15086"/>
                </a:cubicBezTo>
                <a:lnTo>
                  <a:pt x="0" y="1508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66" name="Text Box 81"/>
          <p:cNvSpPr txBox="1">
            <a:spLocks noChangeArrowheads="1"/>
          </p:cNvSpPr>
          <p:nvPr/>
        </p:nvSpPr>
        <p:spPr bwMode="auto">
          <a:xfrm>
            <a:off x="5592763" y="3776663"/>
            <a:ext cx="3794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/>
              <a:t>60</a:t>
            </a:r>
            <a:r>
              <a:rPr lang="en-US" sz="1000">
                <a:cs typeface="Arial" charset="0"/>
              </a:rPr>
              <a:t>º</a:t>
            </a:r>
          </a:p>
        </p:txBody>
      </p:sp>
      <p:sp>
        <p:nvSpPr>
          <p:cNvPr id="67" name="Line 84"/>
          <p:cNvSpPr>
            <a:spLocks noChangeShapeType="1"/>
          </p:cNvSpPr>
          <p:nvPr/>
        </p:nvSpPr>
        <p:spPr bwMode="auto">
          <a:xfrm flipV="1">
            <a:off x="6242050" y="3171825"/>
            <a:ext cx="0" cy="1878013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68" name="Line 85"/>
          <p:cNvSpPr>
            <a:spLocks noChangeShapeType="1"/>
          </p:cNvSpPr>
          <p:nvPr/>
        </p:nvSpPr>
        <p:spPr bwMode="auto">
          <a:xfrm flipV="1">
            <a:off x="6643688" y="3171825"/>
            <a:ext cx="0" cy="195897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69" name="Line 86"/>
          <p:cNvSpPr>
            <a:spLocks noChangeShapeType="1"/>
          </p:cNvSpPr>
          <p:nvPr/>
        </p:nvSpPr>
        <p:spPr bwMode="auto">
          <a:xfrm flipV="1">
            <a:off x="6772275" y="3171825"/>
            <a:ext cx="0" cy="1587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70" name="Line 87"/>
          <p:cNvSpPr>
            <a:spLocks noChangeShapeType="1"/>
          </p:cNvSpPr>
          <p:nvPr/>
        </p:nvSpPr>
        <p:spPr bwMode="auto">
          <a:xfrm flipV="1">
            <a:off x="6513513" y="3171825"/>
            <a:ext cx="0" cy="1116013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71" name="Oval 88"/>
          <p:cNvSpPr>
            <a:spLocks noChangeArrowheads="1"/>
          </p:cNvSpPr>
          <p:nvPr/>
        </p:nvSpPr>
        <p:spPr bwMode="auto">
          <a:xfrm>
            <a:off x="5962650" y="3757613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" name="Text Box 89"/>
          <p:cNvSpPr txBox="1">
            <a:spLocks noChangeArrowheads="1"/>
          </p:cNvSpPr>
          <p:nvPr/>
        </p:nvSpPr>
        <p:spPr bwMode="auto">
          <a:xfrm>
            <a:off x="5711825" y="3552825"/>
            <a:ext cx="4714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a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73" name="Text Box 90"/>
          <p:cNvSpPr txBox="1">
            <a:spLocks noChangeArrowheads="1"/>
          </p:cNvSpPr>
          <p:nvPr/>
        </p:nvSpPr>
        <p:spPr bwMode="auto">
          <a:xfrm>
            <a:off x="6194425" y="3746500"/>
            <a:ext cx="4714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b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74" name="Text Box 91"/>
          <p:cNvSpPr txBox="1">
            <a:spLocks noChangeArrowheads="1"/>
          </p:cNvSpPr>
          <p:nvPr/>
        </p:nvSpPr>
        <p:spPr bwMode="auto">
          <a:xfrm>
            <a:off x="6597650" y="3335338"/>
            <a:ext cx="4000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c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75" name="Text Box 92"/>
          <p:cNvSpPr txBox="1">
            <a:spLocks noChangeArrowheads="1"/>
          </p:cNvSpPr>
          <p:nvPr/>
        </p:nvSpPr>
        <p:spPr bwMode="auto">
          <a:xfrm>
            <a:off x="6686550" y="2927350"/>
            <a:ext cx="4714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d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76" name="Text Box 93"/>
          <p:cNvSpPr txBox="1">
            <a:spLocks noChangeArrowheads="1"/>
          </p:cNvSpPr>
          <p:nvPr/>
        </p:nvSpPr>
        <p:spPr bwMode="auto">
          <a:xfrm>
            <a:off x="6280150" y="2890838"/>
            <a:ext cx="471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e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77" name="Text Box 94"/>
          <p:cNvSpPr txBox="1">
            <a:spLocks noChangeArrowheads="1"/>
          </p:cNvSpPr>
          <p:nvPr/>
        </p:nvSpPr>
        <p:spPr bwMode="auto">
          <a:xfrm>
            <a:off x="5934075" y="3192463"/>
            <a:ext cx="361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f</a:t>
            </a:r>
            <a:r>
              <a:rPr lang="en-US" sz="1200" baseline="-25000"/>
              <a:t>1</a:t>
            </a:r>
            <a:r>
              <a:rPr lang="en-US" sz="1200"/>
              <a:t>’</a:t>
            </a:r>
          </a:p>
        </p:txBody>
      </p:sp>
      <p:sp>
        <p:nvSpPr>
          <p:cNvPr id="78" name="Oval 95"/>
          <p:cNvSpPr>
            <a:spLocks noChangeArrowheads="1"/>
          </p:cNvSpPr>
          <p:nvPr/>
        </p:nvSpPr>
        <p:spPr bwMode="auto">
          <a:xfrm>
            <a:off x="6218238" y="3762375"/>
            <a:ext cx="46037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9" name="Oval 96"/>
          <p:cNvSpPr>
            <a:spLocks noChangeArrowheads="1"/>
          </p:cNvSpPr>
          <p:nvPr/>
        </p:nvSpPr>
        <p:spPr bwMode="auto">
          <a:xfrm>
            <a:off x="6619875" y="3452813"/>
            <a:ext cx="46038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80" name="Oval 97"/>
          <p:cNvSpPr>
            <a:spLocks noChangeArrowheads="1"/>
          </p:cNvSpPr>
          <p:nvPr/>
        </p:nvSpPr>
        <p:spPr bwMode="auto">
          <a:xfrm>
            <a:off x="6751638" y="3146425"/>
            <a:ext cx="46037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81" name="Oval 98"/>
          <p:cNvSpPr>
            <a:spLocks noChangeArrowheads="1"/>
          </p:cNvSpPr>
          <p:nvPr/>
        </p:nvSpPr>
        <p:spPr bwMode="auto">
          <a:xfrm>
            <a:off x="6489700" y="3146425"/>
            <a:ext cx="46038" cy="460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82" name="Oval 99"/>
          <p:cNvSpPr>
            <a:spLocks noChangeArrowheads="1"/>
          </p:cNvSpPr>
          <p:nvPr/>
        </p:nvSpPr>
        <p:spPr bwMode="auto">
          <a:xfrm>
            <a:off x="6094413" y="3452813"/>
            <a:ext cx="46037" cy="460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83" name="Line 100"/>
          <p:cNvSpPr>
            <a:spLocks noChangeShapeType="1"/>
          </p:cNvSpPr>
          <p:nvPr/>
        </p:nvSpPr>
        <p:spPr bwMode="auto">
          <a:xfrm>
            <a:off x="5984875" y="3781425"/>
            <a:ext cx="25717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4" name="Line 101"/>
          <p:cNvSpPr>
            <a:spLocks noChangeShapeType="1"/>
          </p:cNvSpPr>
          <p:nvPr/>
        </p:nvSpPr>
        <p:spPr bwMode="auto">
          <a:xfrm flipV="1">
            <a:off x="5984875" y="3476625"/>
            <a:ext cx="13335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" name="Line 102"/>
          <p:cNvSpPr>
            <a:spLocks noChangeShapeType="1"/>
          </p:cNvSpPr>
          <p:nvPr/>
        </p:nvSpPr>
        <p:spPr bwMode="auto">
          <a:xfrm flipV="1">
            <a:off x="6242050" y="3476625"/>
            <a:ext cx="401638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" name="Line 103"/>
          <p:cNvSpPr>
            <a:spLocks noChangeShapeType="1"/>
          </p:cNvSpPr>
          <p:nvPr/>
        </p:nvSpPr>
        <p:spPr bwMode="auto">
          <a:xfrm flipV="1">
            <a:off x="6115050" y="3168650"/>
            <a:ext cx="395288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" name="Line 104"/>
          <p:cNvSpPr>
            <a:spLocks noChangeShapeType="1"/>
          </p:cNvSpPr>
          <p:nvPr/>
        </p:nvSpPr>
        <p:spPr bwMode="auto">
          <a:xfrm flipV="1">
            <a:off x="6643688" y="3168650"/>
            <a:ext cx="128587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" name="Line 105"/>
          <p:cNvSpPr>
            <a:spLocks noChangeShapeType="1"/>
          </p:cNvSpPr>
          <p:nvPr/>
        </p:nvSpPr>
        <p:spPr bwMode="auto">
          <a:xfrm>
            <a:off x="6513513" y="3165475"/>
            <a:ext cx="25717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Box 106"/>
          <p:cNvSpPr txBox="1">
            <a:spLocks noChangeArrowheads="1"/>
          </p:cNvSpPr>
          <p:nvPr/>
        </p:nvSpPr>
        <p:spPr bwMode="auto">
          <a:xfrm>
            <a:off x="1219200" y="2209800"/>
            <a:ext cx="2133600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/>
              <a:t>Stage I: Plane parallel to HP</a:t>
            </a:r>
          </a:p>
        </p:txBody>
      </p:sp>
      <p:sp>
        <p:nvSpPr>
          <p:cNvPr id="90" name="Text Box 108"/>
          <p:cNvSpPr txBox="1">
            <a:spLocks noChangeArrowheads="1"/>
          </p:cNvSpPr>
          <p:nvPr/>
        </p:nvSpPr>
        <p:spPr bwMode="auto">
          <a:xfrm>
            <a:off x="3729038" y="1905000"/>
            <a:ext cx="160972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/>
              <a:t>Stage II: Plane inclined to HP at 45</a:t>
            </a:r>
            <a:r>
              <a:rPr lang="en-US" sz="1200" dirty="0">
                <a:cs typeface="Arial" charset="0"/>
              </a:rPr>
              <a:t>°and ┴ to VP</a:t>
            </a:r>
          </a:p>
        </p:txBody>
      </p:sp>
      <p:sp>
        <p:nvSpPr>
          <p:cNvPr id="91" name="Text Box 109"/>
          <p:cNvSpPr txBox="1">
            <a:spLocks noChangeArrowheads="1"/>
          </p:cNvSpPr>
          <p:nvPr/>
        </p:nvSpPr>
        <p:spPr bwMode="auto">
          <a:xfrm>
            <a:off x="5745163" y="1981200"/>
            <a:ext cx="2332037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/>
              <a:t>Stage III: Side on the HP making 60</a:t>
            </a:r>
            <a:r>
              <a:rPr lang="en-US" sz="1200" dirty="0">
                <a:cs typeface="Arial" charset="0"/>
              </a:rPr>
              <a:t>° with the VP.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utoUpdateAnimBg="0"/>
      <p:bldP spid="25" grpId="0" autoUpdateAnimBg="0"/>
      <p:bldP spid="54" grpId="0" animBg="1"/>
      <p:bldP spid="62" grpId="0" animBg="1"/>
      <p:bldP spid="63" grpId="0"/>
      <p:bldP spid="64" grpId="0" animBg="1"/>
      <p:bldP spid="65" grpId="0" animBg="1"/>
      <p:bldP spid="66" grpId="0"/>
      <p:bldP spid="67" grpId="0" animBg="1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4" grpId="0"/>
      <p:bldP spid="75" grpId="0"/>
      <p:bldP spid="76" grpId="0"/>
      <p:bldP spid="77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6284913" y="5105400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365500" y="4672013"/>
            <a:ext cx="228600" cy="2286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1000" y="1295400"/>
            <a:ext cx="18288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191000" y="1066800"/>
            <a:ext cx="44958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76600" y="762000"/>
            <a:ext cx="34290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Plane Inclined to Both RPs</a:t>
            </a:r>
          </a:p>
        </p:txBody>
      </p:sp>
      <p:sp>
        <p:nvSpPr>
          <p:cNvPr id="15368" name="TextBox 4"/>
          <p:cNvSpPr txBox="1">
            <a:spLocks noChangeArrowheads="1"/>
          </p:cNvSpPr>
          <p:nvPr/>
        </p:nvSpPr>
        <p:spPr bwMode="auto">
          <a:xfrm>
            <a:off x="304800" y="685800"/>
            <a:ext cx="8458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A square lamina of 50 mm side rests on one of the corners on the HP. The diagonal through that corner makes 30</a:t>
            </a:r>
            <a:r>
              <a:rPr lang="en-US" altLang="en-US" baseline="30000">
                <a:latin typeface="Times" panose="02020603050405020304" pitchFamily="18" charset="0"/>
              </a:rPr>
              <a:t>o</a:t>
            </a:r>
            <a:r>
              <a:rPr lang="en-US" altLang="en-US">
                <a:latin typeface="Times" panose="02020603050405020304" pitchFamily="18" charset="0"/>
              </a:rPr>
              <a:t> to the VP. The two sides containing this corner make equal inclination with HP. The surface of the lamina makes 45</a:t>
            </a:r>
            <a:r>
              <a:rPr lang="en-US" altLang="en-US" baseline="30000">
                <a:latin typeface="Times" panose="02020603050405020304" pitchFamily="18" charset="0"/>
              </a:rPr>
              <a:t>o</a:t>
            </a:r>
            <a:r>
              <a:rPr lang="en-US" altLang="en-US">
                <a:latin typeface="Times" panose="02020603050405020304" pitchFamily="18" charset="0"/>
              </a:rPr>
              <a:t> to the HP. Draw the TV and FV of the lamina.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514600"/>
            <a:ext cx="2286000" cy="2286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85800" y="2514600"/>
            <a:ext cx="0" cy="2286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04800" y="2514600"/>
            <a:ext cx="838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04800" y="4800600"/>
            <a:ext cx="838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73" name="TextBox 11"/>
          <p:cNvSpPr txBox="1">
            <a:spLocks noChangeArrowheads="1"/>
          </p:cNvSpPr>
          <p:nvPr/>
        </p:nvSpPr>
        <p:spPr bwMode="auto">
          <a:xfrm>
            <a:off x="304800" y="3429000"/>
            <a:ext cx="41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50</a:t>
            </a:r>
          </a:p>
        </p:txBody>
      </p:sp>
      <p:sp>
        <p:nvSpPr>
          <p:cNvPr id="17" name="Arc 16"/>
          <p:cNvSpPr/>
          <p:nvPr/>
        </p:nvSpPr>
        <p:spPr>
          <a:xfrm>
            <a:off x="3429000" y="2895600"/>
            <a:ext cx="914400" cy="914400"/>
          </a:xfrm>
          <a:prstGeom prst="arc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 rot="2655898">
            <a:off x="5241925" y="2498725"/>
            <a:ext cx="2286000" cy="2286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800600" y="4456113"/>
            <a:ext cx="3124200" cy="969962"/>
            <a:chOff x="4800600" y="4456206"/>
            <a:chExt cx="3124200" cy="969189"/>
          </a:xfrm>
        </p:grpSpPr>
        <p:sp>
          <p:nvSpPr>
            <p:cNvPr id="20" name="Arc 19"/>
            <p:cNvSpPr/>
            <p:nvPr/>
          </p:nvSpPr>
          <p:spPr>
            <a:xfrm rot="2585628">
              <a:off x="6259513" y="4511724"/>
              <a:ext cx="914400" cy="913671"/>
            </a:xfrm>
            <a:prstGeom prst="arc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4800600" y="5257254"/>
              <a:ext cx="3124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Arc 22"/>
            <p:cNvSpPr/>
            <p:nvPr/>
          </p:nvSpPr>
          <p:spPr>
            <a:xfrm rot="13383211">
              <a:off x="5526088" y="4456206"/>
              <a:ext cx="914400" cy="913671"/>
            </a:xfrm>
            <a:prstGeom prst="arc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067300" y="4724400"/>
            <a:ext cx="41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45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200900" y="4735513"/>
            <a:ext cx="419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12572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 animBg="1"/>
      <p:bldP spid="15" grpId="0" animBg="1"/>
      <p:bldP spid="14" grpId="0" animBg="1"/>
      <p:bldP spid="13" grpId="0" animBg="1"/>
      <p:bldP spid="18" grpId="0" animBg="1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/>
          <a:lstStyle/>
          <a:p>
            <a:r>
              <a:rPr lang="en-US" dirty="0"/>
              <a:t>Plane Inclined to Both RPs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8191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" pitchFamily="18" charset="0"/>
              </a:rPr>
              <a:t>Problem 8:</a:t>
            </a:r>
            <a:r>
              <a:rPr lang="en-US" dirty="0">
                <a:latin typeface="Times" pitchFamily="18" charset="0"/>
              </a:rPr>
              <a:t> A square lamina of 50 mm side rests on one of the corners on the HP. The diagonal through that corner makes 30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VP. The two sides containing this corner make equal inclination with HP. The surface of the lamina makes 45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HP. Draw the TV and FV of the lamina.</a:t>
            </a:r>
          </a:p>
        </p:txBody>
      </p:sp>
      <p:grpSp>
        <p:nvGrpSpPr>
          <p:cNvPr id="102" name="Group 101"/>
          <p:cNvGrpSpPr/>
          <p:nvPr/>
        </p:nvGrpSpPr>
        <p:grpSpPr>
          <a:xfrm>
            <a:off x="609508" y="3200400"/>
            <a:ext cx="8221768" cy="381000"/>
            <a:chOff x="609508" y="3200400"/>
            <a:chExt cx="8221768" cy="381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914400" y="3429000"/>
              <a:ext cx="7620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609508" y="321206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534400" y="320040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110" name="Arc 109"/>
          <p:cNvSpPr/>
          <p:nvPr/>
        </p:nvSpPr>
        <p:spPr>
          <a:xfrm>
            <a:off x="658368" y="3974592"/>
            <a:ext cx="914400" cy="914400"/>
          </a:xfrm>
          <a:prstGeom prst="arc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1295400" y="3785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091184" y="3429000"/>
            <a:ext cx="1956816" cy="2438400"/>
            <a:chOff x="1091184" y="3429000"/>
            <a:chExt cx="1956816" cy="2438400"/>
          </a:xfrm>
        </p:grpSpPr>
        <p:cxnSp>
          <p:nvCxnSpPr>
            <p:cNvPr id="105" name="Straight Connector 104"/>
            <p:cNvCxnSpPr/>
            <p:nvPr/>
          </p:nvCxnSpPr>
          <p:spPr>
            <a:xfrm flipV="1">
              <a:off x="1091184" y="3429000"/>
              <a:ext cx="0" cy="1447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V="1">
              <a:off x="2069592" y="3429000"/>
              <a:ext cx="0" cy="2438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V="1">
              <a:off x="3048000" y="3429000"/>
              <a:ext cx="0" cy="1447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>
            <a:off x="771526" y="3657600"/>
            <a:ext cx="2558924" cy="2502932"/>
            <a:chOff x="771526" y="3657600"/>
            <a:chExt cx="2558924" cy="2502932"/>
          </a:xfrm>
        </p:grpSpPr>
        <p:sp>
          <p:nvSpPr>
            <p:cNvPr id="103" name="Rectangle 102"/>
            <p:cNvSpPr/>
            <p:nvPr/>
          </p:nvSpPr>
          <p:spPr>
            <a:xfrm rot="2691788">
              <a:off x="1392335" y="4211735"/>
              <a:ext cx="1371600" cy="1371600"/>
            </a:xfrm>
            <a:prstGeom prst="rect">
              <a:avLst/>
            </a:prstGeom>
            <a:noFill/>
            <a:ln w="1079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71526" y="47360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905000" y="5791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048000" y="4736068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981200" y="3657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942418" y="305966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a’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52600" y="3048000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b’, d’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95600" y="304800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c’</a:t>
            </a:r>
          </a:p>
        </p:txBody>
      </p:sp>
      <p:grpSp>
        <p:nvGrpSpPr>
          <p:cNvPr id="128" name="Group 127"/>
          <p:cNvGrpSpPr/>
          <p:nvPr/>
        </p:nvGrpSpPr>
        <p:grpSpPr>
          <a:xfrm>
            <a:off x="1066800" y="3389376"/>
            <a:ext cx="2020824" cy="91440"/>
            <a:chOff x="1066800" y="3389376"/>
            <a:chExt cx="2020824" cy="91440"/>
          </a:xfrm>
        </p:grpSpPr>
        <p:sp>
          <p:nvSpPr>
            <p:cNvPr id="113" name="Oval 112"/>
            <p:cNvSpPr/>
            <p:nvPr/>
          </p:nvSpPr>
          <p:spPr>
            <a:xfrm>
              <a:off x="1066800" y="3392424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2045208" y="3389376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3011424" y="3404616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/>
            <p:nvPr/>
          </p:nvCxnSpPr>
          <p:spPr>
            <a:xfrm flipV="1">
              <a:off x="1101230" y="3429000"/>
              <a:ext cx="1946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3751933" y="1845467"/>
            <a:ext cx="1693990" cy="1644329"/>
            <a:chOff x="3751933" y="1845467"/>
            <a:chExt cx="1693990" cy="1644329"/>
          </a:xfrm>
        </p:grpSpPr>
        <p:cxnSp>
          <p:nvCxnSpPr>
            <p:cNvPr id="130" name="Straight Connector 129"/>
            <p:cNvCxnSpPr/>
            <p:nvPr/>
          </p:nvCxnSpPr>
          <p:spPr>
            <a:xfrm flipV="1">
              <a:off x="3815243" y="1845467"/>
              <a:ext cx="1630680" cy="15788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Arc 130"/>
            <p:cNvSpPr/>
            <p:nvPr/>
          </p:nvSpPr>
          <p:spPr>
            <a:xfrm rot="2528435">
              <a:off x="3751933" y="2932895"/>
              <a:ext cx="621299" cy="556901"/>
            </a:xfrm>
            <a:prstGeom prst="arc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305696" y="29834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45</a:t>
              </a:r>
            </a:p>
          </p:txBody>
        </p:sp>
      </p:grpSp>
      <p:grpSp>
        <p:nvGrpSpPr>
          <p:cNvPr id="134" name="Group 133"/>
          <p:cNvGrpSpPr/>
          <p:nvPr/>
        </p:nvGrpSpPr>
        <p:grpSpPr>
          <a:xfrm rot="18933067">
            <a:off x="3495393" y="2706142"/>
            <a:ext cx="2020824" cy="91440"/>
            <a:chOff x="1066800" y="3389376"/>
            <a:chExt cx="2020824" cy="91440"/>
          </a:xfrm>
        </p:grpSpPr>
        <p:sp>
          <p:nvSpPr>
            <p:cNvPr id="135" name="Oval 134"/>
            <p:cNvSpPr/>
            <p:nvPr/>
          </p:nvSpPr>
          <p:spPr>
            <a:xfrm>
              <a:off x="1066800" y="3392424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/>
            <p:nvPr/>
          </p:nvSpPr>
          <p:spPr>
            <a:xfrm>
              <a:off x="2045208" y="3389376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3011424" y="3404616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/>
            <p:cNvCxnSpPr/>
            <p:nvPr/>
          </p:nvCxnSpPr>
          <p:spPr>
            <a:xfrm flipV="1">
              <a:off x="1101230" y="3429000"/>
              <a:ext cx="1946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TextBox 140"/>
          <p:cNvSpPr txBox="1"/>
          <p:nvPr/>
        </p:nvSpPr>
        <p:spPr>
          <a:xfrm>
            <a:off x="3568600" y="2983468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a1’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91000" y="2020669"/>
            <a:ext cx="481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b1’</a:t>
            </a:r>
          </a:p>
          <a:p>
            <a:r>
              <a:rPr lang="en-US" dirty="0"/>
              <a:t>d1’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876824" y="16764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c1’</a:t>
            </a:r>
          </a:p>
        </p:txBody>
      </p:sp>
      <p:grpSp>
        <p:nvGrpSpPr>
          <p:cNvPr id="157" name="Group 156"/>
          <p:cNvGrpSpPr/>
          <p:nvPr/>
        </p:nvGrpSpPr>
        <p:grpSpPr>
          <a:xfrm>
            <a:off x="3819526" y="2069542"/>
            <a:ext cx="1376373" cy="3938353"/>
            <a:chOff x="3819526" y="2069542"/>
            <a:chExt cx="1376373" cy="3938353"/>
          </a:xfrm>
        </p:grpSpPr>
        <p:cxnSp>
          <p:nvCxnSpPr>
            <p:cNvPr id="145" name="Straight Connector 144"/>
            <p:cNvCxnSpPr/>
            <p:nvPr/>
          </p:nvCxnSpPr>
          <p:spPr>
            <a:xfrm>
              <a:off x="3819526" y="3424237"/>
              <a:ext cx="0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4511598" y="2749299"/>
              <a:ext cx="0" cy="32585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flipH="1">
              <a:off x="5195887" y="2069542"/>
              <a:ext cx="12" cy="28310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/>
          <p:cNvGrpSpPr/>
          <p:nvPr/>
        </p:nvGrpSpPr>
        <p:grpSpPr>
          <a:xfrm>
            <a:off x="1114422" y="3938585"/>
            <a:ext cx="4267200" cy="1928815"/>
            <a:chOff x="1114422" y="3938585"/>
            <a:chExt cx="4267200" cy="1928815"/>
          </a:xfrm>
        </p:grpSpPr>
        <p:cxnSp>
          <p:nvCxnSpPr>
            <p:cNvPr id="152" name="Straight Connector 151"/>
            <p:cNvCxnSpPr/>
            <p:nvPr/>
          </p:nvCxnSpPr>
          <p:spPr>
            <a:xfrm>
              <a:off x="2077291" y="3938585"/>
              <a:ext cx="243755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1114422" y="4900615"/>
              <a:ext cx="426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2082062" y="5867400"/>
              <a:ext cx="251375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9" name="TextBox 158"/>
          <p:cNvSpPr txBox="1"/>
          <p:nvPr/>
        </p:nvSpPr>
        <p:spPr>
          <a:xfrm>
            <a:off x="3473908" y="45720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19600" y="5791200"/>
            <a:ext cx="42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163132" y="458366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91000" y="365760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</p:txBody>
      </p:sp>
      <p:grpSp>
        <p:nvGrpSpPr>
          <p:cNvPr id="185" name="Group 184"/>
          <p:cNvGrpSpPr/>
          <p:nvPr/>
        </p:nvGrpSpPr>
        <p:grpSpPr>
          <a:xfrm>
            <a:off x="3829052" y="3962400"/>
            <a:ext cx="1371601" cy="1905000"/>
            <a:chOff x="3810000" y="3943348"/>
            <a:chExt cx="1371601" cy="1905000"/>
          </a:xfrm>
        </p:grpSpPr>
        <p:cxnSp>
          <p:nvCxnSpPr>
            <p:cNvPr id="178" name="Straight Connector 177"/>
            <p:cNvCxnSpPr/>
            <p:nvPr/>
          </p:nvCxnSpPr>
          <p:spPr>
            <a:xfrm flipV="1">
              <a:off x="3810000" y="3943348"/>
              <a:ext cx="681037" cy="9334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4491037" y="3943348"/>
              <a:ext cx="690563" cy="9334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H="1">
              <a:off x="4491037" y="4876800"/>
              <a:ext cx="690564" cy="9715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flipH="1" flipV="1">
              <a:off x="3810000" y="4876800"/>
              <a:ext cx="681037" cy="9715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0" name="TextBox 199"/>
          <p:cNvSpPr txBox="1"/>
          <p:nvPr/>
        </p:nvSpPr>
        <p:spPr>
          <a:xfrm>
            <a:off x="5410201" y="5867400"/>
            <a:ext cx="35052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AC diagonal is already inclined at 45</a:t>
            </a:r>
            <a:r>
              <a:rPr lang="en-US" baseline="30000" dirty="0"/>
              <a:t>o</a:t>
            </a:r>
            <a:r>
              <a:rPr lang="en-US" dirty="0"/>
              <a:t> to HP. Find apparent angle.</a:t>
            </a:r>
          </a:p>
        </p:txBody>
      </p:sp>
      <p:grpSp>
        <p:nvGrpSpPr>
          <p:cNvPr id="206" name="Group 205"/>
          <p:cNvGrpSpPr/>
          <p:nvPr/>
        </p:nvGrpSpPr>
        <p:grpSpPr>
          <a:xfrm>
            <a:off x="5855208" y="3102884"/>
            <a:ext cx="3157708" cy="1456924"/>
            <a:chOff x="5855208" y="3102884"/>
            <a:chExt cx="3157708" cy="1456924"/>
          </a:xfrm>
        </p:grpSpPr>
        <p:sp>
          <p:nvSpPr>
            <p:cNvPr id="197" name="Arc 196"/>
            <p:cNvSpPr/>
            <p:nvPr/>
          </p:nvSpPr>
          <p:spPr>
            <a:xfrm rot="12028996">
              <a:off x="8098516" y="3102884"/>
              <a:ext cx="914400" cy="914400"/>
            </a:xfrm>
            <a:prstGeom prst="arc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8153400" y="3429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  <p:cxnSp>
          <p:nvCxnSpPr>
            <p:cNvPr id="205" name="Straight Connector 204"/>
            <p:cNvCxnSpPr/>
            <p:nvPr/>
          </p:nvCxnSpPr>
          <p:spPr>
            <a:xfrm>
              <a:off x="5855208" y="4559808"/>
              <a:ext cx="3124200" cy="0"/>
            </a:xfrm>
            <a:prstGeom prst="line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>
            <a:off x="6324600" y="4114800"/>
            <a:ext cx="1905000" cy="1041400"/>
            <a:chOff x="6400800" y="4191000"/>
            <a:chExt cx="1905000" cy="1041400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6400800" y="4724400"/>
              <a:ext cx="1905000" cy="0"/>
            </a:xfrm>
            <a:prstGeom prst="line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Oval 206"/>
            <p:cNvSpPr/>
            <p:nvPr/>
          </p:nvSpPr>
          <p:spPr>
            <a:xfrm>
              <a:off x="6477000" y="5156200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/>
            <p:cNvSpPr/>
            <p:nvPr/>
          </p:nvSpPr>
          <p:spPr>
            <a:xfrm>
              <a:off x="8140700" y="4191000"/>
              <a:ext cx="76200" cy="76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TextBox 209"/>
          <p:cNvSpPr txBox="1"/>
          <p:nvPr/>
        </p:nvSpPr>
        <p:spPr>
          <a:xfrm>
            <a:off x="6324600" y="510540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001000" y="41148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213" name="Straight Connector 212"/>
          <p:cNvCxnSpPr/>
          <p:nvPr/>
        </p:nvCxnSpPr>
        <p:spPr>
          <a:xfrm flipH="1">
            <a:off x="5600700" y="4140200"/>
            <a:ext cx="3048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>
            <a:stCxn id="210" idx="0"/>
          </p:cNvCxnSpPr>
          <p:nvPr/>
        </p:nvCxnSpPr>
        <p:spPr>
          <a:xfrm flipV="1">
            <a:off x="6472237" y="4121908"/>
            <a:ext cx="962855" cy="9834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6064708" y="47244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302500" y="381000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grpSp>
        <p:nvGrpSpPr>
          <p:cNvPr id="225" name="Group 224"/>
          <p:cNvGrpSpPr/>
          <p:nvPr/>
        </p:nvGrpSpPr>
        <p:grpSpPr>
          <a:xfrm rot="18987666">
            <a:off x="6267990" y="3697732"/>
            <a:ext cx="1371601" cy="1905000"/>
            <a:chOff x="3810000" y="3943348"/>
            <a:chExt cx="1371601" cy="1905000"/>
          </a:xfrm>
        </p:grpSpPr>
        <p:cxnSp>
          <p:nvCxnSpPr>
            <p:cNvPr id="226" name="Straight Connector 225"/>
            <p:cNvCxnSpPr/>
            <p:nvPr/>
          </p:nvCxnSpPr>
          <p:spPr>
            <a:xfrm flipV="1">
              <a:off x="3810000" y="3943348"/>
              <a:ext cx="681037" cy="93345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>
              <a:off x="4491037" y="3943348"/>
              <a:ext cx="690563" cy="93345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H="1">
              <a:off x="4491037" y="4876800"/>
              <a:ext cx="690564" cy="97154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H="1" flipV="1">
              <a:off x="3810000" y="4876800"/>
              <a:ext cx="681037" cy="97154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0" name="TextBox 229"/>
          <p:cNvSpPr txBox="1"/>
          <p:nvPr/>
        </p:nvSpPr>
        <p:spPr>
          <a:xfrm>
            <a:off x="6064708" y="47244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296732" y="382166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grpSp>
        <p:nvGrpSpPr>
          <p:cNvPr id="265" name="Group 264"/>
          <p:cNvGrpSpPr/>
          <p:nvPr/>
        </p:nvGrpSpPr>
        <p:grpSpPr>
          <a:xfrm>
            <a:off x="6296025" y="2057400"/>
            <a:ext cx="1311275" cy="3289300"/>
            <a:chOff x="6296025" y="2057400"/>
            <a:chExt cx="1311275" cy="3289300"/>
          </a:xfrm>
        </p:grpSpPr>
        <p:cxnSp>
          <p:nvCxnSpPr>
            <p:cNvPr id="233" name="Straight Connector 232"/>
            <p:cNvCxnSpPr/>
            <p:nvPr/>
          </p:nvCxnSpPr>
          <p:spPr>
            <a:xfrm flipV="1">
              <a:off x="6445250" y="3429000"/>
              <a:ext cx="0" cy="16827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 flipV="1">
              <a:off x="7607300" y="2743200"/>
              <a:ext cx="0" cy="2603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>
            <a:xfrm flipV="1">
              <a:off x="6296025" y="2057400"/>
              <a:ext cx="0" cy="19081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 flipV="1">
              <a:off x="7435850" y="2057400"/>
              <a:ext cx="0" cy="21018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8" name="TextBox 237"/>
          <p:cNvSpPr txBox="1"/>
          <p:nvPr/>
        </p:nvSpPr>
        <p:spPr>
          <a:xfrm>
            <a:off x="5778843" y="365554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597344" y="523720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b2</a:t>
            </a:r>
          </a:p>
        </p:txBody>
      </p:sp>
      <p:grpSp>
        <p:nvGrpSpPr>
          <p:cNvPr id="266" name="Group 265"/>
          <p:cNvGrpSpPr/>
          <p:nvPr/>
        </p:nvGrpSpPr>
        <p:grpSpPr>
          <a:xfrm>
            <a:off x="4495800" y="2045732"/>
            <a:ext cx="3124200" cy="697468"/>
            <a:chOff x="4495800" y="2045732"/>
            <a:chExt cx="3124200" cy="697468"/>
          </a:xfrm>
        </p:grpSpPr>
        <p:cxnSp>
          <p:nvCxnSpPr>
            <p:cNvPr id="241" name="Straight Connector 240"/>
            <p:cNvCxnSpPr/>
            <p:nvPr/>
          </p:nvCxnSpPr>
          <p:spPr>
            <a:xfrm>
              <a:off x="4495800" y="2743200"/>
              <a:ext cx="3124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>
              <a:stCxn id="143" idx="2"/>
            </p:cNvCxnSpPr>
            <p:nvPr/>
          </p:nvCxnSpPr>
          <p:spPr>
            <a:xfrm>
              <a:off x="5105412" y="2045732"/>
              <a:ext cx="2362188" cy="116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0" name="Group 259"/>
          <p:cNvGrpSpPr/>
          <p:nvPr/>
        </p:nvGrpSpPr>
        <p:grpSpPr>
          <a:xfrm>
            <a:off x="6291259" y="2062163"/>
            <a:ext cx="1328741" cy="1366837"/>
            <a:chOff x="6291259" y="2062163"/>
            <a:chExt cx="1328741" cy="1366837"/>
          </a:xfrm>
        </p:grpSpPr>
        <p:cxnSp>
          <p:nvCxnSpPr>
            <p:cNvPr id="249" name="Straight Connector 248"/>
            <p:cNvCxnSpPr/>
            <p:nvPr/>
          </p:nvCxnSpPr>
          <p:spPr>
            <a:xfrm flipH="1" flipV="1">
              <a:off x="6291259" y="2743200"/>
              <a:ext cx="152400" cy="6858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flipV="1">
              <a:off x="6291259" y="2062163"/>
              <a:ext cx="1143000" cy="6858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/>
          </p:nvCxnSpPr>
          <p:spPr>
            <a:xfrm>
              <a:off x="7439022" y="2066926"/>
              <a:ext cx="180978" cy="67627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flipV="1">
              <a:off x="6472237" y="2743200"/>
              <a:ext cx="1143000" cy="6858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1" name="TextBox 260"/>
          <p:cNvSpPr txBox="1"/>
          <p:nvPr/>
        </p:nvSpPr>
        <p:spPr>
          <a:xfrm>
            <a:off x="6386511" y="332424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a2’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919578" y="2438400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d2’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391400" y="1790688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c2’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567400" y="2526268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/>
      <p:bldP spid="123" grpId="0"/>
      <p:bldP spid="124" grpId="0"/>
      <p:bldP spid="125" grpId="0"/>
      <p:bldP spid="141" grpId="0"/>
      <p:bldP spid="142" grpId="0"/>
      <p:bldP spid="143" grpId="0"/>
      <p:bldP spid="159" grpId="0"/>
      <p:bldP spid="160" grpId="0"/>
      <p:bldP spid="161" grpId="0"/>
      <p:bldP spid="162" grpId="0"/>
      <p:bldP spid="200" grpId="0" animBg="1"/>
      <p:bldP spid="210" grpId="0"/>
      <p:bldP spid="211" grpId="0"/>
      <p:bldP spid="223" grpId="0"/>
      <p:bldP spid="223" grpId="1"/>
      <p:bldP spid="224" grpId="0"/>
      <p:bldP spid="224" grpId="1"/>
      <p:bldP spid="230" grpId="0"/>
      <p:bldP spid="231" grpId="0"/>
      <p:bldP spid="238" grpId="0"/>
      <p:bldP spid="239" grpId="0"/>
      <p:bldP spid="261" grpId="0"/>
      <p:bldP spid="262" grpId="0"/>
      <p:bldP spid="263" grpId="0"/>
      <p:bldP spid="2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Plane Inclined to Both RPs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90600"/>
            <a:ext cx="27432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76600" y="990600"/>
            <a:ext cx="43434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" pitchFamily="18" charset="0"/>
              </a:rPr>
              <a:t>Problem 9:</a:t>
            </a:r>
            <a:r>
              <a:rPr lang="en-US" dirty="0">
                <a:latin typeface="Times" pitchFamily="18" charset="0"/>
              </a:rPr>
              <a:t> A regular pentagon ABCDE of side 30 mm has one of its edges parallel to the VP and inclined at 30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HP. The pentagon is inclined at 45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VP. Draw the projections of the pentagon.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97926" y="2373868"/>
            <a:ext cx="1964402" cy="1969532"/>
            <a:chOff x="4741198" y="2297668"/>
            <a:chExt cx="1964402" cy="1969532"/>
          </a:xfrm>
        </p:grpSpPr>
        <p:sp>
          <p:nvSpPr>
            <p:cNvPr id="8" name="Regular Pentagon 7"/>
            <p:cNvSpPr/>
            <p:nvPr/>
          </p:nvSpPr>
          <p:spPr>
            <a:xfrm rot="5400000">
              <a:off x="5029200" y="2590800"/>
              <a:ext cx="1371600" cy="1371600"/>
            </a:xfrm>
            <a:prstGeom prst="pentagon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20694" y="2486799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a’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41198" y="37059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b’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62600" y="3897868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c’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41398" y="304800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d’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15000" y="229766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e’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152436" y="4191000"/>
            <a:ext cx="7991565" cy="381000"/>
            <a:chOff x="4495708" y="4114800"/>
            <a:chExt cx="4730581" cy="38100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4800600" y="4343400"/>
              <a:ext cx="41550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495708" y="412646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929413" y="411480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685928" y="2672121"/>
            <a:ext cx="1371600" cy="3122866"/>
            <a:chOff x="5029200" y="2595921"/>
            <a:chExt cx="1371600" cy="3122866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6400800" y="3276098"/>
              <a:ext cx="0" cy="2438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5867400" y="2595921"/>
              <a:ext cx="0" cy="31190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5029200" y="3707107"/>
              <a:ext cx="0" cy="20116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609728" y="5791200"/>
            <a:ext cx="1600200" cy="722531"/>
            <a:chOff x="4953000" y="5715000"/>
            <a:chExt cx="1600200" cy="722531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5029200" y="5715000"/>
              <a:ext cx="137160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953000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  <a:p>
              <a:r>
                <a:rPr lang="en-US" dirty="0"/>
                <a:t>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13306" y="579120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  <a:p>
              <a:r>
                <a:rPr lang="en-US" dirty="0"/>
                <a:t>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46706" y="5791200"/>
              <a:ext cx="306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  <a:p>
              <a:endParaRPr lang="en-US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685928" y="2669382"/>
            <a:ext cx="3725876" cy="1371600"/>
            <a:chOff x="5029200" y="2593182"/>
            <a:chExt cx="3725876" cy="1371600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029200" y="2856131"/>
              <a:ext cx="2811476" cy="28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872162" y="2593182"/>
              <a:ext cx="25781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5031581" y="3694331"/>
              <a:ext cx="2809095" cy="61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6400800" y="3273707"/>
              <a:ext cx="23542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874542" y="3964782"/>
              <a:ext cx="257573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619128" y="259080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128" y="5334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4497404" y="5078123"/>
            <a:ext cx="914400" cy="914400"/>
          </a:xfrm>
          <a:prstGeom prst="line">
            <a:avLst/>
          </a:prstGeom>
          <a:ln w="101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3811603" y="4267355"/>
            <a:ext cx="1596903" cy="1728061"/>
            <a:chOff x="5105400" y="4383024"/>
            <a:chExt cx="1403915" cy="1728061"/>
          </a:xfrm>
        </p:grpSpPr>
        <p:cxnSp>
          <p:nvCxnSpPr>
            <p:cNvPr id="37" name="Straight Connector 36"/>
            <p:cNvCxnSpPr>
              <a:endCxn id="43" idx="0"/>
            </p:cNvCxnSpPr>
            <p:nvPr/>
          </p:nvCxnSpPr>
          <p:spPr>
            <a:xfrm>
              <a:off x="5105400" y="4520184"/>
              <a:ext cx="1403915" cy="15909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94"/>
            <p:cNvGrpSpPr/>
            <p:nvPr/>
          </p:nvGrpSpPr>
          <p:grpSpPr>
            <a:xfrm>
              <a:off x="5157216" y="4383024"/>
              <a:ext cx="671688" cy="558308"/>
              <a:chOff x="5157216" y="4383024"/>
              <a:chExt cx="671688" cy="558308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5410200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45</a:t>
                </a:r>
              </a:p>
            </p:txBody>
          </p:sp>
          <p:sp>
            <p:nvSpPr>
              <p:cNvPr id="40" name="Arc 39"/>
              <p:cNvSpPr/>
              <p:nvPr/>
            </p:nvSpPr>
            <p:spPr>
              <a:xfrm rot="5400000">
                <a:off x="5157216" y="4383024"/>
                <a:ext cx="381000" cy="381000"/>
              </a:xfrm>
              <a:prstGeom prst="arc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4186666" y="5001923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</a:t>
            </a:r>
          </a:p>
          <a:p>
            <a:r>
              <a:rPr lang="en-US" dirty="0"/>
              <a:t>b1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6004" y="5562600"/>
            <a:ext cx="41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  <a:p>
            <a:r>
              <a:rPr lang="en-US" dirty="0"/>
              <a:t>e1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96750" y="5995416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  <a:p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4497404" y="2627531"/>
            <a:ext cx="914400" cy="3352800"/>
            <a:chOff x="5791200" y="2743200"/>
            <a:chExt cx="914400" cy="3352800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5791200" y="3048000"/>
              <a:ext cx="0" cy="2133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6356350" y="2743200"/>
              <a:ext cx="0" cy="30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6705600" y="3429000"/>
              <a:ext cx="0" cy="2667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4116404" y="286779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a1’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4212" y="3718715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b1’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0628" y="398643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1804" y="3096399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8404" y="233439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e1’</a:t>
            </a:r>
          </a:p>
        </p:txBody>
      </p:sp>
      <p:sp>
        <p:nvSpPr>
          <p:cNvPr id="53" name="Regular Pentagon 52"/>
          <p:cNvSpPr/>
          <p:nvPr/>
        </p:nvSpPr>
        <p:spPr>
          <a:xfrm rot="5400000">
            <a:off x="4277948" y="2891945"/>
            <a:ext cx="1353312" cy="914400"/>
          </a:xfrm>
          <a:prstGeom prst="pentagon">
            <a:avLst/>
          </a:prstGeom>
          <a:noFill/>
          <a:ln w="1016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2057400" y="1752600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1752600"/>
            <a:ext cx="86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II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1030700" y="2932331"/>
            <a:ext cx="571104" cy="874776"/>
            <a:chOff x="2324496" y="3048000"/>
            <a:chExt cx="571104" cy="874776"/>
          </a:xfrm>
        </p:grpSpPr>
        <p:cxnSp>
          <p:nvCxnSpPr>
            <p:cNvPr id="57" name="Straight Connector 56"/>
            <p:cNvCxnSpPr/>
            <p:nvPr/>
          </p:nvCxnSpPr>
          <p:spPr>
            <a:xfrm flipH="1">
              <a:off x="2426208" y="3922776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2438400" y="3048000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V="1">
              <a:off x="2667000" y="3048000"/>
              <a:ext cx="0" cy="86868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2324496" y="3276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 rot="18075796">
            <a:off x="6148683" y="2310550"/>
            <a:ext cx="1572999" cy="1983643"/>
            <a:chOff x="6185484" y="1789230"/>
            <a:chExt cx="1572999" cy="1983643"/>
          </a:xfrm>
        </p:grpSpPr>
        <p:sp>
          <p:nvSpPr>
            <p:cNvPr id="62" name="TextBox 61"/>
            <p:cNvSpPr txBox="1"/>
            <p:nvPr/>
          </p:nvSpPr>
          <p:spPr>
            <a:xfrm rot="3524204">
              <a:off x="6139361" y="2087531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a2’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 rot="3524204">
              <a:off x="6129539" y="2934800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b2’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 rot="3524204">
              <a:off x="7007244" y="3359619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c2’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 rot="3524204">
              <a:off x="7333206" y="2572371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d2’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 rot="3524204">
              <a:off x="6964440" y="1841969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e2’</a:t>
              </a:r>
            </a:p>
          </p:txBody>
        </p:sp>
        <p:sp>
          <p:nvSpPr>
            <p:cNvPr id="67" name="Regular Pentagon 66"/>
            <p:cNvSpPr/>
            <p:nvPr/>
          </p:nvSpPr>
          <p:spPr>
            <a:xfrm rot="5400000">
              <a:off x="6309722" y="2310146"/>
              <a:ext cx="1353312" cy="914400"/>
            </a:xfrm>
            <a:prstGeom prst="pentag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334124" y="2841402"/>
            <a:ext cx="1228724" cy="3163157"/>
            <a:chOff x="6334124" y="2841402"/>
            <a:chExt cx="1228724" cy="3163157"/>
          </a:xfrm>
        </p:grpSpPr>
        <p:cxnSp>
          <p:nvCxnSpPr>
            <p:cNvPr id="69" name="Straight Connector 68"/>
            <p:cNvCxnSpPr/>
            <p:nvPr/>
          </p:nvCxnSpPr>
          <p:spPr>
            <a:xfrm flipH="1">
              <a:off x="6334124" y="3449586"/>
              <a:ext cx="0" cy="16486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411565" y="2841402"/>
              <a:ext cx="0" cy="28346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7169565" y="2895599"/>
              <a:ext cx="0" cy="3108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7562848" y="3537691"/>
              <a:ext cx="0" cy="21031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7054695" y="3886200"/>
              <a:ext cx="0" cy="11887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6007608" y="3252216"/>
            <a:ext cx="2983992" cy="1624584"/>
            <a:chOff x="6007608" y="3252216"/>
            <a:chExt cx="2983992" cy="1624584"/>
          </a:xfrm>
        </p:grpSpPr>
        <p:grpSp>
          <p:nvGrpSpPr>
            <p:cNvPr id="75" name="Group 64"/>
            <p:cNvGrpSpPr/>
            <p:nvPr/>
          </p:nvGrpSpPr>
          <p:grpSpPr>
            <a:xfrm>
              <a:off x="6007608" y="3252216"/>
              <a:ext cx="2983992" cy="1624584"/>
              <a:chOff x="6007608" y="3252216"/>
              <a:chExt cx="2983992" cy="1624584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 flipH="1" flipV="1">
                <a:off x="6007608" y="3252216"/>
                <a:ext cx="2602992" cy="16245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8" name="TextBox 77"/>
              <p:cNvSpPr txBox="1"/>
              <p:nvPr/>
            </p:nvSpPr>
            <p:spPr>
              <a:xfrm>
                <a:off x="8572896" y="44958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</a:t>
                </a:r>
              </a:p>
            </p:txBody>
          </p:sp>
        </p:grpSp>
        <p:sp>
          <p:nvSpPr>
            <p:cNvPr id="76" name="Arc 75"/>
            <p:cNvSpPr/>
            <p:nvPr/>
          </p:nvSpPr>
          <p:spPr>
            <a:xfrm rot="5400000">
              <a:off x="7995543" y="4190825"/>
              <a:ext cx="660963" cy="533751"/>
            </a:xfrm>
            <a:prstGeom prst="arc">
              <a:avLst>
                <a:gd name="adj1" fmla="val 15169736"/>
                <a:gd name="adj2" fmla="val 20431163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4498975" y="5073650"/>
            <a:ext cx="3086099" cy="904478"/>
            <a:chOff x="4498975" y="5073650"/>
            <a:chExt cx="3086099" cy="904478"/>
          </a:xfrm>
        </p:grpSpPr>
        <p:cxnSp>
          <p:nvCxnSpPr>
            <p:cNvPr id="80" name="Straight Connector 79"/>
            <p:cNvCxnSpPr/>
            <p:nvPr/>
          </p:nvCxnSpPr>
          <p:spPr>
            <a:xfrm>
              <a:off x="4498975" y="5073650"/>
              <a:ext cx="25876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5070474" y="5638800"/>
              <a:ext cx="2514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5410200" y="5978128"/>
              <a:ext cx="176944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/>
          <p:cNvSpPr txBox="1"/>
          <p:nvPr/>
        </p:nvSpPr>
        <p:spPr>
          <a:xfrm>
            <a:off x="6019800" y="46482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74308" y="472440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01286" y="534566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67886" y="595526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19800" y="5334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grpSp>
        <p:nvGrpSpPr>
          <p:cNvPr id="88" name="Group 87"/>
          <p:cNvGrpSpPr/>
          <p:nvPr/>
        </p:nvGrpSpPr>
        <p:grpSpPr>
          <a:xfrm>
            <a:off x="6324600" y="5072058"/>
            <a:ext cx="1219200" cy="897496"/>
            <a:chOff x="6324600" y="5072058"/>
            <a:chExt cx="1219200" cy="897496"/>
          </a:xfrm>
        </p:grpSpPr>
        <p:cxnSp>
          <p:nvCxnSpPr>
            <p:cNvPr id="89" name="Straight Connector 88"/>
            <p:cNvCxnSpPr/>
            <p:nvPr/>
          </p:nvCxnSpPr>
          <p:spPr>
            <a:xfrm>
              <a:off x="6332220" y="5074920"/>
              <a:ext cx="7315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7058974" y="5072058"/>
              <a:ext cx="484826" cy="56674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H="1">
              <a:off x="7177262" y="5641181"/>
              <a:ext cx="361777" cy="32123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H="1" flipV="1">
              <a:off x="6398419" y="5653086"/>
              <a:ext cx="778842" cy="31646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H="1" flipV="1">
              <a:off x="6324600" y="5093495"/>
              <a:ext cx="83343" cy="5486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4" name="TextBox 93"/>
          <p:cNvSpPr txBox="1"/>
          <p:nvPr/>
        </p:nvSpPr>
        <p:spPr>
          <a:xfrm>
            <a:off x="6372994" y="1752600"/>
            <a:ext cx="923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III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0" y="152400"/>
            <a:ext cx="3962400" cy="1866900"/>
            <a:chOff x="0" y="96"/>
            <a:chExt cx="2496" cy="1380"/>
          </a:xfrm>
        </p:grpSpPr>
        <p:sp>
          <p:nvSpPr>
            <p:cNvPr id="10301" name="Rectangle 3"/>
            <p:cNvSpPr>
              <a:spLocks noChangeArrowheads="1"/>
            </p:cNvSpPr>
            <p:nvPr/>
          </p:nvSpPr>
          <p:spPr bwMode="auto">
            <a:xfrm>
              <a:off x="0" y="96"/>
              <a:ext cx="2496" cy="10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302" name="Text Box 4"/>
            <p:cNvSpPr txBox="1">
              <a:spLocks noChangeArrowheads="1"/>
            </p:cNvSpPr>
            <p:nvPr/>
          </p:nvSpPr>
          <p:spPr bwMode="auto">
            <a:xfrm>
              <a:off x="96" y="143"/>
              <a:ext cx="2391" cy="1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 smtClean="0">
                  <a:solidFill>
                    <a:schemeClr val="accent2"/>
                  </a:solidFill>
                </a:rPr>
                <a:t>Problem 10:</a:t>
              </a:r>
              <a:endParaRPr lang="en-US" altLang="en-US" sz="1600" b="1" dirty="0">
                <a:solidFill>
                  <a:schemeClr val="accent2"/>
                </a:solidFill>
              </a:endParaRPr>
            </a:p>
            <a:p>
              <a:pPr eaLnBrk="1" hangingPunct="1"/>
              <a:r>
                <a:rPr lang="en-US" altLang="en-US" sz="1600" dirty="0"/>
                <a:t>A 30</a:t>
              </a:r>
              <a:r>
                <a:rPr lang="en-US" altLang="en-US" sz="1600" baseline="30000" dirty="0"/>
                <a:t>0</a:t>
              </a:r>
              <a:r>
                <a:rPr lang="en-US" altLang="en-US" sz="1600" dirty="0"/>
                <a:t> – 60</a:t>
              </a:r>
              <a:r>
                <a:rPr lang="en-US" altLang="en-US" sz="1600" baseline="30000" dirty="0"/>
                <a:t>0 </a:t>
              </a:r>
              <a:r>
                <a:rPr lang="en-US" altLang="en-US" sz="1600" dirty="0"/>
                <a:t> set square of longest side</a:t>
              </a:r>
            </a:p>
            <a:p>
              <a:pPr eaLnBrk="1" hangingPunct="1"/>
              <a:r>
                <a:rPr lang="en-US" altLang="en-US" sz="1600" dirty="0"/>
                <a:t>100 mm long, is in VP and 30</a:t>
              </a:r>
              <a:r>
                <a:rPr lang="en-US" altLang="en-US" sz="1600" baseline="30000" dirty="0"/>
                <a:t>0 </a:t>
              </a:r>
              <a:r>
                <a:rPr lang="en-US" altLang="en-US" sz="1600" dirty="0"/>
                <a:t>inclined</a:t>
              </a:r>
            </a:p>
            <a:p>
              <a:pPr eaLnBrk="1" hangingPunct="1"/>
              <a:r>
                <a:rPr lang="en-US" altLang="en-US" sz="1600" dirty="0"/>
                <a:t>to HP while it’s surface is 45</a:t>
              </a:r>
              <a:r>
                <a:rPr lang="en-US" altLang="en-US" sz="1600" baseline="30000" dirty="0"/>
                <a:t>0 </a:t>
              </a:r>
              <a:r>
                <a:rPr lang="en-US" altLang="en-US" sz="1600" dirty="0"/>
                <a:t>inclined </a:t>
              </a:r>
            </a:p>
            <a:p>
              <a:pPr eaLnBrk="1" hangingPunct="1"/>
              <a:r>
                <a:rPr lang="en-US" altLang="en-US" sz="1600" dirty="0"/>
                <a:t>to </a:t>
              </a:r>
              <a:r>
                <a:rPr lang="en-US" altLang="en-US" sz="1600" dirty="0" err="1"/>
                <a:t>VP.Draw</a:t>
              </a:r>
              <a:r>
                <a:rPr lang="en-US" altLang="en-US" sz="1600" dirty="0"/>
                <a:t> it’s projections</a:t>
              </a:r>
            </a:p>
            <a:p>
              <a:pPr eaLnBrk="1" hangingPunct="1"/>
              <a:endParaRPr lang="en-US" altLang="en-US" sz="1600" b="1" dirty="0"/>
            </a:p>
            <a:p>
              <a:pPr eaLnBrk="1" hangingPunct="1"/>
              <a:r>
                <a:rPr lang="en-US" altLang="en-US" sz="1600" b="1" dirty="0"/>
                <a:t>(</a:t>
              </a:r>
              <a:r>
                <a:rPr lang="en-US" altLang="en-US" sz="1400" b="1" dirty="0"/>
                <a:t>Surface &amp; Side inclinations directly given</a:t>
              </a:r>
              <a:r>
                <a:rPr lang="en-US" altLang="en-US" sz="1600" b="1" dirty="0"/>
                <a:t>)</a:t>
              </a:r>
            </a:p>
          </p:txBody>
        </p:sp>
      </p:grpSp>
      <p:grpSp>
        <p:nvGrpSpPr>
          <p:cNvPr id="32773" name="Group 5"/>
          <p:cNvGrpSpPr>
            <a:grpSpLocks/>
          </p:cNvGrpSpPr>
          <p:nvPr/>
        </p:nvGrpSpPr>
        <p:grpSpPr bwMode="auto">
          <a:xfrm>
            <a:off x="4267200" y="152400"/>
            <a:ext cx="4876800" cy="1676400"/>
            <a:chOff x="2688" y="96"/>
            <a:chExt cx="3072" cy="1056"/>
          </a:xfrm>
        </p:grpSpPr>
        <p:sp>
          <p:nvSpPr>
            <p:cNvPr id="10299" name="Rectangle 6"/>
            <p:cNvSpPr>
              <a:spLocks noChangeArrowheads="1"/>
            </p:cNvSpPr>
            <p:nvPr/>
          </p:nvSpPr>
          <p:spPr bwMode="auto">
            <a:xfrm>
              <a:off x="2688" y="96"/>
              <a:ext cx="2928" cy="105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300" name="Text Box 7"/>
            <p:cNvSpPr txBox="1">
              <a:spLocks noChangeArrowheads="1"/>
            </p:cNvSpPr>
            <p:nvPr/>
          </p:nvSpPr>
          <p:spPr bwMode="auto">
            <a:xfrm>
              <a:off x="2752" y="144"/>
              <a:ext cx="3008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u="sng"/>
                <a:t>Read problem and answer following questions</a:t>
              </a:r>
            </a:p>
            <a:p>
              <a:pPr eaLnBrk="1" hangingPunct="1"/>
              <a:r>
                <a:rPr lang="en-US" altLang="en-US" sz="1600"/>
                <a:t>1 .Surface inclined to which plane? -------      VP</a:t>
              </a:r>
            </a:p>
            <a:p>
              <a:pPr eaLnBrk="1" hangingPunct="1"/>
              <a:r>
                <a:rPr lang="en-US" altLang="en-US" sz="1600"/>
                <a:t>2. Assumption for initial position?    ------// to VP</a:t>
              </a:r>
            </a:p>
            <a:p>
              <a:pPr eaLnBrk="1" hangingPunct="1"/>
              <a:r>
                <a:rPr lang="en-US" altLang="en-US" sz="1600"/>
                <a:t>3. So which view will show True shape? ---    FV</a:t>
              </a:r>
            </a:p>
            <a:p>
              <a:pPr eaLnBrk="1" hangingPunct="1"/>
              <a:r>
                <a:rPr lang="en-US" altLang="en-US" sz="1600"/>
                <a:t>4. Which side will be vertical?   ------longest side.</a:t>
              </a:r>
            </a:p>
          </p:txBody>
        </p:sp>
      </p:grp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4491038" y="2701925"/>
            <a:ext cx="0" cy="300037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5710238" y="5314950"/>
            <a:ext cx="3190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1295400" y="5046663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990600" y="48006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8077200" y="48006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2984500" y="2889250"/>
            <a:ext cx="0" cy="2719388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2116138" y="2701925"/>
            <a:ext cx="23812" cy="281305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>
            <a:off x="2139950" y="5327650"/>
            <a:ext cx="84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rot="2700000">
            <a:off x="3769520" y="5339556"/>
            <a:ext cx="842962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 flipV="1">
            <a:off x="3892550" y="2701925"/>
            <a:ext cx="0" cy="253206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>
            <a:off x="2139950" y="2701925"/>
            <a:ext cx="24384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2139950" y="485775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2889250" y="3241675"/>
            <a:ext cx="16891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>
            <a:off x="3892550" y="2701925"/>
            <a:ext cx="0" cy="2155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 flipV="1">
            <a:off x="3892550" y="3263900"/>
            <a:ext cx="561975" cy="159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 flipH="1" flipV="1">
            <a:off x="3892550" y="2701925"/>
            <a:ext cx="561975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792" name="Group 24"/>
          <p:cNvGrpSpPr>
            <a:grpSpLocks/>
          </p:cNvGrpSpPr>
          <p:nvPr/>
        </p:nvGrpSpPr>
        <p:grpSpPr bwMode="auto">
          <a:xfrm rot="-3788652">
            <a:off x="6096794" y="2936081"/>
            <a:ext cx="561975" cy="2157413"/>
            <a:chOff x="1536" y="1152"/>
            <a:chExt cx="288" cy="1104"/>
          </a:xfrm>
        </p:grpSpPr>
        <p:sp>
          <p:nvSpPr>
            <p:cNvPr id="10296" name="Line 25"/>
            <p:cNvSpPr>
              <a:spLocks noChangeShapeType="1"/>
            </p:cNvSpPr>
            <p:nvPr/>
          </p:nvSpPr>
          <p:spPr bwMode="auto">
            <a:xfrm>
              <a:off x="1536" y="1152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Line 26"/>
            <p:cNvSpPr>
              <a:spLocks noChangeShapeType="1"/>
            </p:cNvSpPr>
            <p:nvPr/>
          </p:nvSpPr>
          <p:spPr bwMode="auto">
            <a:xfrm flipV="1">
              <a:off x="1536" y="1440"/>
              <a:ext cx="28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Line 27"/>
            <p:cNvSpPr>
              <a:spLocks noChangeShapeType="1"/>
            </p:cNvSpPr>
            <p:nvPr/>
          </p:nvSpPr>
          <p:spPr bwMode="auto">
            <a:xfrm flipH="1" flipV="1">
              <a:off x="1536" y="1152"/>
              <a:ext cx="28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96" name="Line 28"/>
          <p:cNvSpPr>
            <a:spLocks noChangeShapeType="1"/>
          </p:cNvSpPr>
          <p:nvPr/>
        </p:nvSpPr>
        <p:spPr bwMode="auto">
          <a:xfrm>
            <a:off x="5299075" y="3640138"/>
            <a:ext cx="0" cy="1500187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7" name="Line 29"/>
          <p:cNvSpPr>
            <a:spLocks noChangeShapeType="1"/>
          </p:cNvSpPr>
          <p:nvPr/>
        </p:nvSpPr>
        <p:spPr bwMode="auto">
          <a:xfrm>
            <a:off x="6049963" y="3359150"/>
            <a:ext cx="0" cy="234315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>
            <a:off x="7221538" y="4389438"/>
            <a:ext cx="0" cy="938212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9" name="Line 31"/>
          <p:cNvSpPr>
            <a:spLocks noChangeShapeType="1"/>
          </p:cNvSpPr>
          <p:nvPr/>
        </p:nvSpPr>
        <p:spPr bwMode="auto">
          <a:xfrm>
            <a:off x="5299075" y="5046663"/>
            <a:ext cx="750888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0" name="Line 32"/>
          <p:cNvSpPr>
            <a:spLocks noChangeShapeType="1"/>
          </p:cNvSpPr>
          <p:nvPr/>
        </p:nvSpPr>
        <p:spPr bwMode="auto">
          <a:xfrm flipV="1">
            <a:off x="6049963" y="5046663"/>
            <a:ext cx="121920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1" name="Line 33"/>
          <p:cNvSpPr>
            <a:spLocks noChangeShapeType="1"/>
          </p:cNvSpPr>
          <p:nvPr/>
        </p:nvSpPr>
        <p:spPr bwMode="auto">
          <a:xfrm>
            <a:off x="5299075" y="5046663"/>
            <a:ext cx="19700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2" name="Line 34"/>
          <p:cNvSpPr>
            <a:spLocks noChangeShapeType="1"/>
          </p:cNvSpPr>
          <p:nvPr/>
        </p:nvSpPr>
        <p:spPr bwMode="auto">
          <a:xfrm>
            <a:off x="2139950" y="2701925"/>
            <a:ext cx="0" cy="2155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 flipH="1">
            <a:off x="2139950" y="3170238"/>
            <a:ext cx="844550" cy="16875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2139950" y="2701925"/>
            <a:ext cx="84455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>
            <a:off x="6518275" y="4389438"/>
            <a:ext cx="1219200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6" name="Text Box 38"/>
          <p:cNvSpPr txBox="1">
            <a:spLocks noChangeArrowheads="1"/>
          </p:cNvSpPr>
          <p:nvPr/>
        </p:nvSpPr>
        <p:spPr bwMode="auto">
          <a:xfrm>
            <a:off x="6799263" y="4764088"/>
            <a:ext cx="5635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latin typeface="Times New Roman" panose="02020603050405020304" pitchFamily="18" charset="0"/>
              </a:rPr>
              <a:t>30</a:t>
            </a:r>
            <a:r>
              <a:rPr lang="en-US" altLang="en-US" sz="12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807" name="Text Box 39"/>
          <p:cNvSpPr txBox="1">
            <a:spLocks noChangeArrowheads="1"/>
          </p:cNvSpPr>
          <p:nvPr/>
        </p:nvSpPr>
        <p:spPr bwMode="auto">
          <a:xfrm>
            <a:off x="4044950" y="4999038"/>
            <a:ext cx="5032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latin typeface="Times New Roman" panose="02020603050405020304" pitchFamily="18" charset="0"/>
              </a:rPr>
              <a:t>45</a:t>
            </a:r>
            <a:r>
              <a:rPr lang="en-US" altLang="en-US" sz="12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808" name="Arc 40"/>
          <p:cNvSpPr>
            <a:spLocks/>
          </p:cNvSpPr>
          <p:nvPr/>
        </p:nvSpPr>
        <p:spPr bwMode="auto">
          <a:xfrm rot="11655191" flipH="1">
            <a:off x="6802438" y="4616450"/>
            <a:ext cx="280987" cy="431800"/>
          </a:xfrm>
          <a:custGeom>
            <a:avLst/>
            <a:gdLst>
              <a:gd name="T0" fmla="*/ 88394 w 21600"/>
              <a:gd name="T1" fmla="*/ 431800 h 33134"/>
              <a:gd name="T2" fmla="*/ 114606 w 21600"/>
              <a:gd name="T3" fmla="*/ 0 h 33134"/>
              <a:gd name="T4" fmla="*/ 280987 w 21600"/>
              <a:gd name="T5" fmla="*/ 226834 h 3313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3134" fill="none" extrusionOk="0">
                <a:moveTo>
                  <a:pt x="6794" y="33134"/>
                </a:moveTo>
                <a:cubicBezTo>
                  <a:pt x="2458" y="29052"/>
                  <a:pt x="0" y="23361"/>
                  <a:pt x="0" y="17406"/>
                </a:cubicBezTo>
                <a:cubicBezTo>
                  <a:pt x="0" y="10532"/>
                  <a:pt x="3271" y="4069"/>
                  <a:pt x="8809" y="-1"/>
                </a:cubicBezTo>
              </a:path>
              <a:path w="21600" h="33134" stroke="0" extrusionOk="0">
                <a:moveTo>
                  <a:pt x="6794" y="33134"/>
                </a:moveTo>
                <a:cubicBezTo>
                  <a:pt x="2458" y="29052"/>
                  <a:pt x="0" y="23361"/>
                  <a:pt x="0" y="17406"/>
                </a:cubicBezTo>
                <a:cubicBezTo>
                  <a:pt x="0" y="10532"/>
                  <a:pt x="3271" y="4069"/>
                  <a:pt x="8809" y="-1"/>
                </a:cubicBezTo>
                <a:lnTo>
                  <a:pt x="21600" y="17406"/>
                </a:lnTo>
                <a:lnTo>
                  <a:pt x="6794" y="3313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09" name="Text Box 41"/>
          <p:cNvSpPr txBox="1">
            <a:spLocks noChangeArrowheads="1"/>
          </p:cNvSpPr>
          <p:nvPr/>
        </p:nvSpPr>
        <p:spPr bwMode="auto">
          <a:xfrm>
            <a:off x="3517900" y="25146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0" name="Text Box 42"/>
          <p:cNvSpPr txBox="1">
            <a:spLocks noChangeArrowheads="1"/>
          </p:cNvSpPr>
          <p:nvPr/>
        </p:nvSpPr>
        <p:spPr bwMode="auto">
          <a:xfrm>
            <a:off x="3517900" y="4483100"/>
            <a:ext cx="387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1" name="Text Box 43"/>
          <p:cNvSpPr txBox="1">
            <a:spLocks noChangeArrowheads="1"/>
          </p:cNvSpPr>
          <p:nvPr/>
        </p:nvSpPr>
        <p:spPr bwMode="auto">
          <a:xfrm>
            <a:off x="4360863" y="2982913"/>
            <a:ext cx="412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2" name="Line 44"/>
          <p:cNvSpPr>
            <a:spLocks noChangeShapeType="1"/>
          </p:cNvSpPr>
          <p:nvPr/>
        </p:nvSpPr>
        <p:spPr bwMode="auto">
          <a:xfrm>
            <a:off x="4302125" y="5632450"/>
            <a:ext cx="225107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3" name="Text Box 45"/>
          <p:cNvSpPr txBox="1">
            <a:spLocks noChangeArrowheads="1"/>
          </p:cNvSpPr>
          <p:nvPr/>
        </p:nvSpPr>
        <p:spPr bwMode="auto">
          <a:xfrm>
            <a:off x="3611563" y="485775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14" name="Text Box 46"/>
          <p:cNvSpPr txBox="1">
            <a:spLocks noChangeArrowheads="1"/>
          </p:cNvSpPr>
          <p:nvPr/>
        </p:nvSpPr>
        <p:spPr bwMode="auto">
          <a:xfrm>
            <a:off x="2913063" y="514032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2815" name="Text Box 47"/>
          <p:cNvSpPr txBox="1">
            <a:spLocks noChangeArrowheads="1"/>
          </p:cNvSpPr>
          <p:nvPr/>
        </p:nvSpPr>
        <p:spPr bwMode="auto">
          <a:xfrm>
            <a:off x="1836738" y="2514600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2816" name="Text Box 48"/>
          <p:cNvSpPr txBox="1">
            <a:spLocks noChangeArrowheads="1"/>
          </p:cNvSpPr>
          <p:nvPr/>
        </p:nvSpPr>
        <p:spPr bwMode="auto">
          <a:xfrm>
            <a:off x="1881188" y="51038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17" name="Text Box 49"/>
          <p:cNvSpPr txBox="1">
            <a:spLocks noChangeArrowheads="1"/>
          </p:cNvSpPr>
          <p:nvPr/>
        </p:nvSpPr>
        <p:spPr bwMode="auto">
          <a:xfrm>
            <a:off x="7127875" y="4999038"/>
            <a:ext cx="406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8" name="Text Box 50"/>
          <p:cNvSpPr txBox="1">
            <a:spLocks noChangeArrowheads="1"/>
          </p:cNvSpPr>
          <p:nvPr/>
        </p:nvSpPr>
        <p:spPr bwMode="auto">
          <a:xfrm>
            <a:off x="1822450" y="4576763"/>
            <a:ext cx="333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2819" name="Text Box 51"/>
          <p:cNvSpPr txBox="1">
            <a:spLocks noChangeArrowheads="1"/>
          </p:cNvSpPr>
          <p:nvPr/>
        </p:nvSpPr>
        <p:spPr bwMode="auto">
          <a:xfrm>
            <a:off x="1905000" y="52800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20" name="Text Box 52"/>
          <p:cNvSpPr txBox="1">
            <a:spLocks noChangeArrowheads="1"/>
          </p:cNvSpPr>
          <p:nvPr/>
        </p:nvSpPr>
        <p:spPr bwMode="auto">
          <a:xfrm>
            <a:off x="5087938" y="4940300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21" name="Text Box 53"/>
          <p:cNvSpPr txBox="1">
            <a:spLocks noChangeArrowheads="1"/>
          </p:cNvSpPr>
          <p:nvPr/>
        </p:nvSpPr>
        <p:spPr bwMode="auto">
          <a:xfrm>
            <a:off x="3740150" y="49990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22" name="Text Box 54"/>
          <p:cNvSpPr txBox="1">
            <a:spLocks noChangeArrowheads="1"/>
          </p:cNvSpPr>
          <p:nvPr/>
        </p:nvSpPr>
        <p:spPr bwMode="auto">
          <a:xfrm>
            <a:off x="4248150" y="550545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2823" name="Text Box 55"/>
          <p:cNvSpPr txBox="1">
            <a:spLocks noChangeArrowheads="1"/>
          </p:cNvSpPr>
          <p:nvPr/>
        </p:nvSpPr>
        <p:spPr bwMode="auto">
          <a:xfrm>
            <a:off x="4954588" y="3616325"/>
            <a:ext cx="3794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24" name="Text Box 56"/>
          <p:cNvSpPr txBox="1">
            <a:spLocks noChangeArrowheads="1"/>
          </p:cNvSpPr>
          <p:nvPr/>
        </p:nvSpPr>
        <p:spPr bwMode="auto">
          <a:xfrm>
            <a:off x="7081838" y="4389438"/>
            <a:ext cx="388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25" name="Text Box 57"/>
          <p:cNvSpPr txBox="1">
            <a:spLocks noChangeArrowheads="1"/>
          </p:cNvSpPr>
          <p:nvPr/>
        </p:nvSpPr>
        <p:spPr bwMode="auto">
          <a:xfrm>
            <a:off x="5862638" y="3170238"/>
            <a:ext cx="48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  </a:t>
            </a:r>
          </a:p>
        </p:txBody>
      </p:sp>
      <p:sp>
        <p:nvSpPr>
          <p:cNvPr id="32826" name="Text Box 58"/>
          <p:cNvSpPr txBox="1">
            <a:spLocks noChangeArrowheads="1"/>
          </p:cNvSpPr>
          <p:nvPr/>
        </p:nvSpPr>
        <p:spPr bwMode="auto">
          <a:xfrm>
            <a:off x="2984500" y="2889250"/>
            <a:ext cx="3413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endParaRPr lang="en-US" altLang="en-US" sz="1600" baseline="-25000">
              <a:latin typeface="Times New Roman" panose="02020603050405020304" pitchFamily="18" charset="0"/>
            </a:endParaRPr>
          </a:p>
        </p:txBody>
      </p:sp>
      <p:sp>
        <p:nvSpPr>
          <p:cNvPr id="32827" name="Text Box 59"/>
          <p:cNvSpPr txBox="1">
            <a:spLocks noChangeArrowheads="1"/>
          </p:cNvSpPr>
          <p:nvPr/>
        </p:nvSpPr>
        <p:spPr bwMode="auto">
          <a:xfrm>
            <a:off x="4495800" y="1828800"/>
            <a:ext cx="46482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i="1" u="sng"/>
              <a:t>Hence begin with FV, draw triangle above X-Y </a:t>
            </a:r>
          </a:p>
          <a:p>
            <a:pPr algn="ctr" eaLnBrk="1" hangingPunct="1"/>
            <a:r>
              <a:rPr lang="en-US" altLang="en-US" sz="1600" b="1" i="1" u="sng"/>
              <a:t>keeping longest side vertical</a:t>
            </a:r>
            <a:r>
              <a:rPr lang="en-US" altLang="en-US" b="1" i="1" u="sng">
                <a:latin typeface="Times New Roman" panose="02020603050405020304" pitchFamily="18" charset="0"/>
              </a:rPr>
              <a:t>.</a:t>
            </a:r>
            <a:endParaRPr lang="en-US" altLang="en-US" sz="2400" b="1" i="1" u="sng">
              <a:latin typeface="Times New Roman" panose="02020603050405020304" pitchFamily="18" charset="0"/>
            </a:endParaRPr>
          </a:p>
          <a:p>
            <a:pPr algn="ctr" eaLnBrk="1" hangingPunct="1"/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2828" name="Text Box 60"/>
          <p:cNvSpPr txBox="1">
            <a:spLocks noChangeArrowheads="1"/>
          </p:cNvSpPr>
          <p:nvPr/>
        </p:nvSpPr>
        <p:spPr bwMode="auto">
          <a:xfrm>
            <a:off x="1800225" y="5834063"/>
            <a:ext cx="1474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Surface // to Vp</a:t>
            </a:r>
          </a:p>
        </p:txBody>
      </p:sp>
      <p:sp>
        <p:nvSpPr>
          <p:cNvPr id="32829" name="Text Box 61"/>
          <p:cNvSpPr txBox="1">
            <a:spLocks noChangeArrowheads="1"/>
          </p:cNvSpPr>
          <p:nvPr/>
        </p:nvSpPr>
        <p:spPr bwMode="auto">
          <a:xfrm>
            <a:off x="3281363" y="5838825"/>
            <a:ext cx="2044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Surface inclined to Vp</a:t>
            </a:r>
          </a:p>
        </p:txBody>
      </p:sp>
      <p:sp>
        <p:nvSpPr>
          <p:cNvPr id="32830" name="Text Box 62"/>
          <p:cNvSpPr txBox="1">
            <a:spLocks noChangeArrowheads="1"/>
          </p:cNvSpPr>
          <p:nvPr/>
        </p:nvSpPr>
        <p:spPr bwMode="auto">
          <a:xfrm>
            <a:off x="5334000" y="2895600"/>
            <a:ext cx="1757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>
                <a:solidFill>
                  <a:srgbClr val="FF3300"/>
                </a:solidFill>
              </a:rPr>
              <a:t>side inclined to Hp</a:t>
            </a:r>
          </a:p>
        </p:txBody>
      </p:sp>
    </p:spTree>
    <p:extLst>
      <p:ext uri="{BB962C8B-B14F-4D97-AF65-F5344CB8AC3E}">
        <p14:creationId xmlns:p14="http://schemas.microsoft.com/office/powerpoint/2010/main" val="14776192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32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32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2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2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2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2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2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2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2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7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2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32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2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32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0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1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2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32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32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32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32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32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32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32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32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32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32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32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32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32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32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32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32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 nodeType="clickPar">
                      <p:stCondLst>
                        <p:cond delay="indefinite"/>
                      </p:stCondLst>
                      <p:childTnLst>
                        <p:par>
                          <p:cTn id="3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0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5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animBg="1"/>
      <p:bldP spid="32777" grpId="0" autoUpdateAnimBg="0"/>
      <p:bldP spid="32778" grpId="0" animBg="1"/>
      <p:bldP spid="32779" grpId="0" autoUpdateAnimBg="0"/>
      <p:bldP spid="32780" grpId="0" autoUpdateAnimBg="0"/>
      <p:bldP spid="32781" grpId="0" animBg="1"/>
      <p:bldP spid="32782" grpId="0" animBg="1"/>
      <p:bldP spid="32783" grpId="0" animBg="1"/>
      <p:bldP spid="32784" grpId="0" animBg="1"/>
      <p:bldP spid="32785" grpId="0" animBg="1"/>
      <p:bldP spid="32786" grpId="0" animBg="1"/>
      <p:bldP spid="32787" grpId="0" animBg="1"/>
      <p:bldP spid="32788" grpId="0" animBg="1"/>
      <p:bldP spid="32789" grpId="0" animBg="1"/>
      <p:bldP spid="32790" grpId="0" animBg="1"/>
      <p:bldP spid="32791" grpId="0" animBg="1"/>
      <p:bldP spid="32796" grpId="0" animBg="1"/>
      <p:bldP spid="32797" grpId="0" animBg="1"/>
      <p:bldP spid="32798" grpId="0" animBg="1"/>
      <p:bldP spid="32799" grpId="0" animBg="1"/>
      <p:bldP spid="32800" grpId="0" animBg="1"/>
      <p:bldP spid="32801" grpId="0" animBg="1"/>
      <p:bldP spid="32802" grpId="0" animBg="1"/>
      <p:bldP spid="32803" grpId="0" animBg="1"/>
      <p:bldP spid="32804" grpId="0" animBg="1"/>
      <p:bldP spid="32805" grpId="0" animBg="1"/>
      <p:bldP spid="32806" grpId="0" autoUpdateAnimBg="0"/>
      <p:bldP spid="32807" grpId="0" autoUpdateAnimBg="0"/>
      <p:bldP spid="32808" grpId="0" animBg="1"/>
      <p:bldP spid="32809" grpId="0" autoUpdateAnimBg="0"/>
      <p:bldP spid="32810" grpId="0" autoUpdateAnimBg="0"/>
      <p:bldP spid="32811" grpId="0" autoUpdateAnimBg="0"/>
      <p:bldP spid="32812" grpId="0" animBg="1"/>
      <p:bldP spid="32813" grpId="0" autoUpdateAnimBg="0"/>
      <p:bldP spid="32814" grpId="0" autoUpdateAnimBg="0"/>
      <p:bldP spid="32815" grpId="0" autoUpdateAnimBg="0"/>
      <p:bldP spid="32816" grpId="0" autoUpdateAnimBg="0"/>
      <p:bldP spid="32817" grpId="0" autoUpdateAnimBg="0"/>
      <p:bldP spid="32818" grpId="0" autoUpdateAnimBg="0"/>
      <p:bldP spid="32819" grpId="0" autoUpdateAnimBg="0"/>
      <p:bldP spid="32820" grpId="0" autoUpdateAnimBg="0"/>
      <p:bldP spid="32821" grpId="0" autoUpdateAnimBg="0"/>
      <p:bldP spid="32822" grpId="0" autoUpdateAnimBg="0"/>
      <p:bldP spid="32823" grpId="0" autoUpdateAnimBg="0"/>
      <p:bldP spid="32824" grpId="0" autoUpdateAnimBg="0"/>
      <p:bldP spid="32825" grpId="0" autoUpdateAnimBg="0"/>
      <p:bldP spid="32826" grpId="0" autoUpdateAnimBg="0"/>
      <p:bldP spid="32827" grpId="0" autoUpdateAnimBg="0"/>
      <p:bldP spid="32828" grpId="0" autoUpdateAnimBg="0"/>
      <p:bldP spid="32829" grpId="0" autoUpdateAnimBg="0"/>
      <p:bldP spid="3283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314700" y="58674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4819" name="Line 3"/>
          <p:cNvSpPr>
            <a:spLocks noChangeShapeType="1"/>
          </p:cNvSpPr>
          <p:nvPr/>
        </p:nvSpPr>
        <p:spPr bwMode="auto">
          <a:xfrm>
            <a:off x="3484563" y="2951163"/>
            <a:ext cx="0" cy="31369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4400550" y="5683250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>
            <a:off x="457200" y="5402263"/>
            <a:ext cx="6348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469900" y="492442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6415088" y="491172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2214563" y="3146425"/>
            <a:ext cx="0" cy="28432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1311275" y="2951163"/>
            <a:ext cx="25400" cy="2941637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1336675" y="5695950"/>
            <a:ext cx="877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 rot="2700000">
            <a:off x="2797969" y="5695156"/>
            <a:ext cx="8826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 flipV="1">
            <a:off x="2898775" y="2951163"/>
            <a:ext cx="0" cy="2646362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1336675" y="2951163"/>
            <a:ext cx="2538413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>
            <a:off x="1336675" y="5205413"/>
            <a:ext cx="2538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2117725" y="3514725"/>
            <a:ext cx="1757363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>
            <a:off x="2898775" y="2951163"/>
            <a:ext cx="0" cy="2254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 flipV="1">
            <a:off x="2898775" y="3538538"/>
            <a:ext cx="585788" cy="166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 flipH="1" flipV="1">
            <a:off x="2898775" y="2951163"/>
            <a:ext cx="585788" cy="587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 rot="-3788652">
            <a:off x="4961732" y="3461543"/>
            <a:ext cx="0" cy="22463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 rot="17811348" flipV="1">
            <a:off x="5062538" y="3625850"/>
            <a:ext cx="587375" cy="1660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 rot="-3788652" flipH="1" flipV="1">
            <a:off x="4060825" y="3652838"/>
            <a:ext cx="588963" cy="5857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3973513" y="3930650"/>
            <a:ext cx="0" cy="1570038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>
            <a:off x="4754563" y="3636963"/>
            <a:ext cx="0" cy="24511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>
            <a:off x="5975350" y="4714875"/>
            <a:ext cx="0" cy="98107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3973513" y="5402263"/>
            <a:ext cx="781050" cy="587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 flipV="1">
            <a:off x="4754563" y="5402263"/>
            <a:ext cx="1270000" cy="587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3973513" y="5402263"/>
            <a:ext cx="2051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1336675" y="2951163"/>
            <a:ext cx="0" cy="2254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 flipH="1">
            <a:off x="1336675" y="3440113"/>
            <a:ext cx="877888" cy="1765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1336675" y="2951163"/>
            <a:ext cx="877888" cy="587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7" name="Text Box 31"/>
          <p:cNvSpPr txBox="1">
            <a:spLocks noChangeArrowheads="1"/>
          </p:cNvSpPr>
          <p:nvPr/>
        </p:nvSpPr>
        <p:spPr bwMode="auto">
          <a:xfrm>
            <a:off x="3057525" y="5353050"/>
            <a:ext cx="5254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latin typeface="Times New Roman" panose="02020603050405020304" pitchFamily="18" charset="0"/>
              </a:rPr>
              <a:t>45</a:t>
            </a:r>
            <a:r>
              <a:rPr lang="en-US" altLang="en-US" sz="12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4848" name="Text Box 32"/>
          <p:cNvSpPr txBox="1">
            <a:spLocks noChangeArrowheads="1"/>
          </p:cNvSpPr>
          <p:nvPr/>
        </p:nvSpPr>
        <p:spPr bwMode="auto">
          <a:xfrm>
            <a:off x="2508250" y="2754313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2508250" y="4813300"/>
            <a:ext cx="388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3387725" y="3244850"/>
            <a:ext cx="412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>
            <a:off x="3216275" y="6015038"/>
            <a:ext cx="2344738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2" name="Text Box 36"/>
          <p:cNvSpPr txBox="1">
            <a:spLocks noChangeArrowheads="1"/>
          </p:cNvSpPr>
          <p:nvPr/>
        </p:nvSpPr>
        <p:spPr bwMode="auto">
          <a:xfrm>
            <a:off x="2606675" y="5205413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4853" name="Text Box 37"/>
          <p:cNvSpPr txBox="1">
            <a:spLocks noChangeArrowheads="1"/>
          </p:cNvSpPr>
          <p:nvPr/>
        </p:nvSpPr>
        <p:spPr bwMode="auto">
          <a:xfrm>
            <a:off x="2141538" y="550227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4854" name="Text Box 38"/>
          <p:cNvSpPr txBox="1">
            <a:spLocks noChangeArrowheads="1"/>
          </p:cNvSpPr>
          <p:nvPr/>
        </p:nvSpPr>
        <p:spPr bwMode="auto">
          <a:xfrm>
            <a:off x="1020763" y="2754313"/>
            <a:ext cx="412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4855" name="Text Box 39"/>
          <p:cNvSpPr txBox="1">
            <a:spLocks noChangeArrowheads="1"/>
          </p:cNvSpPr>
          <p:nvPr/>
        </p:nvSpPr>
        <p:spPr bwMode="auto">
          <a:xfrm>
            <a:off x="1068388" y="5462588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4856" name="Text Box 40"/>
          <p:cNvSpPr txBox="1">
            <a:spLocks noChangeArrowheads="1"/>
          </p:cNvSpPr>
          <p:nvPr/>
        </p:nvSpPr>
        <p:spPr bwMode="auto">
          <a:xfrm>
            <a:off x="5878513" y="5353050"/>
            <a:ext cx="422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57" name="Text Box 41"/>
          <p:cNvSpPr txBox="1">
            <a:spLocks noChangeArrowheads="1"/>
          </p:cNvSpPr>
          <p:nvPr/>
        </p:nvSpPr>
        <p:spPr bwMode="auto">
          <a:xfrm>
            <a:off x="1006475" y="4911725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4858" name="Text Box 42"/>
          <p:cNvSpPr txBox="1">
            <a:spLocks noChangeArrowheads="1"/>
          </p:cNvSpPr>
          <p:nvPr/>
        </p:nvSpPr>
        <p:spPr bwMode="auto">
          <a:xfrm>
            <a:off x="1092200" y="5646738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4859" name="Text Box 43"/>
          <p:cNvSpPr txBox="1">
            <a:spLocks noChangeArrowheads="1"/>
          </p:cNvSpPr>
          <p:nvPr/>
        </p:nvSpPr>
        <p:spPr bwMode="auto">
          <a:xfrm>
            <a:off x="3752850" y="5291138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60" name="Text Box 44"/>
          <p:cNvSpPr txBox="1">
            <a:spLocks noChangeArrowheads="1"/>
          </p:cNvSpPr>
          <p:nvPr/>
        </p:nvSpPr>
        <p:spPr bwMode="auto">
          <a:xfrm>
            <a:off x="2740025" y="53530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4861" name="Text Box 45"/>
          <p:cNvSpPr txBox="1">
            <a:spLocks noChangeArrowheads="1"/>
          </p:cNvSpPr>
          <p:nvPr/>
        </p:nvSpPr>
        <p:spPr bwMode="auto">
          <a:xfrm>
            <a:off x="3643313" y="3906838"/>
            <a:ext cx="3794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62" name="Text Box 46"/>
          <p:cNvSpPr txBox="1">
            <a:spLocks noChangeArrowheads="1"/>
          </p:cNvSpPr>
          <p:nvPr/>
        </p:nvSpPr>
        <p:spPr bwMode="auto">
          <a:xfrm>
            <a:off x="5829300" y="4714875"/>
            <a:ext cx="388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63" name="Text Box 47"/>
          <p:cNvSpPr txBox="1">
            <a:spLocks noChangeArrowheads="1"/>
          </p:cNvSpPr>
          <p:nvPr/>
        </p:nvSpPr>
        <p:spPr bwMode="auto">
          <a:xfrm>
            <a:off x="4559300" y="3440113"/>
            <a:ext cx="4826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  </a:t>
            </a:r>
          </a:p>
        </p:txBody>
      </p:sp>
      <p:sp>
        <p:nvSpPr>
          <p:cNvPr id="34864" name="Text Box 48"/>
          <p:cNvSpPr txBox="1">
            <a:spLocks noChangeArrowheads="1"/>
          </p:cNvSpPr>
          <p:nvPr/>
        </p:nvSpPr>
        <p:spPr bwMode="auto">
          <a:xfrm>
            <a:off x="2214563" y="3146425"/>
            <a:ext cx="342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endParaRPr lang="en-US" altLang="en-US" sz="1600" baseline="-25000">
              <a:latin typeface="Times New Roman" panose="02020603050405020304" pitchFamily="18" charset="0"/>
            </a:endParaRPr>
          </a:p>
        </p:txBody>
      </p:sp>
      <p:sp>
        <p:nvSpPr>
          <p:cNvPr id="34865" name="Line 49"/>
          <p:cNvSpPr>
            <a:spLocks noChangeShapeType="1"/>
          </p:cNvSpPr>
          <p:nvPr/>
        </p:nvSpPr>
        <p:spPr bwMode="auto">
          <a:xfrm>
            <a:off x="3973513" y="4911725"/>
            <a:ext cx="0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6" name="Line 50"/>
          <p:cNvSpPr>
            <a:spLocks noChangeShapeType="1"/>
          </p:cNvSpPr>
          <p:nvPr/>
        </p:nvSpPr>
        <p:spPr bwMode="auto">
          <a:xfrm>
            <a:off x="3973513" y="4102100"/>
            <a:ext cx="0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7" name="Text Box 51"/>
          <p:cNvSpPr txBox="1">
            <a:spLocks noChangeArrowheads="1"/>
          </p:cNvSpPr>
          <p:nvPr/>
        </p:nvSpPr>
        <p:spPr bwMode="auto">
          <a:xfrm>
            <a:off x="3778250" y="4592638"/>
            <a:ext cx="48736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000"/>
              <a:t>35</a:t>
            </a:r>
          </a:p>
        </p:txBody>
      </p:sp>
      <p:sp>
        <p:nvSpPr>
          <p:cNvPr id="34868" name="Line 52"/>
          <p:cNvSpPr>
            <a:spLocks noChangeShapeType="1"/>
          </p:cNvSpPr>
          <p:nvPr/>
        </p:nvSpPr>
        <p:spPr bwMode="auto">
          <a:xfrm>
            <a:off x="5926138" y="5095875"/>
            <a:ext cx="585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Line 53"/>
          <p:cNvSpPr>
            <a:spLocks noChangeShapeType="1"/>
          </p:cNvSpPr>
          <p:nvPr/>
        </p:nvSpPr>
        <p:spPr bwMode="auto">
          <a:xfrm>
            <a:off x="6316663" y="5376863"/>
            <a:ext cx="0" cy="490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0" name="Line 54"/>
          <p:cNvSpPr>
            <a:spLocks noChangeShapeType="1"/>
          </p:cNvSpPr>
          <p:nvPr/>
        </p:nvSpPr>
        <p:spPr bwMode="auto">
          <a:xfrm>
            <a:off x="6316663" y="4605338"/>
            <a:ext cx="0" cy="490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1" name="Text Box 55"/>
          <p:cNvSpPr txBox="1">
            <a:spLocks noChangeArrowheads="1"/>
          </p:cNvSpPr>
          <p:nvPr/>
        </p:nvSpPr>
        <p:spPr bwMode="auto">
          <a:xfrm>
            <a:off x="6102350" y="5060950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10</a:t>
            </a:r>
          </a:p>
        </p:txBody>
      </p:sp>
      <p:sp>
        <p:nvSpPr>
          <p:cNvPr id="34872" name="Text Box 56"/>
          <p:cNvSpPr txBox="1">
            <a:spLocks noChangeArrowheads="1"/>
          </p:cNvSpPr>
          <p:nvPr/>
        </p:nvSpPr>
        <p:spPr bwMode="auto">
          <a:xfrm>
            <a:off x="228600" y="76200"/>
            <a:ext cx="36576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 smtClean="0">
                <a:solidFill>
                  <a:srgbClr val="FF3399"/>
                </a:solidFill>
              </a:rPr>
              <a:t>Problem 11:</a:t>
            </a:r>
            <a:endParaRPr lang="en-US" altLang="en-US" sz="1600" b="1" dirty="0">
              <a:solidFill>
                <a:srgbClr val="FF3399"/>
              </a:solidFill>
            </a:endParaRPr>
          </a:p>
          <a:p>
            <a:pPr eaLnBrk="1" hangingPunct="1"/>
            <a:r>
              <a:rPr lang="en-US" altLang="en-US" sz="1400" dirty="0"/>
              <a:t>A 30</a:t>
            </a:r>
            <a:r>
              <a:rPr lang="en-US" altLang="en-US" sz="1400" baseline="30000" dirty="0"/>
              <a:t>0</a:t>
            </a:r>
            <a:r>
              <a:rPr lang="en-US" altLang="en-US" sz="1400" dirty="0"/>
              <a:t> – 60</a:t>
            </a:r>
            <a:r>
              <a:rPr lang="en-US" altLang="en-US" sz="1400" baseline="30000" dirty="0"/>
              <a:t>0 </a:t>
            </a:r>
            <a:r>
              <a:rPr lang="en-US" altLang="en-US" sz="1400" dirty="0"/>
              <a:t> set square of longest side</a:t>
            </a:r>
          </a:p>
          <a:p>
            <a:pPr eaLnBrk="1" hangingPunct="1"/>
            <a:r>
              <a:rPr lang="en-US" altLang="en-US" sz="1400" dirty="0"/>
              <a:t>100 mm long is in VP and it’s surface</a:t>
            </a:r>
          </a:p>
          <a:p>
            <a:pPr eaLnBrk="1" hangingPunct="1"/>
            <a:r>
              <a:rPr lang="en-US" altLang="en-US" sz="1400" dirty="0"/>
              <a:t>45</a:t>
            </a:r>
            <a:r>
              <a:rPr lang="en-US" altLang="en-US" sz="1400" baseline="30000" dirty="0"/>
              <a:t>0 </a:t>
            </a:r>
            <a:r>
              <a:rPr lang="en-US" altLang="en-US" sz="1400" dirty="0"/>
              <a:t> inclined to VP. One end of longest</a:t>
            </a:r>
          </a:p>
          <a:p>
            <a:pPr eaLnBrk="1" hangingPunct="1"/>
            <a:r>
              <a:rPr lang="en-US" altLang="en-US" sz="1400" dirty="0"/>
              <a:t>side is 10 mm and other end is 35 mm </a:t>
            </a:r>
          </a:p>
          <a:p>
            <a:pPr eaLnBrk="1" hangingPunct="1"/>
            <a:r>
              <a:rPr lang="en-US" altLang="en-US" sz="1400" dirty="0"/>
              <a:t>above HP. Draw it’s projections</a:t>
            </a:r>
          </a:p>
          <a:p>
            <a:pPr eaLnBrk="1" hangingPunct="1"/>
            <a:endParaRPr lang="en-US" altLang="en-US" sz="1400" b="1" dirty="0"/>
          </a:p>
          <a:p>
            <a:pPr eaLnBrk="1" hangingPunct="1"/>
            <a:r>
              <a:rPr lang="en-US" altLang="en-US" sz="1600" b="1" dirty="0"/>
              <a:t>(Surface inclination directly given.</a:t>
            </a:r>
          </a:p>
          <a:p>
            <a:pPr eaLnBrk="1" hangingPunct="1"/>
            <a:r>
              <a:rPr lang="en-US" altLang="en-US" sz="1600" b="1" dirty="0"/>
              <a:t>Side inclination indirectly given</a:t>
            </a:r>
            <a:r>
              <a:rPr lang="en-US" altLang="en-US" sz="1600" dirty="0"/>
              <a:t>)</a:t>
            </a:r>
          </a:p>
        </p:txBody>
      </p:sp>
      <p:sp>
        <p:nvSpPr>
          <p:cNvPr id="34873" name="Text Box 57"/>
          <p:cNvSpPr txBox="1">
            <a:spLocks noChangeArrowheads="1"/>
          </p:cNvSpPr>
          <p:nvPr/>
        </p:nvSpPr>
        <p:spPr bwMode="auto">
          <a:xfrm>
            <a:off x="3886200" y="0"/>
            <a:ext cx="4775200" cy="207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u="sng"/>
              <a:t>Read problem and answer following questions</a:t>
            </a:r>
          </a:p>
          <a:p>
            <a:pPr eaLnBrk="1" hangingPunct="1"/>
            <a:r>
              <a:rPr lang="en-US" altLang="en-US" sz="1600"/>
              <a:t>1 .Surface inclined to which plane? -------      VP</a:t>
            </a:r>
          </a:p>
          <a:p>
            <a:pPr eaLnBrk="1" hangingPunct="1"/>
            <a:r>
              <a:rPr lang="en-US" altLang="en-US" sz="1600"/>
              <a:t>2. Assumption for initial position?    ------// to VP</a:t>
            </a:r>
          </a:p>
          <a:p>
            <a:pPr eaLnBrk="1" hangingPunct="1"/>
            <a:r>
              <a:rPr lang="en-US" altLang="en-US" sz="1600"/>
              <a:t>3. So which view will show True shape? ---    FV</a:t>
            </a:r>
          </a:p>
          <a:p>
            <a:pPr eaLnBrk="1" hangingPunct="1"/>
            <a:r>
              <a:rPr lang="en-US" altLang="en-US" sz="1600"/>
              <a:t>4. Which side will be vertical?   ------longest side.</a:t>
            </a:r>
          </a:p>
          <a:p>
            <a:pPr algn="ctr" eaLnBrk="1" hangingPunct="1"/>
            <a:endParaRPr lang="en-US" altLang="en-US" sz="1600" b="1" i="1" u="sng"/>
          </a:p>
          <a:p>
            <a:pPr algn="ctr" eaLnBrk="1" hangingPunct="1"/>
            <a:r>
              <a:rPr lang="en-US" altLang="en-US" sz="1600" b="1" i="1" u="sng"/>
              <a:t>Hence begin with FV, draw triangle above X-Y </a:t>
            </a:r>
          </a:p>
          <a:p>
            <a:pPr algn="ctr" eaLnBrk="1" hangingPunct="1"/>
            <a:r>
              <a:rPr lang="en-US" altLang="en-US" sz="1600" b="1" i="1" u="sng"/>
              <a:t>keeping longest side vertical</a:t>
            </a:r>
            <a:r>
              <a:rPr lang="en-US" altLang="en-US" b="1" i="1" u="sng">
                <a:latin typeface="Times New Roman" panose="02020603050405020304" pitchFamily="18" charset="0"/>
              </a:rPr>
              <a:t>.</a:t>
            </a:r>
            <a:endParaRPr lang="en-US" altLang="en-US" sz="2400" b="1" i="1" u="sng">
              <a:latin typeface="Times New Roman" panose="02020603050405020304" pitchFamily="18" charset="0"/>
            </a:endParaRPr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3581400" y="4105275"/>
            <a:ext cx="7620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5" name="Oval 59"/>
          <p:cNvSpPr>
            <a:spLocks noChangeArrowheads="1"/>
          </p:cNvSpPr>
          <p:nvPr/>
        </p:nvSpPr>
        <p:spPr bwMode="auto">
          <a:xfrm>
            <a:off x="3962400" y="40497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4876" name="Oval 60"/>
          <p:cNvSpPr>
            <a:spLocks noChangeArrowheads="1"/>
          </p:cNvSpPr>
          <p:nvPr/>
        </p:nvSpPr>
        <p:spPr bwMode="auto">
          <a:xfrm>
            <a:off x="5915025" y="50498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    </a:t>
            </a:r>
          </a:p>
        </p:txBody>
      </p:sp>
      <p:sp>
        <p:nvSpPr>
          <p:cNvPr id="34877" name="Text Box 61"/>
          <p:cNvSpPr txBox="1">
            <a:spLocks noChangeArrowheads="1"/>
          </p:cNvSpPr>
          <p:nvPr/>
        </p:nvSpPr>
        <p:spPr bwMode="auto">
          <a:xfrm>
            <a:off x="3951288" y="2362200"/>
            <a:ext cx="51927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FF3300"/>
                </a:solidFill>
              </a:rPr>
              <a:t>First TWO steps are similar to previous problem.</a:t>
            </a:r>
          </a:p>
          <a:p>
            <a:pPr eaLnBrk="1" hangingPunct="1"/>
            <a:r>
              <a:rPr lang="en-US" altLang="en-US" sz="1500" b="1">
                <a:solidFill>
                  <a:schemeClr val="accent2"/>
                </a:solidFill>
              </a:rPr>
              <a:t>Note the manner in which side inclination is given.</a:t>
            </a:r>
          </a:p>
          <a:p>
            <a:pPr eaLnBrk="1" hangingPunct="1"/>
            <a:r>
              <a:rPr lang="en-US" altLang="en-US" sz="1500" b="1">
                <a:solidFill>
                  <a:srgbClr val="FF3300"/>
                </a:solidFill>
              </a:rPr>
              <a:t>End A  35 mm above Hp &amp; End B is 10 mm above Hp.</a:t>
            </a:r>
          </a:p>
          <a:p>
            <a:pPr eaLnBrk="1" hangingPunct="1"/>
            <a:r>
              <a:rPr lang="en-US" altLang="en-US" sz="1500" b="1">
                <a:solidFill>
                  <a:schemeClr val="accent2"/>
                </a:solidFill>
              </a:rPr>
              <a:t>So redraw 2</a:t>
            </a:r>
            <a:r>
              <a:rPr lang="en-US" altLang="en-US" sz="1500" b="1" baseline="30000">
                <a:solidFill>
                  <a:schemeClr val="accent2"/>
                </a:solidFill>
              </a:rPr>
              <a:t>nd</a:t>
            </a:r>
            <a:r>
              <a:rPr lang="en-US" altLang="en-US" sz="1500" b="1">
                <a:solidFill>
                  <a:schemeClr val="accent2"/>
                </a:solidFill>
              </a:rPr>
              <a:t> Fv as final Fv placing these ends as said.</a:t>
            </a:r>
          </a:p>
        </p:txBody>
      </p:sp>
    </p:spTree>
    <p:extLst>
      <p:ext uri="{BB962C8B-B14F-4D97-AF65-F5344CB8AC3E}">
        <p14:creationId xmlns:p14="http://schemas.microsoft.com/office/powerpoint/2010/main" val="2231850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4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4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4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4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4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4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4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4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4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4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4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4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4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4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4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3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3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3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3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3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34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34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34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34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34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34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34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34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34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4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3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3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34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34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34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34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3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3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34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34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34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34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34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34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3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3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34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34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34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34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3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3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Par">
                      <p:stCondLst>
                        <p:cond delay="indefinite"/>
                      </p:stCondLst>
                      <p:childTnLst>
                        <p:par>
                          <p:cTn id="3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34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34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34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34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 nodeType="clickPar">
                      <p:stCondLst>
                        <p:cond delay="indefinite"/>
                      </p:stCondLst>
                      <p:childTnLst>
                        <p:par>
                          <p:cTn id="3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34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34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 nodeType="clickPar">
                      <p:stCondLst>
                        <p:cond delay="indefinite"/>
                      </p:stCondLst>
                      <p:childTnLst>
                        <p:par>
                          <p:cTn id="3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animBg="1"/>
      <p:bldP spid="34820" grpId="0" autoUpdateAnimBg="0"/>
      <p:bldP spid="34821" grpId="0" animBg="1"/>
      <p:bldP spid="34822" grpId="0" autoUpdateAnimBg="0"/>
      <p:bldP spid="34823" grpId="0" autoUpdateAnimBg="0"/>
      <p:bldP spid="34824" grpId="0" animBg="1"/>
      <p:bldP spid="34825" grpId="0" animBg="1"/>
      <p:bldP spid="34826" grpId="0" animBg="1"/>
      <p:bldP spid="34827" grpId="0" animBg="1"/>
      <p:bldP spid="34828" grpId="0" animBg="1"/>
      <p:bldP spid="34829" grpId="0" animBg="1"/>
      <p:bldP spid="34830" grpId="0" animBg="1"/>
      <p:bldP spid="34831" grpId="0" animBg="1"/>
      <p:bldP spid="34832" grpId="0" animBg="1"/>
      <p:bldP spid="34833" grpId="0" animBg="1"/>
      <p:bldP spid="34834" grpId="0" animBg="1"/>
      <p:bldP spid="34835" grpId="0" animBg="1"/>
      <p:bldP spid="34836" grpId="0" animBg="1"/>
      <p:bldP spid="34837" grpId="0" animBg="1"/>
      <p:bldP spid="34838" grpId="0" animBg="1"/>
      <p:bldP spid="34839" grpId="0" animBg="1"/>
      <p:bldP spid="34840" grpId="0" animBg="1"/>
      <p:bldP spid="34841" grpId="0" animBg="1"/>
      <p:bldP spid="34842" grpId="0" animBg="1"/>
      <p:bldP spid="34843" grpId="0" animBg="1"/>
      <p:bldP spid="34844" grpId="0" animBg="1"/>
      <p:bldP spid="34845" grpId="0" animBg="1"/>
      <p:bldP spid="34846" grpId="0" animBg="1"/>
      <p:bldP spid="34847" grpId="0" autoUpdateAnimBg="0"/>
      <p:bldP spid="34848" grpId="0" autoUpdateAnimBg="0"/>
      <p:bldP spid="34849" grpId="0" autoUpdateAnimBg="0"/>
      <p:bldP spid="34850" grpId="0" autoUpdateAnimBg="0"/>
      <p:bldP spid="34851" grpId="0" animBg="1"/>
      <p:bldP spid="34852" grpId="0" autoUpdateAnimBg="0"/>
      <p:bldP spid="34853" grpId="0" autoUpdateAnimBg="0"/>
      <p:bldP spid="34854" grpId="0" autoUpdateAnimBg="0"/>
      <p:bldP spid="34855" grpId="0" autoUpdateAnimBg="0"/>
      <p:bldP spid="34856" grpId="0" autoUpdateAnimBg="0"/>
      <p:bldP spid="34857" grpId="0" autoUpdateAnimBg="0"/>
      <p:bldP spid="34858" grpId="0" autoUpdateAnimBg="0"/>
      <p:bldP spid="34859" grpId="0" autoUpdateAnimBg="0"/>
      <p:bldP spid="34860" grpId="0" autoUpdateAnimBg="0"/>
      <p:bldP spid="34861" grpId="0" autoUpdateAnimBg="0"/>
      <p:bldP spid="34862" grpId="0" autoUpdateAnimBg="0"/>
      <p:bldP spid="34863" grpId="0" autoUpdateAnimBg="0"/>
      <p:bldP spid="34864" grpId="0" autoUpdateAnimBg="0"/>
      <p:bldP spid="34865" grpId="0" animBg="1"/>
      <p:bldP spid="34866" grpId="0" animBg="1"/>
      <p:bldP spid="34867" grpId="0" autoUpdateAnimBg="0"/>
      <p:bldP spid="34868" grpId="0" animBg="1"/>
      <p:bldP spid="34869" grpId="0" animBg="1"/>
      <p:bldP spid="34870" grpId="0" animBg="1"/>
      <p:bldP spid="34871" grpId="0" autoUpdateAnimBg="0"/>
      <p:bldP spid="34872" grpId="0" autoUpdateAnimBg="0"/>
      <p:bldP spid="34873" grpId="0" autoUpdateAnimBg="0"/>
      <p:bldP spid="34874" grpId="0" animBg="1"/>
      <p:bldP spid="34875" grpId="0" animBg="1"/>
      <p:bldP spid="34876" grpId="0" animBg="1" autoUpdateAnimBg="0"/>
      <p:bldP spid="3487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3962400" cy="15890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Problem 12: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A regular pentagon of 30 mm sides is resting 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on HP on one of it’s sides while it’s opposite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vertex (corner) is 30 mm above HP. 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Draw projections when side in HP is 30</a:t>
            </a:r>
            <a:r>
              <a:rPr lang="en-US" altLang="en-US" sz="1600" baseline="30000" dirty="0">
                <a:latin typeface="Times New Roman" panose="02020603050405020304" pitchFamily="18" charset="0"/>
              </a:rPr>
              <a:t>0</a:t>
            </a:r>
            <a:r>
              <a:rPr lang="en-US" altLang="en-US" sz="1600" dirty="0">
                <a:latin typeface="Times New Roman" panose="02020603050405020304" pitchFamily="18" charset="0"/>
              </a:rPr>
              <a:t> inclined to VP.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4495800" y="228600"/>
            <a:ext cx="4173538" cy="183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Read problem and answer following questions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1. Surface inclined to which plane? -------      </a:t>
            </a:r>
            <a:r>
              <a:rPr lang="en-US" altLang="en-US" sz="1600" b="1" i="1">
                <a:latin typeface="Times New Roman" panose="02020603050405020304" pitchFamily="18" charset="0"/>
              </a:rPr>
              <a:t>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2. Assumption for initial position? ------ </a:t>
            </a:r>
            <a:r>
              <a:rPr lang="en-US" altLang="en-US" sz="1600" b="1" i="1">
                <a:latin typeface="Times New Roman" panose="02020603050405020304" pitchFamily="18" charset="0"/>
              </a:rPr>
              <a:t>// to 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3. So which view will show True shape? ---  </a:t>
            </a:r>
            <a:r>
              <a:rPr lang="en-US" altLang="en-US" sz="1600" b="1" i="1">
                <a:latin typeface="Times New Roman" panose="02020603050405020304" pitchFamily="18" charset="0"/>
              </a:rPr>
              <a:t>TV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4. Which side will be vertical?   --------</a:t>
            </a:r>
            <a:r>
              <a:rPr lang="en-US" altLang="en-US" sz="1600" b="1" i="1">
                <a:latin typeface="Times New Roman" panose="02020603050405020304" pitchFamily="18" charset="0"/>
              </a:rPr>
              <a:t>any side.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    </a:t>
            </a:r>
            <a:r>
              <a:rPr lang="en-US" altLang="en-US" sz="1600" b="1" i="1">
                <a:latin typeface="Times New Roman" panose="02020603050405020304" pitchFamily="18" charset="0"/>
              </a:rPr>
              <a:t>Hence begin with TV,draw pentagon below </a:t>
            </a:r>
          </a:p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     X-Y line, taking one side vertical</a:t>
            </a:r>
            <a:r>
              <a:rPr lang="en-US" altLang="en-US" b="1" i="1">
                <a:latin typeface="Times New Roman" panose="02020603050405020304" pitchFamily="18" charset="0"/>
              </a:rPr>
              <a:t>.</a:t>
            </a:r>
            <a:endParaRPr lang="en-US" altLang="en-US" sz="2400" b="1" i="1">
              <a:latin typeface="Times New Roman" panose="02020603050405020304" pitchFamily="18" charset="0"/>
            </a:endParaRPr>
          </a:p>
        </p:txBody>
      </p:sp>
      <p:sp>
        <p:nvSpPr>
          <p:cNvPr id="38916" name="AutoShape 4"/>
          <p:cNvSpPr>
            <a:spLocks noChangeArrowheads="1"/>
          </p:cNvSpPr>
          <p:nvPr/>
        </p:nvSpPr>
        <p:spPr bwMode="auto">
          <a:xfrm rot="5400000">
            <a:off x="3186907" y="4714081"/>
            <a:ext cx="1681162" cy="1558925"/>
          </a:xfrm>
          <a:prstGeom prst="pentagon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 flipV="1">
            <a:off x="3248025" y="4033838"/>
            <a:ext cx="0" cy="1150937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V="1">
            <a:off x="4195763" y="4033838"/>
            <a:ext cx="0" cy="6191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 flipV="1">
            <a:off x="4802188" y="4033838"/>
            <a:ext cx="0" cy="150495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6388100" y="3148013"/>
            <a:ext cx="0" cy="3186112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5427663" y="4298950"/>
            <a:ext cx="0" cy="203517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4022725" y="4652963"/>
            <a:ext cx="2420938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3248025" y="5006975"/>
            <a:ext cx="3195638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4802188" y="5483225"/>
            <a:ext cx="164147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3248025" y="5978525"/>
            <a:ext cx="3195638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>
            <a:off x="4195763" y="6334125"/>
            <a:ext cx="22479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7" name="AutoShape 15"/>
          <p:cNvSpPr>
            <a:spLocks noChangeArrowheads="1"/>
          </p:cNvSpPr>
          <p:nvPr/>
        </p:nvSpPr>
        <p:spPr bwMode="auto">
          <a:xfrm rot="5400000">
            <a:off x="5072063" y="4973638"/>
            <a:ext cx="1682750" cy="1016000"/>
          </a:xfrm>
          <a:prstGeom prst="pentagon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 flipH="1" flipV="1">
            <a:off x="6700838" y="4298950"/>
            <a:ext cx="1381125" cy="7080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9" name="Line 17"/>
          <p:cNvSpPr>
            <a:spLocks noChangeShapeType="1"/>
          </p:cNvSpPr>
          <p:nvPr/>
        </p:nvSpPr>
        <p:spPr bwMode="auto">
          <a:xfrm flipV="1">
            <a:off x="6615113" y="3235325"/>
            <a:ext cx="0" cy="177165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0" name="Line 18"/>
          <p:cNvSpPr>
            <a:spLocks noChangeShapeType="1"/>
          </p:cNvSpPr>
          <p:nvPr/>
        </p:nvSpPr>
        <p:spPr bwMode="auto">
          <a:xfrm flipV="1">
            <a:off x="7219950" y="3235325"/>
            <a:ext cx="0" cy="248126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 flipV="1">
            <a:off x="8067675" y="3235325"/>
            <a:ext cx="0" cy="248126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 flipV="1">
            <a:off x="8129588" y="3235325"/>
            <a:ext cx="0" cy="177165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>
            <a:off x="6356350" y="3235325"/>
            <a:ext cx="1814513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6010275" y="3624263"/>
            <a:ext cx="2160588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5" name="Oval 23"/>
          <p:cNvSpPr>
            <a:spLocks noChangeArrowheads="1"/>
          </p:cNvSpPr>
          <p:nvPr/>
        </p:nvSpPr>
        <p:spPr bwMode="auto">
          <a:xfrm>
            <a:off x="7177088" y="4210050"/>
            <a:ext cx="84137" cy="8890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36" name="Oval 24"/>
          <p:cNvSpPr>
            <a:spLocks noChangeArrowheads="1"/>
          </p:cNvSpPr>
          <p:nvPr/>
        </p:nvSpPr>
        <p:spPr bwMode="auto">
          <a:xfrm>
            <a:off x="8059738" y="4210050"/>
            <a:ext cx="87312" cy="8890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37" name="Oval 25"/>
          <p:cNvSpPr>
            <a:spLocks noChangeArrowheads="1"/>
          </p:cNvSpPr>
          <p:nvPr/>
        </p:nvSpPr>
        <p:spPr bwMode="auto">
          <a:xfrm>
            <a:off x="7165975" y="3179763"/>
            <a:ext cx="87313" cy="90487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38" name="Oval 26"/>
          <p:cNvSpPr>
            <a:spLocks noChangeArrowheads="1"/>
          </p:cNvSpPr>
          <p:nvPr/>
        </p:nvSpPr>
        <p:spPr bwMode="auto">
          <a:xfrm>
            <a:off x="8016875" y="3590925"/>
            <a:ext cx="90488" cy="8890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39" name="Oval 27"/>
          <p:cNvSpPr>
            <a:spLocks noChangeArrowheads="1"/>
          </p:cNvSpPr>
          <p:nvPr/>
        </p:nvSpPr>
        <p:spPr bwMode="auto">
          <a:xfrm>
            <a:off x="6573838" y="3568700"/>
            <a:ext cx="84137" cy="8890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8940" name="Line 28"/>
          <p:cNvSpPr>
            <a:spLocks noChangeShapeType="1"/>
          </p:cNvSpPr>
          <p:nvPr/>
        </p:nvSpPr>
        <p:spPr bwMode="auto">
          <a:xfrm flipH="1">
            <a:off x="6615113" y="3235325"/>
            <a:ext cx="604837" cy="35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>
            <a:off x="6615113" y="3590925"/>
            <a:ext cx="604837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>
            <a:off x="7219950" y="4298950"/>
            <a:ext cx="8620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3" name="Line 31"/>
          <p:cNvSpPr>
            <a:spLocks noChangeShapeType="1"/>
          </p:cNvSpPr>
          <p:nvPr/>
        </p:nvSpPr>
        <p:spPr bwMode="auto">
          <a:xfrm>
            <a:off x="8039100" y="3613150"/>
            <a:ext cx="85725" cy="708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4" name="Line 32"/>
          <p:cNvSpPr>
            <a:spLocks noChangeShapeType="1"/>
          </p:cNvSpPr>
          <p:nvPr/>
        </p:nvSpPr>
        <p:spPr bwMode="auto">
          <a:xfrm>
            <a:off x="7219950" y="3235325"/>
            <a:ext cx="862013" cy="44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5" name="Line 33"/>
          <p:cNvSpPr>
            <a:spLocks noChangeShapeType="1"/>
          </p:cNvSpPr>
          <p:nvPr/>
        </p:nvSpPr>
        <p:spPr bwMode="auto">
          <a:xfrm>
            <a:off x="6054725" y="3409950"/>
            <a:ext cx="0" cy="28305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8946" name="Group 34"/>
          <p:cNvGrpSpPr>
            <a:grpSpLocks/>
          </p:cNvGrpSpPr>
          <p:nvPr/>
        </p:nvGrpSpPr>
        <p:grpSpPr bwMode="auto">
          <a:xfrm>
            <a:off x="5172075" y="2905125"/>
            <a:ext cx="1473200" cy="1614488"/>
            <a:chOff x="3258" y="1830"/>
            <a:chExt cx="928" cy="1017"/>
          </a:xfrm>
        </p:grpSpPr>
        <p:sp>
          <p:nvSpPr>
            <p:cNvPr id="16469" name="Text Box 35"/>
            <p:cNvSpPr txBox="1">
              <a:spLocks noChangeArrowheads="1"/>
            </p:cNvSpPr>
            <p:nvPr/>
          </p:nvSpPr>
          <p:spPr bwMode="auto">
            <a:xfrm>
              <a:off x="3258" y="2526"/>
              <a:ext cx="2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 b’</a:t>
              </a:r>
            </a:p>
          </p:txBody>
        </p:sp>
        <p:grpSp>
          <p:nvGrpSpPr>
            <p:cNvPr id="16470" name="Group 36"/>
            <p:cNvGrpSpPr>
              <a:grpSpLocks/>
            </p:cNvGrpSpPr>
            <p:nvPr/>
          </p:nvGrpSpPr>
          <p:grpSpPr bwMode="auto">
            <a:xfrm>
              <a:off x="3306" y="1830"/>
              <a:ext cx="880" cy="1017"/>
              <a:chOff x="3306" y="1830"/>
              <a:chExt cx="880" cy="1017"/>
            </a:xfrm>
          </p:grpSpPr>
          <p:sp>
            <p:nvSpPr>
              <p:cNvPr id="16471" name="Line 37"/>
              <p:cNvSpPr>
                <a:spLocks noChangeShapeType="1"/>
              </p:cNvSpPr>
              <p:nvPr/>
            </p:nvSpPr>
            <p:spPr bwMode="auto">
              <a:xfrm rot="-2807395">
                <a:off x="3258" y="2372"/>
                <a:ext cx="94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72" name="Oval 38"/>
              <p:cNvSpPr>
                <a:spLocks noChangeArrowheads="1"/>
              </p:cNvSpPr>
              <p:nvPr/>
            </p:nvSpPr>
            <p:spPr bwMode="auto">
              <a:xfrm>
                <a:off x="3786" y="2262"/>
                <a:ext cx="55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6473" name="Oval 39"/>
              <p:cNvSpPr>
                <a:spLocks noChangeArrowheads="1"/>
              </p:cNvSpPr>
              <p:nvPr/>
            </p:nvSpPr>
            <p:spPr bwMode="auto">
              <a:xfrm>
                <a:off x="3997" y="2025"/>
                <a:ext cx="54" cy="5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6474" name="Oval 40"/>
              <p:cNvSpPr>
                <a:spLocks noChangeArrowheads="1"/>
              </p:cNvSpPr>
              <p:nvPr/>
            </p:nvSpPr>
            <p:spPr bwMode="auto">
              <a:xfrm>
                <a:off x="3399" y="2687"/>
                <a:ext cx="55" cy="5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6475" name="Text Box 41"/>
              <p:cNvSpPr txBox="1">
                <a:spLocks noChangeArrowheads="1"/>
              </p:cNvSpPr>
              <p:nvPr/>
            </p:nvSpPr>
            <p:spPr bwMode="auto">
              <a:xfrm>
                <a:off x="3977" y="1830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d’</a:t>
                </a:r>
                <a:endParaRPr lang="en-US" altLang="en-US" sz="1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76" name="Text Box 42"/>
              <p:cNvSpPr txBox="1">
                <a:spLocks noChangeArrowheads="1"/>
              </p:cNvSpPr>
              <p:nvPr/>
            </p:nvSpPr>
            <p:spPr bwMode="auto">
              <a:xfrm>
                <a:off x="3306" y="2427"/>
                <a:ext cx="203" cy="1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a’</a:t>
                </a:r>
              </a:p>
            </p:txBody>
          </p:sp>
          <p:sp>
            <p:nvSpPr>
              <p:cNvPr id="16477" name="Text Box 43"/>
              <p:cNvSpPr txBox="1">
                <a:spLocks noChangeArrowheads="1"/>
              </p:cNvSpPr>
              <p:nvPr/>
            </p:nvSpPr>
            <p:spPr bwMode="auto">
              <a:xfrm>
                <a:off x="3672" y="2040"/>
                <a:ext cx="317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latin typeface="Times New Roman" panose="02020603050405020304" pitchFamily="18" charset="0"/>
                  </a:rPr>
                  <a:t>c’e’</a:t>
                </a:r>
              </a:p>
            </p:txBody>
          </p:sp>
        </p:grpSp>
      </p:grpSp>
      <p:grpSp>
        <p:nvGrpSpPr>
          <p:cNvPr id="38956" name="Group 44"/>
          <p:cNvGrpSpPr>
            <a:grpSpLocks/>
          </p:cNvGrpSpPr>
          <p:nvPr/>
        </p:nvGrpSpPr>
        <p:grpSpPr bwMode="auto">
          <a:xfrm>
            <a:off x="6424613" y="4335463"/>
            <a:ext cx="1946275" cy="1524000"/>
            <a:chOff x="4176" y="1824"/>
            <a:chExt cx="1137" cy="869"/>
          </a:xfrm>
        </p:grpSpPr>
        <p:sp>
          <p:nvSpPr>
            <p:cNvPr id="16462" name="Text Box 45"/>
            <p:cNvSpPr txBox="1">
              <a:spLocks noChangeArrowheads="1"/>
            </p:cNvSpPr>
            <p:nvPr/>
          </p:nvSpPr>
          <p:spPr bwMode="auto">
            <a:xfrm>
              <a:off x="4465" y="1824"/>
              <a:ext cx="187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16463" name="Group 46"/>
            <p:cNvGrpSpPr>
              <a:grpSpLocks/>
            </p:cNvGrpSpPr>
            <p:nvPr/>
          </p:nvGrpSpPr>
          <p:grpSpPr bwMode="auto">
            <a:xfrm>
              <a:off x="4176" y="1951"/>
              <a:ext cx="1137" cy="742"/>
              <a:chOff x="4176" y="1951"/>
              <a:chExt cx="1137" cy="742"/>
            </a:xfrm>
          </p:grpSpPr>
          <p:sp>
            <p:nvSpPr>
              <p:cNvPr id="16464" name="AutoShape 47"/>
              <p:cNvSpPr>
                <a:spLocks noChangeArrowheads="1"/>
              </p:cNvSpPr>
              <p:nvPr/>
            </p:nvSpPr>
            <p:spPr bwMode="auto">
              <a:xfrm rot="-9165139">
                <a:off x="4288" y="2055"/>
                <a:ext cx="958" cy="594"/>
              </a:xfrm>
              <a:prstGeom prst="pentagon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6465" name="Text Box 48"/>
              <p:cNvSpPr txBox="1">
                <a:spLocks noChangeArrowheads="1"/>
              </p:cNvSpPr>
              <p:nvPr/>
            </p:nvSpPr>
            <p:spPr bwMode="auto">
              <a:xfrm>
                <a:off x="5120" y="2077"/>
                <a:ext cx="193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6466" name="Text Box 49"/>
              <p:cNvSpPr txBox="1">
                <a:spLocks noChangeArrowheads="1"/>
              </p:cNvSpPr>
              <p:nvPr/>
            </p:nvSpPr>
            <p:spPr bwMode="auto">
              <a:xfrm>
                <a:off x="5120" y="2519"/>
                <a:ext cx="188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c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6467" name="Text Box 50"/>
              <p:cNvSpPr txBox="1">
                <a:spLocks noChangeArrowheads="1"/>
              </p:cNvSpPr>
              <p:nvPr/>
            </p:nvSpPr>
            <p:spPr bwMode="auto">
              <a:xfrm>
                <a:off x="4444" y="2519"/>
                <a:ext cx="193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6468" name="Text Box 51"/>
              <p:cNvSpPr txBox="1">
                <a:spLocks noChangeArrowheads="1"/>
              </p:cNvSpPr>
              <p:nvPr/>
            </p:nvSpPr>
            <p:spPr bwMode="auto">
              <a:xfrm>
                <a:off x="4176" y="1951"/>
                <a:ext cx="188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e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38964" name="Group 52"/>
          <p:cNvGrpSpPr>
            <a:grpSpLocks/>
          </p:cNvGrpSpPr>
          <p:nvPr/>
        </p:nvGrpSpPr>
        <p:grpSpPr bwMode="auto">
          <a:xfrm>
            <a:off x="5024438" y="4313238"/>
            <a:ext cx="1622425" cy="2209800"/>
            <a:chOff x="3358" y="1811"/>
            <a:chExt cx="948" cy="1260"/>
          </a:xfrm>
        </p:grpSpPr>
        <p:sp>
          <p:nvSpPr>
            <p:cNvPr id="16457" name="Text Box 53"/>
            <p:cNvSpPr txBox="1">
              <a:spLocks noChangeArrowheads="1"/>
            </p:cNvSpPr>
            <p:nvPr/>
          </p:nvSpPr>
          <p:spPr bwMode="auto">
            <a:xfrm>
              <a:off x="3358" y="2645"/>
              <a:ext cx="19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58" name="Text Box 54"/>
            <p:cNvSpPr txBox="1">
              <a:spLocks noChangeArrowheads="1"/>
            </p:cNvSpPr>
            <p:nvPr/>
          </p:nvSpPr>
          <p:spPr bwMode="auto">
            <a:xfrm>
              <a:off x="3799" y="2897"/>
              <a:ext cx="187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59" name="Text Box 55"/>
            <p:cNvSpPr txBox="1">
              <a:spLocks noChangeArrowheads="1"/>
            </p:cNvSpPr>
            <p:nvPr/>
          </p:nvSpPr>
          <p:spPr bwMode="auto">
            <a:xfrm>
              <a:off x="4113" y="2330"/>
              <a:ext cx="19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60" name="Text Box 56"/>
            <p:cNvSpPr txBox="1">
              <a:spLocks noChangeArrowheads="1"/>
            </p:cNvSpPr>
            <p:nvPr/>
          </p:nvSpPr>
          <p:spPr bwMode="auto">
            <a:xfrm>
              <a:off x="3382" y="2047"/>
              <a:ext cx="18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61" name="Text Box 57"/>
            <p:cNvSpPr txBox="1">
              <a:spLocks noChangeArrowheads="1"/>
            </p:cNvSpPr>
            <p:nvPr/>
          </p:nvSpPr>
          <p:spPr bwMode="auto">
            <a:xfrm>
              <a:off x="3830" y="1811"/>
              <a:ext cx="18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8970" name="Group 58"/>
          <p:cNvGrpSpPr>
            <a:grpSpLocks/>
          </p:cNvGrpSpPr>
          <p:nvPr/>
        </p:nvGrpSpPr>
        <p:grpSpPr bwMode="auto">
          <a:xfrm>
            <a:off x="6262688" y="2895600"/>
            <a:ext cx="2190750" cy="1409700"/>
            <a:chOff x="4082" y="1008"/>
            <a:chExt cx="1280" cy="804"/>
          </a:xfrm>
        </p:grpSpPr>
        <p:sp>
          <p:nvSpPr>
            <p:cNvPr id="16452" name="Text Box 59"/>
            <p:cNvSpPr txBox="1">
              <a:spLocks noChangeArrowheads="1"/>
            </p:cNvSpPr>
            <p:nvPr/>
          </p:nvSpPr>
          <p:spPr bwMode="auto">
            <a:xfrm>
              <a:off x="5120" y="1605"/>
              <a:ext cx="22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b’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53" name="Text Box 60"/>
            <p:cNvSpPr txBox="1">
              <a:spLocks noChangeArrowheads="1"/>
            </p:cNvSpPr>
            <p:nvPr/>
          </p:nvSpPr>
          <p:spPr bwMode="auto">
            <a:xfrm>
              <a:off x="4082" y="1291"/>
              <a:ext cx="221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e’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54" name="Text Box 61"/>
            <p:cNvSpPr txBox="1">
              <a:spLocks noChangeArrowheads="1"/>
            </p:cNvSpPr>
            <p:nvPr/>
          </p:nvSpPr>
          <p:spPr bwMode="auto">
            <a:xfrm>
              <a:off x="5120" y="1260"/>
              <a:ext cx="242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Times New Roman" panose="02020603050405020304" pitchFamily="18" charset="0"/>
                </a:rPr>
                <a:t>c’</a:t>
              </a:r>
              <a:r>
                <a:rPr lang="en-US" altLang="en-US" sz="16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55" name="Text Box 62"/>
            <p:cNvSpPr txBox="1">
              <a:spLocks noChangeArrowheads="1"/>
            </p:cNvSpPr>
            <p:nvPr/>
          </p:nvSpPr>
          <p:spPr bwMode="auto">
            <a:xfrm>
              <a:off x="4554" y="1008"/>
              <a:ext cx="227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d’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56" name="Text Box 63"/>
            <p:cNvSpPr txBox="1">
              <a:spLocks noChangeArrowheads="1"/>
            </p:cNvSpPr>
            <p:nvPr/>
          </p:nvSpPr>
          <p:spPr bwMode="auto">
            <a:xfrm>
              <a:off x="4365" y="1638"/>
              <a:ext cx="221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a’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38976" name="Line 64"/>
          <p:cNvSpPr>
            <a:spLocks noChangeShapeType="1"/>
          </p:cNvSpPr>
          <p:nvPr/>
        </p:nvSpPr>
        <p:spPr bwMode="auto">
          <a:xfrm>
            <a:off x="2547938" y="4284663"/>
            <a:ext cx="613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77" name="Text Box 65"/>
          <p:cNvSpPr txBox="1">
            <a:spLocks noChangeArrowheads="1"/>
          </p:cNvSpPr>
          <p:nvPr/>
        </p:nvSpPr>
        <p:spPr bwMode="auto">
          <a:xfrm>
            <a:off x="2398713" y="3938588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8978" name="Text Box 66"/>
          <p:cNvSpPr txBox="1">
            <a:spLocks noChangeArrowheads="1"/>
          </p:cNvSpPr>
          <p:nvPr/>
        </p:nvSpPr>
        <p:spPr bwMode="auto">
          <a:xfrm>
            <a:off x="8362950" y="3952875"/>
            <a:ext cx="314325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8979" name="Text Box 67"/>
          <p:cNvSpPr txBox="1">
            <a:spLocks noChangeArrowheads="1"/>
          </p:cNvSpPr>
          <p:nvPr/>
        </p:nvSpPr>
        <p:spPr bwMode="auto">
          <a:xfrm>
            <a:off x="2976563" y="3898900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38980" name="Line 68"/>
          <p:cNvSpPr>
            <a:spLocks noChangeShapeType="1"/>
          </p:cNvSpPr>
          <p:nvPr/>
        </p:nvSpPr>
        <p:spPr bwMode="auto">
          <a:xfrm>
            <a:off x="3300413" y="4298950"/>
            <a:ext cx="1508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8981" name="Group 69"/>
          <p:cNvGrpSpPr>
            <a:grpSpLocks/>
          </p:cNvGrpSpPr>
          <p:nvPr/>
        </p:nvGrpSpPr>
        <p:grpSpPr bwMode="auto">
          <a:xfrm>
            <a:off x="3219450" y="4251325"/>
            <a:ext cx="1649413" cy="107950"/>
            <a:chOff x="2304" y="1776"/>
            <a:chExt cx="963" cy="61"/>
          </a:xfrm>
        </p:grpSpPr>
        <p:sp>
          <p:nvSpPr>
            <p:cNvPr id="16449" name="Oval 70"/>
            <p:cNvSpPr>
              <a:spLocks noChangeArrowheads="1"/>
            </p:cNvSpPr>
            <p:nvPr/>
          </p:nvSpPr>
          <p:spPr bwMode="auto">
            <a:xfrm>
              <a:off x="3216" y="1776"/>
              <a:ext cx="51" cy="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6450" name="Oval 71"/>
            <p:cNvSpPr>
              <a:spLocks noChangeArrowheads="1"/>
            </p:cNvSpPr>
            <p:nvPr/>
          </p:nvSpPr>
          <p:spPr bwMode="auto">
            <a:xfrm>
              <a:off x="2843" y="1782"/>
              <a:ext cx="5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6451" name="Oval 72"/>
            <p:cNvSpPr>
              <a:spLocks noChangeArrowheads="1"/>
            </p:cNvSpPr>
            <p:nvPr/>
          </p:nvSpPr>
          <p:spPr bwMode="auto">
            <a:xfrm>
              <a:off x="2304" y="1787"/>
              <a:ext cx="50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38985" name="Text Box 73"/>
          <p:cNvSpPr txBox="1">
            <a:spLocks noChangeArrowheads="1"/>
          </p:cNvSpPr>
          <p:nvPr/>
        </p:nvSpPr>
        <p:spPr bwMode="auto">
          <a:xfrm>
            <a:off x="2762250" y="3898900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38986" name="Text Box 74"/>
          <p:cNvSpPr txBox="1">
            <a:spLocks noChangeArrowheads="1"/>
          </p:cNvSpPr>
          <p:nvPr/>
        </p:nvSpPr>
        <p:spPr bwMode="auto">
          <a:xfrm>
            <a:off x="4700588" y="3898900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  <a:endParaRPr lang="en-US" altLang="en-US" sz="1400" baseline="-25000">
              <a:latin typeface="Times New Roman" panose="02020603050405020304" pitchFamily="18" charset="0"/>
            </a:endParaRPr>
          </a:p>
        </p:txBody>
      </p:sp>
      <p:sp>
        <p:nvSpPr>
          <p:cNvPr id="38987" name="Text Box 75"/>
          <p:cNvSpPr txBox="1">
            <a:spLocks noChangeArrowheads="1"/>
          </p:cNvSpPr>
          <p:nvPr/>
        </p:nvSpPr>
        <p:spPr bwMode="auto">
          <a:xfrm>
            <a:off x="3840163" y="3898900"/>
            <a:ext cx="501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c’e’</a:t>
            </a:r>
          </a:p>
        </p:txBody>
      </p:sp>
      <p:grpSp>
        <p:nvGrpSpPr>
          <p:cNvPr id="38988" name="Group 76"/>
          <p:cNvGrpSpPr>
            <a:grpSpLocks/>
          </p:cNvGrpSpPr>
          <p:nvPr/>
        </p:nvGrpSpPr>
        <p:grpSpPr bwMode="auto">
          <a:xfrm>
            <a:off x="4660900" y="3157538"/>
            <a:ext cx="1724025" cy="1119187"/>
            <a:chOff x="3146" y="1152"/>
            <a:chExt cx="1007" cy="638"/>
          </a:xfrm>
        </p:grpSpPr>
        <p:sp>
          <p:nvSpPr>
            <p:cNvPr id="16445" name="Line 77"/>
            <p:cNvSpPr>
              <a:spLocks noChangeShapeType="1"/>
            </p:cNvSpPr>
            <p:nvPr/>
          </p:nvSpPr>
          <p:spPr bwMode="auto">
            <a:xfrm flipH="1">
              <a:off x="3146" y="1197"/>
              <a:ext cx="10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Line 78"/>
            <p:cNvSpPr>
              <a:spLocks noChangeShapeType="1"/>
            </p:cNvSpPr>
            <p:nvPr/>
          </p:nvSpPr>
          <p:spPr bwMode="auto">
            <a:xfrm>
              <a:off x="3398" y="1491"/>
              <a:ext cx="0" cy="2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Line 79"/>
            <p:cNvSpPr>
              <a:spLocks noChangeShapeType="1"/>
            </p:cNvSpPr>
            <p:nvPr/>
          </p:nvSpPr>
          <p:spPr bwMode="auto">
            <a:xfrm flipV="1">
              <a:off x="3408" y="1152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Text Box 80"/>
            <p:cNvSpPr txBox="1">
              <a:spLocks noChangeArrowheads="1"/>
            </p:cNvSpPr>
            <p:nvPr/>
          </p:nvSpPr>
          <p:spPr bwMode="auto">
            <a:xfrm>
              <a:off x="3243" y="1312"/>
              <a:ext cx="22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30</a:t>
              </a:r>
            </a:p>
          </p:txBody>
        </p:sp>
      </p:grpSp>
      <p:grpSp>
        <p:nvGrpSpPr>
          <p:cNvPr id="38993" name="Group 81"/>
          <p:cNvGrpSpPr>
            <a:grpSpLocks/>
          </p:cNvGrpSpPr>
          <p:nvPr/>
        </p:nvGrpSpPr>
        <p:grpSpPr bwMode="auto">
          <a:xfrm>
            <a:off x="2917825" y="4451350"/>
            <a:ext cx="2100263" cy="2060575"/>
            <a:chOff x="2154" y="1887"/>
            <a:chExt cx="1227" cy="1175"/>
          </a:xfrm>
        </p:grpSpPr>
        <p:sp>
          <p:nvSpPr>
            <p:cNvPr id="16440" name="Text Box 82"/>
            <p:cNvSpPr txBox="1">
              <a:spLocks noChangeArrowheads="1"/>
            </p:cNvSpPr>
            <p:nvPr/>
          </p:nvSpPr>
          <p:spPr bwMode="auto">
            <a:xfrm>
              <a:off x="2163" y="2078"/>
              <a:ext cx="154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441" name="Text Box 83"/>
            <p:cNvSpPr txBox="1">
              <a:spLocks noChangeArrowheads="1"/>
            </p:cNvSpPr>
            <p:nvPr/>
          </p:nvSpPr>
          <p:spPr bwMode="auto">
            <a:xfrm>
              <a:off x="2154" y="2645"/>
              <a:ext cx="160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442" name="Text Box 84"/>
            <p:cNvSpPr txBox="1">
              <a:spLocks noChangeArrowheads="1"/>
            </p:cNvSpPr>
            <p:nvPr/>
          </p:nvSpPr>
          <p:spPr bwMode="auto">
            <a:xfrm>
              <a:off x="2729" y="2889"/>
              <a:ext cx="1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443" name="Text Box 85"/>
            <p:cNvSpPr txBox="1">
              <a:spLocks noChangeArrowheads="1"/>
            </p:cNvSpPr>
            <p:nvPr/>
          </p:nvSpPr>
          <p:spPr bwMode="auto">
            <a:xfrm>
              <a:off x="3222" y="2352"/>
              <a:ext cx="1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44" name="Text Box 86"/>
            <p:cNvSpPr txBox="1">
              <a:spLocks noChangeArrowheads="1"/>
            </p:cNvSpPr>
            <p:nvPr/>
          </p:nvSpPr>
          <p:spPr bwMode="auto">
            <a:xfrm>
              <a:off x="2873" y="1887"/>
              <a:ext cx="145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200" b="1"/>
                <a:t>e</a:t>
              </a:r>
            </a:p>
          </p:txBody>
        </p:sp>
      </p:grpSp>
      <p:grpSp>
        <p:nvGrpSpPr>
          <p:cNvPr id="38999" name="Group 87"/>
          <p:cNvGrpSpPr>
            <a:grpSpLocks/>
          </p:cNvGrpSpPr>
          <p:nvPr/>
        </p:nvGrpSpPr>
        <p:grpSpPr bwMode="auto">
          <a:xfrm>
            <a:off x="7008813" y="4262438"/>
            <a:ext cx="357187" cy="357187"/>
            <a:chOff x="5089" y="616"/>
            <a:chExt cx="208" cy="204"/>
          </a:xfrm>
        </p:grpSpPr>
        <p:sp>
          <p:nvSpPr>
            <p:cNvPr id="16438" name="Text Box 88"/>
            <p:cNvSpPr txBox="1">
              <a:spLocks noChangeArrowheads="1"/>
            </p:cNvSpPr>
            <p:nvPr/>
          </p:nvSpPr>
          <p:spPr bwMode="auto">
            <a:xfrm>
              <a:off x="5089" y="616"/>
              <a:ext cx="208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>
                  <a:latin typeface="Times New Roman" panose="02020603050405020304" pitchFamily="18" charset="0"/>
                </a:rPr>
                <a:t>30</a:t>
              </a:r>
              <a:r>
                <a:rPr lang="en-US" altLang="en-US" sz="1000" baseline="30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439" name="Arc 89"/>
            <p:cNvSpPr>
              <a:spLocks/>
            </p:cNvSpPr>
            <p:nvPr/>
          </p:nvSpPr>
          <p:spPr bwMode="auto">
            <a:xfrm rot="815633" flipH="1">
              <a:off x="5136" y="624"/>
              <a:ext cx="134" cy="196"/>
            </a:xfrm>
            <a:custGeom>
              <a:avLst/>
              <a:gdLst>
                <a:gd name="T0" fmla="*/ 29 w 21600"/>
                <a:gd name="T1" fmla="*/ 196 h 27134"/>
                <a:gd name="T2" fmla="*/ 30 w 21600"/>
                <a:gd name="T3" fmla="*/ 0 h 27134"/>
                <a:gd name="T4" fmla="*/ 134 w 21600"/>
                <a:gd name="T5" fmla="*/ 99 h 27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7134" fill="none" extrusionOk="0">
                  <a:moveTo>
                    <a:pt x="4732" y="27133"/>
                  </a:moveTo>
                  <a:cubicBezTo>
                    <a:pt x="1668" y="23304"/>
                    <a:pt x="0" y="18546"/>
                    <a:pt x="0" y="13642"/>
                  </a:cubicBezTo>
                  <a:cubicBezTo>
                    <a:pt x="0" y="8671"/>
                    <a:pt x="1714" y="3853"/>
                    <a:pt x="4853" y="0"/>
                  </a:cubicBezTo>
                </a:path>
                <a:path w="21600" h="27134" stroke="0" extrusionOk="0">
                  <a:moveTo>
                    <a:pt x="4732" y="27133"/>
                  </a:moveTo>
                  <a:cubicBezTo>
                    <a:pt x="1668" y="23304"/>
                    <a:pt x="0" y="18546"/>
                    <a:pt x="0" y="13642"/>
                  </a:cubicBezTo>
                  <a:cubicBezTo>
                    <a:pt x="0" y="8671"/>
                    <a:pt x="1714" y="3853"/>
                    <a:pt x="4853" y="0"/>
                  </a:cubicBezTo>
                  <a:lnTo>
                    <a:pt x="21600" y="13642"/>
                  </a:lnTo>
                  <a:lnTo>
                    <a:pt x="4732" y="271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002" name="Text Box 90"/>
          <p:cNvSpPr txBox="1">
            <a:spLocks noChangeArrowheads="1"/>
          </p:cNvSpPr>
          <p:nvPr/>
        </p:nvSpPr>
        <p:spPr bwMode="auto">
          <a:xfrm>
            <a:off x="171450" y="1833563"/>
            <a:ext cx="40560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i="1">
                <a:solidFill>
                  <a:schemeClr val="accent2"/>
                </a:solidFill>
              </a:rPr>
              <a:t>SURFACE  INCLINATION  INDIRECTLY GIVEN</a:t>
            </a:r>
          </a:p>
          <a:p>
            <a:pPr algn="ctr" eaLnBrk="1" hangingPunct="1"/>
            <a:r>
              <a:rPr lang="en-US" altLang="en-US" sz="1400" b="1" i="1">
                <a:solidFill>
                  <a:schemeClr val="accent2"/>
                </a:solidFill>
              </a:rPr>
              <a:t>SIDE INCLINATION DIRECTLY GIVEN:</a:t>
            </a:r>
          </a:p>
        </p:txBody>
      </p:sp>
      <p:grpSp>
        <p:nvGrpSpPr>
          <p:cNvPr id="39003" name="Group 91"/>
          <p:cNvGrpSpPr>
            <a:grpSpLocks/>
          </p:cNvGrpSpPr>
          <p:nvPr/>
        </p:nvGrpSpPr>
        <p:grpSpPr bwMode="auto">
          <a:xfrm>
            <a:off x="23813" y="2438400"/>
            <a:ext cx="4929187" cy="1155700"/>
            <a:chOff x="15" y="1536"/>
            <a:chExt cx="3105" cy="728"/>
          </a:xfrm>
        </p:grpSpPr>
        <p:sp>
          <p:nvSpPr>
            <p:cNvPr id="16436" name="Text Box 92"/>
            <p:cNvSpPr txBox="1">
              <a:spLocks noChangeArrowheads="1"/>
            </p:cNvSpPr>
            <p:nvPr/>
          </p:nvSpPr>
          <p:spPr bwMode="auto">
            <a:xfrm>
              <a:off x="15" y="1536"/>
              <a:ext cx="3105" cy="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rgbClr val="FF3300"/>
                  </a:solidFill>
                </a:rPr>
                <a:t>ONLY CHANGE is </a:t>
              </a:r>
            </a:p>
            <a:p>
              <a:pPr algn="ctr" eaLnBrk="1" hangingPunct="1"/>
              <a:r>
                <a:rPr lang="en-US" altLang="en-US" sz="1400">
                  <a:solidFill>
                    <a:srgbClr val="FF3300"/>
                  </a:solidFill>
                </a:rPr>
                <a:t>the manner in which surface inclination is described:</a:t>
              </a:r>
            </a:p>
            <a:p>
              <a:pPr algn="ctr" eaLnBrk="1" hangingPunct="1"/>
              <a:r>
                <a:rPr lang="en-US" altLang="en-US" sz="1400">
                  <a:solidFill>
                    <a:srgbClr val="FF3300"/>
                  </a:solidFill>
                </a:rPr>
                <a:t>One side on Hp &amp; it’s opposite corner 30 mm above Hp.</a:t>
              </a:r>
            </a:p>
            <a:p>
              <a:pPr algn="ctr" eaLnBrk="1" hangingPunct="1"/>
              <a:r>
                <a:rPr lang="en-US" altLang="en-US" sz="1400">
                  <a:solidFill>
                    <a:srgbClr val="FF3300"/>
                  </a:solidFill>
                </a:rPr>
                <a:t>Hence redraw 1</a:t>
              </a:r>
              <a:r>
                <a:rPr lang="en-US" altLang="en-US" sz="1400" baseline="30000">
                  <a:solidFill>
                    <a:srgbClr val="FF3300"/>
                  </a:solidFill>
                </a:rPr>
                <a:t>st</a:t>
              </a:r>
              <a:r>
                <a:rPr lang="en-US" altLang="en-US" sz="1400">
                  <a:solidFill>
                    <a:srgbClr val="FF3300"/>
                  </a:solidFill>
                </a:rPr>
                <a:t> Fv as a 2</a:t>
              </a:r>
              <a:r>
                <a:rPr lang="en-US" altLang="en-US" sz="1400" baseline="30000">
                  <a:solidFill>
                    <a:srgbClr val="FF3300"/>
                  </a:solidFill>
                </a:rPr>
                <a:t>nd</a:t>
              </a:r>
              <a:r>
                <a:rPr lang="en-US" altLang="en-US" sz="1400">
                  <a:solidFill>
                    <a:srgbClr val="FF3300"/>
                  </a:solidFill>
                </a:rPr>
                <a:t> Fv making above arrangement.</a:t>
              </a:r>
            </a:p>
            <a:p>
              <a:pPr algn="ctr" eaLnBrk="1" hangingPunct="1"/>
              <a:r>
                <a:rPr lang="en-US" altLang="en-US" sz="1400">
                  <a:solidFill>
                    <a:srgbClr val="FF3300"/>
                  </a:solidFill>
                </a:rPr>
                <a:t>Keep a’b’ on xy &amp; d’ 30 mm above xy. </a:t>
              </a:r>
            </a:p>
          </p:txBody>
        </p:sp>
        <p:sp>
          <p:nvSpPr>
            <p:cNvPr id="16437" name="Line 93"/>
            <p:cNvSpPr>
              <a:spLocks noChangeShapeType="1"/>
            </p:cNvSpPr>
            <p:nvPr/>
          </p:nvSpPr>
          <p:spPr bwMode="auto">
            <a:xfrm>
              <a:off x="254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3143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8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8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8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8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9" dur="500"/>
                                        <p:tgtEl>
                                          <p:spTgt spid="3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8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0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1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8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8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38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38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38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38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38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38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 autoUpdateAnimBg="0"/>
      <p:bldP spid="38915" grpId="0" autoUpdateAnimBg="0"/>
      <p:bldP spid="38916" grpId="0" animBg="1"/>
      <p:bldP spid="38917" grpId="0" animBg="1"/>
      <p:bldP spid="38918" grpId="0" animBg="1"/>
      <p:bldP spid="38919" grpId="0" animBg="1"/>
      <p:bldP spid="38920" grpId="0" animBg="1"/>
      <p:bldP spid="38921" grpId="0" animBg="1"/>
      <p:bldP spid="38922" grpId="0" animBg="1"/>
      <p:bldP spid="38923" grpId="0" animBg="1"/>
      <p:bldP spid="38924" grpId="0" animBg="1"/>
      <p:bldP spid="38925" grpId="0" animBg="1"/>
      <p:bldP spid="38926" grpId="0" animBg="1"/>
      <p:bldP spid="38927" grpId="0" animBg="1"/>
      <p:bldP spid="38928" grpId="0" animBg="1"/>
      <p:bldP spid="38929" grpId="0" animBg="1"/>
      <p:bldP spid="38930" grpId="0" animBg="1"/>
      <p:bldP spid="38931" grpId="0" animBg="1"/>
      <p:bldP spid="38932" grpId="0" animBg="1"/>
      <p:bldP spid="38933" grpId="0" animBg="1"/>
      <p:bldP spid="38934" grpId="0" animBg="1"/>
      <p:bldP spid="38935" grpId="0" animBg="1"/>
      <p:bldP spid="38936" grpId="0" animBg="1"/>
      <p:bldP spid="38937" grpId="0" animBg="1"/>
      <p:bldP spid="38938" grpId="0" animBg="1"/>
      <p:bldP spid="38939" grpId="0" animBg="1"/>
      <p:bldP spid="38940" grpId="0" animBg="1"/>
      <p:bldP spid="38941" grpId="0" animBg="1"/>
      <p:bldP spid="38942" grpId="0" animBg="1"/>
      <p:bldP spid="38943" grpId="0" animBg="1"/>
      <p:bldP spid="38944" grpId="0" animBg="1"/>
      <p:bldP spid="38945" grpId="0" animBg="1"/>
      <p:bldP spid="38976" grpId="0" animBg="1"/>
      <p:bldP spid="38977" grpId="0" autoUpdateAnimBg="0"/>
      <p:bldP spid="38978" grpId="0" autoUpdateAnimBg="0"/>
      <p:bldP spid="38979" grpId="0" autoUpdateAnimBg="0"/>
      <p:bldP spid="38980" grpId="0" animBg="1"/>
      <p:bldP spid="38985" grpId="0" autoUpdateAnimBg="0"/>
      <p:bldP spid="38986" grpId="0" autoUpdateAnimBg="0"/>
      <p:bldP spid="38987" grpId="0" autoUpdateAnimBg="0"/>
      <p:bldP spid="3900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Oval 2"/>
          <p:cNvSpPr>
            <a:spLocks noChangeArrowheads="1"/>
          </p:cNvSpPr>
          <p:nvPr/>
        </p:nvSpPr>
        <p:spPr bwMode="auto">
          <a:xfrm rot="-1649734">
            <a:off x="7105650" y="336550"/>
            <a:ext cx="982663" cy="355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11" name="Oval 3"/>
          <p:cNvSpPr>
            <a:spLocks noChangeArrowheads="1"/>
          </p:cNvSpPr>
          <p:nvPr/>
        </p:nvSpPr>
        <p:spPr bwMode="auto">
          <a:xfrm>
            <a:off x="4589463" y="1066800"/>
            <a:ext cx="9906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4589463" y="1562100"/>
            <a:ext cx="9906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5094288" y="1076325"/>
            <a:ext cx="0" cy="990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4284663" y="771525"/>
            <a:ext cx="388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 flipV="1">
            <a:off x="4589463" y="466725"/>
            <a:ext cx="0" cy="914400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 flipV="1">
            <a:off x="5580063" y="466725"/>
            <a:ext cx="0" cy="914400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 flipV="1">
            <a:off x="5094288" y="466725"/>
            <a:ext cx="0" cy="457200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4589463" y="619125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 rot="-1800000">
            <a:off x="5780088" y="531813"/>
            <a:ext cx="9906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Line 12"/>
          <p:cNvSpPr>
            <a:spLocks noChangeShapeType="1"/>
          </p:cNvSpPr>
          <p:nvPr/>
        </p:nvSpPr>
        <p:spPr bwMode="auto">
          <a:xfrm>
            <a:off x="6713538" y="238125"/>
            <a:ext cx="0" cy="16764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1" name="Line 13"/>
          <p:cNvSpPr>
            <a:spLocks noChangeShapeType="1"/>
          </p:cNvSpPr>
          <p:nvPr/>
        </p:nvSpPr>
        <p:spPr bwMode="auto">
          <a:xfrm>
            <a:off x="6313488" y="466725"/>
            <a:ext cx="0" cy="1447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2" name="Line 14"/>
          <p:cNvSpPr>
            <a:spLocks noChangeShapeType="1"/>
          </p:cNvSpPr>
          <p:nvPr/>
        </p:nvSpPr>
        <p:spPr bwMode="auto">
          <a:xfrm>
            <a:off x="5865813" y="695325"/>
            <a:ext cx="0" cy="1219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3" name="Line 15"/>
          <p:cNvSpPr>
            <a:spLocks noChangeShapeType="1"/>
          </p:cNvSpPr>
          <p:nvPr/>
        </p:nvSpPr>
        <p:spPr bwMode="auto">
          <a:xfrm>
            <a:off x="5046663" y="1066800"/>
            <a:ext cx="17526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580063" y="1562100"/>
            <a:ext cx="12192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>
            <a:off x="5122863" y="2057400"/>
            <a:ext cx="16764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6" name="Oval 18"/>
          <p:cNvSpPr>
            <a:spLocks noChangeArrowheads="1"/>
          </p:cNvSpPr>
          <p:nvPr/>
        </p:nvSpPr>
        <p:spPr bwMode="auto">
          <a:xfrm>
            <a:off x="5884863" y="1066800"/>
            <a:ext cx="8382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27" name="Line 19"/>
          <p:cNvSpPr>
            <a:spLocks noChangeShapeType="1"/>
          </p:cNvSpPr>
          <p:nvPr/>
        </p:nvSpPr>
        <p:spPr bwMode="auto">
          <a:xfrm>
            <a:off x="6313488" y="10668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8" name="Oval 20"/>
          <p:cNvSpPr>
            <a:spLocks noChangeArrowheads="1"/>
          </p:cNvSpPr>
          <p:nvPr/>
        </p:nvSpPr>
        <p:spPr bwMode="auto">
          <a:xfrm rot="-3087925">
            <a:off x="7161213" y="1000125"/>
            <a:ext cx="838200" cy="9906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 rot="18512075" flipV="1">
            <a:off x="7339807" y="535781"/>
            <a:ext cx="0" cy="153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 flipH="1">
            <a:off x="7335838" y="1162050"/>
            <a:ext cx="485775" cy="666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1" name="Line 23"/>
          <p:cNvSpPr>
            <a:spLocks noChangeShapeType="1"/>
          </p:cNvSpPr>
          <p:nvPr/>
        </p:nvSpPr>
        <p:spPr bwMode="auto">
          <a:xfrm flipV="1">
            <a:off x="7192963" y="247650"/>
            <a:ext cx="0" cy="7620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 flipV="1">
            <a:off x="7278688" y="238125"/>
            <a:ext cx="0" cy="1447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6723063" y="276225"/>
            <a:ext cx="11430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4" name="Line 26"/>
          <p:cNvSpPr>
            <a:spLocks noChangeShapeType="1"/>
          </p:cNvSpPr>
          <p:nvPr/>
        </p:nvSpPr>
        <p:spPr bwMode="auto">
          <a:xfrm>
            <a:off x="6342063" y="523875"/>
            <a:ext cx="16002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5" name="Oval 27"/>
          <p:cNvSpPr>
            <a:spLocks noChangeArrowheads="1"/>
          </p:cNvSpPr>
          <p:nvPr/>
        </p:nvSpPr>
        <p:spPr bwMode="auto">
          <a:xfrm>
            <a:off x="7237413" y="4667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36" name="Oval 28"/>
          <p:cNvSpPr>
            <a:spLocks noChangeArrowheads="1"/>
          </p:cNvSpPr>
          <p:nvPr/>
        </p:nvSpPr>
        <p:spPr bwMode="auto">
          <a:xfrm>
            <a:off x="7126288" y="704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37" name="Oval 29"/>
          <p:cNvSpPr>
            <a:spLocks noChangeArrowheads="1"/>
          </p:cNvSpPr>
          <p:nvPr/>
        </p:nvSpPr>
        <p:spPr bwMode="auto">
          <a:xfrm>
            <a:off x="7840663" y="4857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38" name="Oval 30"/>
          <p:cNvSpPr>
            <a:spLocks noChangeArrowheads="1"/>
          </p:cNvSpPr>
          <p:nvPr/>
        </p:nvSpPr>
        <p:spPr bwMode="auto">
          <a:xfrm>
            <a:off x="7970838" y="2476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39" name="Line 31"/>
          <p:cNvSpPr>
            <a:spLocks noChangeShapeType="1"/>
          </p:cNvSpPr>
          <p:nvPr/>
        </p:nvSpPr>
        <p:spPr bwMode="auto">
          <a:xfrm flipV="1">
            <a:off x="7078663" y="238125"/>
            <a:ext cx="0" cy="11430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0" name="Oval 32"/>
          <p:cNvSpPr>
            <a:spLocks noChangeArrowheads="1"/>
          </p:cNvSpPr>
          <p:nvPr/>
        </p:nvSpPr>
        <p:spPr bwMode="auto">
          <a:xfrm rot="-1314402">
            <a:off x="6716713" y="4656138"/>
            <a:ext cx="1004887" cy="3063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41" name="Line 33"/>
          <p:cNvSpPr>
            <a:spLocks noChangeShapeType="1"/>
          </p:cNvSpPr>
          <p:nvPr/>
        </p:nvSpPr>
        <p:spPr bwMode="auto">
          <a:xfrm>
            <a:off x="4191000" y="5072063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2" name="Oval 34"/>
          <p:cNvSpPr>
            <a:spLocks noChangeArrowheads="1"/>
          </p:cNvSpPr>
          <p:nvPr/>
        </p:nvSpPr>
        <p:spPr bwMode="auto">
          <a:xfrm rot="-3087925">
            <a:off x="6781800" y="5233988"/>
            <a:ext cx="838200" cy="990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43" name="Line 35"/>
          <p:cNvSpPr>
            <a:spLocks noChangeShapeType="1"/>
          </p:cNvSpPr>
          <p:nvPr/>
        </p:nvSpPr>
        <p:spPr bwMode="auto">
          <a:xfrm rot="-3087925">
            <a:off x="7280275" y="4973638"/>
            <a:ext cx="433388" cy="146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4" name="Line 36"/>
          <p:cNvSpPr>
            <a:spLocks noChangeShapeType="1"/>
          </p:cNvSpPr>
          <p:nvPr/>
        </p:nvSpPr>
        <p:spPr bwMode="auto">
          <a:xfrm flipH="1">
            <a:off x="6934200" y="5405438"/>
            <a:ext cx="485775" cy="666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V="1">
            <a:off x="6819900" y="4633913"/>
            <a:ext cx="0" cy="7620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V="1">
            <a:off x="6953250" y="4624388"/>
            <a:ext cx="0" cy="1447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V="1">
            <a:off x="7439025" y="4624388"/>
            <a:ext cx="0" cy="7620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 flipV="1">
            <a:off x="7581900" y="4624388"/>
            <a:ext cx="0" cy="13716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>
            <a:off x="6477000" y="4576763"/>
            <a:ext cx="11430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>
            <a:off x="6096000" y="4824413"/>
            <a:ext cx="16002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1" name="Oval 43"/>
          <p:cNvSpPr>
            <a:spLocks noChangeArrowheads="1"/>
          </p:cNvSpPr>
          <p:nvPr/>
        </p:nvSpPr>
        <p:spPr bwMode="auto">
          <a:xfrm>
            <a:off x="6772275" y="50244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52" name="Oval 44"/>
          <p:cNvSpPr>
            <a:spLocks noChangeArrowheads="1"/>
          </p:cNvSpPr>
          <p:nvPr/>
        </p:nvSpPr>
        <p:spPr bwMode="auto">
          <a:xfrm>
            <a:off x="6924675" y="4776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53" name="Oval 45"/>
          <p:cNvSpPr>
            <a:spLocks noChangeArrowheads="1"/>
          </p:cNvSpPr>
          <p:nvPr/>
        </p:nvSpPr>
        <p:spPr bwMode="auto">
          <a:xfrm>
            <a:off x="7410450" y="47863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54" name="Oval 46"/>
          <p:cNvSpPr>
            <a:spLocks noChangeArrowheads="1"/>
          </p:cNvSpPr>
          <p:nvPr/>
        </p:nvSpPr>
        <p:spPr bwMode="auto">
          <a:xfrm>
            <a:off x="7543800" y="45339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055" name="Line 47"/>
          <p:cNvSpPr>
            <a:spLocks noChangeShapeType="1"/>
          </p:cNvSpPr>
          <p:nvPr/>
        </p:nvSpPr>
        <p:spPr bwMode="auto">
          <a:xfrm flipV="1">
            <a:off x="6705600" y="4624388"/>
            <a:ext cx="0" cy="11430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6" name="Line 48"/>
          <p:cNvSpPr>
            <a:spLocks noChangeShapeType="1"/>
          </p:cNvSpPr>
          <p:nvPr/>
        </p:nvSpPr>
        <p:spPr bwMode="auto">
          <a:xfrm flipV="1">
            <a:off x="7696200" y="4700588"/>
            <a:ext cx="0" cy="1066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7" name="Line 49"/>
          <p:cNvSpPr>
            <a:spLocks noChangeShapeType="1"/>
          </p:cNvSpPr>
          <p:nvPr/>
        </p:nvSpPr>
        <p:spPr bwMode="auto">
          <a:xfrm>
            <a:off x="6819900" y="5443538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8" name="Line 50"/>
          <p:cNvSpPr>
            <a:spLocks noChangeShapeType="1"/>
          </p:cNvSpPr>
          <p:nvPr/>
        </p:nvSpPr>
        <p:spPr bwMode="auto">
          <a:xfrm>
            <a:off x="7239000" y="599598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9" name="Text Box 51"/>
          <p:cNvSpPr txBox="1">
            <a:spLocks noChangeArrowheads="1"/>
          </p:cNvSpPr>
          <p:nvPr/>
        </p:nvSpPr>
        <p:spPr bwMode="auto">
          <a:xfrm rot="1542787">
            <a:off x="7677150" y="5634038"/>
            <a:ext cx="449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/>
              <a:t>T L</a:t>
            </a:r>
          </a:p>
        </p:txBody>
      </p:sp>
      <p:sp>
        <p:nvSpPr>
          <p:cNvPr id="43060" name="Line 52"/>
          <p:cNvSpPr>
            <a:spLocks noChangeShapeType="1"/>
          </p:cNvSpPr>
          <p:nvPr/>
        </p:nvSpPr>
        <p:spPr bwMode="auto">
          <a:xfrm>
            <a:off x="5884863" y="15589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3061" name="Group 53"/>
          <p:cNvGrpSpPr>
            <a:grpSpLocks/>
          </p:cNvGrpSpPr>
          <p:nvPr/>
        </p:nvGrpSpPr>
        <p:grpSpPr bwMode="auto">
          <a:xfrm>
            <a:off x="4360863" y="828675"/>
            <a:ext cx="1416050" cy="1447800"/>
            <a:chOff x="2496" y="1008"/>
            <a:chExt cx="892" cy="912"/>
          </a:xfrm>
        </p:grpSpPr>
        <p:sp>
          <p:nvSpPr>
            <p:cNvPr id="20626" name="Text Box 54"/>
            <p:cNvSpPr txBox="1">
              <a:spLocks noChangeArrowheads="1"/>
            </p:cNvSpPr>
            <p:nvPr/>
          </p:nvSpPr>
          <p:spPr bwMode="auto">
            <a:xfrm>
              <a:off x="2496" y="1344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</a:p>
          </p:txBody>
        </p:sp>
        <p:sp>
          <p:nvSpPr>
            <p:cNvPr id="20627" name="Rectangle 55"/>
            <p:cNvSpPr>
              <a:spLocks noChangeArrowheads="1"/>
            </p:cNvSpPr>
            <p:nvPr/>
          </p:nvSpPr>
          <p:spPr bwMode="auto">
            <a:xfrm>
              <a:off x="2832" y="1008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</a:p>
          </p:txBody>
        </p:sp>
        <p:sp>
          <p:nvSpPr>
            <p:cNvPr id="20628" name="Rectangle 56"/>
            <p:cNvSpPr>
              <a:spLocks noChangeArrowheads="1"/>
            </p:cNvSpPr>
            <p:nvPr/>
          </p:nvSpPr>
          <p:spPr bwMode="auto">
            <a:xfrm>
              <a:off x="3216" y="134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</a:p>
          </p:txBody>
        </p:sp>
        <p:sp>
          <p:nvSpPr>
            <p:cNvPr id="20629" name="Rectangle 57"/>
            <p:cNvSpPr>
              <a:spLocks noChangeArrowheads="1"/>
            </p:cNvSpPr>
            <p:nvPr/>
          </p:nvSpPr>
          <p:spPr bwMode="auto">
            <a:xfrm>
              <a:off x="2880" y="1728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</a:p>
          </p:txBody>
        </p:sp>
      </p:grpSp>
      <p:grpSp>
        <p:nvGrpSpPr>
          <p:cNvPr id="43066" name="Group 58"/>
          <p:cNvGrpSpPr>
            <a:grpSpLocks/>
          </p:cNvGrpSpPr>
          <p:nvPr/>
        </p:nvGrpSpPr>
        <p:grpSpPr bwMode="auto">
          <a:xfrm>
            <a:off x="4360863" y="314325"/>
            <a:ext cx="1379537" cy="323850"/>
            <a:chOff x="2496" y="768"/>
            <a:chExt cx="869" cy="204"/>
          </a:xfrm>
        </p:grpSpPr>
        <p:sp>
          <p:nvSpPr>
            <p:cNvPr id="20622" name="Text Box 59"/>
            <p:cNvSpPr txBox="1">
              <a:spLocks noChangeArrowheads="1"/>
            </p:cNvSpPr>
            <p:nvPr/>
          </p:nvSpPr>
          <p:spPr bwMode="auto">
            <a:xfrm>
              <a:off x="2496" y="768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a’</a:t>
              </a:r>
            </a:p>
          </p:txBody>
        </p:sp>
        <p:sp>
          <p:nvSpPr>
            <p:cNvPr id="20623" name="Text Box 60"/>
            <p:cNvSpPr txBox="1">
              <a:spLocks noChangeArrowheads="1"/>
            </p:cNvSpPr>
            <p:nvPr/>
          </p:nvSpPr>
          <p:spPr bwMode="auto">
            <a:xfrm>
              <a:off x="2808" y="780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b’</a:t>
              </a:r>
            </a:p>
          </p:txBody>
        </p:sp>
        <p:sp>
          <p:nvSpPr>
            <p:cNvPr id="20624" name="Text Box 61"/>
            <p:cNvSpPr txBox="1">
              <a:spLocks noChangeArrowheads="1"/>
            </p:cNvSpPr>
            <p:nvPr/>
          </p:nvSpPr>
          <p:spPr bwMode="auto">
            <a:xfrm>
              <a:off x="2928" y="774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d’</a:t>
              </a:r>
            </a:p>
          </p:txBody>
        </p:sp>
        <p:sp>
          <p:nvSpPr>
            <p:cNvPr id="20625" name="Text Box 62"/>
            <p:cNvSpPr txBox="1">
              <a:spLocks noChangeArrowheads="1"/>
            </p:cNvSpPr>
            <p:nvPr/>
          </p:nvSpPr>
          <p:spPr bwMode="auto">
            <a:xfrm>
              <a:off x="3168" y="768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c’</a:t>
              </a:r>
            </a:p>
          </p:txBody>
        </p:sp>
      </p:grpSp>
      <p:grpSp>
        <p:nvGrpSpPr>
          <p:cNvPr id="43071" name="Group 63"/>
          <p:cNvGrpSpPr>
            <a:grpSpLocks/>
          </p:cNvGrpSpPr>
          <p:nvPr/>
        </p:nvGrpSpPr>
        <p:grpSpPr bwMode="auto">
          <a:xfrm>
            <a:off x="3963988" y="554038"/>
            <a:ext cx="4418012" cy="381000"/>
            <a:chOff x="2246" y="919"/>
            <a:chExt cx="2783" cy="240"/>
          </a:xfrm>
        </p:grpSpPr>
        <p:sp>
          <p:nvSpPr>
            <p:cNvPr id="20620" name="Text Box 64"/>
            <p:cNvSpPr txBox="1">
              <a:spLocks noChangeArrowheads="1"/>
            </p:cNvSpPr>
            <p:nvPr/>
          </p:nvSpPr>
          <p:spPr bwMode="auto">
            <a:xfrm>
              <a:off x="2246" y="967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X</a:t>
              </a:r>
            </a:p>
          </p:txBody>
        </p:sp>
        <p:sp>
          <p:nvSpPr>
            <p:cNvPr id="20621" name="Text Box 65"/>
            <p:cNvSpPr txBox="1">
              <a:spLocks noChangeArrowheads="1"/>
            </p:cNvSpPr>
            <p:nvPr/>
          </p:nvSpPr>
          <p:spPr bwMode="auto">
            <a:xfrm>
              <a:off x="4838" y="919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Y</a:t>
              </a:r>
            </a:p>
          </p:txBody>
        </p:sp>
      </p:grpSp>
      <p:grpSp>
        <p:nvGrpSpPr>
          <p:cNvPr id="43074" name="Group 66"/>
          <p:cNvGrpSpPr>
            <a:grpSpLocks/>
          </p:cNvGrpSpPr>
          <p:nvPr/>
        </p:nvGrpSpPr>
        <p:grpSpPr bwMode="auto">
          <a:xfrm rot="-1734769">
            <a:off x="5561013" y="257175"/>
            <a:ext cx="1379537" cy="323850"/>
            <a:chOff x="2496" y="768"/>
            <a:chExt cx="869" cy="204"/>
          </a:xfrm>
        </p:grpSpPr>
        <p:sp>
          <p:nvSpPr>
            <p:cNvPr id="20616" name="Text Box 67"/>
            <p:cNvSpPr txBox="1">
              <a:spLocks noChangeArrowheads="1"/>
            </p:cNvSpPr>
            <p:nvPr/>
          </p:nvSpPr>
          <p:spPr bwMode="auto">
            <a:xfrm>
              <a:off x="2496" y="768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a’</a:t>
              </a:r>
            </a:p>
          </p:txBody>
        </p:sp>
        <p:sp>
          <p:nvSpPr>
            <p:cNvPr id="20617" name="Text Box 68"/>
            <p:cNvSpPr txBox="1">
              <a:spLocks noChangeArrowheads="1"/>
            </p:cNvSpPr>
            <p:nvPr/>
          </p:nvSpPr>
          <p:spPr bwMode="auto">
            <a:xfrm>
              <a:off x="2808" y="780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b’</a:t>
              </a:r>
            </a:p>
          </p:txBody>
        </p:sp>
        <p:sp>
          <p:nvSpPr>
            <p:cNvPr id="20618" name="Text Box 69"/>
            <p:cNvSpPr txBox="1">
              <a:spLocks noChangeArrowheads="1"/>
            </p:cNvSpPr>
            <p:nvPr/>
          </p:nvSpPr>
          <p:spPr bwMode="auto">
            <a:xfrm>
              <a:off x="2928" y="774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d’</a:t>
              </a:r>
            </a:p>
          </p:txBody>
        </p:sp>
        <p:sp>
          <p:nvSpPr>
            <p:cNvPr id="20619" name="Text Box 70"/>
            <p:cNvSpPr txBox="1">
              <a:spLocks noChangeArrowheads="1"/>
            </p:cNvSpPr>
            <p:nvPr/>
          </p:nvSpPr>
          <p:spPr bwMode="auto">
            <a:xfrm>
              <a:off x="3168" y="768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c’</a:t>
              </a:r>
            </a:p>
          </p:txBody>
        </p:sp>
      </p:grpSp>
      <p:grpSp>
        <p:nvGrpSpPr>
          <p:cNvPr id="43079" name="Group 71"/>
          <p:cNvGrpSpPr>
            <a:grpSpLocks/>
          </p:cNvGrpSpPr>
          <p:nvPr/>
        </p:nvGrpSpPr>
        <p:grpSpPr bwMode="auto">
          <a:xfrm>
            <a:off x="5608638" y="819150"/>
            <a:ext cx="1400175" cy="1466850"/>
            <a:chOff x="3288" y="996"/>
            <a:chExt cx="882" cy="924"/>
          </a:xfrm>
        </p:grpSpPr>
        <p:sp>
          <p:nvSpPr>
            <p:cNvPr id="20612" name="Rectangle 72"/>
            <p:cNvSpPr>
              <a:spLocks noChangeArrowheads="1"/>
            </p:cNvSpPr>
            <p:nvPr/>
          </p:nvSpPr>
          <p:spPr bwMode="auto">
            <a:xfrm>
              <a:off x="3288" y="1380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13" name="Rectangle 73"/>
            <p:cNvSpPr>
              <a:spLocks noChangeArrowheads="1"/>
            </p:cNvSpPr>
            <p:nvPr/>
          </p:nvSpPr>
          <p:spPr bwMode="auto">
            <a:xfrm>
              <a:off x="3648" y="1728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14" name="Rectangle 74"/>
            <p:cNvSpPr>
              <a:spLocks noChangeArrowheads="1"/>
            </p:cNvSpPr>
            <p:nvPr/>
          </p:nvSpPr>
          <p:spPr bwMode="auto">
            <a:xfrm>
              <a:off x="3648" y="996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15" name="Rectangle 75"/>
            <p:cNvSpPr>
              <a:spLocks noChangeArrowheads="1"/>
            </p:cNvSpPr>
            <p:nvPr/>
          </p:nvSpPr>
          <p:spPr bwMode="auto">
            <a:xfrm>
              <a:off x="3958" y="1344"/>
              <a:ext cx="2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  <a:r>
                <a:rPr lang="en-US" altLang="en-US" sz="1400" baseline="-25000"/>
                <a:t>1</a:t>
              </a:r>
            </a:p>
          </p:txBody>
        </p:sp>
      </p:grpSp>
      <p:grpSp>
        <p:nvGrpSpPr>
          <p:cNvPr id="43084" name="Group 76"/>
          <p:cNvGrpSpPr>
            <a:grpSpLocks/>
          </p:cNvGrpSpPr>
          <p:nvPr/>
        </p:nvGrpSpPr>
        <p:grpSpPr bwMode="auto">
          <a:xfrm>
            <a:off x="7053263" y="876300"/>
            <a:ext cx="1200150" cy="1190625"/>
            <a:chOff x="4176" y="1122"/>
            <a:chExt cx="756" cy="750"/>
          </a:xfrm>
        </p:grpSpPr>
        <p:sp>
          <p:nvSpPr>
            <p:cNvPr id="20608" name="Rectangle 77"/>
            <p:cNvSpPr>
              <a:spLocks noChangeArrowheads="1"/>
            </p:cNvSpPr>
            <p:nvPr/>
          </p:nvSpPr>
          <p:spPr bwMode="auto">
            <a:xfrm rot="2271551">
              <a:off x="4176" y="1122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09" name="Rectangle 78"/>
            <p:cNvSpPr>
              <a:spLocks noChangeArrowheads="1"/>
            </p:cNvSpPr>
            <p:nvPr/>
          </p:nvSpPr>
          <p:spPr bwMode="auto">
            <a:xfrm rot="2271551">
              <a:off x="4205" y="1680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10" name="Rectangle 79"/>
            <p:cNvSpPr>
              <a:spLocks noChangeArrowheads="1"/>
            </p:cNvSpPr>
            <p:nvPr/>
          </p:nvSpPr>
          <p:spPr bwMode="auto">
            <a:xfrm rot="2271551">
              <a:off x="4630" y="1132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11" name="Rectangle 80"/>
            <p:cNvSpPr>
              <a:spLocks noChangeArrowheads="1"/>
            </p:cNvSpPr>
            <p:nvPr/>
          </p:nvSpPr>
          <p:spPr bwMode="auto">
            <a:xfrm rot="2271551">
              <a:off x="4720" y="1655"/>
              <a:ext cx="2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  <a:r>
                <a:rPr lang="en-US" altLang="en-US" sz="1400" baseline="-25000"/>
                <a:t>1</a:t>
              </a:r>
            </a:p>
          </p:txBody>
        </p:sp>
      </p:grpSp>
      <p:sp>
        <p:nvSpPr>
          <p:cNvPr id="43089" name="Text Box 81"/>
          <p:cNvSpPr txBox="1">
            <a:spLocks noChangeArrowheads="1"/>
          </p:cNvSpPr>
          <p:nvPr/>
        </p:nvSpPr>
        <p:spPr bwMode="auto">
          <a:xfrm>
            <a:off x="6764338" y="736600"/>
            <a:ext cx="40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45</a:t>
            </a:r>
            <a:r>
              <a:rPr lang="en-US" altLang="en-US" sz="1200" baseline="30000"/>
              <a:t>0</a:t>
            </a:r>
          </a:p>
        </p:txBody>
      </p:sp>
      <p:sp>
        <p:nvSpPr>
          <p:cNvPr id="43090" name="Text Box 82"/>
          <p:cNvSpPr txBox="1">
            <a:spLocks noChangeArrowheads="1"/>
          </p:cNvSpPr>
          <p:nvPr/>
        </p:nvSpPr>
        <p:spPr bwMode="auto">
          <a:xfrm>
            <a:off x="6008688" y="571500"/>
            <a:ext cx="457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/>
              <a:t>30</a:t>
            </a:r>
            <a:r>
              <a:rPr lang="en-US" altLang="en-US" sz="1200" baseline="30000"/>
              <a:t>0</a:t>
            </a:r>
          </a:p>
        </p:txBody>
      </p:sp>
      <p:grpSp>
        <p:nvGrpSpPr>
          <p:cNvPr id="43091" name="Group 83"/>
          <p:cNvGrpSpPr>
            <a:grpSpLocks/>
          </p:cNvGrpSpPr>
          <p:nvPr/>
        </p:nvGrpSpPr>
        <p:grpSpPr bwMode="auto">
          <a:xfrm>
            <a:off x="6875463" y="9525"/>
            <a:ext cx="1366837" cy="828675"/>
            <a:chOff x="4080" y="582"/>
            <a:chExt cx="861" cy="522"/>
          </a:xfrm>
        </p:grpSpPr>
        <p:sp>
          <p:nvSpPr>
            <p:cNvPr id="20604" name="Text Box 84"/>
            <p:cNvSpPr txBox="1">
              <a:spLocks noChangeArrowheads="1"/>
            </p:cNvSpPr>
            <p:nvPr/>
          </p:nvSpPr>
          <p:spPr bwMode="auto">
            <a:xfrm>
              <a:off x="4080" y="912"/>
              <a:ext cx="24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a’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05" name="Text Box 85"/>
            <p:cNvSpPr txBox="1">
              <a:spLocks noChangeArrowheads="1"/>
            </p:cNvSpPr>
            <p:nvPr/>
          </p:nvSpPr>
          <p:spPr bwMode="auto">
            <a:xfrm>
              <a:off x="4146" y="684"/>
              <a:ext cx="24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b’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06" name="Text Box 86"/>
            <p:cNvSpPr txBox="1">
              <a:spLocks noChangeArrowheads="1"/>
            </p:cNvSpPr>
            <p:nvPr/>
          </p:nvSpPr>
          <p:spPr bwMode="auto">
            <a:xfrm>
              <a:off x="4704" y="582"/>
              <a:ext cx="2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c’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607" name="Text Box 87"/>
            <p:cNvSpPr txBox="1">
              <a:spLocks noChangeArrowheads="1"/>
            </p:cNvSpPr>
            <p:nvPr/>
          </p:nvSpPr>
          <p:spPr bwMode="auto">
            <a:xfrm>
              <a:off x="4644" y="882"/>
              <a:ext cx="24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d’</a:t>
              </a:r>
              <a:r>
                <a:rPr lang="en-US" altLang="en-US" sz="1400" baseline="-25000"/>
                <a:t>1</a:t>
              </a:r>
            </a:p>
          </p:txBody>
        </p:sp>
      </p:grpSp>
      <p:sp>
        <p:nvSpPr>
          <p:cNvPr id="43096" name="Line 88"/>
          <p:cNvSpPr>
            <a:spLocks noChangeShapeType="1"/>
          </p:cNvSpPr>
          <p:nvPr/>
        </p:nvSpPr>
        <p:spPr bwMode="auto">
          <a:xfrm flipV="1">
            <a:off x="8018463" y="238125"/>
            <a:ext cx="0" cy="1600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97" name="Line 89"/>
          <p:cNvSpPr>
            <a:spLocks noChangeShapeType="1"/>
          </p:cNvSpPr>
          <p:nvPr/>
        </p:nvSpPr>
        <p:spPr bwMode="auto">
          <a:xfrm flipV="1">
            <a:off x="7866063" y="390525"/>
            <a:ext cx="0" cy="762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3098" name="Group 90"/>
          <p:cNvGrpSpPr>
            <a:grpSpLocks/>
          </p:cNvGrpSpPr>
          <p:nvPr/>
        </p:nvGrpSpPr>
        <p:grpSpPr bwMode="auto">
          <a:xfrm>
            <a:off x="4114800" y="4567238"/>
            <a:ext cx="2657475" cy="1985962"/>
            <a:chOff x="2592" y="2877"/>
            <a:chExt cx="1674" cy="1251"/>
          </a:xfrm>
        </p:grpSpPr>
        <p:grpSp>
          <p:nvGrpSpPr>
            <p:cNvPr id="20566" name="Group 91"/>
            <p:cNvGrpSpPr>
              <a:grpSpLocks/>
            </p:cNvGrpSpPr>
            <p:nvPr/>
          </p:nvGrpSpPr>
          <p:grpSpPr bwMode="auto">
            <a:xfrm>
              <a:off x="3384" y="3189"/>
              <a:ext cx="882" cy="924"/>
              <a:chOff x="3288" y="996"/>
              <a:chExt cx="882" cy="924"/>
            </a:xfrm>
          </p:grpSpPr>
          <p:sp>
            <p:nvSpPr>
              <p:cNvPr id="20600" name="Rectangle 92"/>
              <p:cNvSpPr>
                <a:spLocks noChangeArrowheads="1"/>
              </p:cNvSpPr>
              <p:nvPr/>
            </p:nvSpPr>
            <p:spPr bwMode="auto">
              <a:xfrm>
                <a:off x="3288" y="1380"/>
                <a:ext cx="21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a</a:t>
                </a:r>
                <a:r>
                  <a:rPr lang="en-US" altLang="en-US" sz="1400" baseline="-25000"/>
                  <a:t>1</a:t>
                </a:r>
              </a:p>
            </p:txBody>
          </p:sp>
          <p:sp>
            <p:nvSpPr>
              <p:cNvPr id="20601" name="Rectangle 93"/>
              <p:cNvSpPr>
                <a:spLocks noChangeArrowheads="1"/>
              </p:cNvSpPr>
              <p:nvPr/>
            </p:nvSpPr>
            <p:spPr bwMode="auto">
              <a:xfrm>
                <a:off x="3648" y="1728"/>
                <a:ext cx="21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b</a:t>
                </a:r>
                <a:r>
                  <a:rPr lang="en-US" altLang="en-US" sz="1400" baseline="-25000"/>
                  <a:t>1</a:t>
                </a:r>
              </a:p>
            </p:txBody>
          </p:sp>
          <p:sp>
            <p:nvSpPr>
              <p:cNvPr id="20602" name="Rectangle 94"/>
              <p:cNvSpPr>
                <a:spLocks noChangeArrowheads="1"/>
              </p:cNvSpPr>
              <p:nvPr/>
            </p:nvSpPr>
            <p:spPr bwMode="auto">
              <a:xfrm>
                <a:off x="3648" y="996"/>
                <a:ext cx="21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d</a:t>
                </a:r>
                <a:r>
                  <a:rPr lang="en-US" altLang="en-US" sz="1400" baseline="-25000"/>
                  <a:t>1</a:t>
                </a:r>
              </a:p>
            </p:txBody>
          </p:sp>
          <p:sp>
            <p:nvSpPr>
              <p:cNvPr id="20603" name="Rectangle 95"/>
              <p:cNvSpPr>
                <a:spLocks noChangeArrowheads="1"/>
              </p:cNvSpPr>
              <p:nvPr/>
            </p:nvSpPr>
            <p:spPr bwMode="auto">
              <a:xfrm>
                <a:off x="3958" y="1344"/>
                <a:ext cx="21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c</a:t>
                </a:r>
                <a:r>
                  <a:rPr lang="en-US" altLang="en-US" sz="1400" baseline="-25000"/>
                  <a:t>1</a:t>
                </a:r>
              </a:p>
            </p:txBody>
          </p:sp>
        </p:grpSp>
        <p:grpSp>
          <p:nvGrpSpPr>
            <p:cNvPr id="20567" name="Group 96"/>
            <p:cNvGrpSpPr>
              <a:grpSpLocks/>
            </p:cNvGrpSpPr>
            <p:nvPr/>
          </p:nvGrpSpPr>
          <p:grpSpPr bwMode="auto">
            <a:xfrm>
              <a:off x="2592" y="2877"/>
              <a:ext cx="1619" cy="1251"/>
              <a:chOff x="2592" y="2877"/>
              <a:chExt cx="1619" cy="1251"/>
            </a:xfrm>
          </p:grpSpPr>
          <p:sp>
            <p:nvSpPr>
              <p:cNvPr id="20568" name="Oval 97"/>
              <p:cNvSpPr>
                <a:spLocks noChangeArrowheads="1"/>
              </p:cNvSpPr>
              <p:nvPr/>
            </p:nvSpPr>
            <p:spPr bwMode="auto">
              <a:xfrm>
                <a:off x="2736" y="3345"/>
                <a:ext cx="624" cy="62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0569" name="Line 98"/>
              <p:cNvSpPr>
                <a:spLocks noChangeShapeType="1"/>
              </p:cNvSpPr>
              <p:nvPr/>
            </p:nvSpPr>
            <p:spPr bwMode="auto">
              <a:xfrm>
                <a:off x="2736" y="3657"/>
                <a:ext cx="624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0" name="Line 99"/>
              <p:cNvSpPr>
                <a:spLocks noChangeShapeType="1"/>
              </p:cNvSpPr>
              <p:nvPr/>
            </p:nvSpPr>
            <p:spPr bwMode="auto">
              <a:xfrm>
                <a:off x="3054" y="3351"/>
                <a:ext cx="0" cy="62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1" name="Line 100"/>
              <p:cNvSpPr>
                <a:spLocks noChangeShapeType="1"/>
              </p:cNvSpPr>
              <p:nvPr/>
            </p:nvSpPr>
            <p:spPr bwMode="auto">
              <a:xfrm flipV="1">
                <a:off x="2736" y="3057"/>
                <a:ext cx="0" cy="576"/>
              </a:xfrm>
              <a:prstGeom prst="line">
                <a:avLst/>
              </a:prstGeom>
              <a:noFill/>
              <a:ln w="63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2" name="Line 101"/>
              <p:cNvSpPr>
                <a:spLocks noChangeShapeType="1"/>
              </p:cNvSpPr>
              <p:nvPr/>
            </p:nvSpPr>
            <p:spPr bwMode="auto">
              <a:xfrm flipV="1">
                <a:off x="3360" y="3057"/>
                <a:ext cx="0" cy="576"/>
              </a:xfrm>
              <a:prstGeom prst="line">
                <a:avLst/>
              </a:prstGeom>
              <a:noFill/>
              <a:ln w="63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3" name="Line 102"/>
              <p:cNvSpPr>
                <a:spLocks noChangeShapeType="1"/>
              </p:cNvSpPr>
              <p:nvPr/>
            </p:nvSpPr>
            <p:spPr bwMode="auto">
              <a:xfrm flipV="1">
                <a:off x="3054" y="3057"/>
                <a:ext cx="0" cy="288"/>
              </a:xfrm>
              <a:prstGeom prst="line">
                <a:avLst/>
              </a:prstGeom>
              <a:noFill/>
              <a:ln w="635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4" name="Line 103"/>
              <p:cNvSpPr>
                <a:spLocks noChangeShapeType="1"/>
              </p:cNvSpPr>
              <p:nvPr/>
            </p:nvSpPr>
            <p:spPr bwMode="auto">
              <a:xfrm>
                <a:off x="2736" y="30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5" name="Line 104"/>
              <p:cNvSpPr>
                <a:spLocks noChangeShapeType="1"/>
              </p:cNvSpPr>
              <p:nvPr/>
            </p:nvSpPr>
            <p:spPr bwMode="auto">
              <a:xfrm rot="-1800000">
                <a:off x="3486" y="3044"/>
                <a:ext cx="62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6" name="Line 105"/>
              <p:cNvSpPr>
                <a:spLocks noChangeShapeType="1"/>
              </p:cNvSpPr>
              <p:nvPr/>
            </p:nvSpPr>
            <p:spPr bwMode="auto">
              <a:xfrm>
                <a:off x="4074" y="2913"/>
                <a:ext cx="0" cy="1056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7" name="Line 106"/>
              <p:cNvSpPr>
                <a:spLocks noChangeShapeType="1"/>
              </p:cNvSpPr>
              <p:nvPr/>
            </p:nvSpPr>
            <p:spPr bwMode="auto">
              <a:xfrm>
                <a:off x="3822" y="3057"/>
                <a:ext cx="0" cy="912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8" name="Line 107"/>
              <p:cNvSpPr>
                <a:spLocks noChangeShapeType="1"/>
              </p:cNvSpPr>
              <p:nvPr/>
            </p:nvSpPr>
            <p:spPr bwMode="auto">
              <a:xfrm>
                <a:off x="3540" y="3201"/>
                <a:ext cx="0" cy="768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9" name="Line 108"/>
              <p:cNvSpPr>
                <a:spLocks noChangeShapeType="1"/>
              </p:cNvSpPr>
              <p:nvPr/>
            </p:nvSpPr>
            <p:spPr bwMode="auto">
              <a:xfrm>
                <a:off x="3024" y="3345"/>
                <a:ext cx="1104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0" name="Line 109"/>
              <p:cNvSpPr>
                <a:spLocks noChangeShapeType="1"/>
              </p:cNvSpPr>
              <p:nvPr/>
            </p:nvSpPr>
            <p:spPr bwMode="auto">
              <a:xfrm>
                <a:off x="3360" y="3657"/>
                <a:ext cx="768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1" name="Line 110"/>
              <p:cNvSpPr>
                <a:spLocks noChangeShapeType="1"/>
              </p:cNvSpPr>
              <p:nvPr/>
            </p:nvSpPr>
            <p:spPr bwMode="auto">
              <a:xfrm>
                <a:off x="3072" y="3969"/>
                <a:ext cx="1056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2" name="Oval 111"/>
              <p:cNvSpPr>
                <a:spLocks noChangeArrowheads="1"/>
              </p:cNvSpPr>
              <p:nvPr/>
            </p:nvSpPr>
            <p:spPr bwMode="auto">
              <a:xfrm>
                <a:off x="3552" y="3345"/>
                <a:ext cx="528" cy="62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0583" name="Line 112"/>
              <p:cNvSpPr>
                <a:spLocks noChangeShapeType="1"/>
              </p:cNvSpPr>
              <p:nvPr/>
            </p:nvSpPr>
            <p:spPr bwMode="auto">
              <a:xfrm>
                <a:off x="3822" y="3345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4" name="Line 113"/>
              <p:cNvSpPr>
                <a:spLocks noChangeShapeType="1"/>
              </p:cNvSpPr>
              <p:nvPr/>
            </p:nvSpPr>
            <p:spPr bwMode="auto">
              <a:xfrm>
                <a:off x="3552" y="3655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85" name="Group 114"/>
              <p:cNvGrpSpPr>
                <a:grpSpLocks/>
              </p:cNvGrpSpPr>
              <p:nvPr/>
            </p:nvGrpSpPr>
            <p:grpSpPr bwMode="auto">
              <a:xfrm>
                <a:off x="2598" y="3177"/>
                <a:ext cx="892" cy="951"/>
                <a:chOff x="2496" y="1008"/>
                <a:chExt cx="892" cy="903"/>
              </a:xfrm>
            </p:grpSpPr>
            <p:sp>
              <p:nvSpPr>
                <p:cNvPr id="20596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2496" y="1344"/>
                  <a:ext cx="178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a</a:t>
                  </a:r>
                </a:p>
              </p:txBody>
            </p:sp>
            <p:sp>
              <p:nvSpPr>
                <p:cNvPr id="20597" name="Rectangle 116"/>
                <p:cNvSpPr>
                  <a:spLocks noChangeArrowheads="1"/>
                </p:cNvSpPr>
                <p:nvPr/>
              </p:nvSpPr>
              <p:spPr bwMode="auto">
                <a:xfrm>
                  <a:off x="2832" y="1008"/>
                  <a:ext cx="178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d</a:t>
                  </a:r>
                </a:p>
              </p:txBody>
            </p:sp>
            <p:sp>
              <p:nvSpPr>
                <p:cNvPr id="20598" name="Rectangle 117"/>
                <p:cNvSpPr>
                  <a:spLocks noChangeArrowheads="1"/>
                </p:cNvSpPr>
                <p:nvPr/>
              </p:nvSpPr>
              <p:spPr bwMode="auto">
                <a:xfrm>
                  <a:off x="3216" y="1344"/>
                  <a:ext cx="172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c</a:t>
                  </a:r>
                </a:p>
              </p:txBody>
            </p:sp>
            <p:sp>
              <p:nvSpPr>
                <p:cNvPr id="20599" name="Rectangle 118"/>
                <p:cNvSpPr>
                  <a:spLocks noChangeArrowheads="1"/>
                </p:cNvSpPr>
                <p:nvPr/>
              </p:nvSpPr>
              <p:spPr bwMode="auto">
                <a:xfrm>
                  <a:off x="2880" y="1728"/>
                  <a:ext cx="178" cy="1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b</a:t>
                  </a:r>
                </a:p>
              </p:txBody>
            </p:sp>
          </p:grpSp>
          <p:grpSp>
            <p:nvGrpSpPr>
              <p:cNvPr id="20586" name="Group 119"/>
              <p:cNvGrpSpPr>
                <a:grpSpLocks/>
              </p:cNvGrpSpPr>
              <p:nvPr/>
            </p:nvGrpSpPr>
            <p:grpSpPr bwMode="auto">
              <a:xfrm>
                <a:off x="2592" y="2919"/>
                <a:ext cx="869" cy="204"/>
                <a:chOff x="2496" y="768"/>
                <a:chExt cx="869" cy="204"/>
              </a:xfrm>
            </p:grpSpPr>
            <p:sp>
              <p:nvSpPr>
                <p:cNvPr id="20592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2496" y="768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a’</a:t>
                  </a:r>
                </a:p>
              </p:txBody>
            </p:sp>
            <p:sp>
              <p:nvSpPr>
                <p:cNvPr id="20593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2808" y="780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b’</a:t>
                  </a:r>
                </a:p>
              </p:txBody>
            </p:sp>
            <p:sp>
              <p:nvSpPr>
                <p:cNvPr id="20594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2928" y="774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d’</a:t>
                  </a:r>
                </a:p>
              </p:txBody>
            </p:sp>
            <p:sp>
              <p:nvSpPr>
                <p:cNvPr id="20595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3168" y="768"/>
                  <a:ext cx="197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c’</a:t>
                  </a:r>
                </a:p>
              </p:txBody>
            </p:sp>
          </p:grpSp>
          <p:grpSp>
            <p:nvGrpSpPr>
              <p:cNvPr id="20587" name="Group 124"/>
              <p:cNvGrpSpPr>
                <a:grpSpLocks/>
              </p:cNvGrpSpPr>
              <p:nvPr/>
            </p:nvGrpSpPr>
            <p:grpSpPr bwMode="auto">
              <a:xfrm rot="-1734769">
                <a:off x="3342" y="2877"/>
                <a:ext cx="869" cy="204"/>
                <a:chOff x="2496" y="768"/>
                <a:chExt cx="869" cy="204"/>
              </a:xfrm>
            </p:grpSpPr>
            <p:sp>
              <p:nvSpPr>
                <p:cNvPr id="20588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2496" y="768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a’</a:t>
                  </a:r>
                </a:p>
              </p:txBody>
            </p:sp>
            <p:sp>
              <p:nvSpPr>
                <p:cNvPr id="20589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2808" y="780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b’</a:t>
                  </a:r>
                </a:p>
              </p:txBody>
            </p:sp>
            <p:sp>
              <p:nvSpPr>
                <p:cNvPr id="20590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2928" y="774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d’</a:t>
                  </a:r>
                </a:p>
              </p:txBody>
            </p:sp>
            <p:sp>
              <p:nvSpPr>
                <p:cNvPr id="20591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3168" y="768"/>
                  <a:ext cx="197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400"/>
                    <a:t>c’</a:t>
                  </a:r>
                </a:p>
              </p:txBody>
            </p:sp>
          </p:grpSp>
        </p:grpSp>
      </p:grpSp>
      <p:grpSp>
        <p:nvGrpSpPr>
          <p:cNvPr id="43137" name="Group 129"/>
          <p:cNvGrpSpPr>
            <a:grpSpLocks/>
          </p:cNvGrpSpPr>
          <p:nvPr/>
        </p:nvGrpSpPr>
        <p:grpSpPr bwMode="auto">
          <a:xfrm>
            <a:off x="6511925" y="5135563"/>
            <a:ext cx="1357313" cy="1184275"/>
            <a:chOff x="4102" y="3235"/>
            <a:chExt cx="855" cy="746"/>
          </a:xfrm>
        </p:grpSpPr>
        <p:sp>
          <p:nvSpPr>
            <p:cNvPr id="20562" name="Rectangle 130"/>
            <p:cNvSpPr>
              <a:spLocks noChangeArrowheads="1"/>
            </p:cNvSpPr>
            <p:nvPr/>
          </p:nvSpPr>
          <p:spPr bwMode="auto">
            <a:xfrm rot="2364449">
              <a:off x="4102" y="3334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563" name="Rectangle 131"/>
            <p:cNvSpPr>
              <a:spLocks noChangeArrowheads="1"/>
            </p:cNvSpPr>
            <p:nvPr/>
          </p:nvSpPr>
          <p:spPr bwMode="auto">
            <a:xfrm rot="2364449">
              <a:off x="4243" y="3789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564" name="Rectangle 132"/>
            <p:cNvSpPr>
              <a:spLocks noChangeArrowheads="1"/>
            </p:cNvSpPr>
            <p:nvPr/>
          </p:nvSpPr>
          <p:spPr bwMode="auto">
            <a:xfrm rot="2364449">
              <a:off x="4665" y="3235"/>
              <a:ext cx="21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565" name="Rectangle 133"/>
            <p:cNvSpPr>
              <a:spLocks noChangeArrowheads="1"/>
            </p:cNvSpPr>
            <p:nvPr/>
          </p:nvSpPr>
          <p:spPr bwMode="auto">
            <a:xfrm rot="2364449">
              <a:off x="4745" y="3729"/>
              <a:ext cx="2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  <a:r>
                <a:rPr lang="en-US" altLang="en-US" sz="1400" baseline="-25000"/>
                <a:t>1</a:t>
              </a:r>
            </a:p>
          </p:txBody>
        </p:sp>
      </p:grpSp>
      <p:sp>
        <p:nvSpPr>
          <p:cNvPr id="43142" name="Line 134"/>
          <p:cNvSpPr>
            <a:spLocks noChangeShapeType="1"/>
          </p:cNvSpPr>
          <p:nvPr/>
        </p:nvSpPr>
        <p:spPr bwMode="auto">
          <a:xfrm>
            <a:off x="6781800" y="5386388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43" name="Text Box 135"/>
          <p:cNvSpPr txBox="1">
            <a:spLocks noChangeArrowheads="1"/>
          </p:cNvSpPr>
          <p:nvPr/>
        </p:nvSpPr>
        <p:spPr bwMode="auto">
          <a:xfrm>
            <a:off x="6934200" y="5329238"/>
            <a:ext cx="4095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30</a:t>
            </a:r>
            <a:r>
              <a:rPr lang="en-US" altLang="en-US" sz="1200" baseline="30000"/>
              <a:t>0</a:t>
            </a:r>
          </a:p>
        </p:txBody>
      </p:sp>
      <p:grpSp>
        <p:nvGrpSpPr>
          <p:cNvPr id="43144" name="Group 136"/>
          <p:cNvGrpSpPr>
            <a:grpSpLocks/>
          </p:cNvGrpSpPr>
          <p:nvPr/>
        </p:nvGrpSpPr>
        <p:grpSpPr bwMode="auto">
          <a:xfrm>
            <a:off x="6543675" y="4352925"/>
            <a:ext cx="1366838" cy="828675"/>
            <a:chOff x="4080" y="582"/>
            <a:chExt cx="861" cy="522"/>
          </a:xfrm>
        </p:grpSpPr>
        <p:sp>
          <p:nvSpPr>
            <p:cNvPr id="20558" name="Text Box 137"/>
            <p:cNvSpPr txBox="1">
              <a:spLocks noChangeArrowheads="1"/>
            </p:cNvSpPr>
            <p:nvPr/>
          </p:nvSpPr>
          <p:spPr bwMode="auto">
            <a:xfrm>
              <a:off x="4080" y="912"/>
              <a:ext cx="24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a’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559" name="Text Box 138"/>
            <p:cNvSpPr txBox="1">
              <a:spLocks noChangeArrowheads="1"/>
            </p:cNvSpPr>
            <p:nvPr/>
          </p:nvSpPr>
          <p:spPr bwMode="auto">
            <a:xfrm>
              <a:off x="4146" y="684"/>
              <a:ext cx="24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b’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560" name="Text Box 139"/>
            <p:cNvSpPr txBox="1">
              <a:spLocks noChangeArrowheads="1"/>
            </p:cNvSpPr>
            <p:nvPr/>
          </p:nvSpPr>
          <p:spPr bwMode="auto">
            <a:xfrm>
              <a:off x="4704" y="582"/>
              <a:ext cx="2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c’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20561" name="Text Box 140"/>
            <p:cNvSpPr txBox="1">
              <a:spLocks noChangeArrowheads="1"/>
            </p:cNvSpPr>
            <p:nvPr/>
          </p:nvSpPr>
          <p:spPr bwMode="auto">
            <a:xfrm>
              <a:off x="4644" y="882"/>
              <a:ext cx="24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d’</a:t>
              </a:r>
              <a:r>
                <a:rPr lang="en-US" altLang="en-US" sz="1400" baseline="-25000"/>
                <a:t>1</a:t>
              </a:r>
            </a:p>
          </p:txBody>
        </p:sp>
      </p:grpSp>
      <p:sp>
        <p:nvSpPr>
          <p:cNvPr id="43149" name="Text Box 141"/>
          <p:cNvSpPr txBox="1">
            <a:spLocks noChangeArrowheads="1"/>
          </p:cNvSpPr>
          <p:nvPr/>
        </p:nvSpPr>
        <p:spPr bwMode="auto">
          <a:xfrm>
            <a:off x="304800" y="304800"/>
            <a:ext cx="35889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chemeClr val="accent2"/>
                </a:solidFill>
              </a:rPr>
              <a:t>Problem 13</a:t>
            </a:r>
            <a:r>
              <a:rPr lang="en-US" altLang="en-US" sz="1400" dirty="0"/>
              <a:t>: A circle of 50 mm diameter is </a:t>
            </a:r>
          </a:p>
          <a:p>
            <a:pPr eaLnBrk="1" hangingPunct="1"/>
            <a:r>
              <a:rPr lang="en-US" altLang="en-US" sz="1400" dirty="0"/>
              <a:t>resting on </a:t>
            </a:r>
            <a:r>
              <a:rPr lang="en-US" altLang="en-US" sz="1400" dirty="0" err="1"/>
              <a:t>Hp</a:t>
            </a:r>
            <a:r>
              <a:rPr lang="en-US" altLang="en-US" sz="1400" dirty="0"/>
              <a:t> on end A of it’s diameter AC</a:t>
            </a:r>
          </a:p>
          <a:p>
            <a:pPr eaLnBrk="1" hangingPunct="1"/>
            <a:r>
              <a:rPr lang="en-US" altLang="en-US" sz="1400" dirty="0"/>
              <a:t>which is 30</a:t>
            </a:r>
            <a:r>
              <a:rPr lang="en-US" altLang="en-US" sz="1400" baseline="30000" dirty="0"/>
              <a:t>0</a:t>
            </a:r>
            <a:r>
              <a:rPr lang="en-US" altLang="en-US" sz="1400" dirty="0"/>
              <a:t> inclined to </a:t>
            </a:r>
            <a:r>
              <a:rPr lang="en-US" altLang="en-US" sz="1400" dirty="0" err="1"/>
              <a:t>Hp</a:t>
            </a:r>
            <a:r>
              <a:rPr lang="en-US" altLang="en-US" sz="1400" dirty="0"/>
              <a:t> while it’s Tv</a:t>
            </a:r>
          </a:p>
          <a:p>
            <a:pPr eaLnBrk="1" hangingPunct="1"/>
            <a:r>
              <a:rPr lang="en-US" altLang="en-US" sz="1400" dirty="0"/>
              <a:t>is 45</a:t>
            </a:r>
            <a:r>
              <a:rPr lang="en-US" altLang="en-US" sz="1400" baseline="30000" dirty="0"/>
              <a:t>0</a:t>
            </a:r>
            <a:r>
              <a:rPr lang="en-US" altLang="en-US" sz="1400" dirty="0"/>
              <a:t> inclined to </a:t>
            </a:r>
            <a:r>
              <a:rPr lang="en-US" altLang="en-US" sz="1400" dirty="0" err="1"/>
              <a:t>Vp.Draw</a:t>
            </a:r>
            <a:r>
              <a:rPr lang="en-US" altLang="en-US" sz="1400" dirty="0"/>
              <a:t> it’s projections. </a:t>
            </a:r>
          </a:p>
        </p:txBody>
      </p:sp>
      <p:sp>
        <p:nvSpPr>
          <p:cNvPr id="43150" name="Text Box 142"/>
          <p:cNvSpPr txBox="1">
            <a:spLocks noChangeArrowheads="1"/>
          </p:cNvSpPr>
          <p:nvPr/>
        </p:nvSpPr>
        <p:spPr bwMode="auto">
          <a:xfrm>
            <a:off x="228600" y="3962400"/>
            <a:ext cx="357335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chemeClr val="accent2"/>
                </a:solidFill>
              </a:rPr>
              <a:t>Problem 9</a:t>
            </a:r>
            <a:r>
              <a:rPr lang="en-US" altLang="en-US" sz="1400" dirty="0"/>
              <a:t>: A circle of 50 mm diameter is </a:t>
            </a:r>
          </a:p>
          <a:p>
            <a:pPr eaLnBrk="1" hangingPunct="1"/>
            <a:r>
              <a:rPr lang="en-US" altLang="en-US" sz="1400" dirty="0"/>
              <a:t>resting on </a:t>
            </a:r>
            <a:r>
              <a:rPr lang="en-US" altLang="en-US" sz="1400" dirty="0" err="1"/>
              <a:t>Hp</a:t>
            </a:r>
            <a:r>
              <a:rPr lang="en-US" altLang="en-US" sz="1400" dirty="0"/>
              <a:t> on end A of it’s diameter AC</a:t>
            </a:r>
          </a:p>
          <a:p>
            <a:pPr eaLnBrk="1" hangingPunct="1"/>
            <a:r>
              <a:rPr lang="en-US" altLang="en-US" sz="1400" dirty="0"/>
              <a:t>which is 30</a:t>
            </a:r>
            <a:r>
              <a:rPr lang="en-US" altLang="en-US" sz="1400" baseline="30000" dirty="0"/>
              <a:t>0</a:t>
            </a:r>
            <a:r>
              <a:rPr lang="en-US" altLang="en-US" sz="1400" dirty="0"/>
              <a:t> inclined to </a:t>
            </a:r>
            <a:r>
              <a:rPr lang="en-US" altLang="en-US" sz="1400" dirty="0" err="1"/>
              <a:t>Hp</a:t>
            </a:r>
            <a:r>
              <a:rPr lang="en-US" altLang="en-US" sz="1400" dirty="0"/>
              <a:t> while it makes</a:t>
            </a:r>
          </a:p>
          <a:p>
            <a:pPr eaLnBrk="1" hangingPunct="1"/>
            <a:r>
              <a:rPr lang="en-US" altLang="en-US" sz="1400" dirty="0" smtClean="0"/>
              <a:t>30</a:t>
            </a:r>
            <a:r>
              <a:rPr lang="en-US" altLang="en-US" sz="1400" baseline="30000" dirty="0" smtClean="0"/>
              <a:t>0</a:t>
            </a:r>
            <a:r>
              <a:rPr lang="en-US" altLang="en-US" sz="1400" dirty="0" smtClean="0"/>
              <a:t> </a:t>
            </a:r>
            <a:r>
              <a:rPr lang="en-US" altLang="en-US" sz="1400" dirty="0"/>
              <a:t>inclined to </a:t>
            </a:r>
            <a:r>
              <a:rPr lang="en-US" altLang="en-US" sz="1400" dirty="0" err="1"/>
              <a:t>Vp</a:t>
            </a:r>
            <a:r>
              <a:rPr lang="en-US" altLang="en-US" sz="1400" dirty="0"/>
              <a:t>. Draw it’s projections. </a:t>
            </a:r>
          </a:p>
        </p:txBody>
      </p:sp>
      <p:sp>
        <p:nvSpPr>
          <p:cNvPr id="43151" name="Text Box 143"/>
          <p:cNvSpPr txBox="1">
            <a:spLocks noChangeArrowheads="1"/>
          </p:cNvSpPr>
          <p:nvPr/>
        </p:nvSpPr>
        <p:spPr bwMode="auto">
          <a:xfrm>
            <a:off x="0" y="1752600"/>
            <a:ext cx="43434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Read problem and answer following questions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1. Surface inclined to which plane? -------      </a:t>
            </a:r>
            <a:r>
              <a:rPr lang="en-US" altLang="en-US" sz="1600" b="1" i="1">
                <a:latin typeface="Times New Roman" panose="02020603050405020304" pitchFamily="18" charset="0"/>
              </a:rPr>
              <a:t>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2. Assumption for initial position? ------ </a:t>
            </a:r>
            <a:r>
              <a:rPr lang="en-US" altLang="en-US" sz="1600" b="1" i="1">
                <a:latin typeface="Times New Roman" panose="02020603050405020304" pitchFamily="18" charset="0"/>
              </a:rPr>
              <a:t>// to 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3. So which view will show True shape? ---   </a:t>
            </a:r>
            <a:r>
              <a:rPr lang="en-US" altLang="en-US" sz="1600" b="1" i="1">
                <a:latin typeface="Times New Roman" panose="02020603050405020304" pitchFamily="18" charset="0"/>
              </a:rPr>
              <a:t>TV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4. Which diameter horizontal?   ----------       </a:t>
            </a:r>
            <a:r>
              <a:rPr lang="en-US" altLang="en-US" sz="1600" b="1" i="1">
                <a:latin typeface="Times New Roman" panose="02020603050405020304" pitchFamily="18" charset="0"/>
              </a:rPr>
              <a:t>AC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    </a:t>
            </a:r>
            <a:r>
              <a:rPr lang="en-US" altLang="en-US" sz="1600" b="1" i="1">
                <a:latin typeface="Times New Roman" panose="02020603050405020304" pitchFamily="18" charset="0"/>
              </a:rPr>
              <a:t>Hence begin with TV,draw rhombus below </a:t>
            </a:r>
          </a:p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     X-Y line, taking longer diagonal // to X-Y</a:t>
            </a:r>
            <a:endParaRPr lang="en-US" altLang="en-US" sz="2400" b="1" i="1">
              <a:latin typeface="Times New Roman" panose="02020603050405020304" pitchFamily="18" charset="0"/>
            </a:endParaRPr>
          </a:p>
        </p:txBody>
      </p:sp>
      <p:grpSp>
        <p:nvGrpSpPr>
          <p:cNvPr id="43152" name="Group 144"/>
          <p:cNvGrpSpPr>
            <a:grpSpLocks/>
          </p:cNvGrpSpPr>
          <p:nvPr/>
        </p:nvGrpSpPr>
        <p:grpSpPr bwMode="auto">
          <a:xfrm>
            <a:off x="4405313" y="2514600"/>
            <a:ext cx="4770437" cy="1752600"/>
            <a:chOff x="2736" y="1632"/>
            <a:chExt cx="3005" cy="1104"/>
          </a:xfrm>
        </p:grpSpPr>
        <p:sp>
          <p:nvSpPr>
            <p:cNvPr id="20556" name="Rectangle 145"/>
            <p:cNvSpPr>
              <a:spLocks noChangeArrowheads="1"/>
            </p:cNvSpPr>
            <p:nvPr/>
          </p:nvSpPr>
          <p:spPr bwMode="auto">
            <a:xfrm>
              <a:off x="2762" y="1632"/>
              <a:ext cx="2880" cy="110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557" name="Text Box 146"/>
            <p:cNvSpPr txBox="1">
              <a:spLocks noChangeArrowheads="1"/>
            </p:cNvSpPr>
            <p:nvPr/>
          </p:nvSpPr>
          <p:spPr bwMode="auto">
            <a:xfrm>
              <a:off x="2736" y="1680"/>
              <a:ext cx="3005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 dirty="0">
                  <a:solidFill>
                    <a:srgbClr val="FF3300"/>
                  </a:solidFill>
                </a:rPr>
                <a:t>The difference in these two problems is in step 3 only.</a:t>
              </a:r>
            </a:p>
            <a:p>
              <a:pPr eaLnBrk="1" hangingPunct="1"/>
              <a:r>
                <a:rPr lang="en-US" altLang="en-US" sz="1400" b="1" dirty="0">
                  <a:solidFill>
                    <a:schemeClr val="accent2"/>
                  </a:solidFill>
                </a:rPr>
                <a:t>In problem </a:t>
              </a:r>
              <a:r>
                <a:rPr lang="en-US" altLang="en-US" sz="1400" b="1" dirty="0" smtClean="0">
                  <a:solidFill>
                    <a:schemeClr val="accent2"/>
                  </a:solidFill>
                </a:rPr>
                <a:t>no.13 </a:t>
              </a:r>
              <a:r>
                <a:rPr lang="en-US" altLang="en-US" sz="1400" b="1" dirty="0">
                  <a:solidFill>
                    <a:schemeClr val="accent2"/>
                  </a:solidFill>
                </a:rPr>
                <a:t>inclination of </a:t>
              </a:r>
              <a:r>
                <a:rPr lang="en-US" altLang="en-US" sz="1400" b="1" dirty="0" err="1">
                  <a:solidFill>
                    <a:schemeClr val="accent2"/>
                  </a:solidFill>
                </a:rPr>
                <a:t>Tv</a:t>
              </a:r>
              <a:r>
                <a:rPr lang="en-US" altLang="en-US" sz="1400" b="1" dirty="0">
                  <a:solidFill>
                    <a:schemeClr val="accent2"/>
                  </a:solidFill>
                </a:rPr>
                <a:t> of that AC is </a:t>
              </a:r>
            </a:p>
            <a:p>
              <a:pPr eaLnBrk="1" hangingPunct="1"/>
              <a:r>
                <a:rPr lang="en-US" altLang="en-US" sz="1400" b="1" dirty="0" err="1">
                  <a:solidFill>
                    <a:schemeClr val="accent2"/>
                  </a:solidFill>
                </a:rPr>
                <a:t>given,It</a:t>
              </a:r>
              <a:r>
                <a:rPr lang="en-US" altLang="en-US" sz="1400" b="1" dirty="0">
                  <a:solidFill>
                    <a:schemeClr val="accent2"/>
                  </a:solidFill>
                </a:rPr>
                <a:t> could be drawn directly as shown in 3</a:t>
              </a:r>
              <a:r>
                <a:rPr lang="en-US" altLang="en-US" sz="1400" b="1" baseline="30000" dirty="0">
                  <a:solidFill>
                    <a:schemeClr val="accent2"/>
                  </a:solidFill>
                </a:rPr>
                <a:t>rd</a:t>
              </a:r>
              <a:r>
                <a:rPr lang="en-US" altLang="en-US" sz="1400" b="1" dirty="0">
                  <a:solidFill>
                    <a:schemeClr val="accent2"/>
                  </a:solidFill>
                </a:rPr>
                <a:t> step.</a:t>
              </a:r>
            </a:p>
            <a:p>
              <a:pPr eaLnBrk="1" hangingPunct="1"/>
              <a:r>
                <a:rPr lang="en-US" altLang="en-US" sz="1400" b="1" i="1" dirty="0">
                  <a:solidFill>
                    <a:srgbClr val="FF3399"/>
                  </a:solidFill>
                </a:rPr>
                <a:t>While in no.9 angle of AC itself i.e. it’s TL, is </a:t>
              </a:r>
            </a:p>
            <a:p>
              <a:pPr eaLnBrk="1" hangingPunct="1"/>
              <a:r>
                <a:rPr lang="en-US" altLang="en-US" sz="1400" b="1" i="1" dirty="0">
                  <a:solidFill>
                    <a:srgbClr val="FF3399"/>
                  </a:solidFill>
                </a:rPr>
                <a:t>given. Hence here angle of TL is </a:t>
              </a:r>
              <a:r>
                <a:rPr lang="en-US" altLang="en-US" sz="1400" b="1" i="1" dirty="0" err="1">
                  <a:solidFill>
                    <a:srgbClr val="FF3399"/>
                  </a:solidFill>
                </a:rPr>
                <a:t>taken,locus</a:t>
              </a:r>
              <a:r>
                <a:rPr lang="en-US" altLang="en-US" sz="1400" b="1" i="1" dirty="0">
                  <a:solidFill>
                    <a:srgbClr val="FF3399"/>
                  </a:solidFill>
                </a:rPr>
                <a:t> of c</a:t>
              </a:r>
              <a:r>
                <a:rPr lang="en-US" altLang="en-US" sz="1400" b="1" i="1" baseline="-25000" dirty="0">
                  <a:solidFill>
                    <a:srgbClr val="FF3399"/>
                  </a:solidFill>
                </a:rPr>
                <a:t>1</a:t>
              </a:r>
            </a:p>
            <a:p>
              <a:pPr eaLnBrk="1" hangingPunct="1"/>
              <a:r>
                <a:rPr lang="en-US" altLang="en-US" sz="1400" b="1" i="1" dirty="0">
                  <a:solidFill>
                    <a:srgbClr val="FF3399"/>
                  </a:solidFill>
                </a:rPr>
                <a:t>Is drawn and then LTV I.e. a</a:t>
              </a:r>
              <a:r>
                <a:rPr lang="en-US" altLang="en-US" sz="1400" b="1" i="1" baseline="-25000" dirty="0">
                  <a:solidFill>
                    <a:srgbClr val="FF3399"/>
                  </a:solidFill>
                </a:rPr>
                <a:t>1</a:t>
              </a:r>
              <a:r>
                <a:rPr lang="en-US" altLang="en-US" sz="1400" b="1" i="1" dirty="0">
                  <a:solidFill>
                    <a:srgbClr val="FF3399"/>
                  </a:solidFill>
                </a:rPr>
                <a:t> c</a:t>
              </a:r>
              <a:r>
                <a:rPr lang="en-US" altLang="en-US" sz="1400" b="1" i="1" baseline="-25000" dirty="0">
                  <a:solidFill>
                    <a:srgbClr val="FF3399"/>
                  </a:solidFill>
                </a:rPr>
                <a:t>1</a:t>
              </a:r>
              <a:r>
                <a:rPr lang="en-US" altLang="en-US" sz="1400" b="1" i="1" dirty="0">
                  <a:solidFill>
                    <a:srgbClr val="FF3399"/>
                  </a:solidFill>
                </a:rPr>
                <a:t> is marked and </a:t>
              </a:r>
            </a:p>
            <a:p>
              <a:pPr eaLnBrk="1" hangingPunct="1"/>
              <a:r>
                <a:rPr lang="en-US" altLang="en-US" sz="1400" b="1" i="1" dirty="0">
                  <a:solidFill>
                    <a:srgbClr val="FF3399"/>
                  </a:solidFill>
                </a:rPr>
                <a:t>final TV was </a:t>
              </a:r>
              <a:r>
                <a:rPr lang="en-US" altLang="en-US" sz="1400" b="1" i="1" dirty="0" err="1">
                  <a:solidFill>
                    <a:srgbClr val="FF3399"/>
                  </a:solidFill>
                </a:rPr>
                <a:t>completed.Study</a:t>
              </a:r>
              <a:r>
                <a:rPr lang="en-US" altLang="en-US" sz="1400" b="1" i="1" dirty="0">
                  <a:solidFill>
                    <a:srgbClr val="FF3399"/>
                  </a:solidFill>
                </a:rPr>
                <a:t> illustration carefully.</a:t>
              </a:r>
            </a:p>
          </p:txBody>
        </p:sp>
      </p:grpSp>
      <p:grpSp>
        <p:nvGrpSpPr>
          <p:cNvPr id="43155" name="Group 147"/>
          <p:cNvGrpSpPr>
            <a:grpSpLocks/>
          </p:cNvGrpSpPr>
          <p:nvPr/>
        </p:nvGrpSpPr>
        <p:grpSpPr bwMode="auto">
          <a:xfrm>
            <a:off x="457200" y="5334000"/>
            <a:ext cx="2895600" cy="1066800"/>
            <a:chOff x="432" y="3552"/>
            <a:chExt cx="1824" cy="672"/>
          </a:xfrm>
        </p:grpSpPr>
        <p:sp>
          <p:nvSpPr>
            <p:cNvPr id="20554" name="AutoShape 148"/>
            <p:cNvSpPr>
              <a:spLocks noChangeArrowheads="1"/>
            </p:cNvSpPr>
            <p:nvPr/>
          </p:nvSpPr>
          <p:spPr bwMode="auto">
            <a:xfrm>
              <a:off x="432" y="3552"/>
              <a:ext cx="1824" cy="672"/>
            </a:xfrm>
            <a:prstGeom prst="wedgeRoundRectCallout">
              <a:avLst>
                <a:gd name="adj1" fmla="val 52356"/>
                <a:gd name="adj2" fmla="val -91069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/>
            </a:p>
          </p:txBody>
        </p:sp>
        <p:sp>
          <p:nvSpPr>
            <p:cNvPr id="20555" name="Text Box 149"/>
            <p:cNvSpPr txBox="1">
              <a:spLocks noChangeArrowheads="1"/>
            </p:cNvSpPr>
            <p:nvPr/>
          </p:nvSpPr>
          <p:spPr bwMode="auto">
            <a:xfrm>
              <a:off x="464" y="3618"/>
              <a:ext cx="1756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Note the difference in </a:t>
              </a:r>
            </a:p>
            <a:p>
              <a:pPr algn="ctr" eaLnBrk="1" hangingPunct="1"/>
              <a:r>
                <a:rPr lang="en-US" altLang="en-US" b="1"/>
                <a:t>construction of 3</a:t>
              </a:r>
              <a:r>
                <a:rPr lang="en-US" altLang="en-US" b="1" baseline="30000"/>
                <a:t>rd</a:t>
              </a:r>
              <a:r>
                <a:rPr lang="en-US" altLang="en-US" b="1"/>
                <a:t> step </a:t>
              </a:r>
            </a:p>
            <a:p>
              <a:pPr algn="ctr" eaLnBrk="1" hangingPunct="1"/>
              <a:r>
                <a:rPr lang="en-US" altLang="en-US" b="1"/>
                <a:t>in both solutions.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9198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3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3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3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3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0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3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3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3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3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3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3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3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3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3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3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4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4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4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3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43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43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43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43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43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43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43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43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43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43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43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4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4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43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43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43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43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43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43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43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43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 nodeType="clickPar">
                      <p:stCondLst>
                        <p:cond delay="indefinite"/>
                      </p:stCondLst>
                      <p:childTnLst>
                        <p:par>
                          <p:cTn id="3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43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43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43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4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 nodeType="clickPar">
                      <p:stCondLst>
                        <p:cond delay="indefinite"/>
                      </p:stCondLst>
                      <p:childTnLst>
                        <p:par>
                          <p:cTn id="3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43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43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Par">
                      <p:stCondLst>
                        <p:cond delay="indefinite"/>
                      </p:stCondLst>
                      <p:childTnLst>
                        <p:par>
                          <p:cTn id="3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 nodeType="clickPar">
                      <p:stCondLst>
                        <p:cond delay="indefinite"/>
                      </p:stCondLst>
                      <p:childTnLst>
                        <p:par>
                          <p:cTn id="3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Par">
                      <p:stCondLst>
                        <p:cond delay="indefinite"/>
                      </p:stCondLst>
                      <p:childTnLst>
                        <p:par>
                          <p:cTn id="3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43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43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 nodeType="clickPar">
                      <p:stCondLst>
                        <p:cond delay="indefinite"/>
                      </p:stCondLst>
                      <p:childTnLst>
                        <p:par>
                          <p:cTn id="3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43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500" fill="hold"/>
                                        <p:tgtEl>
                                          <p:spTgt spid="43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 nodeType="clickPar">
                      <p:stCondLst>
                        <p:cond delay="indefinite"/>
                      </p:stCondLst>
                      <p:childTnLst>
                        <p:par>
                          <p:cTn id="3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43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43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Par">
                      <p:stCondLst>
                        <p:cond delay="indefinite"/>
                      </p:stCondLst>
                      <p:childTnLst>
                        <p:par>
                          <p:cTn id="3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5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5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Par">
                      <p:stCondLst>
                        <p:cond delay="indefinite"/>
                      </p:stCondLst>
                      <p:childTnLst>
                        <p:par>
                          <p:cTn id="3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 nodeType="clickPar">
                      <p:stCondLst>
                        <p:cond delay="indefinite"/>
                      </p:stCondLst>
                      <p:childTnLst>
                        <p:par>
                          <p:cTn id="3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9" dur="5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0" dur="5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 nodeType="clickPar">
                      <p:stCondLst>
                        <p:cond delay="indefinite"/>
                      </p:stCondLst>
                      <p:childTnLst>
                        <p:par>
                          <p:cTn id="4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43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43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 nodeType="clickPar">
                      <p:stCondLst>
                        <p:cond delay="indefinite"/>
                      </p:stCondLst>
                      <p:childTnLst>
                        <p:par>
                          <p:cTn id="4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5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5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 nodeType="clickPar">
                      <p:stCondLst>
                        <p:cond delay="indefinite"/>
                      </p:stCondLst>
                      <p:childTnLst>
                        <p:par>
                          <p:cTn id="4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43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43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 nodeType="clickPar">
                      <p:stCondLst>
                        <p:cond delay="indefinite"/>
                      </p:stCondLst>
                      <p:childTnLst>
                        <p:par>
                          <p:cTn id="4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500" fill="hold"/>
                                        <p:tgtEl>
                                          <p:spTgt spid="43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500" fill="hold"/>
                                        <p:tgtEl>
                                          <p:spTgt spid="43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 nodeType="clickPar">
                      <p:stCondLst>
                        <p:cond delay="indefinite"/>
                      </p:stCondLst>
                      <p:childTnLst>
                        <p:par>
                          <p:cTn id="4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43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43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 nodeType="clickPar">
                      <p:stCondLst>
                        <p:cond delay="indefinite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 nodeType="clickPar">
                      <p:stCondLst>
                        <p:cond delay="indefinite"/>
                      </p:stCondLst>
                      <p:childTnLst>
                        <p:par>
                          <p:cTn id="4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1" dur="500"/>
                                        <p:tgtEl>
                                          <p:spTgt spid="4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1" grpId="0" animBg="1"/>
      <p:bldP spid="43012" grpId="0" animBg="1"/>
      <p:bldP spid="43013" grpId="0" animBg="1"/>
      <p:bldP spid="43014" grpId="0" animBg="1"/>
      <p:bldP spid="43015" grpId="0" animBg="1"/>
      <p:bldP spid="43016" grpId="0" animBg="1"/>
      <p:bldP spid="43017" grpId="0" animBg="1"/>
      <p:bldP spid="43018" grpId="0" animBg="1"/>
      <p:bldP spid="43019" grpId="0" animBg="1"/>
      <p:bldP spid="43020" grpId="0" animBg="1"/>
      <p:bldP spid="43021" grpId="0" animBg="1"/>
      <p:bldP spid="43022" grpId="0" animBg="1"/>
      <p:bldP spid="43023" grpId="0" animBg="1"/>
      <p:bldP spid="43024" grpId="0" animBg="1"/>
      <p:bldP spid="43025" grpId="0" animBg="1"/>
      <p:bldP spid="43026" grpId="0" animBg="1"/>
      <p:bldP spid="43027" grpId="0" animBg="1"/>
      <p:bldP spid="43028" grpId="0" animBg="1"/>
      <p:bldP spid="43029" grpId="0" animBg="1"/>
      <p:bldP spid="43030" grpId="0" animBg="1"/>
      <p:bldP spid="43031" grpId="0" animBg="1"/>
      <p:bldP spid="43032" grpId="0" animBg="1"/>
      <p:bldP spid="43033" grpId="0" animBg="1"/>
      <p:bldP spid="43034" grpId="0" animBg="1"/>
      <p:bldP spid="43035" grpId="0" animBg="1"/>
      <p:bldP spid="43036" grpId="0" animBg="1"/>
      <p:bldP spid="43037" grpId="0" animBg="1"/>
      <p:bldP spid="43038" grpId="0" animBg="1"/>
      <p:bldP spid="43039" grpId="0" animBg="1"/>
      <p:bldP spid="43040" grpId="0" animBg="1"/>
      <p:bldP spid="43041" grpId="0" animBg="1"/>
      <p:bldP spid="43042" grpId="0" animBg="1"/>
      <p:bldP spid="43043" grpId="0" animBg="1"/>
      <p:bldP spid="43044" grpId="0" animBg="1"/>
      <p:bldP spid="43045" grpId="0" animBg="1"/>
      <p:bldP spid="43046" grpId="0" animBg="1"/>
      <p:bldP spid="43047" grpId="0" animBg="1"/>
      <p:bldP spid="43048" grpId="0" animBg="1"/>
      <p:bldP spid="43049" grpId="0" animBg="1"/>
      <p:bldP spid="43050" grpId="0" animBg="1"/>
      <p:bldP spid="43051" grpId="0" animBg="1"/>
      <p:bldP spid="43052" grpId="0" animBg="1"/>
      <p:bldP spid="43053" grpId="0" animBg="1"/>
      <p:bldP spid="43054" grpId="0" animBg="1"/>
      <p:bldP spid="43055" grpId="0" animBg="1"/>
      <p:bldP spid="43056" grpId="0" animBg="1"/>
      <p:bldP spid="43057" grpId="0" animBg="1"/>
      <p:bldP spid="43058" grpId="0" animBg="1"/>
      <p:bldP spid="43059" grpId="0" autoUpdateAnimBg="0"/>
      <p:bldP spid="43060" grpId="0" animBg="1"/>
      <p:bldP spid="43089" grpId="0" autoUpdateAnimBg="0"/>
      <p:bldP spid="43090" grpId="0" autoUpdateAnimBg="0"/>
      <p:bldP spid="43096" grpId="0" animBg="1"/>
      <p:bldP spid="43097" grpId="0" animBg="1"/>
      <p:bldP spid="43142" grpId="0" animBg="1"/>
      <p:bldP spid="43143" grpId="0" autoUpdateAnimBg="0"/>
      <p:bldP spid="43149" grpId="0" autoUpdateAnimBg="0"/>
      <p:bldP spid="43150" grpId="0" autoUpdateAnimBg="0"/>
      <p:bldP spid="4315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0" y="457200"/>
            <a:ext cx="443826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chemeClr val="accent2"/>
                </a:solidFill>
              </a:rPr>
              <a:t>Problem 14: </a:t>
            </a:r>
            <a:r>
              <a:rPr lang="en-US" altLang="en-US" sz="1400" dirty="0">
                <a:solidFill>
                  <a:schemeClr val="accent2"/>
                </a:solidFill>
              </a:rPr>
              <a:t>End A of diameter AB of a circle is in HP</a:t>
            </a:r>
          </a:p>
          <a:p>
            <a:pPr eaLnBrk="1" hangingPunct="1"/>
            <a:r>
              <a:rPr lang="en-US" altLang="en-US" sz="1400" dirty="0">
                <a:solidFill>
                  <a:schemeClr val="accent2"/>
                </a:solidFill>
              </a:rPr>
              <a:t>and end B is in </a:t>
            </a:r>
            <a:r>
              <a:rPr lang="en-US" altLang="en-US" sz="1400" dirty="0" err="1">
                <a:solidFill>
                  <a:schemeClr val="accent2"/>
                </a:solidFill>
              </a:rPr>
              <a:t>VP.Diameter</a:t>
            </a:r>
            <a:r>
              <a:rPr lang="en-US" altLang="en-US" sz="1400" dirty="0">
                <a:solidFill>
                  <a:schemeClr val="accent2"/>
                </a:solidFill>
              </a:rPr>
              <a:t> AB, 50 mm long is </a:t>
            </a:r>
          </a:p>
          <a:p>
            <a:pPr eaLnBrk="1" hangingPunct="1"/>
            <a:r>
              <a:rPr lang="en-US" altLang="en-US" sz="1400" dirty="0">
                <a:solidFill>
                  <a:schemeClr val="accent2"/>
                </a:solidFill>
              </a:rPr>
              <a:t>         30</a:t>
            </a:r>
            <a:r>
              <a:rPr lang="en-US" altLang="en-US" sz="1400" baseline="30000" dirty="0">
                <a:solidFill>
                  <a:schemeClr val="accent2"/>
                </a:solidFill>
              </a:rPr>
              <a:t>0</a:t>
            </a:r>
            <a:r>
              <a:rPr lang="en-US" altLang="en-US" sz="1400" dirty="0">
                <a:solidFill>
                  <a:schemeClr val="accent2"/>
                </a:solidFill>
              </a:rPr>
              <a:t> &amp; 60</a:t>
            </a:r>
            <a:r>
              <a:rPr lang="en-US" altLang="en-US" sz="1400" baseline="30000" dirty="0">
                <a:solidFill>
                  <a:schemeClr val="accent2"/>
                </a:solidFill>
              </a:rPr>
              <a:t>0</a:t>
            </a:r>
            <a:r>
              <a:rPr lang="en-US" altLang="en-US" sz="1400" dirty="0">
                <a:solidFill>
                  <a:schemeClr val="accent2"/>
                </a:solidFill>
              </a:rPr>
              <a:t> inclined to HP &amp; VP respectively.</a:t>
            </a:r>
          </a:p>
          <a:p>
            <a:pPr eaLnBrk="1" hangingPunct="1"/>
            <a:r>
              <a:rPr lang="en-US" altLang="en-US" sz="1400" dirty="0">
                <a:solidFill>
                  <a:schemeClr val="accent2"/>
                </a:solidFill>
              </a:rPr>
              <a:t>         Draw projections of circle.</a:t>
            </a:r>
          </a:p>
        </p:txBody>
      </p:sp>
      <p:grpSp>
        <p:nvGrpSpPr>
          <p:cNvPr id="45059" name="Group 3"/>
          <p:cNvGrpSpPr>
            <a:grpSpLocks/>
          </p:cNvGrpSpPr>
          <p:nvPr/>
        </p:nvGrpSpPr>
        <p:grpSpPr bwMode="auto">
          <a:xfrm>
            <a:off x="0" y="2057400"/>
            <a:ext cx="6759575" cy="1676400"/>
            <a:chOff x="1296" y="1056"/>
            <a:chExt cx="4258" cy="1056"/>
          </a:xfrm>
        </p:grpSpPr>
        <p:sp>
          <p:nvSpPr>
            <p:cNvPr id="22574" name="Rectangle 4"/>
            <p:cNvSpPr>
              <a:spLocks noChangeArrowheads="1"/>
            </p:cNvSpPr>
            <p:nvPr/>
          </p:nvSpPr>
          <p:spPr bwMode="auto">
            <a:xfrm>
              <a:off x="1296" y="1056"/>
              <a:ext cx="4224" cy="1056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2575" name="Text Box 5"/>
            <p:cNvSpPr txBox="1">
              <a:spLocks noChangeArrowheads="1"/>
            </p:cNvSpPr>
            <p:nvPr/>
          </p:nvSpPr>
          <p:spPr bwMode="auto">
            <a:xfrm>
              <a:off x="1344" y="1056"/>
              <a:ext cx="4210" cy="1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FF3399"/>
                  </a:solidFill>
                </a:rPr>
                <a:t>The problem is similar to previous problem of circle – no.9.</a:t>
              </a:r>
            </a:p>
            <a:p>
              <a:pPr eaLnBrk="1" hangingPunct="1"/>
              <a:r>
                <a:rPr lang="en-US" altLang="en-US" sz="1400" b="1">
                  <a:solidFill>
                    <a:srgbClr val="FF3399"/>
                  </a:solidFill>
                </a:rPr>
                <a:t>But in the 3</a:t>
              </a:r>
              <a:r>
                <a:rPr lang="en-US" altLang="en-US" sz="1400" b="1" baseline="30000">
                  <a:solidFill>
                    <a:srgbClr val="FF3399"/>
                  </a:solidFill>
                </a:rPr>
                <a:t>rd</a:t>
              </a:r>
              <a:r>
                <a:rPr lang="en-US" altLang="en-US" sz="1400" b="1">
                  <a:solidFill>
                    <a:srgbClr val="FF3399"/>
                  </a:solidFill>
                </a:rPr>
                <a:t> step there is one more change.</a:t>
              </a:r>
            </a:p>
            <a:p>
              <a:pPr eaLnBrk="1" hangingPunct="1"/>
              <a:r>
                <a:rPr lang="en-US" altLang="en-US" sz="1400" b="1">
                  <a:solidFill>
                    <a:srgbClr val="FF3399"/>
                  </a:solidFill>
                </a:rPr>
                <a:t>Like 9</a:t>
              </a:r>
              <a:r>
                <a:rPr lang="en-US" altLang="en-US" sz="1400" b="1" baseline="30000">
                  <a:solidFill>
                    <a:srgbClr val="FF3399"/>
                  </a:solidFill>
                </a:rPr>
                <a:t>th</a:t>
              </a:r>
              <a:r>
                <a:rPr lang="en-US" altLang="en-US" sz="1400" b="1">
                  <a:solidFill>
                    <a:srgbClr val="FF3399"/>
                  </a:solidFill>
                </a:rPr>
                <a:t> problem True Length inclination of dia.AB is definitely expected </a:t>
              </a:r>
            </a:p>
            <a:p>
              <a:pPr eaLnBrk="1" hangingPunct="1"/>
              <a:r>
                <a:rPr lang="en-US" altLang="en-US" sz="1400" b="1">
                  <a:solidFill>
                    <a:srgbClr val="FF3399"/>
                  </a:solidFill>
                </a:rPr>
                <a:t>but if you carefully note - </a:t>
              </a:r>
              <a:r>
                <a:rPr lang="en-US" altLang="en-US" sz="1400" b="1">
                  <a:solidFill>
                    <a:schemeClr val="accent2"/>
                  </a:solidFill>
                </a:rPr>
                <a:t>the the SUM of it’s inclinations with HP &amp; VP is 90</a:t>
              </a:r>
              <a:r>
                <a:rPr lang="en-US" altLang="en-US" sz="1400" b="1" baseline="30000">
                  <a:solidFill>
                    <a:schemeClr val="accent2"/>
                  </a:solidFill>
                </a:rPr>
                <a:t>0</a:t>
              </a:r>
              <a:r>
                <a:rPr lang="en-US" altLang="en-US" sz="1400" b="1">
                  <a:solidFill>
                    <a:schemeClr val="accent2"/>
                  </a:solidFill>
                </a:rPr>
                <a:t>. </a:t>
              </a:r>
            </a:p>
            <a:p>
              <a:pPr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Means Line AB lies in a Profile Plane.</a:t>
              </a:r>
            </a:p>
            <a:p>
              <a:pPr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Hence it’s both Tv &amp; Fv must arrive on one single projector</a:t>
              </a:r>
              <a:r>
                <a:rPr lang="en-US" altLang="en-US" sz="1400" b="1">
                  <a:solidFill>
                    <a:srgbClr val="FF3399"/>
                  </a:solidFill>
                </a:rPr>
                <a:t>.</a:t>
              </a:r>
            </a:p>
            <a:p>
              <a:pPr eaLnBrk="1" hangingPunct="1"/>
              <a:r>
                <a:rPr lang="en-US" altLang="en-US" sz="1400"/>
                <a:t>So do the construction accordingly AND </a:t>
              </a:r>
              <a:r>
                <a:rPr lang="en-US" altLang="en-US" sz="2000" b="1" i="1" u="sng"/>
                <a:t>note the case carefully</a:t>
              </a:r>
              <a:r>
                <a:rPr lang="en-US" altLang="en-US" sz="1400"/>
                <a:t>..</a:t>
              </a:r>
            </a:p>
          </p:txBody>
        </p:sp>
      </p:grpSp>
      <p:grpSp>
        <p:nvGrpSpPr>
          <p:cNvPr id="45062" name="Group 6"/>
          <p:cNvGrpSpPr>
            <a:grpSpLocks/>
          </p:cNvGrpSpPr>
          <p:nvPr/>
        </p:nvGrpSpPr>
        <p:grpSpPr bwMode="auto">
          <a:xfrm>
            <a:off x="6172200" y="4800600"/>
            <a:ext cx="2867025" cy="1231900"/>
            <a:chOff x="3888" y="3024"/>
            <a:chExt cx="1806" cy="776"/>
          </a:xfrm>
        </p:grpSpPr>
        <p:sp>
          <p:nvSpPr>
            <p:cNvPr id="22572" name="AutoShape 7"/>
            <p:cNvSpPr>
              <a:spLocks noChangeArrowheads="1"/>
            </p:cNvSpPr>
            <p:nvPr/>
          </p:nvSpPr>
          <p:spPr bwMode="auto">
            <a:xfrm>
              <a:off x="3888" y="3024"/>
              <a:ext cx="1776" cy="768"/>
            </a:xfrm>
            <a:prstGeom prst="wedgeRoundRectCallout">
              <a:avLst>
                <a:gd name="adj1" fmla="val -73819"/>
                <a:gd name="adj2" fmla="val -40884"/>
                <a:gd name="adj3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/>
            </a:p>
          </p:txBody>
        </p:sp>
        <p:sp>
          <p:nvSpPr>
            <p:cNvPr id="22573" name="Text Box 8"/>
            <p:cNvSpPr txBox="1">
              <a:spLocks noChangeArrowheads="1"/>
            </p:cNvSpPr>
            <p:nvPr/>
          </p:nvSpPr>
          <p:spPr bwMode="auto">
            <a:xfrm>
              <a:off x="3978" y="3072"/>
              <a:ext cx="1716" cy="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SOLVE SEPARATELY</a:t>
              </a:r>
            </a:p>
            <a:p>
              <a:pPr eaLnBrk="1" hangingPunct="1"/>
              <a:r>
                <a:rPr lang="en-US" altLang="en-US" sz="1400"/>
                <a:t>ON DRAWING SHEET</a:t>
              </a:r>
            </a:p>
            <a:p>
              <a:pPr eaLnBrk="1" hangingPunct="1"/>
              <a:r>
                <a:rPr lang="en-US" altLang="en-US" sz="1400"/>
                <a:t>GIVING NAMES TO VARIOUS</a:t>
              </a:r>
            </a:p>
            <a:p>
              <a:pPr eaLnBrk="1" hangingPunct="1"/>
              <a:r>
                <a:rPr lang="en-US" altLang="en-US" sz="1400"/>
                <a:t>POINTS AS USUAL, </a:t>
              </a:r>
            </a:p>
            <a:p>
              <a:pPr eaLnBrk="1" hangingPunct="1"/>
              <a:r>
                <a:rPr lang="en-US" altLang="en-US" sz="1400"/>
                <a:t>AS THE CASE IS IMPORTANT </a:t>
              </a:r>
            </a:p>
          </p:txBody>
        </p:sp>
      </p:grpSp>
      <p:sp>
        <p:nvSpPr>
          <p:cNvPr id="45065" name="Oval 9"/>
          <p:cNvSpPr>
            <a:spLocks noChangeArrowheads="1"/>
          </p:cNvSpPr>
          <p:nvPr/>
        </p:nvSpPr>
        <p:spPr bwMode="auto">
          <a:xfrm rot="-47953">
            <a:off x="3924300" y="4024313"/>
            <a:ext cx="1484313" cy="6746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444500" y="4927600"/>
            <a:ext cx="1463675" cy="146208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444500" y="5657850"/>
            <a:ext cx="1463675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Line 12"/>
          <p:cNvSpPr>
            <a:spLocks noChangeShapeType="1"/>
          </p:cNvSpPr>
          <p:nvPr/>
        </p:nvSpPr>
        <p:spPr bwMode="auto">
          <a:xfrm>
            <a:off x="1190625" y="4941888"/>
            <a:ext cx="0" cy="1462087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9" name="Line 13"/>
          <p:cNvSpPr>
            <a:spLocks noChangeShapeType="1"/>
          </p:cNvSpPr>
          <p:nvPr/>
        </p:nvSpPr>
        <p:spPr bwMode="auto">
          <a:xfrm>
            <a:off x="220663" y="4702175"/>
            <a:ext cx="529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0" name="Line 14"/>
          <p:cNvSpPr>
            <a:spLocks noChangeShapeType="1"/>
          </p:cNvSpPr>
          <p:nvPr/>
        </p:nvSpPr>
        <p:spPr bwMode="auto">
          <a:xfrm flipV="1">
            <a:off x="444500" y="4251325"/>
            <a:ext cx="0" cy="1350963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 flipV="1">
            <a:off x="1908175" y="4251325"/>
            <a:ext cx="0" cy="1350963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2" name="Line 16"/>
          <p:cNvSpPr>
            <a:spLocks noChangeShapeType="1"/>
          </p:cNvSpPr>
          <p:nvPr/>
        </p:nvSpPr>
        <p:spPr bwMode="auto">
          <a:xfrm flipV="1">
            <a:off x="1190625" y="4251325"/>
            <a:ext cx="0" cy="676275"/>
          </a:xfrm>
          <a:prstGeom prst="line">
            <a:avLst/>
          </a:prstGeom>
          <a:noFill/>
          <a:ln w="63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>
            <a:off x="444500" y="4476750"/>
            <a:ext cx="14636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 rot="-1800000">
            <a:off x="2205038" y="4348163"/>
            <a:ext cx="14636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5" name="Line 19"/>
          <p:cNvSpPr>
            <a:spLocks noChangeShapeType="1"/>
          </p:cNvSpPr>
          <p:nvPr/>
        </p:nvSpPr>
        <p:spPr bwMode="auto">
          <a:xfrm>
            <a:off x="3584575" y="3914775"/>
            <a:ext cx="0" cy="24749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6" name="Line 20"/>
          <p:cNvSpPr>
            <a:spLocks noChangeShapeType="1"/>
          </p:cNvSpPr>
          <p:nvPr/>
        </p:nvSpPr>
        <p:spPr bwMode="auto">
          <a:xfrm>
            <a:off x="2992438" y="4251325"/>
            <a:ext cx="0" cy="213836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7" name="Line 21"/>
          <p:cNvSpPr>
            <a:spLocks noChangeShapeType="1"/>
          </p:cNvSpPr>
          <p:nvPr/>
        </p:nvSpPr>
        <p:spPr bwMode="auto">
          <a:xfrm>
            <a:off x="2330450" y="4589463"/>
            <a:ext cx="0" cy="18002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8" name="Line 22"/>
          <p:cNvSpPr>
            <a:spLocks noChangeShapeType="1"/>
          </p:cNvSpPr>
          <p:nvPr/>
        </p:nvSpPr>
        <p:spPr bwMode="auto">
          <a:xfrm>
            <a:off x="1120775" y="4927600"/>
            <a:ext cx="2589213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9" name="Line 23"/>
          <p:cNvSpPr>
            <a:spLocks noChangeShapeType="1"/>
          </p:cNvSpPr>
          <p:nvPr/>
        </p:nvSpPr>
        <p:spPr bwMode="auto">
          <a:xfrm>
            <a:off x="1908175" y="5657850"/>
            <a:ext cx="1801813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0" name="Line 24"/>
          <p:cNvSpPr>
            <a:spLocks noChangeShapeType="1"/>
          </p:cNvSpPr>
          <p:nvPr/>
        </p:nvSpPr>
        <p:spPr bwMode="auto">
          <a:xfrm>
            <a:off x="1233488" y="6389688"/>
            <a:ext cx="24765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1" name="Oval 25"/>
          <p:cNvSpPr>
            <a:spLocks noChangeArrowheads="1"/>
          </p:cNvSpPr>
          <p:nvPr/>
        </p:nvSpPr>
        <p:spPr bwMode="auto">
          <a:xfrm>
            <a:off x="2359025" y="4927600"/>
            <a:ext cx="1238250" cy="146208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82" name="Line 26"/>
          <p:cNvSpPr>
            <a:spLocks noChangeShapeType="1"/>
          </p:cNvSpPr>
          <p:nvPr/>
        </p:nvSpPr>
        <p:spPr bwMode="auto">
          <a:xfrm>
            <a:off x="2992438" y="4927600"/>
            <a:ext cx="0" cy="146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3" name="Oval 27"/>
          <p:cNvSpPr>
            <a:spLocks noChangeArrowheads="1"/>
          </p:cNvSpPr>
          <p:nvPr/>
        </p:nvSpPr>
        <p:spPr bwMode="auto">
          <a:xfrm rot="-5273593">
            <a:off x="4048126" y="4589462"/>
            <a:ext cx="1238250" cy="1463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84" name="Line 28"/>
          <p:cNvSpPr>
            <a:spLocks noChangeShapeType="1"/>
          </p:cNvSpPr>
          <p:nvPr/>
        </p:nvSpPr>
        <p:spPr bwMode="auto">
          <a:xfrm>
            <a:off x="3597275" y="3970338"/>
            <a:ext cx="16891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5" name="Line 29"/>
          <p:cNvSpPr>
            <a:spLocks noChangeShapeType="1"/>
          </p:cNvSpPr>
          <p:nvPr/>
        </p:nvSpPr>
        <p:spPr bwMode="auto">
          <a:xfrm>
            <a:off x="3035300" y="4337050"/>
            <a:ext cx="2363788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6" name="Oval 30"/>
          <p:cNvSpPr>
            <a:spLocks noChangeArrowheads="1"/>
          </p:cNvSpPr>
          <p:nvPr/>
        </p:nvSpPr>
        <p:spPr bwMode="auto">
          <a:xfrm rot="729832">
            <a:off x="3879850" y="4279900"/>
            <a:ext cx="112713" cy="1127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87" name="Oval 31"/>
          <p:cNvSpPr>
            <a:spLocks noChangeArrowheads="1"/>
          </p:cNvSpPr>
          <p:nvPr/>
        </p:nvSpPr>
        <p:spPr bwMode="auto">
          <a:xfrm rot="729832">
            <a:off x="4611688" y="4589463"/>
            <a:ext cx="112712" cy="1127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88" name="Oval 32"/>
          <p:cNvSpPr>
            <a:spLocks noChangeArrowheads="1"/>
          </p:cNvSpPr>
          <p:nvPr/>
        </p:nvSpPr>
        <p:spPr bwMode="auto">
          <a:xfrm rot="729832">
            <a:off x="5329238" y="4308475"/>
            <a:ext cx="112712" cy="1127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89" name="Oval 33"/>
          <p:cNvSpPr>
            <a:spLocks noChangeArrowheads="1"/>
          </p:cNvSpPr>
          <p:nvPr/>
        </p:nvSpPr>
        <p:spPr bwMode="auto">
          <a:xfrm rot="729832">
            <a:off x="4597400" y="3956050"/>
            <a:ext cx="112713" cy="1127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90" name="Line 34"/>
          <p:cNvSpPr>
            <a:spLocks noChangeShapeType="1"/>
          </p:cNvSpPr>
          <p:nvPr/>
        </p:nvSpPr>
        <p:spPr bwMode="auto">
          <a:xfrm flipV="1">
            <a:off x="3935413" y="3914775"/>
            <a:ext cx="0" cy="16875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1" name="Line 35"/>
          <p:cNvSpPr>
            <a:spLocks noChangeShapeType="1"/>
          </p:cNvSpPr>
          <p:nvPr/>
        </p:nvSpPr>
        <p:spPr bwMode="auto">
          <a:xfrm flipV="1">
            <a:off x="5399088" y="4027488"/>
            <a:ext cx="0" cy="15748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2" name="Line 36"/>
          <p:cNvSpPr>
            <a:spLocks noChangeShapeType="1"/>
          </p:cNvSpPr>
          <p:nvPr/>
        </p:nvSpPr>
        <p:spPr bwMode="auto">
          <a:xfrm>
            <a:off x="2359025" y="5662613"/>
            <a:ext cx="1238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3" name="Line 37"/>
          <p:cNvSpPr>
            <a:spLocks noChangeShapeType="1"/>
          </p:cNvSpPr>
          <p:nvPr/>
        </p:nvSpPr>
        <p:spPr bwMode="auto">
          <a:xfrm>
            <a:off x="3935413" y="5335588"/>
            <a:ext cx="1463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4" name="Line 38"/>
          <p:cNvSpPr>
            <a:spLocks noChangeShapeType="1"/>
          </p:cNvSpPr>
          <p:nvPr/>
        </p:nvSpPr>
        <p:spPr bwMode="auto">
          <a:xfrm>
            <a:off x="4667250" y="4702175"/>
            <a:ext cx="0" cy="1238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5" name="Line 39"/>
          <p:cNvSpPr>
            <a:spLocks noChangeShapeType="1"/>
          </p:cNvSpPr>
          <p:nvPr/>
        </p:nvSpPr>
        <p:spPr bwMode="auto">
          <a:xfrm>
            <a:off x="4724400" y="4702175"/>
            <a:ext cx="900113" cy="1238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6" name="Text Box 40"/>
          <p:cNvSpPr txBox="1">
            <a:spLocks noChangeArrowheads="1"/>
          </p:cNvSpPr>
          <p:nvPr/>
        </p:nvSpPr>
        <p:spPr bwMode="auto">
          <a:xfrm rot="3298978">
            <a:off x="5372893" y="5253832"/>
            <a:ext cx="392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TL</a:t>
            </a:r>
          </a:p>
        </p:txBody>
      </p:sp>
      <p:sp>
        <p:nvSpPr>
          <p:cNvPr id="45097" name="Line 41"/>
          <p:cNvSpPr>
            <a:spLocks noChangeShapeType="1"/>
          </p:cNvSpPr>
          <p:nvPr/>
        </p:nvSpPr>
        <p:spPr bwMode="auto">
          <a:xfrm flipH="1">
            <a:off x="4160838" y="5940425"/>
            <a:ext cx="1576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8" name="Line 42"/>
          <p:cNvSpPr>
            <a:spLocks noChangeShapeType="1"/>
          </p:cNvSpPr>
          <p:nvPr/>
        </p:nvSpPr>
        <p:spPr bwMode="auto">
          <a:xfrm>
            <a:off x="4652963" y="3886200"/>
            <a:ext cx="0" cy="90011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9" name="Text Box 43"/>
          <p:cNvSpPr txBox="1">
            <a:spLocks noChangeArrowheads="1"/>
          </p:cNvSpPr>
          <p:nvPr/>
        </p:nvSpPr>
        <p:spPr bwMode="auto">
          <a:xfrm>
            <a:off x="0" y="4565650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X</a:t>
            </a:r>
          </a:p>
        </p:txBody>
      </p:sp>
      <p:sp>
        <p:nvSpPr>
          <p:cNvPr id="45100" name="Text Box 44"/>
          <p:cNvSpPr txBox="1">
            <a:spLocks noChangeArrowheads="1"/>
          </p:cNvSpPr>
          <p:nvPr/>
        </p:nvSpPr>
        <p:spPr bwMode="auto">
          <a:xfrm>
            <a:off x="5486400" y="4565650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Y</a:t>
            </a:r>
          </a:p>
        </p:txBody>
      </p:sp>
      <p:sp>
        <p:nvSpPr>
          <p:cNvPr id="45101" name="Text Box 45"/>
          <p:cNvSpPr txBox="1">
            <a:spLocks noChangeArrowheads="1"/>
          </p:cNvSpPr>
          <p:nvPr/>
        </p:nvSpPr>
        <p:spPr bwMode="auto">
          <a:xfrm>
            <a:off x="2557463" y="4460875"/>
            <a:ext cx="444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  <a:r>
              <a:rPr lang="en-US" altLang="en-US" sz="1400" baseline="30000"/>
              <a:t>0</a:t>
            </a:r>
          </a:p>
        </p:txBody>
      </p:sp>
      <p:sp>
        <p:nvSpPr>
          <p:cNvPr id="45102" name="Text Box 46"/>
          <p:cNvSpPr txBox="1">
            <a:spLocks noChangeArrowheads="1"/>
          </p:cNvSpPr>
          <p:nvPr/>
        </p:nvSpPr>
        <p:spPr bwMode="auto">
          <a:xfrm>
            <a:off x="4822825" y="4773613"/>
            <a:ext cx="4095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60</a:t>
            </a:r>
            <a:r>
              <a:rPr lang="en-US" altLang="en-US" sz="1200" baseline="30000"/>
              <a:t>0</a:t>
            </a:r>
          </a:p>
        </p:txBody>
      </p:sp>
      <p:sp>
        <p:nvSpPr>
          <p:cNvPr id="45103" name="Text Box 47"/>
          <p:cNvSpPr txBox="1">
            <a:spLocks noChangeArrowheads="1"/>
          </p:cNvSpPr>
          <p:nvPr/>
        </p:nvSpPr>
        <p:spPr bwMode="auto">
          <a:xfrm>
            <a:off x="4495800" y="152400"/>
            <a:ext cx="43434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Read problem and answer following questions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1. Surface inclined to which plane? -------      </a:t>
            </a:r>
            <a:r>
              <a:rPr lang="en-US" altLang="en-US" sz="1600" b="1" i="1">
                <a:latin typeface="Times New Roman" panose="02020603050405020304" pitchFamily="18" charset="0"/>
              </a:rPr>
              <a:t>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2. Assumption for initial position? ------ </a:t>
            </a:r>
            <a:r>
              <a:rPr lang="en-US" altLang="en-US" sz="1600" b="1" i="1">
                <a:latin typeface="Times New Roman" panose="02020603050405020304" pitchFamily="18" charset="0"/>
              </a:rPr>
              <a:t>// to 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3. So which view will show True shape? ---   </a:t>
            </a:r>
            <a:r>
              <a:rPr lang="en-US" altLang="en-US" sz="1600" b="1" i="1">
                <a:latin typeface="Times New Roman" panose="02020603050405020304" pitchFamily="18" charset="0"/>
              </a:rPr>
              <a:t>TV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4. Which diameter horizontal?   ----------       </a:t>
            </a:r>
            <a:r>
              <a:rPr lang="en-US" altLang="en-US" sz="1600" b="1" i="1">
                <a:latin typeface="Times New Roman" panose="02020603050405020304" pitchFamily="18" charset="0"/>
              </a:rPr>
              <a:t>AB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    </a:t>
            </a:r>
            <a:r>
              <a:rPr lang="en-US" altLang="en-US" sz="1600" b="1" i="1">
                <a:latin typeface="Times New Roman" panose="02020603050405020304" pitchFamily="18" charset="0"/>
              </a:rPr>
              <a:t>Hence begin with TV,draw CIRCLE below </a:t>
            </a:r>
          </a:p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     X-Y line, taking DIA. AB  // to X-Y</a:t>
            </a:r>
            <a:endParaRPr lang="en-US" altLang="en-US" sz="2400" b="1" i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02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5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5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5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5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5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5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2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5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5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5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5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5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5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5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5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5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5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5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5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5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45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5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45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45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45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45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45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45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5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45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45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45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45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45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65" grpId="0" animBg="1"/>
      <p:bldP spid="45066" grpId="0" animBg="1"/>
      <p:bldP spid="45067" grpId="0" animBg="1"/>
      <p:bldP spid="45068" grpId="0" animBg="1"/>
      <p:bldP spid="45069" grpId="0" animBg="1"/>
      <p:bldP spid="45070" grpId="0" animBg="1"/>
      <p:bldP spid="45071" grpId="0" animBg="1"/>
      <p:bldP spid="45072" grpId="0" animBg="1"/>
      <p:bldP spid="45073" grpId="0" animBg="1"/>
      <p:bldP spid="45074" grpId="0" animBg="1"/>
      <p:bldP spid="45075" grpId="0" animBg="1"/>
      <p:bldP spid="45076" grpId="0" animBg="1"/>
      <p:bldP spid="45077" grpId="0" animBg="1"/>
      <p:bldP spid="45078" grpId="0" animBg="1"/>
      <p:bldP spid="45079" grpId="0" animBg="1"/>
      <p:bldP spid="45080" grpId="0" animBg="1"/>
      <p:bldP spid="45081" grpId="0" animBg="1"/>
      <p:bldP spid="45082" grpId="0" animBg="1"/>
      <p:bldP spid="45083" grpId="0" animBg="1"/>
      <p:bldP spid="45084" grpId="0" animBg="1"/>
      <p:bldP spid="45085" grpId="0" animBg="1"/>
      <p:bldP spid="45086" grpId="0" animBg="1"/>
      <p:bldP spid="45087" grpId="0" animBg="1"/>
      <p:bldP spid="45088" grpId="0" animBg="1"/>
      <p:bldP spid="45089" grpId="0" animBg="1"/>
      <p:bldP spid="45090" grpId="0" animBg="1"/>
      <p:bldP spid="45091" grpId="0" animBg="1"/>
      <p:bldP spid="45092" grpId="0" animBg="1"/>
      <p:bldP spid="45093" grpId="0" animBg="1"/>
      <p:bldP spid="45094" grpId="0" animBg="1"/>
      <p:bldP spid="45095" grpId="0" animBg="1"/>
      <p:bldP spid="45096" grpId="0" autoUpdateAnimBg="0"/>
      <p:bldP spid="45097" grpId="0" animBg="1"/>
      <p:bldP spid="45098" grpId="0" animBg="1"/>
      <p:bldP spid="45099" grpId="0" autoUpdateAnimBg="0"/>
      <p:bldP spid="45100" grpId="0" autoUpdateAnimBg="0"/>
      <p:bldP spid="45101" grpId="0" autoUpdateAnimBg="0"/>
      <p:bldP spid="45102" grpId="0" autoUpdateAnimBg="0"/>
      <p:bldP spid="4510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/>
          <p:cNvGrpSpPr>
            <a:grpSpLocks/>
          </p:cNvGrpSpPr>
          <p:nvPr/>
        </p:nvGrpSpPr>
        <p:grpSpPr bwMode="auto">
          <a:xfrm>
            <a:off x="6954838" y="4724400"/>
            <a:ext cx="2076450" cy="1219200"/>
            <a:chOff x="4381" y="2976"/>
            <a:chExt cx="1308" cy="768"/>
          </a:xfrm>
        </p:grpSpPr>
        <p:sp>
          <p:nvSpPr>
            <p:cNvPr id="24655" name="AutoShape 3"/>
            <p:cNvSpPr>
              <a:spLocks noChangeArrowheads="1"/>
            </p:cNvSpPr>
            <p:nvPr/>
          </p:nvSpPr>
          <p:spPr bwMode="auto">
            <a:xfrm>
              <a:off x="4416" y="2976"/>
              <a:ext cx="1200" cy="768"/>
            </a:xfrm>
            <a:prstGeom prst="wedgeRoundRectCallout">
              <a:avLst>
                <a:gd name="adj1" fmla="val -59000"/>
                <a:gd name="adj2" fmla="val -49477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/>
            </a:p>
          </p:txBody>
        </p:sp>
        <p:sp>
          <p:nvSpPr>
            <p:cNvPr id="24656" name="Text Box 4"/>
            <p:cNvSpPr txBox="1">
              <a:spLocks noChangeArrowheads="1"/>
            </p:cNvSpPr>
            <p:nvPr/>
          </p:nvSpPr>
          <p:spPr bwMode="auto">
            <a:xfrm>
              <a:off x="4381" y="2976"/>
              <a:ext cx="1308" cy="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As 3</a:t>
              </a:r>
              <a:r>
                <a:rPr lang="en-US" altLang="en-US" sz="1400" b="1" baseline="30000">
                  <a:solidFill>
                    <a:schemeClr val="accent2"/>
                  </a:solidFill>
                </a:rPr>
                <a:t>rd</a:t>
              </a:r>
              <a:r>
                <a:rPr lang="en-US" altLang="en-US" sz="1400" b="1">
                  <a:solidFill>
                    <a:schemeClr val="accent2"/>
                  </a:solidFill>
                </a:rPr>
                <a:t> step </a:t>
              </a:r>
            </a:p>
            <a:p>
              <a:pPr algn="ctr"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redraw 2</a:t>
              </a:r>
              <a:r>
                <a:rPr lang="en-US" altLang="en-US" sz="1400" b="1" baseline="30000">
                  <a:solidFill>
                    <a:schemeClr val="accent2"/>
                  </a:solidFill>
                </a:rPr>
                <a:t>nd</a:t>
              </a:r>
              <a:r>
                <a:rPr lang="en-US" altLang="en-US" sz="1400" b="1">
                  <a:solidFill>
                    <a:schemeClr val="accent2"/>
                  </a:solidFill>
                </a:rPr>
                <a:t> Tv keeping </a:t>
              </a:r>
            </a:p>
            <a:p>
              <a:pPr algn="ctr"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side DE on xy line. </a:t>
              </a:r>
            </a:p>
            <a:p>
              <a:pPr algn="ctr"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Because it is in VP</a:t>
              </a:r>
            </a:p>
            <a:p>
              <a:pPr algn="ctr"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 as said in problem. </a:t>
              </a:r>
            </a:p>
          </p:txBody>
        </p:sp>
      </p:grpSp>
      <p:sp>
        <p:nvSpPr>
          <p:cNvPr id="47109" name="AutoShape 5"/>
          <p:cNvSpPr>
            <a:spLocks noChangeArrowheads="1"/>
          </p:cNvSpPr>
          <p:nvPr/>
        </p:nvSpPr>
        <p:spPr bwMode="auto">
          <a:xfrm rot="5400000">
            <a:off x="3220244" y="4339431"/>
            <a:ext cx="1066800" cy="922338"/>
          </a:xfrm>
          <a:prstGeom prst="hexagon">
            <a:avLst>
              <a:gd name="adj" fmla="val 28916"/>
              <a:gd name="vf" fmla="val 11547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400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>
            <a:off x="3063875" y="41148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V="1">
            <a:off x="3292475" y="3962400"/>
            <a:ext cx="0" cy="609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 flipV="1">
            <a:off x="4206875" y="3962400"/>
            <a:ext cx="0" cy="685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 flipV="1">
            <a:off x="3749675" y="39624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4" name="Line 10"/>
          <p:cNvSpPr>
            <a:spLocks noChangeShapeType="1"/>
          </p:cNvSpPr>
          <p:nvPr/>
        </p:nvSpPr>
        <p:spPr bwMode="auto">
          <a:xfrm>
            <a:off x="3292475" y="4114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 rot="-2700000">
            <a:off x="4654550" y="3800475"/>
            <a:ext cx="9144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>
            <a:off x="5426075" y="3429000"/>
            <a:ext cx="0" cy="1905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5121275" y="3733800"/>
            <a:ext cx="0" cy="1600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8" name="Line 14"/>
          <p:cNvSpPr>
            <a:spLocks noChangeShapeType="1"/>
          </p:cNvSpPr>
          <p:nvPr/>
        </p:nvSpPr>
        <p:spPr bwMode="auto">
          <a:xfrm>
            <a:off x="4806950" y="4114800"/>
            <a:ext cx="0" cy="1219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9" name="Line 15"/>
          <p:cNvSpPr>
            <a:spLocks noChangeShapeType="1"/>
          </p:cNvSpPr>
          <p:nvPr/>
        </p:nvSpPr>
        <p:spPr bwMode="auto">
          <a:xfrm>
            <a:off x="3749675" y="4267200"/>
            <a:ext cx="1447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0" name="Line 16"/>
          <p:cNvSpPr>
            <a:spLocks noChangeShapeType="1"/>
          </p:cNvSpPr>
          <p:nvPr/>
        </p:nvSpPr>
        <p:spPr bwMode="auto">
          <a:xfrm>
            <a:off x="4206875" y="4533900"/>
            <a:ext cx="990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>
            <a:off x="4206875" y="5048250"/>
            <a:ext cx="990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>
            <a:off x="3749675" y="5334000"/>
            <a:ext cx="1447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3" name="AutoShape 19"/>
          <p:cNvSpPr>
            <a:spLocks noChangeArrowheads="1"/>
          </p:cNvSpPr>
          <p:nvPr/>
        </p:nvSpPr>
        <p:spPr bwMode="auto">
          <a:xfrm rot="5400000">
            <a:off x="4587875" y="4495800"/>
            <a:ext cx="1066800" cy="609600"/>
          </a:xfrm>
          <a:prstGeom prst="hexagon">
            <a:avLst>
              <a:gd name="adj" fmla="val 43750"/>
              <a:gd name="vf" fmla="val 11547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7124" name="AutoShape 20"/>
          <p:cNvSpPr>
            <a:spLocks noChangeArrowheads="1"/>
          </p:cNvSpPr>
          <p:nvPr/>
        </p:nvSpPr>
        <p:spPr bwMode="auto">
          <a:xfrm flipH="1" flipV="1">
            <a:off x="5884863" y="4114800"/>
            <a:ext cx="1066800" cy="609600"/>
          </a:xfrm>
          <a:prstGeom prst="hexagon">
            <a:avLst>
              <a:gd name="adj" fmla="val 43750"/>
              <a:gd name="vf" fmla="val 11547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7125" name="Line 21"/>
          <p:cNvSpPr>
            <a:spLocks noChangeShapeType="1"/>
          </p:cNvSpPr>
          <p:nvPr/>
        </p:nvSpPr>
        <p:spPr bwMode="auto">
          <a:xfrm flipV="1">
            <a:off x="5884863" y="34290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6" name="Line 22"/>
          <p:cNvSpPr>
            <a:spLocks noChangeShapeType="1"/>
          </p:cNvSpPr>
          <p:nvPr/>
        </p:nvSpPr>
        <p:spPr bwMode="auto">
          <a:xfrm flipV="1">
            <a:off x="6161088" y="3429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7" name="Line 23"/>
          <p:cNvSpPr>
            <a:spLocks noChangeShapeType="1"/>
          </p:cNvSpPr>
          <p:nvPr/>
        </p:nvSpPr>
        <p:spPr bwMode="auto">
          <a:xfrm flipV="1">
            <a:off x="6665913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8" name="Line 24"/>
          <p:cNvSpPr>
            <a:spLocks noChangeShapeType="1"/>
          </p:cNvSpPr>
          <p:nvPr/>
        </p:nvSpPr>
        <p:spPr bwMode="auto">
          <a:xfrm flipV="1">
            <a:off x="6951663" y="34290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9" name="Line 25"/>
          <p:cNvSpPr>
            <a:spLocks noChangeShapeType="1"/>
          </p:cNvSpPr>
          <p:nvPr/>
        </p:nvSpPr>
        <p:spPr bwMode="auto">
          <a:xfrm>
            <a:off x="5426075" y="3505200"/>
            <a:ext cx="1371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0" name="Line 26"/>
          <p:cNvSpPr>
            <a:spLocks noChangeShapeType="1"/>
          </p:cNvSpPr>
          <p:nvPr/>
        </p:nvSpPr>
        <p:spPr bwMode="auto">
          <a:xfrm>
            <a:off x="5121275" y="3810000"/>
            <a:ext cx="16764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1" name="AutoShape 27"/>
          <p:cNvSpPr>
            <a:spLocks noChangeArrowheads="1"/>
          </p:cNvSpPr>
          <p:nvPr/>
        </p:nvSpPr>
        <p:spPr bwMode="auto">
          <a:xfrm>
            <a:off x="5884863" y="3505200"/>
            <a:ext cx="1066800" cy="609600"/>
          </a:xfrm>
          <a:prstGeom prst="hexagon">
            <a:avLst>
              <a:gd name="adj" fmla="val 43750"/>
              <a:gd name="vf" fmla="val 11547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7132" name="Text Box 28"/>
          <p:cNvSpPr txBox="1">
            <a:spLocks noChangeArrowheads="1"/>
          </p:cNvSpPr>
          <p:nvPr/>
        </p:nvSpPr>
        <p:spPr bwMode="auto">
          <a:xfrm>
            <a:off x="2819400" y="3821113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X</a:t>
            </a:r>
          </a:p>
        </p:txBody>
      </p: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7104063" y="3810000"/>
            <a:ext cx="303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Y</a:t>
            </a:r>
          </a:p>
        </p:txBody>
      </p:sp>
      <p:grpSp>
        <p:nvGrpSpPr>
          <p:cNvPr id="47134" name="Group 30"/>
          <p:cNvGrpSpPr>
            <a:grpSpLocks/>
          </p:cNvGrpSpPr>
          <p:nvPr/>
        </p:nvGrpSpPr>
        <p:grpSpPr bwMode="auto">
          <a:xfrm>
            <a:off x="3048000" y="4110038"/>
            <a:ext cx="1397000" cy="1452562"/>
            <a:chOff x="2630" y="861"/>
            <a:chExt cx="880" cy="915"/>
          </a:xfrm>
        </p:grpSpPr>
        <p:sp>
          <p:nvSpPr>
            <p:cNvPr id="24649" name="Text Box 31"/>
            <p:cNvSpPr txBox="1">
              <a:spLocks noChangeArrowheads="1"/>
            </p:cNvSpPr>
            <p:nvPr/>
          </p:nvSpPr>
          <p:spPr bwMode="auto">
            <a:xfrm>
              <a:off x="2630" y="1015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</a:p>
          </p:txBody>
        </p:sp>
        <p:sp>
          <p:nvSpPr>
            <p:cNvPr id="24650" name="Text Box 32"/>
            <p:cNvSpPr txBox="1">
              <a:spLocks noChangeArrowheads="1"/>
            </p:cNvSpPr>
            <p:nvPr/>
          </p:nvSpPr>
          <p:spPr bwMode="auto">
            <a:xfrm>
              <a:off x="2654" y="1399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</a:p>
          </p:txBody>
        </p:sp>
        <p:sp>
          <p:nvSpPr>
            <p:cNvPr id="24651" name="Text Box 33"/>
            <p:cNvSpPr txBox="1">
              <a:spLocks noChangeArrowheads="1"/>
            </p:cNvSpPr>
            <p:nvPr/>
          </p:nvSpPr>
          <p:spPr bwMode="auto">
            <a:xfrm>
              <a:off x="3014" y="15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</a:p>
          </p:txBody>
        </p:sp>
        <p:sp>
          <p:nvSpPr>
            <p:cNvPr id="24652" name="Text Box 34"/>
            <p:cNvSpPr txBox="1">
              <a:spLocks noChangeArrowheads="1"/>
            </p:cNvSpPr>
            <p:nvPr/>
          </p:nvSpPr>
          <p:spPr bwMode="auto">
            <a:xfrm>
              <a:off x="3312" y="1392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</a:p>
          </p:txBody>
        </p:sp>
        <p:sp>
          <p:nvSpPr>
            <p:cNvPr id="24653" name="Text Box 35"/>
            <p:cNvSpPr txBox="1">
              <a:spLocks noChangeArrowheads="1"/>
            </p:cNvSpPr>
            <p:nvPr/>
          </p:nvSpPr>
          <p:spPr bwMode="auto">
            <a:xfrm>
              <a:off x="3332" y="1015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e</a:t>
              </a:r>
            </a:p>
          </p:txBody>
        </p:sp>
        <p:sp>
          <p:nvSpPr>
            <p:cNvPr id="24654" name="Text Box 36"/>
            <p:cNvSpPr txBox="1">
              <a:spLocks noChangeArrowheads="1"/>
            </p:cNvSpPr>
            <p:nvPr/>
          </p:nvSpPr>
          <p:spPr bwMode="auto">
            <a:xfrm>
              <a:off x="2918" y="861"/>
              <a:ext cx="14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f</a:t>
              </a:r>
            </a:p>
          </p:txBody>
        </p:sp>
      </p:grpSp>
      <p:sp>
        <p:nvSpPr>
          <p:cNvPr id="47141" name="Rectangle 37"/>
          <p:cNvSpPr>
            <a:spLocks noChangeArrowheads="1"/>
          </p:cNvSpPr>
          <p:nvPr/>
        </p:nvSpPr>
        <p:spPr bwMode="auto">
          <a:xfrm>
            <a:off x="228600" y="228600"/>
            <a:ext cx="399500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chemeClr val="accent2"/>
                </a:solidFill>
              </a:rPr>
              <a:t>Problem 15: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</a:rPr>
              <a:t>A hexagonal lamina has its one side in HP and 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</a:rPr>
              <a:t>Its apposite parallel side is 25mm above </a:t>
            </a:r>
            <a:r>
              <a:rPr lang="en-US" altLang="en-US" sz="1400" dirty="0" err="1">
                <a:solidFill>
                  <a:srgbClr val="000000"/>
                </a:solidFill>
              </a:rPr>
              <a:t>Hp</a:t>
            </a:r>
            <a:r>
              <a:rPr lang="en-US" altLang="en-US" sz="1400" dirty="0">
                <a:solidFill>
                  <a:srgbClr val="000000"/>
                </a:solidFill>
              </a:rPr>
              <a:t> and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</a:rPr>
              <a:t>In </a:t>
            </a:r>
            <a:r>
              <a:rPr lang="en-US" altLang="en-US" sz="1400" dirty="0" err="1">
                <a:solidFill>
                  <a:srgbClr val="000000"/>
                </a:solidFill>
              </a:rPr>
              <a:t>Vp</a:t>
            </a:r>
            <a:r>
              <a:rPr lang="en-US" altLang="en-US" sz="1400" dirty="0">
                <a:solidFill>
                  <a:srgbClr val="000000"/>
                </a:solidFill>
              </a:rPr>
              <a:t>.  Draw it’s projections. 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</a:rPr>
              <a:t>Take side of hexagon 30 mm long.</a:t>
            </a:r>
          </a:p>
        </p:txBody>
      </p:sp>
      <p:grpSp>
        <p:nvGrpSpPr>
          <p:cNvPr id="47142" name="Group 38"/>
          <p:cNvGrpSpPr>
            <a:grpSpLocks/>
          </p:cNvGrpSpPr>
          <p:nvPr/>
        </p:nvGrpSpPr>
        <p:grpSpPr bwMode="auto">
          <a:xfrm>
            <a:off x="76200" y="1905000"/>
            <a:ext cx="4991100" cy="1371600"/>
            <a:chOff x="48" y="1200"/>
            <a:chExt cx="3144" cy="864"/>
          </a:xfrm>
        </p:grpSpPr>
        <p:sp>
          <p:nvSpPr>
            <p:cNvPr id="24647" name="AutoShape 39"/>
            <p:cNvSpPr>
              <a:spLocks noChangeArrowheads="1"/>
            </p:cNvSpPr>
            <p:nvPr/>
          </p:nvSpPr>
          <p:spPr bwMode="auto">
            <a:xfrm>
              <a:off x="48" y="1200"/>
              <a:ext cx="3072" cy="864"/>
            </a:xfrm>
            <a:prstGeom prst="wedgeRoundRectCallout">
              <a:avLst>
                <a:gd name="adj1" fmla="val 38282"/>
                <a:gd name="adj2" fmla="val 63079"/>
                <a:gd name="adj3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/>
            </a:p>
          </p:txBody>
        </p:sp>
        <p:sp>
          <p:nvSpPr>
            <p:cNvPr id="24648" name="Text Box 40"/>
            <p:cNvSpPr txBox="1">
              <a:spLocks noChangeArrowheads="1"/>
            </p:cNvSpPr>
            <p:nvPr/>
          </p:nvSpPr>
          <p:spPr bwMode="auto">
            <a:xfrm>
              <a:off x="87" y="1248"/>
              <a:ext cx="3105" cy="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FF3300"/>
                  </a:solidFill>
                </a:rPr>
                <a:t>ONLY CHANGE is the manner in which surface inclination </a:t>
              </a:r>
            </a:p>
            <a:p>
              <a:pPr eaLnBrk="1" hangingPunct="1"/>
              <a:r>
                <a:rPr lang="en-US" altLang="en-US" sz="1400">
                  <a:solidFill>
                    <a:srgbClr val="FF3300"/>
                  </a:solidFill>
                </a:rPr>
                <a:t>is described:</a:t>
              </a:r>
            </a:p>
            <a:p>
              <a:pPr eaLnBrk="1" hangingPunct="1"/>
              <a:r>
                <a:rPr lang="en-US" altLang="en-US" sz="1400">
                  <a:solidFill>
                    <a:srgbClr val="FF3300"/>
                  </a:solidFill>
                </a:rPr>
                <a:t>One side on Hp &amp; it’s opposite side 25 mm above Hp.</a:t>
              </a:r>
            </a:p>
            <a:p>
              <a:pPr eaLnBrk="1" hangingPunct="1"/>
              <a:r>
                <a:rPr lang="en-US" altLang="en-US" sz="1400">
                  <a:solidFill>
                    <a:srgbClr val="FF3300"/>
                  </a:solidFill>
                </a:rPr>
                <a:t>Hence redraw 1</a:t>
              </a:r>
              <a:r>
                <a:rPr lang="en-US" altLang="en-US" sz="1400" baseline="30000">
                  <a:solidFill>
                    <a:srgbClr val="FF3300"/>
                  </a:solidFill>
                </a:rPr>
                <a:t>st</a:t>
              </a:r>
              <a:r>
                <a:rPr lang="en-US" altLang="en-US" sz="1400">
                  <a:solidFill>
                    <a:srgbClr val="FF3300"/>
                  </a:solidFill>
                </a:rPr>
                <a:t> Fv as a 2</a:t>
              </a:r>
              <a:r>
                <a:rPr lang="en-US" altLang="en-US" sz="1400" baseline="30000">
                  <a:solidFill>
                    <a:srgbClr val="FF3300"/>
                  </a:solidFill>
                </a:rPr>
                <a:t>nd</a:t>
              </a:r>
              <a:r>
                <a:rPr lang="en-US" altLang="en-US" sz="1400">
                  <a:solidFill>
                    <a:srgbClr val="FF3300"/>
                  </a:solidFill>
                </a:rPr>
                <a:t> Fv making above arrangement.</a:t>
              </a:r>
            </a:p>
            <a:p>
              <a:pPr eaLnBrk="1" hangingPunct="1"/>
              <a:r>
                <a:rPr lang="en-US" altLang="en-US" sz="1400">
                  <a:solidFill>
                    <a:srgbClr val="FF3300"/>
                  </a:solidFill>
                </a:rPr>
                <a:t>Keep a’b’ on xy &amp; d’e’ 25 mm above xy. </a:t>
              </a:r>
            </a:p>
          </p:txBody>
        </p:sp>
      </p:grpSp>
      <p:grpSp>
        <p:nvGrpSpPr>
          <p:cNvPr id="47145" name="Group 41"/>
          <p:cNvGrpSpPr>
            <a:grpSpLocks/>
          </p:cNvGrpSpPr>
          <p:nvPr/>
        </p:nvGrpSpPr>
        <p:grpSpPr bwMode="auto">
          <a:xfrm>
            <a:off x="4286250" y="3448050"/>
            <a:ext cx="990600" cy="685800"/>
            <a:chOff x="3354" y="444"/>
            <a:chExt cx="624" cy="432"/>
          </a:xfrm>
        </p:grpSpPr>
        <p:sp>
          <p:nvSpPr>
            <p:cNvPr id="24644" name="Line 42"/>
            <p:cNvSpPr>
              <a:spLocks noChangeShapeType="1"/>
            </p:cNvSpPr>
            <p:nvPr/>
          </p:nvSpPr>
          <p:spPr bwMode="auto">
            <a:xfrm flipH="1">
              <a:off x="3354" y="47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5" name="Line 43"/>
            <p:cNvSpPr>
              <a:spLocks noChangeShapeType="1"/>
            </p:cNvSpPr>
            <p:nvPr/>
          </p:nvSpPr>
          <p:spPr bwMode="auto">
            <a:xfrm>
              <a:off x="3504" y="444"/>
              <a:ext cx="0" cy="43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6" name="Text Box 44"/>
            <p:cNvSpPr txBox="1">
              <a:spLocks noChangeArrowheads="1"/>
            </p:cNvSpPr>
            <p:nvPr/>
          </p:nvSpPr>
          <p:spPr bwMode="auto">
            <a:xfrm>
              <a:off x="3492" y="588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000" b="1"/>
                <a:t>25</a:t>
              </a:r>
            </a:p>
          </p:txBody>
        </p:sp>
      </p:grpSp>
      <p:grpSp>
        <p:nvGrpSpPr>
          <p:cNvPr id="47149" name="Group 45"/>
          <p:cNvGrpSpPr>
            <a:grpSpLocks/>
          </p:cNvGrpSpPr>
          <p:nvPr/>
        </p:nvGrpSpPr>
        <p:grpSpPr bwMode="auto">
          <a:xfrm>
            <a:off x="3044825" y="3867150"/>
            <a:ext cx="1358900" cy="304800"/>
            <a:chOff x="2592" y="432"/>
            <a:chExt cx="856" cy="192"/>
          </a:xfrm>
        </p:grpSpPr>
        <p:sp>
          <p:nvSpPr>
            <p:cNvPr id="24638" name="Text Box 46"/>
            <p:cNvSpPr txBox="1">
              <a:spLocks noChangeArrowheads="1"/>
            </p:cNvSpPr>
            <p:nvPr/>
          </p:nvSpPr>
          <p:spPr bwMode="auto">
            <a:xfrm>
              <a:off x="3006" y="438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f’</a:t>
              </a:r>
            </a:p>
          </p:txBody>
        </p:sp>
        <p:sp>
          <p:nvSpPr>
            <p:cNvPr id="24639" name="Text Box 47"/>
            <p:cNvSpPr txBox="1">
              <a:spLocks noChangeArrowheads="1"/>
            </p:cNvSpPr>
            <p:nvPr/>
          </p:nvSpPr>
          <p:spPr bwMode="auto">
            <a:xfrm>
              <a:off x="3258" y="444"/>
              <a:ext cx="19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e’</a:t>
              </a:r>
            </a:p>
          </p:txBody>
        </p:sp>
        <p:sp>
          <p:nvSpPr>
            <p:cNvPr id="24640" name="Text Box 48"/>
            <p:cNvSpPr txBox="1">
              <a:spLocks noChangeArrowheads="1"/>
            </p:cNvSpPr>
            <p:nvPr/>
          </p:nvSpPr>
          <p:spPr bwMode="auto">
            <a:xfrm>
              <a:off x="3192" y="451"/>
              <a:ext cx="19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d’</a:t>
              </a:r>
            </a:p>
          </p:txBody>
        </p:sp>
        <p:sp>
          <p:nvSpPr>
            <p:cNvPr id="24641" name="Text Box 49"/>
            <p:cNvSpPr txBox="1">
              <a:spLocks noChangeArrowheads="1"/>
            </p:cNvSpPr>
            <p:nvPr/>
          </p:nvSpPr>
          <p:spPr bwMode="auto">
            <a:xfrm>
              <a:off x="2928" y="438"/>
              <a:ext cx="18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c’</a:t>
              </a:r>
            </a:p>
          </p:txBody>
        </p:sp>
        <p:sp>
          <p:nvSpPr>
            <p:cNvPr id="24642" name="Text Box 50"/>
            <p:cNvSpPr txBox="1">
              <a:spLocks noChangeArrowheads="1"/>
            </p:cNvSpPr>
            <p:nvPr/>
          </p:nvSpPr>
          <p:spPr bwMode="auto">
            <a:xfrm>
              <a:off x="2670" y="432"/>
              <a:ext cx="19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b’</a:t>
              </a:r>
            </a:p>
          </p:txBody>
        </p:sp>
        <p:sp>
          <p:nvSpPr>
            <p:cNvPr id="24643" name="Text Box 51"/>
            <p:cNvSpPr txBox="1">
              <a:spLocks noChangeArrowheads="1"/>
            </p:cNvSpPr>
            <p:nvPr/>
          </p:nvSpPr>
          <p:spPr bwMode="auto">
            <a:xfrm>
              <a:off x="2592" y="432"/>
              <a:ext cx="20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a’</a:t>
              </a:r>
            </a:p>
          </p:txBody>
        </p:sp>
      </p:grpSp>
      <p:grpSp>
        <p:nvGrpSpPr>
          <p:cNvPr id="47156" name="Group 52"/>
          <p:cNvGrpSpPr>
            <a:grpSpLocks/>
          </p:cNvGrpSpPr>
          <p:nvPr/>
        </p:nvGrpSpPr>
        <p:grpSpPr bwMode="auto">
          <a:xfrm rot="-2633105">
            <a:off x="4349750" y="3600450"/>
            <a:ext cx="1358900" cy="304800"/>
            <a:chOff x="2592" y="432"/>
            <a:chExt cx="856" cy="192"/>
          </a:xfrm>
        </p:grpSpPr>
        <p:sp>
          <p:nvSpPr>
            <p:cNvPr id="24632" name="Text Box 53"/>
            <p:cNvSpPr txBox="1">
              <a:spLocks noChangeArrowheads="1"/>
            </p:cNvSpPr>
            <p:nvPr/>
          </p:nvSpPr>
          <p:spPr bwMode="auto">
            <a:xfrm>
              <a:off x="3006" y="438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f’</a:t>
              </a:r>
            </a:p>
          </p:txBody>
        </p:sp>
        <p:sp>
          <p:nvSpPr>
            <p:cNvPr id="24633" name="Text Box 54"/>
            <p:cNvSpPr txBox="1">
              <a:spLocks noChangeArrowheads="1"/>
            </p:cNvSpPr>
            <p:nvPr/>
          </p:nvSpPr>
          <p:spPr bwMode="auto">
            <a:xfrm>
              <a:off x="3258" y="444"/>
              <a:ext cx="19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e’</a:t>
              </a:r>
            </a:p>
          </p:txBody>
        </p:sp>
        <p:sp>
          <p:nvSpPr>
            <p:cNvPr id="24634" name="Text Box 55"/>
            <p:cNvSpPr txBox="1">
              <a:spLocks noChangeArrowheads="1"/>
            </p:cNvSpPr>
            <p:nvPr/>
          </p:nvSpPr>
          <p:spPr bwMode="auto">
            <a:xfrm>
              <a:off x="3192" y="451"/>
              <a:ext cx="19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d’</a:t>
              </a:r>
            </a:p>
          </p:txBody>
        </p:sp>
        <p:sp>
          <p:nvSpPr>
            <p:cNvPr id="24635" name="Text Box 56"/>
            <p:cNvSpPr txBox="1">
              <a:spLocks noChangeArrowheads="1"/>
            </p:cNvSpPr>
            <p:nvPr/>
          </p:nvSpPr>
          <p:spPr bwMode="auto">
            <a:xfrm>
              <a:off x="2928" y="438"/>
              <a:ext cx="18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c’</a:t>
              </a:r>
            </a:p>
          </p:txBody>
        </p:sp>
        <p:sp>
          <p:nvSpPr>
            <p:cNvPr id="24636" name="Text Box 57"/>
            <p:cNvSpPr txBox="1">
              <a:spLocks noChangeArrowheads="1"/>
            </p:cNvSpPr>
            <p:nvPr/>
          </p:nvSpPr>
          <p:spPr bwMode="auto">
            <a:xfrm>
              <a:off x="2670" y="432"/>
              <a:ext cx="19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b’</a:t>
              </a:r>
            </a:p>
          </p:txBody>
        </p:sp>
        <p:sp>
          <p:nvSpPr>
            <p:cNvPr id="24637" name="Text Box 58"/>
            <p:cNvSpPr txBox="1">
              <a:spLocks noChangeArrowheads="1"/>
            </p:cNvSpPr>
            <p:nvPr/>
          </p:nvSpPr>
          <p:spPr bwMode="auto">
            <a:xfrm>
              <a:off x="2592" y="432"/>
              <a:ext cx="20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a’</a:t>
              </a:r>
            </a:p>
          </p:txBody>
        </p:sp>
      </p:grpSp>
      <p:grpSp>
        <p:nvGrpSpPr>
          <p:cNvPr id="47163" name="Group 59"/>
          <p:cNvGrpSpPr>
            <a:grpSpLocks/>
          </p:cNvGrpSpPr>
          <p:nvPr/>
        </p:nvGrpSpPr>
        <p:grpSpPr bwMode="auto">
          <a:xfrm>
            <a:off x="4587875" y="4105275"/>
            <a:ext cx="1087438" cy="1427163"/>
            <a:chOff x="3600" y="858"/>
            <a:chExt cx="685" cy="899"/>
          </a:xfrm>
        </p:grpSpPr>
        <p:sp>
          <p:nvSpPr>
            <p:cNvPr id="24626" name="Text Box 60"/>
            <p:cNvSpPr txBox="1">
              <a:spLocks noChangeArrowheads="1"/>
            </p:cNvSpPr>
            <p:nvPr/>
          </p:nvSpPr>
          <p:spPr bwMode="auto">
            <a:xfrm>
              <a:off x="3600" y="1056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a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7" name="Text Box 61"/>
            <p:cNvSpPr txBox="1">
              <a:spLocks noChangeArrowheads="1"/>
            </p:cNvSpPr>
            <p:nvPr/>
          </p:nvSpPr>
          <p:spPr bwMode="auto">
            <a:xfrm>
              <a:off x="3600" y="1392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b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8" name="Text Box 62"/>
            <p:cNvSpPr txBox="1">
              <a:spLocks noChangeArrowheads="1"/>
            </p:cNvSpPr>
            <p:nvPr/>
          </p:nvSpPr>
          <p:spPr bwMode="auto">
            <a:xfrm>
              <a:off x="3840" y="1584"/>
              <a:ext cx="2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c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9" name="Text Box 63"/>
            <p:cNvSpPr txBox="1">
              <a:spLocks noChangeArrowheads="1"/>
            </p:cNvSpPr>
            <p:nvPr/>
          </p:nvSpPr>
          <p:spPr bwMode="auto">
            <a:xfrm>
              <a:off x="4080" y="1392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d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30" name="Text Box 64"/>
            <p:cNvSpPr txBox="1">
              <a:spLocks noChangeArrowheads="1"/>
            </p:cNvSpPr>
            <p:nvPr/>
          </p:nvSpPr>
          <p:spPr bwMode="auto">
            <a:xfrm>
              <a:off x="4080" y="1056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e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31" name="Text Box 65"/>
            <p:cNvSpPr txBox="1">
              <a:spLocks noChangeArrowheads="1"/>
            </p:cNvSpPr>
            <p:nvPr/>
          </p:nvSpPr>
          <p:spPr bwMode="auto">
            <a:xfrm>
              <a:off x="3912" y="858"/>
              <a:ext cx="17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f</a:t>
              </a:r>
              <a:r>
                <a:rPr lang="en-US" altLang="en-US" sz="1200" baseline="-25000"/>
                <a:t>1</a:t>
              </a:r>
            </a:p>
          </p:txBody>
        </p:sp>
      </p:grpSp>
      <p:grpSp>
        <p:nvGrpSpPr>
          <p:cNvPr id="47170" name="Group 66"/>
          <p:cNvGrpSpPr>
            <a:grpSpLocks/>
          </p:cNvGrpSpPr>
          <p:nvPr/>
        </p:nvGrpSpPr>
        <p:grpSpPr bwMode="auto">
          <a:xfrm>
            <a:off x="5654675" y="3267075"/>
            <a:ext cx="1555750" cy="893763"/>
            <a:chOff x="4272" y="330"/>
            <a:chExt cx="980" cy="563"/>
          </a:xfrm>
        </p:grpSpPr>
        <p:sp>
          <p:nvSpPr>
            <p:cNvPr id="24620" name="Text Box 67"/>
            <p:cNvSpPr txBox="1">
              <a:spLocks noChangeArrowheads="1"/>
            </p:cNvSpPr>
            <p:nvPr/>
          </p:nvSpPr>
          <p:spPr bwMode="auto">
            <a:xfrm>
              <a:off x="5040" y="576"/>
              <a:ext cx="21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c</a:t>
              </a:r>
              <a:r>
                <a:rPr lang="en-US" altLang="en-US" sz="1200" baseline="-25000"/>
                <a:t>1</a:t>
              </a:r>
              <a:r>
                <a:rPr lang="en-US" altLang="en-US" sz="1200" baseline="30000"/>
                <a:t>’</a:t>
              </a:r>
            </a:p>
          </p:txBody>
        </p:sp>
        <p:sp>
          <p:nvSpPr>
            <p:cNvPr id="24621" name="Text Box 68"/>
            <p:cNvSpPr txBox="1">
              <a:spLocks noChangeArrowheads="1"/>
            </p:cNvSpPr>
            <p:nvPr/>
          </p:nvSpPr>
          <p:spPr bwMode="auto">
            <a:xfrm>
              <a:off x="4770" y="720"/>
              <a:ext cx="22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b’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2" name="Text Box 69"/>
            <p:cNvSpPr txBox="1">
              <a:spLocks noChangeArrowheads="1"/>
            </p:cNvSpPr>
            <p:nvPr/>
          </p:nvSpPr>
          <p:spPr bwMode="auto">
            <a:xfrm>
              <a:off x="4512" y="720"/>
              <a:ext cx="22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a’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3" name="Text Box 70"/>
            <p:cNvSpPr txBox="1">
              <a:spLocks noChangeArrowheads="1"/>
            </p:cNvSpPr>
            <p:nvPr/>
          </p:nvSpPr>
          <p:spPr bwMode="auto">
            <a:xfrm>
              <a:off x="4272" y="576"/>
              <a:ext cx="2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f’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4" name="Text Box 71"/>
            <p:cNvSpPr txBox="1">
              <a:spLocks noChangeArrowheads="1"/>
            </p:cNvSpPr>
            <p:nvPr/>
          </p:nvSpPr>
          <p:spPr bwMode="auto">
            <a:xfrm>
              <a:off x="4848" y="336"/>
              <a:ext cx="22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d’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25" name="Text Box 72"/>
            <p:cNvSpPr txBox="1">
              <a:spLocks noChangeArrowheads="1"/>
            </p:cNvSpPr>
            <p:nvPr/>
          </p:nvSpPr>
          <p:spPr bwMode="auto">
            <a:xfrm>
              <a:off x="4434" y="330"/>
              <a:ext cx="22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e’</a:t>
              </a:r>
              <a:r>
                <a:rPr lang="en-US" altLang="en-US" sz="1200" baseline="-25000"/>
                <a:t>1</a:t>
              </a:r>
            </a:p>
          </p:txBody>
        </p:sp>
      </p:grpSp>
      <p:grpSp>
        <p:nvGrpSpPr>
          <p:cNvPr id="47177" name="Group 73"/>
          <p:cNvGrpSpPr>
            <a:grpSpLocks/>
          </p:cNvGrpSpPr>
          <p:nvPr/>
        </p:nvGrpSpPr>
        <p:grpSpPr bwMode="auto">
          <a:xfrm>
            <a:off x="5692775" y="4057650"/>
            <a:ext cx="1498600" cy="941388"/>
            <a:chOff x="4296" y="828"/>
            <a:chExt cx="944" cy="593"/>
          </a:xfrm>
        </p:grpSpPr>
        <p:sp>
          <p:nvSpPr>
            <p:cNvPr id="24614" name="Text Box 74"/>
            <p:cNvSpPr txBox="1">
              <a:spLocks noChangeArrowheads="1"/>
            </p:cNvSpPr>
            <p:nvPr/>
          </p:nvSpPr>
          <p:spPr bwMode="auto">
            <a:xfrm>
              <a:off x="4296" y="960"/>
              <a:ext cx="17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f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15" name="Text Box 75"/>
            <p:cNvSpPr txBox="1">
              <a:spLocks noChangeArrowheads="1"/>
            </p:cNvSpPr>
            <p:nvPr/>
          </p:nvSpPr>
          <p:spPr bwMode="auto">
            <a:xfrm>
              <a:off x="4464" y="1200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a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16" name="Text Box 76"/>
            <p:cNvSpPr txBox="1">
              <a:spLocks noChangeArrowheads="1"/>
            </p:cNvSpPr>
            <p:nvPr/>
          </p:nvSpPr>
          <p:spPr bwMode="auto">
            <a:xfrm>
              <a:off x="5040" y="960"/>
              <a:ext cx="2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c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17" name="Text Box 77"/>
            <p:cNvSpPr txBox="1">
              <a:spLocks noChangeArrowheads="1"/>
            </p:cNvSpPr>
            <p:nvPr/>
          </p:nvSpPr>
          <p:spPr bwMode="auto">
            <a:xfrm>
              <a:off x="4800" y="1248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b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18" name="Text Box 78"/>
            <p:cNvSpPr txBox="1">
              <a:spLocks noChangeArrowheads="1"/>
            </p:cNvSpPr>
            <p:nvPr/>
          </p:nvSpPr>
          <p:spPr bwMode="auto">
            <a:xfrm>
              <a:off x="4800" y="828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d</a:t>
              </a:r>
              <a:r>
                <a:rPr lang="en-US" altLang="en-US" sz="1200" baseline="-25000"/>
                <a:t>1</a:t>
              </a:r>
            </a:p>
          </p:txBody>
        </p:sp>
        <p:sp>
          <p:nvSpPr>
            <p:cNvPr id="24619" name="Text Box 79"/>
            <p:cNvSpPr txBox="1">
              <a:spLocks noChangeArrowheads="1"/>
            </p:cNvSpPr>
            <p:nvPr/>
          </p:nvSpPr>
          <p:spPr bwMode="auto">
            <a:xfrm>
              <a:off x="4530" y="828"/>
              <a:ext cx="2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/>
                <a:t>e</a:t>
              </a:r>
              <a:r>
                <a:rPr lang="en-US" altLang="en-US" sz="1200" baseline="-25000"/>
                <a:t>1</a:t>
              </a:r>
            </a:p>
          </p:txBody>
        </p:sp>
      </p:grpSp>
      <p:sp>
        <p:nvSpPr>
          <p:cNvPr id="47184" name="Text Box 80"/>
          <p:cNvSpPr txBox="1">
            <a:spLocks noChangeArrowheads="1"/>
          </p:cNvSpPr>
          <p:nvPr/>
        </p:nvSpPr>
        <p:spPr bwMode="auto">
          <a:xfrm>
            <a:off x="4800600" y="228600"/>
            <a:ext cx="43434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Read problem and answer following questions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1. Surface inclined to which plane? -------      </a:t>
            </a:r>
            <a:r>
              <a:rPr lang="en-US" altLang="en-US" sz="1600" b="1" i="1">
                <a:latin typeface="Times New Roman" panose="02020603050405020304" pitchFamily="18" charset="0"/>
              </a:rPr>
              <a:t>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2. Assumption for initial position? ------ </a:t>
            </a:r>
            <a:r>
              <a:rPr lang="en-US" altLang="en-US" sz="1600" b="1" i="1">
                <a:latin typeface="Times New Roman" panose="02020603050405020304" pitchFamily="18" charset="0"/>
              </a:rPr>
              <a:t>// to HP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3. So which view will show True shape? ---   </a:t>
            </a:r>
            <a:r>
              <a:rPr lang="en-US" altLang="en-US" sz="1600" b="1" i="1">
                <a:latin typeface="Times New Roman" panose="02020603050405020304" pitchFamily="18" charset="0"/>
              </a:rPr>
              <a:t>TV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4. Which diameter horizontal?   ----------       </a:t>
            </a:r>
            <a:r>
              <a:rPr lang="en-US" altLang="en-US" sz="1600" b="1" i="1">
                <a:latin typeface="Times New Roman" panose="02020603050405020304" pitchFamily="18" charset="0"/>
              </a:rPr>
              <a:t>AC</a:t>
            </a:r>
          </a:p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    </a:t>
            </a:r>
            <a:r>
              <a:rPr lang="en-US" altLang="en-US" sz="1600" b="1" i="1">
                <a:latin typeface="Times New Roman" panose="02020603050405020304" pitchFamily="18" charset="0"/>
              </a:rPr>
              <a:t>Hence begin with TV,draw rhombus below </a:t>
            </a:r>
          </a:p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     X-Y line, taking longer diagonal // to X-Y</a:t>
            </a:r>
            <a:endParaRPr lang="en-US" altLang="en-US" sz="2400" b="1" i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415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7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7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7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7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7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7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7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7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7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7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47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4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animBg="1" autoUpdateAnimBg="0"/>
      <p:bldP spid="47110" grpId="0" animBg="1"/>
      <p:bldP spid="47111" grpId="0" animBg="1"/>
      <p:bldP spid="47112" grpId="0" animBg="1"/>
      <p:bldP spid="47113" grpId="0" animBg="1"/>
      <p:bldP spid="47114" grpId="0" animBg="1"/>
      <p:bldP spid="47115" grpId="0" animBg="1"/>
      <p:bldP spid="47116" grpId="0" animBg="1"/>
      <p:bldP spid="47117" grpId="0" animBg="1"/>
      <p:bldP spid="47118" grpId="0" animBg="1"/>
      <p:bldP spid="47119" grpId="0" animBg="1"/>
      <p:bldP spid="47120" grpId="0" animBg="1"/>
      <p:bldP spid="47121" grpId="0" animBg="1"/>
      <p:bldP spid="47122" grpId="0" animBg="1"/>
      <p:bldP spid="47123" grpId="0" animBg="1"/>
      <p:bldP spid="47124" grpId="0" animBg="1"/>
      <p:bldP spid="47125" grpId="0" animBg="1"/>
      <p:bldP spid="47126" grpId="0" animBg="1"/>
      <p:bldP spid="47127" grpId="0" animBg="1"/>
      <p:bldP spid="47128" grpId="0" animBg="1"/>
      <p:bldP spid="47129" grpId="0" animBg="1"/>
      <p:bldP spid="47130" grpId="0" animBg="1"/>
      <p:bldP spid="47131" grpId="0" animBg="1"/>
      <p:bldP spid="47132" grpId="0" autoUpdateAnimBg="0"/>
      <p:bldP spid="47133" grpId="0" autoUpdateAnimBg="0"/>
      <p:bldP spid="47141" grpId="0" autoUpdateAnimBg="0"/>
      <p:bldP spid="4718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2"/>
          <p:cNvSpPr>
            <a:spLocks noChangeShapeType="1"/>
          </p:cNvSpPr>
          <p:nvPr/>
        </p:nvSpPr>
        <p:spPr bwMode="auto">
          <a:xfrm>
            <a:off x="3962400" y="14859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3" name="AutoShape 3"/>
          <p:cNvSpPr>
            <a:spLocks noChangeArrowheads="1"/>
          </p:cNvSpPr>
          <p:nvPr/>
        </p:nvSpPr>
        <p:spPr bwMode="auto">
          <a:xfrm>
            <a:off x="4308475" y="1758950"/>
            <a:ext cx="1527175" cy="620713"/>
          </a:xfrm>
          <a:prstGeom prst="diamond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 flipV="1">
            <a:off x="4308475" y="1346200"/>
            <a:ext cx="0" cy="7588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 flipV="1">
            <a:off x="5072063" y="1346200"/>
            <a:ext cx="0" cy="4826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 flipV="1">
            <a:off x="5835650" y="1346200"/>
            <a:ext cx="0" cy="7588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Line 7"/>
          <p:cNvSpPr>
            <a:spLocks noChangeShapeType="1"/>
          </p:cNvSpPr>
          <p:nvPr/>
        </p:nvSpPr>
        <p:spPr bwMode="auto">
          <a:xfrm>
            <a:off x="4308475" y="1346200"/>
            <a:ext cx="1527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 rot="20700000" flipV="1">
            <a:off x="6035675" y="760413"/>
            <a:ext cx="1327150" cy="550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6126163" y="1441450"/>
            <a:ext cx="0" cy="965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>
            <a:off x="7254875" y="554038"/>
            <a:ext cx="0" cy="186055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6681788" y="976313"/>
            <a:ext cx="0" cy="1446212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>
            <a:off x="5038725" y="1758950"/>
            <a:ext cx="225742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>
            <a:off x="5768975" y="2078038"/>
            <a:ext cx="152717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5038725" y="2379663"/>
            <a:ext cx="225742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5" name="AutoShape 15"/>
          <p:cNvSpPr>
            <a:spLocks noChangeArrowheads="1"/>
          </p:cNvSpPr>
          <p:nvPr/>
        </p:nvSpPr>
        <p:spPr bwMode="auto">
          <a:xfrm>
            <a:off x="6118225" y="1768475"/>
            <a:ext cx="1136650" cy="620713"/>
          </a:xfrm>
          <a:prstGeom prst="diamond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0976" name="AutoShape 16"/>
          <p:cNvSpPr>
            <a:spLocks noChangeArrowheads="1"/>
          </p:cNvSpPr>
          <p:nvPr/>
        </p:nvSpPr>
        <p:spPr bwMode="auto">
          <a:xfrm rot="1927039">
            <a:off x="7494588" y="1630363"/>
            <a:ext cx="1136650" cy="620712"/>
          </a:xfrm>
          <a:prstGeom prst="diamond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>
            <a:off x="7362825" y="1484313"/>
            <a:ext cx="1260475" cy="827087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6242050" y="1250950"/>
            <a:ext cx="5984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35</a:t>
            </a:r>
            <a:r>
              <a:rPr lang="en-US" altLang="en-US" sz="1400" baseline="30000" dirty="0" smtClean="0">
                <a:latin typeface="Times New Roman" panose="02020603050405020304" pitchFamily="18" charset="0"/>
              </a:rPr>
              <a:t>0</a:t>
            </a:r>
            <a:endParaRPr lang="en-US" altLang="en-US" sz="1400" baseline="30000" dirty="0">
              <a:latin typeface="Times New Roman" panose="02020603050405020304" pitchFamily="18" charset="0"/>
            </a:endParaRPr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7478713" y="1406525"/>
            <a:ext cx="398462" cy="451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40</a:t>
            </a:r>
            <a:r>
              <a:rPr lang="en-US" altLang="en-US" sz="1400" baseline="30000" dirty="0" smtClean="0">
                <a:latin typeface="Times New Roman" panose="02020603050405020304" pitchFamily="18" charset="0"/>
              </a:rPr>
              <a:t>0</a:t>
            </a:r>
            <a:endParaRPr lang="en-US" altLang="en-US" sz="1400" baseline="30000" dirty="0">
              <a:latin typeface="Times New Roman" panose="02020603050405020304" pitchFamily="18" charset="0"/>
            </a:endParaRPr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 flipV="1">
            <a:off x="7893050" y="587375"/>
            <a:ext cx="0" cy="15859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 flipV="1">
            <a:off x="8224838" y="587375"/>
            <a:ext cx="0" cy="11033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 flipV="1">
            <a:off x="8556625" y="587375"/>
            <a:ext cx="0" cy="165417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>
            <a:off x="7229475" y="587375"/>
            <a:ext cx="139382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>
            <a:off x="6699250" y="1052513"/>
            <a:ext cx="192405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5" name="Line 25"/>
          <p:cNvSpPr>
            <a:spLocks noChangeShapeType="1"/>
          </p:cNvSpPr>
          <p:nvPr/>
        </p:nvSpPr>
        <p:spPr bwMode="auto">
          <a:xfrm flipV="1">
            <a:off x="7569200" y="1208088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 flipH="1">
            <a:off x="7561263" y="1001713"/>
            <a:ext cx="331787" cy="48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7" name="Line 27"/>
          <p:cNvSpPr>
            <a:spLocks noChangeShapeType="1"/>
          </p:cNvSpPr>
          <p:nvPr/>
        </p:nvSpPr>
        <p:spPr bwMode="auto">
          <a:xfrm flipH="1">
            <a:off x="8224838" y="587375"/>
            <a:ext cx="331787" cy="48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 flipH="1">
            <a:off x="7893050" y="587375"/>
            <a:ext cx="663575" cy="414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 flipV="1">
            <a:off x="7561263" y="1069975"/>
            <a:ext cx="663575" cy="414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auto">
          <a:xfrm>
            <a:off x="5967413" y="1277938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7635875" y="785813"/>
            <a:ext cx="388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992" name="Text Box 32"/>
          <p:cNvSpPr txBox="1">
            <a:spLocks noChangeArrowheads="1"/>
          </p:cNvSpPr>
          <p:nvPr/>
        </p:nvSpPr>
        <p:spPr bwMode="auto">
          <a:xfrm>
            <a:off x="8358188" y="381000"/>
            <a:ext cx="412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6597650" y="768350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</a:p>
        </p:txBody>
      </p:sp>
      <p:sp>
        <p:nvSpPr>
          <p:cNvPr id="40994" name="Text Box 34"/>
          <p:cNvSpPr txBox="1">
            <a:spLocks noChangeArrowheads="1"/>
          </p:cNvSpPr>
          <p:nvPr/>
        </p:nvSpPr>
        <p:spPr bwMode="auto">
          <a:xfrm>
            <a:off x="4110038" y="1173163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40995" name="Text Box 35"/>
          <p:cNvSpPr txBox="1">
            <a:spLocks noChangeArrowheads="1"/>
          </p:cNvSpPr>
          <p:nvPr/>
        </p:nvSpPr>
        <p:spPr bwMode="auto">
          <a:xfrm>
            <a:off x="4856163" y="1122363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40996" name="Text Box 36"/>
          <p:cNvSpPr txBox="1">
            <a:spLocks noChangeArrowheads="1"/>
          </p:cNvSpPr>
          <p:nvPr/>
        </p:nvSpPr>
        <p:spPr bwMode="auto">
          <a:xfrm>
            <a:off x="4973638" y="1130300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</a:p>
        </p:txBody>
      </p:sp>
      <p:sp>
        <p:nvSpPr>
          <p:cNvPr id="40997" name="Text Box 37"/>
          <p:cNvSpPr txBox="1">
            <a:spLocks noChangeArrowheads="1"/>
          </p:cNvSpPr>
          <p:nvPr/>
        </p:nvSpPr>
        <p:spPr bwMode="auto">
          <a:xfrm>
            <a:off x="5761038" y="1157288"/>
            <a:ext cx="342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4133850" y="1914525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0999" name="Text Box 39"/>
          <p:cNvSpPr txBox="1">
            <a:spLocks noChangeArrowheads="1"/>
          </p:cNvSpPr>
          <p:nvPr/>
        </p:nvSpPr>
        <p:spPr bwMode="auto">
          <a:xfrm>
            <a:off x="5702300" y="1992313"/>
            <a:ext cx="230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1000" name="Text Box 40"/>
          <p:cNvSpPr txBox="1">
            <a:spLocks noChangeArrowheads="1"/>
          </p:cNvSpPr>
          <p:nvPr/>
        </p:nvSpPr>
        <p:spPr bwMode="auto">
          <a:xfrm>
            <a:off x="4973638" y="2319338"/>
            <a:ext cx="2730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1001" name="Text Box 41"/>
          <p:cNvSpPr txBox="1">
            <a:spLocks noChangeArrowheads="1"/>
          </p:cNvSpPr>
          <p:nvPr/>
        </p:nvSpPr>
        <p:spPr bwMode="auto">
          <a:xfrm>
            <a:off x="4973638" y="15525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41002" name="Text Box 42"/>
          <p:cNvSpPr txBox="1">
            <a:spLocks noChangeArrowheads="1"/>
          </p:cNvSpPr>
          <p:nvPr/>
        </p:nvSpPr>
        <p:spPr bwMode="auto">
          <a:xfrm>
            <a:off x="5967413" y="1966913"/>
            <a:ext cx="280987" cy="43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03" name="Text Box 43"/>
          <p:cNvSpPr txBox="1">
            <a:spLocks noChangeArrowheads="1"/>
          </p:cNvSpPr>
          <p:nvPr/>
        </p:nvSpPr>
        <p:spPr bwMode="auto">
          <a:xfrm>
            <a:off x="6565900" y="2311400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04" name="Text Box 44"/>
          <p:cNvSpPr txBox="1">
            <a:spLocks noChangeArrowheads="1"/>
          </p:cNvSpPr>
          <p:nvPr/>
        </p:nvSpPr>
        <p:spPr bwMode="auto">
          <a:xfrm>
            <a:off x="7180263" y="1931988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05" name="Text Box 45"/>
          <p:cNvSpPr txBox="1">
            <a:spLocks noChangeArrowheads="1"/>
          </p:cNvSpPr>
          <p:nvPr/>
        </p:nvSpPr>
        <p:spPr bwMode="auto">
          <a:xfrm>
            <a:off x="6573838" y="1552575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06" name="Text Box 46"/>
          <p:cNvSpPr txBox="1">
            <a:spLocks noChangeArrowheads="1"/>
          </p:cNvSpPr>
          <p:nvPr/>
        </p:nvSpPr>
        <p:spPr bwMode="auto">
          <a:xfrm>
            <a:off x="6475413" y="863600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41007" name="Text Box 47"/>
          <p:cNvSpPr txBox="1">
            <a:spLocks noChangeArrowheads="1"/>
          </p:cNvSpPr>
          <p:nvPr/>
        </p:nvSpPr>
        <p:spPr bwMode="auto">
          <a:xfrm>
            <a:off x="7097713" y="381000"/>
            <a:ext cx="342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</a:p>
        </p:txBody>
      </p:sp>
      <p:sp>
        <p:nvSpPr>
          <p:cNvPr id="41008" name="Text Box 48"/>
          <p:cNvSpPr txBox="1">
            <a:spLocks noChangeArrowheads="1"/>
          </p:cNvSpPr>
          <p:nvPr/>
        </p:nvSpPr>
        <p:spPr bwMode="auto">
          <a:xfrm>
            <a:off x="7323138" y="122555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09" name="Text Box 49"/>
          <p:cNvSpPr txBox="1">
            <a:spLocks noChangeArrowheads="1"/>
          </p:cNvSpPr>
          <p:nvPr/>
        </p:nvSpPr>
        <p:spPr bwMode="auto">
          <a:xfrm>
            <a:off x="8167688" y="958850"/>
            <a:ext cx="388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10" name="Text Box 50"/>
          <p:cNvSpPr txBox="1">
            <a:spLocks noChangeArrowheads="1"/>
          </p:cNvSpPr>
          <p:nvPr/>
        </p:nvSpPr>
        <p:spPr bwMode="auto">
          <a:xfrm>
            <a:off x="8094663" y="1484313"/>
            <a:ext cx="328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11" name="Text Box 51"/>
          <p:cNvSpPr txBox="1">
            <a:spLocks noChangeArrowheads="1"/>
          </p:cNvSpPr>
          <p:nvPr/>
        </p:nvSpPr>
        <p:spPr bwMode="auto">
          <a:xfrm>
            <a:off x="7720013" y="2087563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12" name="Text Box 52"/>
          <p:cNvSpPr txBox="1">
            <a:spLocks noChangeArrowheads="1"/>
          </p:cNvSpPr>
          <p:nvPr/>
        </p:nvSpPr>
        <p:spPr bwMode="auto">
          <a:xfrm>
            <a:off x="8477250" y="2112963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13" name="Text Box 53"/>
          <p:cNvSpPr txBox="1">
            <a:spLocks noChangeArrowheads="1"/>
          </p:cNvSpPr>
          <p:nvPr/>
        </p:nvSpPr>
        <p:spPr bwMode="auto">
          <a:xfrm>
            <a:off x="7429500" y="1552575"/>
            <a:ext cx="27940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14" name="Text Box 54"/>
          <p:cNvSpPr txBox="1">
            <a:spLocks noChangeArrowheads="1"/>
          </p:cNvSpPr>
          <p:nvPr/>
        </p:nvSpPr>
        <p:spPr bwMode="auto">
          <a:xfrm>
            <a:off x="3886200" y="121761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1015" name="Text Box 55"/>
          <p:cNvSpPr txBox="1">
            <a:spLocks noChangeArrowheads="1"/>
          </p:cNvSpPr>
          <p:nvPr/>
        </p:nvSpPr>
        <p:spPr bwMode="auto">
          <a:xfrm>
            <a:off x="8532813" y="1217613"/>
            <a:ext cx="347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1016" name="Text Box 56"/>
          <p:cNvSpPr txBox="1">
            <a:spLocks noChangeArrowheads="1"/>
          </p:cNvSpPr>
          <p:nvPr/>
        </p:nvSpPr>
        <p:spPr bwMode="auto">
          <a:xfrm>
            <a:off x="7402513" y="5292725"/>
            <a:ext cx="5984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latin typeface="Times New Roman" panose="02020603050405020304" pitchFamily="18" charset="0"/>
              </a:rPr>
              <a:t>30</a:t>
            </a:r>
            <a:r>
              <a:rPr lang="en-US" altLang="en-US" sz="12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017" name="Line 57"/>
          <p:cNvSpPr>
            <a:spLocks noChangeShapeType="1"/>
          </p:cNvSpPr>
          <p:nvPr/>
        </p:nvSpPr>
        <p:spPr bwMode="auto">
          <a:xfrm flipV="1">
            <a:off x="7715250" y="4556125"/>
            <a:ext cx="0" cy="15859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8" name="Line 58"/>
          <p:cNvSpPr>
            <a:spLocks noChangeShapeType="1"/>
          </p:cNvSpPr>
          <p:nvPr/>
        </p:nvSpPr>
        <p:spPr bwMode="auto">
          <a:xfrm flipV="1">
            <a:off x="8129588" y="4581525"/>
            <a:ext cx="0" cy="1103313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9" name="Line 59"/>
          <p:cNvSpPr>
            <a:spLocks noChangeShapeType="1"/>
          </p:cNvSpPr>
          <p:nvPr/>
        </p:nvSpPr>
        <p:spPr bwMode="auto">
          <a:xfrm flipV="1">
            <a:off x="8331200" y="4473575"/>
            <a:ext cx="0" cy="1851025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0" name="Line 60"/>
          <p:cNvSpPr>
            <a:spLocks noChangeShapeType="1"/>
          </p:cNvSpPr>
          <p:nvPr/>
        </p:nvSpPr>
        <p:spPr bwMode="auto">
          <a:xfrm>
            <a:off x="7153275" y="4473575"/>
            <a:ext cx="1393825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1" name="Line 61"/>
          <p:cNvSpPr>
            <a:spLocks noChangeShapeType="1"/>
          </p:cNvSpPr>
          <p:nvPr/>
        </p:nvSpPr>
        <p:spPr bwMode="auto">
          <a:xfrm>
            <a:off x="6623050" y="4938713"/>
            <a:ext cx="192405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2" name="Line 62"/>
          <p:cNvSpPr>
            <a:spLocks noChangeShapeType="1"/>
          </p:cNvSpPr>
          <p:nvPr/>
        </p:nvSpPr>
        <p:spPr bwMode="auto">
          <a:xfrm flipV="1">
            <a:off x="7493000" y="5094288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3" name="Line 63"/>
          <p:cNvSpPr>
            <a:spLocks noChangeShapeType="1"/>
          </p:cNvSpPr>
          <p:nvPr/>
        </p:nvSpPr>
        <p:spPr bwMode="auto">
          <a:xfrm flipH="1">
            <a:off x="7485063" y="4953000"/>
            <a:ext cx="211137" cy="4175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024" name="Group 64"/>
          <p:cNvGrpSpPr>
            <a:grpSpLocks/>
          </p:cNvGrpSpPr>
          <p:nvPr/>
        </p:nvGrpSpPr>
        <p:grpSpPr bwMode="auto">
          <a:xfrm>
            <a:off x="7696200" y="4495800"/>
            <a:ext cx="609600" cy="460375"/>
            <a:chOff x="4848" y="2832"/>
            <a:chExt cx="384" cy="290"/>
          </a:xfrm>
        </p:grpSpPr>
        <p:sp>
          <p:nvSpPr>
            <p:cNvPr id="18558" name="Line 65"/>
            <p:cNvSpPr>
              <a:spLocks noChangeShapeType="1"/>
            </p:cNvSpPr>
            <p:nvPr/>
          </p:nvSpPr>
          <p:spPr bwMode="auto">
            <a:xfrm flipH="1">
              <a:off x="5133" y="2832"/>
              <a:ext cx="99" cy="2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Line 66"/>
            <p:cNvSpPr>
              <a:spLocks noChangeShapeType="1"/>
            </p:cNvSpPr>
            <p:nvPr/>
          </p:nvSpPr>
          <p:spPr bwMode="auto">
            <a:xfrm flipH="1">
              <a:off x="4848" y="2832"/>
              <a:ext cx="38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27" name="Line 67"/>
          <p:cNvSpPr>
            <a:spLocks noChangeShapeType="1"/>
          </p:cNvSpPr>
          <p:nvPr/>
        </p:nvSpPr>
        <p:spPr bwMode="auto">
          <a:xfrm flipV="1">
            <a:off x="7485063" y="4953000"/>
            <a:ext cx="668337" cy="4175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8" name="Text Box 68"/>
          <p:cNvSpPr txBox="1">
            <a:spLocks noChangeArrowheads="1"/>
          </p:cNvSpPr>
          <p:nvPr/>
        </p:nvSpPr>
        <p:spPr bwMode="auto">
          <a:xfrm>
            <a:off x="7391400" y="4648200"/>
            <a:ext cx="388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29" name="Text Box 69"/>
          <p:cNvSpPr txBox="1">
            <a:spLocks noChangeArrowheads="1"/>
          </p:cNvSpPr>
          <p:nvPr/>
        </p:nvSpPr>
        <p:spPr bwMode="auto">
          <a:xfrm>
            <a:off x="8281988" y="4267200"/>
            <a:ext cx="412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c’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0" name="Text Box 70"/>
          <p:cNvSpPr txBox="1">
            <a:spLocks noChangeArrowheads="1"/>
          </p:cNvSpPr>
          <p:nvPr/>
        </p:nvSpPr>
        <p:spPr bwMode="auto">
          <a:xfrm>
            <a:off x="7104063" y="5818188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1" name="Text Box 71"/>
          <p:cNvSpPr txBox="1">
            <a:spLocks noChangeArrowheads="1"/>
          </p:cNvSpPr>
          <p:nvPr/>
        </p:nvSpPr>
        <p:spPr bwMode="auto">
          <a:xfrm>
            <a:off x="7246938" y="5105400"/>
            <a:ext cx="377825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2" name="Text Box 72"/>
          <p:cNvSpPr txBox="1">
            <a:spLocks noChangeArrowheads="1"/>
          </p:cNvSpPr>
          <p:nvPr/>
        </p:nvSpPr>
        <p:spPr bwMode="auto">
          <a:xfrm>
            <a:off x="8091488" y="4845050"/>
            <a:ext cx="388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d’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3" name="AutoShape 73"/>
          <p:cNvSpPr>
            <a:spLocks noChangeArrowheads="1"/>
          </p:cNvSpPr>
          <p:nvPr/>
        </p:nvSpPr>
        <p:spPr bwMode="auto">
          <a:xfrm rot="2584158">
            <a:off x="7358063" y="5580063"/>
            <a:ext cx="1103312" cy="620712"/>
          </a:xfrm>
          <a:prstGeom prst="diamond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1034" name="Text Box 74"/>
          <p:cNvSpPr txBox="1">
            <a:spLocks noChangeArrowheads="1"/>
          </p:cNvSpPr>
          <p:nvPr/>
        </p:nvSpPr>
        <p:spPr bwMode="auto">
          <a:xfrm rot="657119">
            <a:off x="8077200" y="5486400"/>
            <a:ext cx="328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d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5" name="Text Box 75"/>
          <p:cNvSpPr txBox="1">
            <a:spLocks noChangeArrowheads="1"/>
          </p:cNvSpPr>
          <p:nvPr/>
        </p:nvSpPr>
        <p:spPr bwMode="auto">
          <a:xfrm rot="657119">
            <a:off x="7526338" y="6008688"/>
            <a:ext cx="3317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6" name="Text Box 76"/>
          <p:cNvSpPr txBox="1">
            <a:spLocks noChangeArrowheads="1"/>
          </p:cNvSpPr>
          <p:nvPr/>
        </p:nvSpPr>
        <p:spPr bwMode="auto">
          <a:xfrm rot="657119">
            <a:off x="8266113" y="6176963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7" name="Text Box 77"/>
          <p:cNvSpPr txBox="1">
            <a:spLocks noChangeArrowheads="1"/>
          </p:cNvSpPr>
          <p:nvPr/>
        </p:nvSpPr>
        <p:spPr bwMode="auto">
          <a:xfrm rot="657119">
            <a:off x="7270750" y="5341938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41038" name="Group 78"/>
          <p:cNvGrpSpPr>
            <a:grpSpLocks/>
          </p:cNvGrpSpPr>
          <p:nvPr/>
        </p:nvGrpSpPr>
        <p:grpSpPr bwMode="auto">
          <a:xfrm>
            <a:off x="3810000" y="4267200"/>
            <a:ext cx="5029200" cy="2244725"/>
            <a:chOff x="2400" y="2688"/>
            <a:chExt cx="3168" cy="1414"/>
          </a:xfrm>
        </p:grpSpPr>
        <p:sp>
          <p:nvSpPr>
            <p:cNvPr id="18525" name="Line 79"/>
            <p:cNvSpPr>
              <a:spLocks noChangeShapeType="1"/>
            </p:cNvSpPr>
            <p:nvPr/>
          </p:nvSpPr>
          <p:spPr bwMode="auto">
            <a:xfrm>
              <a:off x="2448" y="338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26" name="Group 80"/>
            <p:cNvGrpSpPr>
              <a:grpSpLocks/>
            </p:cNvGrpSpPr>
            <p:nvPr/>
          </p:nvGrpSpPr>
          <p:grpSpPr bwMode="auto">
            <a:xfrm>
              <a:off x="2400" y="2688"/>
              <a:ext cx="2239" cy="1414"/>
              <a:chOff x="2400" y="2688"/>
              <a:chExt cx="2239" cy="1414"/>
            </a:xfrm>
          </p:grpSpPr>
          <p:sp>
            <p:nvSpPr>
              <p:cNvPr id="18528" name="AutoShape 81"/>
              <p:cNvSpPr>
                <a:spLocks noChangeArrowheads="1"/>
              </p:cNvSpPr>
              <p:nvPr/>
            </p:nvSpPr>
            <p:spPr bwMode="auto">
              <a:xfrm>
                <a:off x="2666" y="3556"/>
                <a:ext cx="962" cy="391"/>
              </a:xfrm>
              <a:prstGeom prst="diamond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8529" name="Line 82"/>
              <p:cNvSpPr>
                <a:spLocks noChangeShapeType="1"/>
              </p:cNvSpPr>
              <p:nvPr/>
            </p:nvSpPr>
            <p:spPr bwMode="auto">
              <a:xfrm flipV="1">
                <a:off x="2666" y="3296"/>
                <a:ext cx="0" cy="478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0" name="Line 83"/>
              <p:cNvSpPr>
                <a:spLocks noChangeShapeType="1"/>
              </p:cNvSpPr>
              <p:nvPr/>
            </p:nvSpPr>
            <p:spPr bwMode="auto">
              <a:xfrm flipV="1">
                <a:off x="3147" y="3296"/>
                <a:ext cx="0" cy="304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1" name="Line 84"/>
              <p:cNvSpPr>
                <a:spLocks noChangeShapeType="1"/>
              </p:cNvSpPr>
              <p:nvPr/>
            </p:nvSpPr>
            <p:spPr bwMode="auto">
              <a:xfrm flipV="1">
                <a:off x="3628" y="3296"/>
                <a:ext cx="0" cy="478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2" name="Line 85"/>
              <p:cNvSpPr>
                <a:spLocks noChangeShapeType="1"/>
              </p:cNvSpPr>
              <p:nvPr/>
            </p:nvSpPr>
            <p:spPr bwMode="auto">
              <a:xfrm>
                <a:off x="2666" y="3312"/>
                <a:ext cx="9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3" name="Line 86"/>
              <p:cNvSpPr>
                <a:spLocks noChangeShapeType="1"/>
              </p:cNvSpPr>
              <p:nvPr/>
            </p:nvSpPr>
            <p:spPr bwMode="auto">
              <a:xfrm rot="20700000" flipV="1">
                <a:off x="3754" y="2927"/>
                <a:ext cx="836" cy="3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4" name="Line 87"/>
              <p:cNvSpPr>
                <a:spLocks noChangeShapeType="1"/>
              </p:cNvSpPr>
              <p:nvPr/>
            </p:nvSpPr>
            <p:spPr bwMode="auto">
              <a:xfrm>
                <a:off x="3811" y="3356"/>
                <a:ext cx="0" cy="608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5" name="Line 88"/>
              <p:cNvSpPr>
                <a:spLocks noChangeShapeType="1"/>
              </p:cNvSpPr>
              <p:nvPr/>
            </p:nvSpPr>
            <p:spPr bwMode="auto">
              <a:xfrm>
                <a:off x="4522" y="2797"/>
                <a:ext cx="0" cy="1172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6" name="Line 89"/>
              <p:cNvSpPr>
                <a:spLocks noChangeShapeType="1"/>
              </p:cNvSpPr>
              <p:nvPr/>
            </p:nvSpPr>
            <p:spPr bwMode="auto">
              <a:xfrm>
                <a:off x="4161" y="3063"/>
                <a:ext cx="0" cy="911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7" name="Line 90"/>
              <p:cNvSpPr>
                <a:spLocks noChangeShapeType="1"/>
              </p:cNvSpPr>
              <p:nvPr/>
            </p:nvSpPr>
            <p:spPr bwMode="auto">
              <a:xfrm>
                <a:off x="3126" y="3556"/>
                <a:ext cx="1422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8" name="Line 91"/>
              <p:cNvSpPr>
                <a:spLocks noChangeShapeType="1"/>
              </p:cNvSpPr>
              <p:nvPr/>
            </p:nvSpPr>
            <p:spPr bwMode="auto">
              <a:xfrm>
                <a:off x="3586" y="3757"/>
                <a:ext cx="962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9" name="Line 92"/>
              <p:cNvSpPr>
                <a:spLocks noChangeShapeType="1"/>
              </p:cNvSpPr>
              <p:nvPr/>
            </p:nvSpPr>
            <p:spPr bwMode="auto">
              <a:xfrm>
                <a:off x="3126" y="3947"/>
                <a:ext cx="1422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0" name="AutoShape 93"/>
              <p:cNvSpPr>
                <a:spLocks noChangeArrowheads="1"/>
              </p:cNvSpPr>
              <p:nvPr/>
            </p:nvSpPr>
            <p:spPr bwMode="auto">
              <a:xfrm>
                <a:off x="3806" y="3562"/>
                <a:ext cx="716" cy="391"/>
              </a:xfrm>
              <a:prstGeom prst="diamond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8541" name="Text Box 94"/>
              <p:cNvSpPr txBox="1">
                <a:spLocks noChangeArrowheads="1"/>
              </p:cNvSpPr>
              <p:nvPr/>
            </p:nvSpPr>
            <p:spPr bwMode="auto">
              <a:xfrm>
                <a:off x="3884" y="3236"/>
                <a:ext cx="37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200" dirty="0"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1200" dirty="0" smtClean="0">
                    <a:latin typeface="Times New Roman" panose="02020603050405020304" pitchFamily="18" charset="0"/>
                  </a:rPr>
                  <a:t>5</a:t>
                </a:r>
                <a:r>
                  <a:rPr lang="en-US" altLang="en-US" sz="1200" baseline="30000" dirty="0" smtClean="0">
                    <a:latin typeface="Times New Roman" panose="02020603050405020304" pitchFamily="18" charset="0"/>
                  </a:rPr>
                  <a:t>0</a:t>
                </a:r>
                <a:endParaRPr lang="en-US" altLang="en-US" sz="1200" baseline="3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42" name="Text Box 95"/>
              <p:cNvSpPr txBox="1">
                <a:spLocks noChangeArrowheads="1"/>
              </p:cNvSpPr>
              <p:nvPr/>
            </p:nvSpPr>
            <p:spPr bwMode="auto">
              <a:xfrm>
                <a:off x="3711" y="3253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a’</a:t>
                </a:r>
              </a:p>
            </p:txBody>
          </p:sp>
          <p:sp>
            <p:nvSpPr>
              <p:cNvPr id="18543" name="Text Box 96"/>
              <p:cNvSpPr txBox="1">
                <a:spLocks noChangeArrowheads="1"/>
              </p:cNvSpPr>
              <p:nvPr/>
            </p:nvSpPr>
            <p:spPr bwMode="auto">
              <a:xfrm>
                <a:off x="4108" y="2932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d’</a:t>
                </a:r>
              </a:p>
            </p:txBody>
          </p:sp>
          <p:sp>
            <p:nvSpPr>
              <p:cNvPr id="18544" name="Text Box 97"/>
              <p:cNvSpPr txBox="1">
                <a:spLocks noChangeArrowheads="1"/>
              </p:cNvSpPr>
              <p:nvPr/>
            </p:nvSpPr>
            <p:spPr bwMode="auto">
              <a:xfrm>
                <a:off x="2541" y="3187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a’</a:t>
                </a:r>
              </a:p>
            </p:txBody>
          </p:sp>
          <p:sp>
            <p:nvSpPr>
              <p:cNvPr id="18545" name="Text Box 98"/>
              <p:cNvSpPr txBox="1">
                <a:spLocks noChangeArrowheads="1"/>
              </p:cNvSpPr>
              <p:nvPr/>
            </p:nvSpPr>
            <p:spPr bwMode="auto">
              <a:xfrm>
                <a:off x="3011" y="3155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b’</a:t>
                </a:r>
              </a:p>
            </p:txBody>
          </p:sp>
          <p:sp>
            <p:nvSpPr>
              <p:cNvPr id="18546" name="Text Box 99"/>
              <p:cNvSpPr txBox="1">
                <a:spLocks noChangeArrowheads="1"/>
              </p:cNvSpPr>
              <p:nvPr/>
            </p:nvSpPr>
            <p:spPr bwMode="auto">
              <a:xfrm>
                <a:off x="3085" y="3160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d’</a:t>
                </a:r>
              </a:p>
            </p:txBody>
          </p:sp>
          <p:sp>
            <p:nvSpPr>
              <p:cNvPr id="18547" name="Text Box 100"/>
              <p:cNvSpPr txBox="1">
                <a:spLocks noChangeArrowheads="1"/>
              </p:cNvSpPr>
              <p:nvPr/>
            </p:nvSpPr>
            <p:spPr bwMode="auto">
              <a:xfrm>
                <a:off x="3581" y="3177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latin typeface="Times New Roman" panose="02020603050405020304" pitchFamily="18" charset="0"/>
                  </a:rPr>
                  <a:t>c’</a:t>
                </a:r>
              </a:p>
            </p:txBody>
          </p:sp>
          <p:sp>
            <p:nvSpPr>
              <p:cNvPr id="18548" name="Text Box 101"/>
              <p:cNvSpPr txBox="1">
                <a:spLocks noChangeArrowheads="1"/>
              </p:cNvSpPr>
              <p:nvPr/>
            </p:nvSpPr>
            <p:spPr bwMode="auto">
              <a:xfrm>
                <a:off x="2556" y="3654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8549" name="Text Box 102"/>
              <p:cNvSpPr txBox="1">
                <a:spLocks noChangeArrowheads="1"/>
              </p:cNvSpPr>
              <p:nvPr/>
            </p:nvSpPr>
            <p:spPr bwMode="auto">
              <a:xfrm>
                <a:off x="3544" y="3703"/>
                <a:ext cx="14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8550" name="Text Box 103"/>
              <p:cNvSpPr txBox="1">
                <a:spLocks noChangeArrowheads="1"/>
              </p:cNvSpPr>
              <p:nvPr/>
            </p:nvSpPr>
            <p:spPr bwMode="auto">
              <a:xfrm>
                <a:off x="3085" y="3909"/>
                <a:ext cx="172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8551" name="Text Box 104"/>
              <p:cNvSpPr txBox="1">
                <a:spLocks noChangeArrowheads="1"/>
              </p:cNvSpPr>
              <p:nvPr/>
            </p:nvSpPr>
            <p:spPr bwMode="auto">
              <a:xfrm>
                <a:off x="3085" y="342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8552" name="Text Box 105"/>
              <p:cNvSpPr txBox="1">
                <a:spLocks noChangeArrowheads="1"/>
              </p:cNvSpPr>
              <p:nvPr/>
            </p:nvSpPr>
            <p:spPr bwMode="auto">
              <a:xfrm>
                <a:off x="3711" y="3687"/>
                <a:ext cx="177" cy="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553" name="Text Box 106"/>
              <p:cNvSpPr txBox="1">
                <a:spLocks noChangeArrowheads="1"/>
              </p:cNvSpPr>
              <p:nvPr/>
            </p:nvSpPr>
            <p:spPr bwMode="auto">
              <a:xfrm>
                <a:off x="4088" y="3904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554" name="Text Box 107"/>
              <p:cNvSpPr txBox="1">
                <a:spLocks noChangeArrowheads="1"/>
              </p:cNvSpPr>
              <p:nvPr/>
            </p:nvSpPr>
            <p:spPr bwMode="auto">
              <a:xfrm>
                <a:off x="4093" y="3426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555" name="Text Box 108"/>
              <p:cNvSpPr txBox="1">
                <a:spLocks noChangeArrowheads="1"/>
              </p:cNvSpPr>
              <p:nvPr/>
            </p:nvSpPr>
            <p:spPr bwMode="auto">
              <a:xfrm>
                <a:off x="4031" y="2992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latin typeface="Times New Roman" panose="02020603050405020304" pitchFamily="18" charset="0"/>
                  </a:rPr>
                  <a:t>b’</a:t>
                </a:r>
              </a:p>
            </p:txBody>
          </p:sp>
          <p:sp>
            <p:nvSpPr>
              <p:cNvPr id="18556" name="Text Box 109"/>
              <p:cNvSpPr txBox="1">
                <a:spLocks noChangeArrowheads="1"/>
              </p:cNvSpPr>
              <p:nvPr/>
            </p:nvSpPr>
            <p:spPr bwMode="auto">
              <a:xfrm>
                <a:off x="4423" y="2688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latin typeface="Times New Roman" panose="02020603050405020304" pitchFamily="18" charset="0"/>
                  </a:rPr>
                  <a:t>c’</a:t>
                </a:r>
              </a:p>
            </p:txBody>
          </p:sp>
          <p:sp>
            <p:nvSpPr>
              <p:cNvPr id="18557" name="Text Box 110"/>
              <p:cNvSpPr txBox="1">
                <a:spLocks noChangeArrowheads="1"/>
              </p:cNvSpPr>
              <p:nvPr/>
            </p:nvSpPr>
            <p:spPr bwMode="auto">
              <a:xfrm>
                <a:off x="2400" y="3215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18527" name="Text Box 111"/>
            <p:cNvSpPr txBox="1">
              <a:spLocks noChangeArrowheads="1"/>
            </p:cNvSpPr>
            <p:nvPr/>
          </p:nvSpPr>
          <p:spPr bwMode="auto">
            <a:xfrm>
              <a:off x="5327" y="3215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41072" name="Line 112"/>
          <p:cNvSpPr>
            <a:spLocks noChangeShapeType="1"/>
          </p:cNvSpPr>
          <p:nvPr/>
        </p:nvSpPr>
        <p:spPr bwMode="auto">
          <a:xfrm>
            <a:off x="7467600" y="54864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3" name="Line 113"/>
          <p:cNvSpPr>
            <a:spLocks noChangeShapeType="1"/>
          </p:cNvSpPr>
          <p:nvPr/>
        </p:nvSpPr>
        <p:spPr bwMode="auto">
          <a:xfrm>
            <a:off x="8001000" y="62928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4" name="Line 114"/>
          <p:cNvSpPr>
            <a:spLocks noChangeShapeType="1"/>
          </p:cNvSpPr>
          <p:nvPr/>
        </p:nvSpPr>
        <p:spPr bwMode="auto">
          <a:xfrm>
            <a:off x="7286625" y="5370513"/>
            <a:ext cx="1476375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5" name="Text Box 115"/>
          <p:cNvSpPr txBox="1">
            <a:spLocks noChangeArrowheads="1"/>
          </p:cNvSpPr>
          <p:nvPr/>
        </p:nvSpPr>
        <p:spPr bwMode="auto">
          <a:xfrm rot="1956995">
            <a:off x="8305800" y="5916613"/>
            <a:ext cx="3714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1"/>
              <a:t>TL</a:t>
            </a:r>
          </a:p>
        </p:txBody>
      </p:sp>
      <p:sp>
        <p:nvSpPr>
          <p:cNvPr id="41076" name="Text Box 116"/>
          <p:cNvSpPr txBox="1">
            <a:spLocks noChangeArrowheads="1"/>
          </p:cNvSpPr>
          <p:nvPr/>
        </p:nvSpPr>
        <p:spPr bwMode="auto">
          <a:xfrm>
            <a:off x="152400" y="381000"/>
            <a:ext cx="36576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chemeClr val="accent2"/>
                </a:solidFill>
              </a:rPr>
              <a:t>Problem 6: </a:t>
            </a:r>
            <a:r>
              <a:rPr lang="en-US" altLang="en-US" sz="1400"/>
              <a:t>A rhombus of diagonals 40 mm and 70 mm long respectively has one end of it’s longer diagonal in HP while that diagonal is 35</a:t>
            </a:r>
            <a:r>
              <a:rPr lang="en-US" altLang="en-US" sz="1400" baseline="30000"/>
              <a:t>0 </a:t>
            </a:r>
            <a:r>
              <a:rPr lang="en-US" altLang="en-US" sz="1400"/>
              <a:t>  inclined to HP. If the top-view of the same diagonal makes 40</a:t>
            </a:r>
            <a:r>
              <a:rPr lang="en-US" altLang="en-US" sz="1400" baseline="30000"/>
              <a:t>0 </a:t>
            </a:r>
            <a:r>
              <a:rPr lang="en-US" altLang="en-US" sz="1400"/>
              <a:t>inclination with VP, draw it’s projections.</a:t>
            </a:r>
            <a:r>
              <a:rPr lang="en-US" altLang="en-US" sz="1400" baseline="30000"/>
              <a:t>  </a:t>
            </a:r>
          </a:p>
        </p:txBody>
      </p:sp>
      <p:sp>
        <p:nvSpPr>
          <p:cNvPr id="41077" name="Text Box 117"/>
          <p:cNvSpPr txBox="1">
            <a:spLocks noChangeArrowheads="1"/>
          </p:cNvSpPr>
          <p:nvPr/>
        </p:nvSpPr>
        <p:spPr bwMode="auto">
          <a:xfrm>
            <a:off x="228600" y="4114800"/>
            <a:ext cx="3581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solidFill>
                  <a:schemeClr val="accent2"/>
                </a:solidFill>
              </a:rPr>
              <a:t>Problem 7: </a:t>
            </a:r>
            <a:r>
              <a:rPr lang="en-US" altLang="en-US" sz="1400" dirty="0"/>
              <a:t>A rhombus of diagonals 40 mm and 70 mm long respectively having one end of it’s longer diagonal in HP while that diagonal is 35</a:t>
            </a:r>
            <a:r>
              <a:rPr lang="en-US" altLang="en-US" sz="1400" baseline="30000" dirty="0"/>
              <a:t>0 </a:t>
            </a:r>
            <a:r>
              <a:rPr lang="en-US" altLang="en-US" sz="1400" dirty="0"/>
              <a:t>  inclined to HP and  makes </a:t>
            </a:r>
            <a:r>
              <a:rPr lang="en-US" altLang="en-US" sz="1400" dirty="0" smtClean="0"/>
              <a:t>30</a:t>
            </a:r>
            <a:r>
              <a:rPr lang="en-US" altLang="en-US" sz="1400" baseline="30000" dirty="0" smtClean="0"/>
              <a:t>0 </a:t>
            </a:r>
            <a:r>
              <a:rPr lang="en-US" altLang="en-US" sz="1400" dirty="0"/>
              <a:t>inclination with VP. Draw it’s projections.</a:t>
            </a:r>
            <a:r>
              <a:rPr lang="en-US" altLang="en-US" sz="1400" baseline="30000" dirty="0"/>
              <a:t> </a:t>
            </a:r>
          </a:p>
        </p:txBody>
      </p:sp>
      <p:sp>
        <p:nvSpPr>
          <p:cNvPr id="41078" name="Text Box 118"/>
          <p:cNvSpPr txBox="1">
            <a:spLocks noChangeArrowheads="1"/>
          </p:cNvSpPr>
          <p:nvPr/>
        </p:nvSpPr>
        <p:spPr bwMode="auto">
          <a:xfrm>
            <a:off x="0" y="1981200"/>
            <a:ext cx="43434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Read problem and answer following questions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1. Surface inclined to which plane? -------     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HP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2. Assumption for initial position? ------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// to HP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3. So which view will show True shape? ---  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TV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4. Which diagonal horizontal?   ---------- 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Longer </a:t>
            </a:r>
          </a:p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</a:rPr>
              <a:t>   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Hence begin with </a:t>
            </a:r>
            <a:r>
              <a:rPr lang="en-US" altLang="en-US" sz="1600" b="1" i="1" dirty="0" err="1">
                <a:latin typeface="Times New Roman" panose="02020603050405020304" pitchFamily="18" charset="0"/>
              </a:rPr>
              <a:t>TV,draw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 rhombus below </a:t>
            </a:r>
          </a:p>
          <a:p>
            <a:pPr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     X-Y line, taking longer diagonal // to X-Y</a:t>
            </a:r>
            <a:endParaRPr lang="en-US" altLang="en-US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41079" name="Text Box 119"/>
          <p:cNvSpPr txBox="1">
            <a:spLocks noChangeArrowheads="1"/>
          </p:cNvSpPr>
          <p:nvPr/>
        </p:nvSpPr>
        <p:spPr bwMode="auto">
          <a:xfrm>
            <a:off x="8610600" y="6019800"/>
            <a:ext cx="315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c</a:t>
            </a:r>
            <a:r>
              <a:rPr lang="en-US" altLang="en-US" sz="900" baseline="-25000"/>
              <a:t>2</a:t>
            </a:r>
          </a:p>
        </p:txBody>
      </p:sp>
      <p:sp>
        <p:nvSpPr>
          <p:cNvPr id="41080" name="Oval 120"/>
          <p:cNvSpPr>
            <a:spLocks noChangeArrowheads="1"/>
          </p:cNvSpPr>
          <p:nvPr/>
        </p:nvSpPr>
        <p:spPr bwMode="auto">
          <a:xfrm flipV="1">
            <a:off x="8686800" y="624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1081" name="Oval 121"/>
          <p:cNvSpPr>
            <a:spLocks noChangeArrowheads="1"/>
          </p:cNvSpPr>
          <p:nvPr/>
        </p:nvSpPr>
        <p:spPr bwMode="auto">
          <a:xfrm flipV="1">
            <a:off x="7477125" y="5486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41082" name="Group 122"/>
          <p:cNvGrpSpPr>
            <a:grpSpLocks/>
          </p:cNvGrpSpPr>
          <p:nvPr/>
        </p:nvGrpSpPr>
        <p:grpSpPr bwMode="auto">
          <a:xfrm>
            <a:off x="4343400" y="2590800"/>
            <a:ext cx="4738688" cy="1752600"/>
            <a:chOff x="2736" y="1632"/>
            <a:chExt cx="2985" cy="1104"/>
          </a:xfrm>
        </p:grpSpPr>
        <p:sp>
          <p:nvSpPr>
            <p:cNvPr id="18523" name="Rectangle 123"/>
            <p:cNvSpPr>
              <a:spLocks noChangeArrowheads="1"/>
            </p:cNvSpPr>
            <p:nvPr/>
          </p:nvSpPr>
          <p:spPr bwMode="auto">
            <a:xfrm>
              <a:off x="2762" y="1632"/>
              <a:ext cx="2880" cy="110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8524" name="Text Box 124"/>
            <p:cNvSpPr txBox="1">
              <a:spLocks noChangeArrowheads="1"/>
            </p:cNvSpPr>
            <p:nvPr/>
          </p:nvSpPr>
          <p:spPr bwMode="auto">
            <a:xfrm>
              <a:off x="2736" y="1680"/>
              <a:ext cx="2985" cy="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FF3300"/>
                  </a:solidFill>
                </a:rPr>
                <a:t>The difference in these two problems is in step 3 only.</a:t>
              </a:r>
            </a:p>
            <a:p>
              <a:pPr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In problem no.6 inclination of Tv of that diagonal is </a:t>
              </a:r>
            </a:p>
            <a:p>
              <a:pPr eaLnBrk="1" hangingPunct="1"/>
              <a:r>
                <a:rPr lang="en-US" altLang="en-US" sz="1400" b="1">
                  <a:solidFill>
                    <a:schemeClr val="accent2"/>
                  </a:solidFill>
                </a:rPr>
                <a:t>given,It could be drawn directly as shown in 3</a:t>
              </a:r>
              <a:r>
                <a:rPr lang="en-US" altLang="en-US" sz="1400" b="1" baseline="30000">
                  <a:solidFill>
                    <a:schemeClr val="accent2"/>
                  </a:solidFill>
                </a:rPr>
                <a:t>rd</a:t>
              </a:r>
              <a:r>
                <a:rPr lang="en-US" altLang="en-US" sz="1400" b="1">
                  <a:solidFill>
                    <a:schemeClr val="accent2"/>
                  </a:solidFill>
                </a:rPr>
                <a:t> step.</a:t>
              </a:r>
            </a:p>
            <a:p>
              <a:pPr eaLnBrk="1" hangingPunct="1"/>
              <a:r>
                <a:rPr lang="en-US" altLang="en-US" sz="1400" b="1" i="1">
                  <a:solidFill>
                    <a:srgbClr val="FF3399"/>
                  </a:solidFill>
                </a:rPr>
                <a:t>While in no.7 angle of diagonal itself I.e. it’s TL, is </a:t>
              </a:r>
            </a:p>
            <a:p>
              <a:pPr eaLnBrk="1" hangingPunct="1"/>
              <a:r>
                <a:rPr lang="en-US" altLang="en-US" sz="1400" b="1" i="1">
                  <a:solidFill>
                    <a:srgbClr val="FF3399"/>
                  </a:solidFill>
                </a:rPr>
                <a:t>given. Hence here angle of TL is taken,locus of c</a:t>
              </a:r>
              <a:r>
                <a:rPr lang="en-US" altLang="en-US" sz="1400" b="1" i="1" baseline="-25000">
                  <a:solidFill>
                    <a:srgbClr val="FF3399"/>
                  </a:solidFill>
                </a:rPr>
                <a:t>1</a:t>
              </a:r>
            </a:p>
            <a:p>
              <a:pPr eaLnBrk="1" hangingPunct="1"/>
              <a:r>
                <a:rPr lang="en-US" altLang="en-US" sz="1400" b="1" i="1">
                  <a:solidFill>
                    <a:srgbClr val="FF3399"/>
                  </a:solidFill>
                </a:rPr>
                <a:t>Is drawn and then LTV I.e. a1 c1 is marked and </a:t>
              </a:r>
            </a:p>
            <a:p>
              <a:pPr eaLnBrk="1" hangingPunct="1"/>
              <a:r>
                <a:rPr lang="en-US" altLang="en-US" sz="1400" b="1" i="1">
                  <a:solidFill>
                    <a:srgbClr val="FF3399"/>
                  </a:solidFill>
                </a:rPr>
                <a:t>final TV was completed.Study illustration carefully.</a:t>
              </a:r>
            </a:p>
          </p:txBody>
        </p:sp>
      </p:grpSp>
      <p:grpSp>
        <p:nvGrpSpPr>
          <p:cNvPr id="41085" name="Group 125"/>
          <p:cNvGrpSpPr>
            <a:grpSpLocks/>
          </p:cNvGrpSpPr>
          <p:nvPr/>
        </p:nvGrpSpPr>
        <p:grpSpPr bwMode="auto">
          <a:xfrm>
            <a:off x="685800" y="5638800"/>
            <a:ext cx="2895600" cy="1066800"/>
            <a:chOff x="432" y="3552"/>
            <a:chExt cx="1824" cy="672"/>
          </a:xfrm>
        </p:grpSpPr>
        <p:sp>
          <p:nvSpPr>
            <p:cNvPr id="18521" name="AutoShape 126"/>
            <p:cNvSpPr>
              <a:spLocks noChangeArrowheads="1"/>
            </p:cNvSpPr>
            <p:nvPr/>
          </p:nvSpPr>
          <p:spPr bwMode="auto">
            <a:xfrm>
              <a:off x="432" y="3552"/>
              <a:ext cx="1824" cy="672"/>
            </a:xfrm>
            <a:prstGeom prst="wedgeRoundRectCallout">
              <a:avLst>
                <a:gd name="adj1" fmla="val 52356"/>
                <a:gd name="adj2" fmla="val -91069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/>
            </a:p>
          </p:txBody>
        </p:sp>
        <p:sp>
          <p:nvSpPr>
            <p:cNvPr id="18522" name="Text Box 127"/>
            <p:cNvSpPr txBox="1">
              <a:spLocks noChangeArrowheads="1"/>
            </p:cNvSpPr>
            <p:nvPr/>
          </p:nvSpPr>
          <p:spPr bwMode="auto">
            <a:xfrm>
              <a:off x="464" y="3618"/>
              <a:ext cx="1756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Note the difference in </a:t>
              </a:r>
            </a:p>
            <a:p>
              <a:pPr algn="ctr" eaLnBrk="1" hangingPunct="1"/>
              <a:r>
                <a:rPr lang="en-US" altLang="en-US" b="1"/>
                <a:t>construction of 3</a:t>
              </a:r>
              <a:r>
                <a:rPr lang="en-US" altLang="en-US" b="1" baseline="30000"/>
                <a:t>rd</a:t>
              </a:r>
              <a:r>
                <a:rPr lang="en-US" altLang="en-US" b="1"/>
                <a:t> step </a:t>
              </a:r>
            </a:p>
            <a:p>
              <a:pPr algn="ctr" eaLnBrk="1" hangingPunct="1"/>
              <a:r>
                <a:rPr lang="en-US" altLang="en-US" b="1"/>
                <a:t>in both solutions.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7317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1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1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4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4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40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40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41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41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 nodeType="clickPar">
                      <p:stCondLst>
                        <p:cond delay="indefinite"/>
                      </p:stCondLst>
                      <p:childTnLst>
                        <p:par>
                          <p:cTn id="3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 nodeType="clickPar">
                      <p:stCondLst>
                        <p:cond delay="indefinite"/>
                      </p:stCondLst>
                      <p:childTnLst>
                        <p:par>
                          <p:cTn id="3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4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4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4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4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41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41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4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4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 nodeType="clickPar">
                      <p:stCondLst>
                        <p:cond delay="indefinite"/>
                      </p:stCondLst>
                      <p:childTnLst>
                        <p:par>
                          <p:cTn id="3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41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4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4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4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 nodeType="clickPar">
                      <p:stCondLst>
                        <p:cond delay="indefinite"/>
                      </p:stCondLst>
                      <p:childTnLst>
                        <p:par>
                          <p:cTn id="3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41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41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 nodeType="clickPar">
                      <p:stCondLst>
                        <p:cond delay="indefinite"/>
                      </p:stCondLst>
                      <p:childTnLst>
                        <p:par>
                          <p:cTn id="3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500" fill="hold"/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41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41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 nodeType="clickPar">
                      <p:stCondLst>
                        <p:cond delay="indefinite"/>
                      </p:stCondLst>
                      <p:childTnLst>
                        <p:par>
                          <p:cTn id="3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4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500" fill="hold"/>
                                        <p:tgtEl>
                                          <p:spTgt spid="4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Par">
                      <p:stCondLst>
                        <p:cond delay="indefinite"/>
                      </p:stCondLst>
                      <p:childTnLst>
                        <p:par>
                          <p:cTn id="4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4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4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 nodeType="clickPar">
                      <p:stCondLst>
                        <p:cond delay="indefinite"/>
                      </p:stCondLst>
                      <p:childTnLst>
                        <p:par>
                          <p:cTn id="4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41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1" dur="500" fill="hold"/>
                                        <p:tgtEl>
                                          <p:spTgt spid="41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 nodeType="clickPar">
                      <p:stCondLst>
                        <p:cond delay="indefinite"/>
                      </p:stCondLst>
                      <p:childTnLst>
                        <p:par>
                          <p:cTn id="4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41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41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 nodeType="clickPar">
                      <p:stCondLst>
                        <p:cond delay="indefinite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4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3" dur="500" fill="hold"/>
                                        <p:tgtEl>
                                          <p:spTgt spid="4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 nodeType="clickPar">
                      <p:stCondLst>
                        <p:cond delay="indefinite"/>
                      </p:stCondLst>
                      <p:childTnLst>
                        <p:par>
                          <p:cTn id="4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4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4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 nodeType="clickPar">
                      <p:stCondLst>
                        <p:cond delay="indefinite"/>
                      </p:stCondLst>
                      <p:childTnLst>
                        <p:par>
                          <p:cTn id="4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4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4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 nodeType="clickPar">
                      <p:stCondLst>
                        <p:cond delay="indefinite"/>
                      </p:stCondLst>
                      <p:childTnLst>
                        <p:par>
                          <p:cTn id="4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4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" dur="500" fill="hold"/>
                                        <p:tgtEl>
                                          <p:spTgt spid="4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 nodeType="clickPar">
                      <p:stCondLst>
                        <p:cond delay="indefinite"/>
                      </p:stCondLst>
                      <p:childTnLst>
                        <p:par>
                          <p:cTn id="4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 nodeType="clickPar">
                      <p:stCondLst>
                        <p:cond delay="indefinite"/>
                      </p:stCondLst>
                      <p:childTnLst>
                        <p:par>
                          <p:cTn id="4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4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4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 nodeType="clickPar">
                      <p:stCondLst>
                        <p:cond delay="indefinite"/>
                      </p:stCondLst>
                      <p:childTnLst>
                        <p:par>
                          <p:cTn id="4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 nodeType="clickPar">
                      <p:stCondLst>
                        <p:cond delay="indefinite"/>
                      </p:stCondLst>
                      <p:childTnLst>
                        <p:par>
                          <p:cTn id="4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 nodeType="clickPar">
                      <p:stCondLst>
                        <p:cond delay="indefinite"/>
                      </p:stCondLst>
                      <p:childTnLst>
                        <p:par>
                          <p:cTn id="4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 nodeType="clickPar">
                      <p:stCondLst>
                        <p:cond delay="indefinite"/>
                      </p:stCondLst>
                      <p:childTnLst>
                        <p:par>
                          <p:cTn id="4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 nodeType="clickPar">
                      <p:stCondLst>
                        <p:cond delay="indefinite"/>
                      </p:stCondLst>
                      <p:childTnLst>
                        <p:par>
                          <p:cTn id="4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4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3" dur="500" fill="hold"/>
                                        <p:tgtEl>
                                          <p:spTgt spid="4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 nodeType="clickPar">
                      <p:stCondLst>
                        <p:cond delay="indefinite"/>
                      </p:stCondLst>
                      <p:childTnLst>
                        <p:par>
                          <p:cTn id="4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500" fill="hold"/>
                                        <p:tgtEl>
                                          <p:spTgt spid="4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4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 nodeType="clickPar">
                      <p:stCondLst>
                        <p:cond delay="indefinite"/>
                      </p:stCondLst>
                      <p:childTnLst>
                        <p:par>
                          <p:cTn id="4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4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5" dur="500" fill="hold"/>
                                        <p:tgtEl>
                                          <p:spTgt spid="4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 nodeType="clickPar">
                      <p:stCondLst>
                        <p:cond delay="indefinite"/>
                      </p:stCondLst>
                      <p:childTnLst>
                        <p:par>
                          <p:cTn id="4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0" dur="500" fill="hold"/>
                                        <p:tgtEl>
                                          <p:spTgt spid="4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1" dur="500" fill="hold"/>
                                        <p:tgtEl>
                                          <p:spTgt spid="4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 nodeType="clickPar">
                      <p:stCondLst>
                        <p:cond delay="indefinite"/>
                      </p:stCondLst>
                      <p:childTnLst>
                        <p:par>
                          <p:cTn id="5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 nodeType="clickPar">
                      <p:stCondLst>
                        <p:cond delay="indefinite"/>
                      </p:stCondLst>
                      <p:childTnLst>
                        <p:par>
                          <p:cTn id="5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3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 nodeType="clickPar">
                      <p:stCondLst>
                        <p:cond delay="indefinite"/>
                      </p:stCondLst>
                      <p:childTnLst>
                        <p:par>
                          <p:cTn id="5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8" dur="500" fill="hold"/>
                                        <p:tgtEl>
                                          <p:spTgt spid="4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500" fill="hold"/>
                                        <p:tgtEl>
                                          <p:spTgt spid="4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 nodeType="clickPar">
                      <p:stCondLst>
                        <p:cond delay="indefinite"/>
                      </p:stCondLst>
                      <p:childTnLst>
                        <p:par>
                          <p:cTn id="5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4" dur="500"/>
                                        <p:tgtEl>
                                          <p:spTgt spid="4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nimBg="1"/>
      <p:bldP spid="40963" grpId="0" animBg="1"/>
      <p:bldP spid="40964" grpId="0" animBg="1"/>
      <p:bldP spid="40965" grpId="0" animBg="1"/>
      <p:bldP spid="40966" grpId="0" animBg="1"/>
      <p:bldP spid="40967" grpId="0" animBg="1"/>
      <p:bldP spid="40968" grpId="0" animBg="1"/>
      <p:bldP spid="40969" grpId="0" animBg="1"/>
      <p:bldP spid="40970" grpId="0" animBg="1"/>
      <p:bldP spid="40971" grpId="0" animBg="1"/>
      <p:bldP spid="40972" grpId="0" animBg="1"/>
      <p:bldP spid="40973" grpId="0" animBg="1"/>
      <p:bldP spid="40974" grpId="0" animBg="1"/>
      <p:bldP spid="40975" grpId="0" animBg="1"/>
      <p:bldP spid="40976" grpId="0" animBg="1"/>
      <p:bldP spid="40977" grpId="0" animBg="1"/>
      <p:bldP spid="40978" grpId="0" autoUpdateAnimBg="0"/>
      <p:bldP spid="40979" grpId="0" autoUpdateAnimBg="0"/>
      <p:bldP spid="40980" grpId="0" animBg="1"/>
      <p:bldP spid="40981" grpId="0" animBg="1"/>
      <p:bldP spid="40982" grpId="0" animBg="1"/>
      <p:bldP spid="40983" grpId="0" animBg="1"/>
      <p:bldP spid="40984" grpId="0" animBg="1"/>
      <p:bldP spid="40985" grpId="0" animBg="1"/>
      <p:bldP spid="40986" grpId="0" animBg="1"/>
      <p:bldP spid="40987" grpId="0" animBg="1"/>
      <p:bldP spid="40988" grpId="0" animBg="1"/>
      <p:bldP spid="40989" grpId="0" animBg="1"/>
      <p:bldP spid="40990" grpId="0" autoUpdateAnimBg="0"/>
      <p:bldP spid="40991" grpId="0" autoUpdateAnimBg="0"/>
      <p:bldP spid="40992" grpId="0" autoUpdateAnimBg="0"/>
      <p:bldP spid="40993" grpId="0" autoUpdateAnimBg="0"/>
      <p:bldP spid="40994" grpId="0" autoUpdateAnimBg="0"/>
      <p:bldP spid="40995" grpId="0" autoUpdateAnimBg="0"/>
      <p:bldP spid="40996" grpId="0" autoUpdateAnimBg="0"/>
      <p:bldP spid="40997" grpId="0" autoUpdateAnimBg="0"/>
      <p:bldP spid="40998" grpId="0" autoUpdateAnimBg="0"/>
      <p:bldP spid="40999" grpId="0" autoUpdateAnimBg="0"/>
      <p:bldP spid="41000" grpId="0" autoUpdateAnimBg="0"/>
      <p:bldP spid="41001" grpId="0" autoUpdateAnimBg="0"/>
      <p:bldP spid="41002" grpId="0" autoUpdateAnimBg="0"/>
      <p:bldP spid="41003" grpId="0" autoUpdateAnimBg="0"/>
      <p:bldP spid="41004" grpId="0" autoUpdateAnimBg="0"/>
      <p:bldP spid="41005" grpId="0" autoUpdateAnimBg="0"/>
      <p:bldP spid="41006" grpId="0" autoUpdateAnimBg="0"/>
      <p:bldP spid="41007" grpId="0" autoUpdateAnimBg="0"/>
      <p:bldP spid="41008" grpId="0" autoUpdateAnimBg="0"/>
      <p:bldP spid="41009" grpId="0" autoUpdateAnimBg="0"/>
      <p:bldP spid="41010" grpId="0" autoUpdateAnimBg="0"/>
      <p:bldP spid="41011" grpId="0" autoUpdateAnimBg="0"/>
      <p:bldP spid="41012" grpId="0" autoUpdateAnimBg="0"/>
      <p:bldP spid="41013" grpId="0" autoUpdateAnimBg="0"/>
      <p:bldP spid="41014" grpId="0" autoUpdateAnimBg="0"/>
      <p:bldP spid="41015" grpId="0" autoUpdateAnimBg="0"/>
      <p:bldP spid="41016" grpId="0" autoUpdateAnimBg="0"/>
      <p:bldP spid="41017" grpId="0" animBg="1"/>
      <p:bldP spid="41018" grpId="0" animBg="1"/>
      <p:bldP spid="41019" grpId="0" animBg="1"/>
      <p:bldP spid="41020" grpId="0" animBg="1"/>
      <p:bldP spid="41021" grpId="0" animBg="1"/>
      <p:bldP spid="41022" grpId="0" animBg="1"/>
      <p:bldP spid="41023" grpId="0" animBg="1"/>
      <p:bldP spid="41027" grpId="0" animBg="1"/>
      <p:bldP spid="41028" grpId="0" autoUpdateAnimBg="0"/>
      <p:bldP spid="41029" grpId="0" autoUpdateAnimBg="0"/>
      <p:bldP spid="41030" grpId="0" autoUpdateAnimBg="0"/>
      <p:bldP spid="41031" grpId="0" autoUpdateAnimBg="0"/>
      <p:bldP spid="41032" grpId="0" autoUpdateAnimBg="0"/>
      <p:bldP spid="41033" grpId="0" animBg="1"/>
      <p:bldP spid="41034" grpId="0" autoUpdateAnimBg="0"/>
      <p:bldP spid="41035" grpId="0" autoUpdateAnimBg="0"/>
      <p:bldP spid="41036" grpId="0" autoUpdateAnimBg="0"/>
      <p:bldP spid="41037" grpId="0" autoUpdateAnimBg="0"/>
      <p:bldP spid="41072" grpId="0" animBg="1"/>
      <p:bldP spid="41073" grpId="0" animBg="1"/>
      <p:bldP spid="41074" grpId="0" animBg="1"/>
      <p:bldP spid="41075" grpId="0" autoUpdateAnimBg="0"/>
      <p:bldP spid="41076" grpId="0" autoUpdateAnimBg="0"/>
      <p:bldP spid="41077" grpId="0" autoUpdateAnimBg="0"/>
      <p:bldP spid="41078" grpId="0" autoUpdateAnimBg="0"/>
      <p:bldP spid="41079" grpId="0" autoUpdateAnimBg="0"/>
      <p:bldP spid="41080" grpId="0" animBg="1"/>
      <p:bldP spid="410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Plane Projection Method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352800" y="2297668"/>
            <a:ext cx="5562600" cy="369332"/>
            <a:chOff x="457108" y="2286000"/>
            <a:chExt cx="8602768" cy="369332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38200" y="2514600"/>
              <a:ext cx="8001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57108" y="228600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763000" y="228600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57200" y="685800"/>
            <a:ext cx="327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latin typeface="Times" pitchFamily="18" charset="0"/>
              </a:rPr>
              <a:t>Prroblem</a:t>
            </a:r>
            <a:r>
              <a:rPr lang="en-US" b="1" dirty="0">
                <a:latin typeface="Times" pitchFamily="18" charset="0"/>
              </a:rPr>
              <a:t> 16:</a:t>
            </a:r>
            <a:r>
              <a:rPr lang="en-US" dirty="0">
                <a:latin typeface="Times" pitchFamily="18" charset="0"/>
              </a:rPr>
              <a:t> A regular pentagon ABCDE of side 30 mm has one of its edges parallel to the VP and inclined at 30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HP. The pentagon is inclined at 45</a:t>
            </a:r>
            <a:r>
              <a:rPr lang="en-US" baseline="30000" dirty="0">
                <a:latin typeface="Times" pitchFamily="18" charset="0"/>
              </a:rPr>
              <a:t>o</a:t>
            </a:r>
            <a:r>
              <a:rPr lang="en-US" dirty="0">
                <a:latin typeface="Times" pitchFamily="18" charset="0"/>
              </a:rPr>
              <a:t> to the VP. Draw the projections of the pentagon.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817490" y="762000"/>
            <a:ext cx="1964402" cy="1831421"/>
            <a:chOff x="4741198" y="2297668"/>
            <a:chExt cx="1964402" cy="1831421"/>
          </a:xfrm>
        </p:grpSpPr>
        <p:sp>
          <p:nvSpPr>
            <p:cNvPr id="12" name="Regular Pentagon 11"/>
            <p:cNvSpPr/>
            <p:nvPr/>
          </p:nvSpPr>
          <p:spPr>
            <a:xfrm rot="5400000">
              <a:off x="5029200" y="2590800"/>
              <a:ext cx="1371600" cy="1371600"/>
            </a:xfrm>
            <a:prstGeom prst="pentagon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20694" y="2486799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41198" y="37059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b’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31950" y="3759757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c’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41398" y="304800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d’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15000" y="229766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e’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960929" y="3104152"/>
            <a:ext cx="1668563" cy="389381"/>
            <a:chOff x="4884637" y="5618752"/>
            <a:chExt cx="1668563" cy="389381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5029200" y="5715000"/>
              <a:ext cx="137160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84637" y="561875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a, 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81009" y="5618752"/>
              <a:ext cx="535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c, 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46706" y="5638801"/>
              <a:ext cx="306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cxnSp>
        <p:nvCxnSpPr>
          <p:cNvPr id="24" name="Straight Connector 23"/>
          <p:cNvCxnSpPr>
            <a:stCxn id="12" idx="4"/>
          </p:cNvCxnSpPr>
          <p:nvPr/>
        </p:nvCxnSpPr>
        <p:spPr>
          <a:xfrm flipH="1">
            <a:off x="5105492" y="2164780"/>
            <a:ext cx="5" cy="1035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0"/>
          </p:cNvCxnSpPr>
          <p:nvPr/>
        </p:nvCxnSpPr>
        <p:spPr>
          <a:xfrm>
            <a:off x="6477092" y="1740932"/>
            <a:ext cx="0" cy="1459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943692" y="1002957"/>
            <a:ext cx="0" cy="220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4114800" y="2362200"/>
            <a:ext cx="3927740" cy="2960132"/>
            <a:chOff x="4114800" y="2362200"/>
            <a:chExt cx="3927740" cy="2960132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4114800" y="2362200"/>
              <a:ext cx="3200400" cy="2743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Arc 34"/>
            <p:cNvSpPr/>
            <p:nvPr/>
          </p:nvSpPr>
          <p:spPr>
            <a:xfrm rot="3369209">
              <a:off x="4298579" y="2395682"/>
              <a:ext cx="647810" cy="604619"/>
            </a:xfrm>
            <a:prstGeom prst="arc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34296" y="2514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45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91400" y="4953000"/>
              <a:ext cx="651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X1Y1</a:t>
              </a:r>
            </a:p>
          </p:txBody>
        </p:sp>
      </p:grpSp>
      <p:sp>
        <p:nvSpPr>
          <p:cNvPr id="48" name="Oval 47"/>
          <p:cNvSpPr/>
          <p:nvPr/>
        </p:nvSpPr>
        <p:spPr>
          <a:xfrm>
            <a:off x="2819400" y="4331128"/>
            <a:ext cx="76200" cy="762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>
            <a:off x="4395578" y="3288268"/>
            <a:ext cx="481222" cy="369332"/>
            <a:chOff x="4395578" y="3288268"/>
            <a:chExt cx="481222" cy="369332"/>
          </a:xfrm>
        </p:grpSpPr>
        <p:sp>
          <p:nvSpPr>
            <p:cNvPr id="47" name="Oval 46"/>
            <p:cNvSpPr/>
            <p:nvPr/>
          </p:nvSpPr>
          <p:spPr>
            <a:xfrm>
              <a:off x="4751172" y="3544329"/>
              <a:ext cx="76200" cy="762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395578" y="3288268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b1’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810000" y="3974068"/>
            <a:ext cx="470000" cy="369332"/>
            <a:chOff x="3810000" y="3974068"/>
            <a:chExt cx="470000" cy="369332"/>
          </a:xfrm>
        </p:grpSpPr>
        <p:sp>
          <p:nvSpPr>
            <p:cNvPr id="49" name="Oval 48"/>
            <p:cNvSpPr/>
            <p:nvPr/>
          </p:nvSpPr>
          <p:spPr>
            <a:xfrm>
              <a:off x="4180701" y="4213656"/>
              <a:ext cx="76200" cy="762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10000" y="3974068"/>
              <a:ext cx="4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a1’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3962400" y="3657600"/>
            <a:ext cx="1981200" cy="1436132"/>
            <a:chOff x="3962400" y="3657600"/>
            <a:chExt cx="1981200" cy="1436132"/>
          </a:xfrm>
        </p:grpSpPr>
        <p:sp>
          <p:nvSpPr>
            <p:cNvPr id="50" name="Oval 49"/>
            <p:cNvSpPr/>
            <p:nvPr/>
          </p:nvSpPr>
          <p:spPr>
            <a:xfrm>
              <a:off x="5410200" y="3733800"/>
              <a:ext cx="76200" cy="762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4495800" y="4800600"/>
              <a:ext cx="76200" cy="762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257800" y="4572000"/>
              <a:ext cx="76200" cy="762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334000" y="4572000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d1’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486424" y="3657600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c1’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962400" y="4724400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e1’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191000" y="3581400"/>
            <a:ext cx="1295400" cy="1284241"/>
            <a:chOff x="4191000" y="3581400"/>
            <a:chExt cx="1295400" cy="1284241"/>
          </a:xfrm>
        </p:grpSpPr>
        <p:cxnSp>
          <p:nvCxnSpPr>
            <p:cNvPr id="62" name="Straight Connector 61"/>
            <p:cNvCxnSpPr/>
            <p:nvPr/>
          </p:nvCxnSpPr>
          <p:spPr>
            <a:xfrm flipV="1">
              <a:off x="4191000" y="3581400"/>
              <a:ext cx="609600" cy="6858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endCxn id="50" idx="6"/>
            </p:cNvCxnSpPr>
            <p:nvPr/>
          </p:nvCxnSpPr>
          <p:spPr>
            <a:xfrm>
              <a:off x="4800600" y="3581400"/>
              <a:ext cx="685800" cy="1905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50" idx="0"/>
              <a:endCxn id="52" idx="0"/>
            </p:cNvCxnSpPr>
            <p:nvPr/>
          </p:nvCxnSpPr>
          <p:spPr>
            <a:xfrm flipH="1">
              <a:off x="5295900" y="3722132"/>
              <a:ext cx="152400" cy="8382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52" idx="2"/>
              <a:endCxn id="51" idx="3"/>
            </p:cNvCxnSpPr>
            <p:nvPr/>
          </p:nvCxnSpPr>
          <p:spPr>
            <a:xfrm flipH="1">
              <a:off x="4506959" y="4598432"/>
              <a:ext cx="750841" cy="255541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51" idx="3"/>
            </p:cNvCxnSpPr>
            <p:nvPr/>
          </p:nvCxnSpPr>
          <p:spPr>
            <a:xfrm flipH="1" flipV="1">
              <a:off x="4191000" y="4267200"/>
              <a:ext cx="315959" cy="598441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4191000" y="3200400"/>
            <a:ext cx="2286000" cy="1676400"/>
            <a:chOff x="4191000" y="3200400"/>
            <a:chExt cx="2286000" cy="1676400"/>
          </a:xfrm>
        </p:grpSpPr>
        <p:cxnSp>
          <p:nvCxnSpPr>
            <p:cNvPr id="40" name="Straight Connector 39"/>
            <p:cNvCxnSpPr>
              <a:endCxn id="52" idx="2"/>
            </p:cNvCxnSpPr>
            <p:nvPr/>
          </p:nvCxnSpPr>
          <p:spPr>
            <a:xfrm flipH="1">
              <a:off x="5257800" y="3200400"/>
              <a:ext cx="1219200" cy="14097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4495800" y="3200400"/>
              <a:ext cx="1447800" cy="1676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4191000" y="3200400"/>
              <a:ext cx="914400" cy="1066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 rot="2242075">
              <a:off x="5602351" y="3578757"/>
              <a:ext cx="76200" cy="76200"/>
            </a:xfrm>
            <a:prstGeom prst="rect">
              <a:avLst/>
            </a:prstGeom>
            <a:noFill/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 rot="2242075">
              <a:off x="5909135" y="3841163"/>
              <a:ext cx="76200" cy="76200"/>
            </a:xfrm>
            <a:prstGeom prst="rect">
              <a:avLst/>
            </a:prstGeom>
            <a:noFill/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Connector 86"/>
          <p:cNvCxnSpPr>
            <a:endCxn id="12" idx="4"/>
          </p:cNvCxnSpPr>
          <p:nvPr/>
        </p:nvCxnSpPr>
        <p:spPr>
          <a:xfrm flipV="1">
            <a:off x="5105400" y="2164780"/>
            <a:ext cx="97" cy="34982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V="1">
            <a:off x="5105303" y="1317084"/>
            <a:ext cx="97" cy="119751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2514600" y="2514600"/>
            <a:ext cx="1676400" cy="3417332"/>
            <a:chOff x="2514600" y="2514600"/>
            <a:chExt cx="1676400" cy="3417332"/>
          </a:xfrm>
        </p:grpSpPr>
        <p:grpSp>
          <p:nvGrpSpPr>
            <p:cNvPr id="102" name="Group 101"/>
            <p:cNvGrpSpPr/>
            <p:nvPr/>
          </p:nvGrpSpPr>
          <p:grpSpPr>
            <a:xfrm>
              <a:off x="3048000" y="2514600"/>
              <a:ext cx="1143000" cy="3276600"/>
              <a:chOff x="3048000" y="2514600"/>
              <a:chExt cx="1143000" cy="32766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 flipH="1">
                <a:off x="3048000" y="2514600"/>
                <a:ext cx="990600" cy="3276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H="1">
                <a:off x="3124200" y="4267200"/>
                <a:ext cx="1066800" cy="1143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Arc 97"/>
              <p:cNvSpPr/>
              <p:nvPr/>
            </p:nvSpPr>
            <p:spPr>
              <a:xfrm>
                <a:off x="3093156" y="4625622"/>
                <a:ext cx="533400" cy="533400"/>
              </a:xfrm>
              <a:prstGeom prst="arc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3173985" y="4724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</a:t>
                </a:r>
              </a:p>
            </p:txBody>
          </p:sp>
        </p:grpSp>
        <p:sp>
          <p:nvSpPr>
            <p:cNvPr id="106" name="TextBox 105"/>
            <p:cNvSpPr txBox="1"/>
            <p:nvPr/>
          </p:nvSpPr>
          <p:spPr>
            <a:xfrm>
              <a:off x="2514600" y="5562600"/>
              <a:ext cx="651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X2Y2</a:t>
              </a: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2438400" y="3124200"/>
            <a:ext cx="3008606" cy="1721308"/>
            <a:chOff x="2438400" y="3124200"/>
            <a:chExt cx="3008606" cy="1721308"/>
          </a:xfrm>
        </p:grpSpPr>
        <p:sp>
          <p:nvSpPr>
            <p:cNvPr id="123" name="Rectangle 122"/>
            <p:cNvSpPr/>
            <p:nvPr/>
          </p:nvSpPr>
          <p:spPr>
            <a:xfrm rot="17236218">
              <a:off x="3327970" y="4398736"/>
              <a:ext cx="125012" cy="1171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2438400" y="3124200"/>
              <a:ext cx="3008606" cy="1721308"/>
              <a:chOff x="2438400" y="3124200"/>
              <a:chExt cx="3008606" cy="1721308"/>
            </a:xfrm>
          </p:grpSpPr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2743200" y="4343400"/>
                <a:ext cx="1772964" cy="502108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 flipH="1" flipV="1">
                <a:off x="2438400" y="3810000"/>
                <a:ext cx="2847002" cy="7834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 flipV="1">
                <a:off x="3124200" y="3124200"/>
                <a:ext cx="2322806" cy="637202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 flipH="1" flipV="1">
                <a:off x="3352800" y="4033837"/>
                <a:ext cx="851446" cy="22651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8" name="Rectangle 127"/>
            <p:cNvSpPr/>
            <p:nvPr/>
          </p:nvSpPr>
          <p:spPr>
            <a:xfrm rot="17236218">
              <a:off x="3696833" y="3185587"/>
              <a:ext cx="125012" cy="1171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 rot="17236218">
              <a:off x="3460996" y="3952028"/>
              <a:ext cx="125012" cy="1171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 rot="17236218">
              <a:off x="3411093" y="4108086"/>
              <a:ext cx="125012" cy="1171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Oval 134"/>
          <p:cNvSpPr/>
          <p:nvPr/>
        </p:nvSpPr>
        <p:spPr>
          <a:xfrm>
            <a:off x="3527040" y="4050508"/>
            <a:ext cx="76200" cy="762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3755276" y="3276600"/>
            <a:ext cx="76200" cy="762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3221376" y="3136472"/>
            <a:ext cx="76200" cy="762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2526372" y="3816619"/>
            <a:ext cx="76200" cy="762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5057778" y="3167067"/>
            <a:ext cx="76200" cy="762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/>
          <p:cNvSpPr txBox="1"/>
          <p:nvPr/>
        </p:nvSpPr>
        <p:spPr>
          <a:xfrm>
            <a:off x="3733800" y="5802868"/>
            <a:ext cx="332065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Distance of a, b, c, d, e from X1Y1</a:t>
            </a:r>
          </a:p>
        </p:txBody>
      </p:sp>
      <p:cxnSp>
        <p:nvCxnSpPr>
          <p:cNvPr id="149" name="Straight Connector 148"/>
          <p:cNvCxnSpPr>
            <a:stCxn id="83" idx="1"/>
          </p:cNvCxnSpPr>
          <p:nvPr/>
        </p:nvCxnSpPr>
        <p:spPr>
          <a:xfrm flipV="1">
            <a:off x="5610171" y="3200401"/>
            <a:ext cx="333429" cy="393332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533770" y="3805253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757960" y="304061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048000" y="281940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630898" y="44196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09800" y="351686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</a:t>
            </a:r>
          </a:p>
        </p:txBody>
      </p:sp>
      <p:cxnSp>
        <p:nvCxnSpPr>
          <p:cNvPr id="163" name="Straight Connector 162"/>
          <p:cNvCxnSpPr>
            <a:stCxn id="154" idx="2"/>
            <a:endCxn id="154" idx="2"/>
          </p:cNvCxnSpPr>
          <p:nvPr/>
        </p:nvCxnSpPr>
        <p:spPr>
          <a:xfrm>
            <a:off x="3247734" y="318873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Group 173"/>
          <p:cNvGrpSpPr/>
          <p:nvPr/>
        </p:nvGrpSpPr>
        <p:grpSpPr>
          <a:xfrm>
            <a:off x="2590800" y="3167067"/>
            <a:ext cx="1214437" cy="1252533"/>
            <a:chOff x="2590800" y="3167067"/>
            <a:chExt cx="1214437" cy="1252533"/>
          </a:xfrm>
        </p:grpSpPr>
        <p:cxnSp>
          <p:nvCxnSpPr>
            <p:cNvPr id="158" name="Straight Connector 157"/>
            <p:cNvCxnSpPr>
              <a:stCxn id="48" idx="4"/>
            </p:cNvCxnSpPr>
            <p:nvPr/>
          </p:nvCxnSpPr>
          <p:spPr>
            <a:xfrm flipH="1" flipV="1">
              <a:off x="2590802" y="3886202"/>
              <a:ext cx="266698" cy="521126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endCxn id="154" idx="2"/>
            </p:cNvCxnSpPr>
            <p:nvPr/>
          </p:nvCxnSpPr>
          <p:spPr>
            <a:xfrm flipV="1">
              <a:off x="2590800" y="3188732"/>
              <a:ext cx="656934" cy="69746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 flipH="1" flipV="1">
              <a:off x="3254713" y="3167067"/>
              <a:ext cx="550524" cy="14012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>
              <a:stCxn id="155" idx="0"/>
            </p:cNvCxnSpPr>
            <p:nvPr/>
          </p:nvCxnSpPr>
          <p:spPr>
            <a:xfrm flipV="1">
              <a:off x="2839449" y="4114800"/>
              <a:ext cx="741951" cy="3048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V="1">
              <a:off x="3562348" y="3343274"/>
              <a:ext cx="228600" cy="76200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5" name="TextBox 174"/>
          <p:cNvSpPr txBox="1"/>
          <p:nvPr/>
        </p:nvSpPr>
        <p:spPr>
          <a:xfrm>
            <a:off x="7162800" y="990600"/>
            <a:ext cx="1855289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Pentagon is parallel to VP and perpendicular to HP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934200" y="3962400"/>
            <a:ext cx="19812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Distance of a’, b’, c’, d’, e’ from XY 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934200" y="2819400"/>
            <a:ext cx="20574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Pentagon is inclined at 45</a:t>
            </a:r>
            <a:r>
              <a:rPr lang="en-US" baseline="30000" dirty="0"/>
              <a:t>o</a:t>
            </a:r>
            <a:r>
              <a:rPr lang="en-US" dirty="0"/>
              <a:t> to VP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7200" y="5486400"/>
            <a:ext cx="1945966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Side AB is inclined at 30</a:t>
            </a:r>
            <a:r>
              <a:rPr lang="en-US" baseline="30000" dirty="0"/>
              <a:t>o</a:t>
            </a:r>
            <a:r>
              <a:rPr lang="en-US" dirty="0"/>
              <a:t> to HP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39" grpId="1" animBg="1"/>
      <p:bldP spid="146" grpId="0" animBg="1"/>
      <p:bldP spid="152" grpId="0"/>
      <p:bldP spid="153" grpId="0"/>
      <p:bldP spid="154" grpId="0"/>
      <p:bldP spid="155" grpId="0"/>
      <p:bldP spid="156" grpId="0"/>
      <p:bldP spid="176" grpId="0" animBg="1"/>
      <p:bldP spid="177" grpId="0" animBg="1"/>
      <p:bldP spid="17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477838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8161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45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00200"/>
            <a:ext cx="617220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05200" y="3810000"/>
            <a:ext cx="5867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i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Thank You for Patient Hearing</a:t>
            </a:r>
          </a:p>
        </p:txBody>
      </p:sp>
    </p:spTree>
    <p:extLst>
      <p:ext uri="{BB962C8B-B14F-4D97-AF65-F5344CB8AC3E}">
        <p14:creationId xmlns:p14="http://schemas.microsoft.com/office/powerpoint/2010/main" val="165287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85185E-6 C 0.06511 -0.05139 0.13038 -0.10278 0.10365 -0.14514 C 0.07708 -0.1875 -0.11232 -0.20741 -0.15972 -0.25324 C -0.20712 -0.29908 -0.19444 -0.35972 -0.18177 -0.42037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0" y="-21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Custom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ln w="38100">
          <a:solidFill>
            <a:srgbClr val="0033CC"/>
          </a:solidFill>
          <a:prstDash val="solid"/>
          <a:headEnd type="none" w="med" len="med"/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prstDash val="solid"/>
          <a:headEnd type="none" w="med" len="me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spcBef>
            <a:spcPts val="0"/>
          </a:spcBef>
          <a:defRPr sz="140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3531</Words>
  <Application>Microsoft Office PowerPoint</Application>
  <PresentationFormat>On-screen Show (4:3)</PresentationFormat>
  <Paragraphs>927</Paragraphs>
  <Slides>25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Adobe Caslon Pro Bold</vt:lpstr>
      <vt:lpstr>Arial</vt:lpstr>
      <vt:lpstr>Calibri</vt:lpstr>
      <vt:lpstr>Franklin Gothic Book</vt:lpstr>
      <vt:lpstr>Franklin Gothic Medium</vt:lpstr>
      <vt:lpstr>Garamond</vt:lpstr>
      <vt:lpstr>Monotype Corsiva</vt:lpstr>
      <vt:lpstr>New Century Schoolbook</vt:lpstr>
      <vt:lpstr>Times</vt:lpstr>
      <vt:lpstr>Times New Roman</vt:lpstr>
      <vt:lpstr>Wingdings</vt:lpstr>
      <vt:lpstr>Wingdings 2</vt:lpstr>
      <vt:lpstr>Office Theme</vt:lpstr>
      <vt:lpstr>Flow</vt:lpstr>
      <vt:lpstr>CorelDRAW</vt:lpstr>
      <vt:lpstr>CE101  Engineering Drawing  Lec5: Projection of Planes </vt:lpstr>
      <vt:lpstr>Introduction</vt:lpstr>
      <vt:lpstr>Positions of Planes</vt:lpstr>
      <vt:lpstr>Terms Used In Projections of Planes</vt:lpstr>
      <vt:lpstr>Plane Parallel to An RP</vt:lpstr>
      <vt:lpstr>PowerPoint Presentation</vt:lpstr>
      <vt:lpstr>PowerPoint Presentation</vt:lpstr>
      <vt:lpstr>Plane Inclined to One RP and Perpendicular to Other RP</vt:lpstr>
      <vt:lpstr>Plane Inclined to One RP and Perpendicular to Other RP</vt:lpstr>
      <vt:lpstr>Plane Inclined to One RP and Perpendicular to Other RP</vt:lpstr>
      <vt:lpstr>PowerPoint Presentation</vt:lpstr>
      <vt:lpstr>Plane Inclined to Both RPs</vt:lpstr>
      <vt:lpstr>Plane Inclined to Both RPs</vt:lpstr>
      <vt:lpstr>Plane Inclined to Both RPs</vt:lpstr>
      <vt:lpstr>Plane Inclined to Both RPs</vt:lpstr>
      <vt:lpstr>Plane Inclined to Both RPs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Auxiliary Plane Projection Method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senthilvelan laptop</dc:creator>
  <cp:lastModifiedBy>Sparsh Johari</cp:lastModifiedBy>
  <cp:revision>390</cp:revision>
  <dcterms:created xsi:type="dcterms:W3CDTF">2006-08-16T00:00:00Z</dcterms:created>
  <dcterms:modified xsi:type="dcterms:W3CDTF">2023-09-01T03:30:23Z</dcterms:modified>
</cp:coreProperties>
</file>