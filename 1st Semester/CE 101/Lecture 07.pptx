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5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273" r:id="rId18"/>
    <p:sldId id="274" r:id="rId19"/>
    <p:sldId id="275" r:id="rId20"/>
    <p:sldId id="277" r:id="rId21"/>
    <p:sldId id="308" r:id="rId22"/>
    <p:sldId id="281" r:id="rId23"/>
    <p:sldId id="282" r:id="rId24"/>
    <p:sldId id="285" r:id="rId25"/>
    <p:sldId id="288" r:id="rId26"/>
    <p:sldId id="306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3D16BA4-1194-4708-A310-5E0013221F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22160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Today we will discuss about the Modeling and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54EA00-3FE7-45BB-8861-608A115B0E7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975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6D9180-F850-4F0C-B39B-774D494B3FED}" type="slidenum">
              <a:rPr lang="en-US" altLang="en-US" smtClean="0"/>
              <a:pPr/>
              <a:t>17</a:t>
            </a:fld>
            <a:endParaRPr lang="en-US" altLang="en-U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03579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19EDAF-48A3-4C20-8E31-46860D06C85F}" type="slidenum">
              <a:rPr lang="en-US" altLang="en-US" smtClean="0"/>
              <a:pPr/>
              <a:t>18</a:t>
            </a:fld>
            <a:endParaRPr lang="en-US" alt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70733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DB5971-2190-4B7C-B559-3B8EE967E3A9}" type="slidenum">
              <a:rPr lang="en-US" altLang="en-US" smtClean="0"/>
              <a:pPr/>
              <a:t>19</a:t>
            </a:fld>
            <a:endParaRPr lang="en-US" alt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06381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88B4DA-19E6-41B4-A53E-D252CCA01312}" type="slidenum">
              <a:rPr lang="en-US" altLang="en-US" smtClean="0"/>
              <a:pPr/>
              <a:t>20</a:t>
            </a:fld>
            <a:endParaRPr lang="en-US" alt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31133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32FFDB-1965-417C-AF30-BFCB51B2BB94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smtClean="0"/>
              <a:t>Edge is vertical with HP and</a:t>
            </a:r>
            <a:r>
              <a:rPr lang="en-US" altLang="en-US" baseline="0" dirty="0" smtClean="0"/>
              <a:t> 45 degree to VP   a1’b1’ will be seen o’1 and c’1 line should be dashed and a1’b1’ line will be solid line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6027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913B47-A28F-4640-8879-A9192FBEEF23}" type="slidenum">
              <a:rPr lang="en-US" altLang="en-US" smtClean="0"/>
              <a:pPr/>
              <a:t>22</a:t>
            </a:fld>
            <a:endParaRPr lang="en-US" alt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52580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DE9057-5A1A-4442-ADC1-0FA90655AFE6}" type="slidenum">
              <a:rPr lang="en-US" altLang="en-US" smtClean="0"/>
              <a:pPr/>
              <a:t>23</a:t>
            </a:fld>
            <a:endParaRPr lang="en-US" alt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58870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56C555-FA27-4141-A189-C56586D75377}" type="slidenum">
              <a:rPr lang="en-US" altLang="en-US" smtClean="0"/>
              <a:pPr/>
              <a:t>24</a:t>
            </a:fld>
            <a:endParaRPr lang="en-US" alt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00246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76DB1B-746D-44DB-8645-090462A5AFDD}" type="slidenum">
              <a:rPr lang="en-US" altLang="en-US" smtClean="0"/>
              <a:pPr/>
              <a:t>25</a:t>
            </a:fld>
            <a:endParaRPr lang="en-US" alt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20694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7370E-4B19-4F08-A44F-F68A00DD26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54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D3B42-C3F7-45E1-AFD1-7082EE141F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07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EDC0-446A-425A-BDD0-43CA2072B2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18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091EF-B114-44BE-BDA2-85D045177F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63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61BB-920A-4DE9-9A0D-CA22B6298F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04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3487F-252D-4C0A-A367-5396642B40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883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5FE77-7F61-46BB-A06C-C44D405C4E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520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1B5B4-DC14-42B6-B18A-97EA097A58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22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13B01-4596-4231-ADCE-C288DB3E94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405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398EB-37B4-46BD-9C66-ED94872A58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532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80C35-4F05-4260-A737-2424CA0AFD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30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05BE9CD-B31F-4D17-8614-F6D8FCC462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72250" y="4733925"/>
            <a:ext cx="1581150" cy="1581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449" y="1173301"/>
            <a:ext cx="8763000" cy="3170099"/>
          </a:xfr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CE101</a:t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Drawing</a:t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Lec6: Projection of Solids</a:t>
            </a:r>
            <a:endParaRPr lang="en-US" sz="2800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5518404"/>
            <a:ext cx="594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Indian Institute of Technology Guwahati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4618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965200"/>
            <a:ext cx="8001000" cy="56642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42925"/>
            <a:ext cx="7772400" cy="577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457200"/>
            <a:ext cx="8305800" cy="604043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077200" cy="539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77838"/>
            <a:ext cx="8305800" cy="554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600"/>
            <a:ext cx="8077200" cy="5049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28600"/>
            <a:ext cx="7924800" cy="59467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62000"/>
            <a:ext cx="7543800" cy="503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8305800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81025"/>
            <a:ext cx="8001000" cy="575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7924800" cy="479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600"/>
            <a:ext cx="8077200" cy="508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1463"/>
            <a:ext cx="7924800" cy="608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2438"/>
            <a:ext cx="8229600" cy="574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7200"/>
            <a:ext cx="8382000" cy="530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685800" y="26035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7900988" y="2603500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441450" y="533400"/>
            <a:ext cx="170973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STANDING ON H.P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On it’s base.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3352800" y="533400"/>
            <a:ext cx="2151063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RESTING ON H.P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On one point of base circle.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5843588" y="533400"/>
            <a:ext cx="15081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LYING ON H.P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On one generator. 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1295400" y="990600"/>
            <a:ext cx="204628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(Axis perpendicular to Hp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And // to Vp.)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581400" y="990600"/>
            <a:ext cx="16414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(Axis inclined to Hp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And // to Vp)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5808663" y="990600"/>
            <a:ext cx="16414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(Axis inclined to Hp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And // to Vp)</a:t>
            </a:r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960438" y="2909888"/>
            <a:ext cx="7421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2539" name="Group 11"/>
          <p:cNvGrpSpPr>
            <a:grpSpLocks/>
          </p:cNvGrpSpPr>
          <p:nvPr/>
        </p:nvGrpSpPr>
        <p:grpSpPr bwMode="auto">
          <a:xfrm>
            <a:off x="1579563" y="1365250"/>
            <a:ext cx="1166812" cy="1647825"/>
            <a:chOff x="995" y="860"/>
            <a:chExt cx="735" cy="1038"/>
          </a:xfrm>
        </p:grpSpPr>
        <p:sp>
          <p:nvSpPr>
            <p:cNvPr id="19497" name="AutoShape 12"/>
            <p:cNvSpPr>
              <a:spLocks noChangeArrowheads="1"/>
            </p:cNvSpPr>
            <p:nvPr/>
          </p:nvSpPr>
          <p:spPr bwMode="auto">
            <a:xfrm>
              <a:off x="995" y="925"/>
              <a:ext cx="735" cy="90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498" name="Line 13"/>
            <p:cNvSpPr>
              <a:spLocks noChangeShapeType="1"/>
            </p:cNvSpPr>
            <p:nvPr/>
          </p:nvSpPr>
          <p:spPr bwMode="auto">
            <a:xfrm>
              <a:off x="1363" y="860"/>
              <a:ext cx="0" cy="1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542" name="Group 14"/>
          <p:cNvGrpSpPr>
            <a:grpSpLocks/>
          </p:cNvGrpSpPr>
          <p:nvPr/>
        </p:nvGrpSpPr>
        <p:grpSpPr bwMode="auto">
          <a:xfrm>
            <a:off x="5851525" y="2052638"/>
            <a:ext cx="1647825" cy="1166812"/>
            <a:chOff x="3686" y="1293"/>
            <a:chExt cx="1038" cy="735"/>
          </a:xfrm>
        </p:grpSpPr>
        <p:sp>
          <p:nvSpPr>
            <p:cNvPr id="19495" name="AutoShape 15"/>
            <p:cNvSpPr>
              <a:spLocks noChangeArrowheads="1"/>
            </p:cNvSpPr>
            <p:nvPr/>
          </p:nvSpPr>
          <p:spPr bwMode="auto">
            <a:xfrm rot="6753509">
              <a:off x="3852" y="1206"/>
              <a:ext cx="735" cy="90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496" name="Line 16"/>
            <p:cNvSpPr>
              <a:spLocks noChangeShapeType="1"/>
            </p:cNvSpPr>
            <p:nvPr/>
          </p:nvSpPr>
          <p:spPr bwMode="auto">
            <a:xfrm rot="6711798">
              <a:off x="4204" y="1141"/>
              <a:ext cx="1" cy="1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545" name="Group 17"/>
          <p:cNvGrpSpPr>
            <a:grpSpLocks/>
          </p:cNvGrpSpPr>
          <p:nvPr/>
        </p:nvGrpSpPr>
        <p:grpSpPr bwMode="auto">
          <a:xfrm>
            <a:off x="3754438" y="1444625"/>
            <a:ext cx="1649412" cy="1168400"/>
            <a:chOff x="2365" y="910"/>
            <a:chExt cx="1039" cy="736"/>
          </a:xfrm>
        </p:grpSpPr>
        <p:sp>
          <p:nvSpPr>
            <p:cNvPr id="19493" name="AutoShape 18"/>
            <p:cNvSpPr>
              <a:spLocks noChangeArrowheads="1"/>
            </p:cNvSpPr>
            <p:nvPr/>
          </p:nvSpPr>
          <p:spPr bwMode="auto">
            <a:xfrm rot="3310215">
              <a:off x="2510" y="823"/>
              <a:ext cx="736" cy="90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494" name="Line 19"/>
            <p:cNvSpPr>
              <a:spLocks noChangeShapeType="1"/>
            </p:cNvSpPr>
            <p:nvPr/>
          </p:nvSpPr>
          <p:spPr bwMode="auto">
            <a:xfrm rot="3394500">
              <a:off x="2884" y="752"/>
              <a:ext cx="1" cy="1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960438" y="2911475"/>
            <a:ext cx="5321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While observing Fv, x-y line represents Horizontal Plane. (Hp)</a:t>
            </a:r>
          </a:p>
        </p:txBody>
      </p:sp>
      <p:sp>
        <p:nvSpPr>
          <p:cNvPr id="22549" name="AutoShape 21"/>
          <p:cNvSpPr>
            <a:spLocks noChangeArrowheads="1"/>
          </p:cNvSpPr>
          <p:nvPr/>
        </p:nvSpPr>
        <p:spPr bwMode="auto">
          <a:xfrm flipV="1">
            <a:off x="1579563" y="4195763"/>
            <a:ext cx="1166812" cy="14414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flipV="1">
            <a:off x="960438" y="4195763"/>
            <a:ext cx="7421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1" name="AutoShape 23"/>
          <p:cNvSpPr>
            <a:spLocks noChangeArrowheads="1"/>
          </p:cNvSpPr>
          <p:nvPr/>
        </p:nvSpPr>
        <p:spPr bwMode="auto">
          <a:xfrm rot="18289785" flipV="1">
            <a:off x="3983832" y="4355306"/>
            <a:ext cx="1168400" cy="14430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52" name="AutoShape 24"/>
          <p:cNvSpPr>
            <a:spLocks noChangeArrowheads="1"/>
          </p:cNvSpPr>
          <p:nvPr/>
        </p:nvSpPr>
        <p:spPr bwMode="auto">
          <a:xfrm rot="14846491" flipV="1">
            <a:off x="6115050" y="3748088"/>
            <a:ext cx="1166813" cy="14430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53" name="Line 25"/>
          <p:cNvSpPr>
            <a:spLocks noChangeShapeType="1"/>
          </p:cNvSpPr>
          <p:nvPr/>
        </p:nvSpPr>
        <p:spPr bwMode="auto">
          <a:xfrm flipV="1">
            <a:off x="2163763" y="4092575"/>
            <a:ext cx="0" cy="16478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4" name="Line 26"/>
          <p:cNvSpPr>
            <a:spLocks noChangeShapeType="1"/>
          </p:cNvSpPr>
          <p:nvPr/>
        </p:nvSpPr>
        <p:spPr bwMode="auto">
          <a:xfrm rot="14888202" flipV="1">
            <a:off x="6674644" y="3647281"/>
            <a:ext cx="1588" cy="16478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5" name="Line 27"/>
          <p:cNvSpPr>
            <a:spLocks noChangeShapeType="1"/>
          </p:cNvSpPr>
          <p:nvPr/>
        </p:nvSpPr>
        <p:spPr bwMode="auto">
          <a:xfrm rot="18205500" flipV="1">
            <a:off x="4578350" y="4262438"/>
            <a:ext cx="1588" cy="164941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1371600" y="6172200"/>
            <a:ext cx="19875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Axis perpendicular to Vp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And // to Hp</a:t>
            </a:r>
          </a:p>
        </p:txBody>
      </p: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3657600" y="6172200"/>
            <a:ext cx="162718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Axis inclined to Vp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And // to Hp</a:t>
            </a:r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>
            <a:off x="5791200" y="6172200"/>
            <a:ext cx="158273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Axis inclined to Vp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And // to Hp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609600" y="38862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2560" name="Text Box 32"/>
          <p:cNvSpPr txBox="1">
            <a:spLocks noChangeArrowheads="1"/>
          </p:cNvSpPr>
          <p:nvPr/>
        </p:nvSpPr>
        <p:spPr bwMode="auto">
          <a:xfrm>
            <a:off x="7924800" y="3833813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2561" name="Text Box 33"/>
          <p:cNvSpPr txBox="1">
            <a:spLocks noChangeArrowheads="1"/>
          </p:cNvSpPr>
          <p:nvPr/>
        </p:nvSpPr>
        <p:spPr bwMode="auto">
          <a:xfrm>
            <a:off x="1219200" y="1752600"/>
            <a:ext cx="636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F.V.</a:t>
            </a:r>
          </a:p>
        </p:txBody>
      </p:sp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2895600" y="1752600"/>
            <a:ext cx="636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F.V.</a:t>
            </a:r>
          </a:p>
        </p:txBody>
      </p:sp>
      <p:sp>
        <p:nvSpPr>
          <p:cNvPr id="22563" name="Text Box 35"/>
          <p:cNvSpPr txBox="1">
            <a:spLocks noChangeArrowheads="1"/>
          </p:cNvSpPr>
          <p:nvPr/>
        </p:nvSpPr>
        <p:spPr bwMode="auto">
          <a:xfrm>
            <a:off x="5486400" y="1736725"/>
            <a:ext cx="636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F.V.</a:t>
            </a:r>
          </a:p>
        </p:txBody>
      </p:sp>
      <p:sp>
        <p:nvSpPr>
          <p:cNvPr id="22564" name="Text Box 36"/>
          <p:cNvSpPr txBox="1">
            <a:spLocks noChangeArrowheads="1"/>
          </p:cNvSpPr>
          <p:nvPr/>
        </p:nvSpPr>
        <p:spPr bwMode="auto">
          <a:xfrm>
            <a:off x="1219200" y="4953000"/>
            <a:ext cx="650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T.V.</a:t>
            </a:r>
          </a:p>
        </p:txBody>
      </p:sp>
      <p:sp>
        <p:nvSpPr>
          <p:cNvPr id="22565" name="Text Box 37"/>
          <p:cNvSpPr txBox="1">
            <a:spLocks noChangeArrowheads="1"/>
          </p:cNvSpPr>
          <p:nvPr/>
        </p:nvSpPr>
        <p:spPr bwMode="auto">
          <a:xfrm>
            <a:off x="2895600" y="4953000"/>
            <a:ext cx="650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T.V.</a:t>
            </a:r>
          </a:p>
        </p:txBody>
      </p:sp>
      <p:sp>
        <p:nvSpPr>
          <p:cNvPr id="22566" name="Text Box 38"/>
          <p:cNvSpPr txBox="1">
            <a:spLocks noChangeArrowheads="1"/>
          </p:cNvSpPr>
          <p:nvPr/>
        </p:nvSpPr>
        <p:spPr bwMode="auto">
          <a:xfrm>
            <a:off x="5410200" y="4953000"/>
            <a:ext cx="650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T.V.</a:t>
            </a:r>
          </a:p>
        </p:txBody>
      </p:sp>
      <p:sp>
        <p:nvSpPr>
          <p:cNvPr id="22567" name="Text Box 39"/>
          <p:cNvSpPr txBox="1">
            <a:spLocks noChangeArrowheads="1"/>
          </p:cNvSpPr>
          <p:nvPr/>
        </p:nvSpPr>
        <p:spPr bwMode="auto">
          <a:xfrm>
            <a:off x="990600" y="3890963"/>
            <a:ext cx="5118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While observing Tv, x-y line represents Vertical Plane. (Vp)</a:t>
            </a:r>
          </a:p>
        </p:txBody>
      </p:sp>
      <p:sp>
        <p:nvSpPr>
          <p:cNvPr id="22568" name="Text Box 40"/>
          <p:cNvSpPr txBox="1">
            <a:spLocks noChangeArrowheads="1"/>
          </p:cNvSpPr>
          <p:nvPr/>
        </p:nvSpPr>
        <p:spPr bwMode="auto">
          <a:xfrm>
            <a:off x="1447800" y="5730875"/>
            <a:ext cx="170973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STANDING ON V.P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On it’s base.</a:t>
            </a:r>
          </a:p>
        </p:txBody>
      </p:sp>
      <p:sp>
        <p:nvSpPr>
          <p:cNvPr id="22569" name="Text Box 41"/>
          <p:cNvSpPr txBox="1">
            <a:spLocks noChangeArrowheads="1"/>
          </p:cNvSpPr>
          <p:nvPr/>
        </p:nvSpPr>
        <p:spPr bwMode="auto">
          <a:xfrm>
            <a:off x="3359150" y="5730875"/>
            <a:ext cx="2151063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RESTING ON V.P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On one point of base circle.</a:t>
            </a:r>
          </a:p>
        </p:txBody>
      </p:sp>
      <p:sp>
        <p:nvSpPr>
          <p:cNvPr id="22570" name="Text Box 42"/>
          <p:cNvSpPr txBox="1">
            <a:spLocks noChangeArrowheads="1"/>
          </p:cNvSpPr>
          <p:nvPr/>
        </p:nvSpPr>
        <p:spPr bwMode="auto">
          <a:xfrm>
            <a:off x="5849938" y="5730875"/>
            <a:ext cx="15081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LYING ON V.P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On one generator.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3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2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2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300" fill="hold"/>
                                        <p:tgtEl>
                                          <p:spTgt spid="22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00" fill="hold"/>
                                        <p:tgtEl>
                                          <p:spTgt spid="22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300" fill="hold"/>
                                        <p:tgtEl>
                                          <p:spTgt spid="22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00" fill="hold"/>
                                        <p:tgtEl>
                                          <p:spTgt spid="22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3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3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4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9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6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1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1" grpId="0" autoUpdateAnimBg="0"/>
      <p:bldP spid="22532" grpId="0" autoUpdateAnimBg="0"/>
      <p:bldP spid="22533" grpId="0" autoUpdateAnimBg="0"/>
      <p:bldP spid="22534" grpId="0" autoUpdateAnimBg="0"/>
      <p:bldP spid="22535" grpId="0" autoUpdateAnimBg="0"/>
      <p:bldP spid="22536" grpId="0" autoUpdateAnimBg="0"/>
      <p:bldP spid="22537" grpId="0" autoUpdateAnimBg="0"/>
      <p:bldP spid="22548" grpId="0" autoUpdateAnimBg="0"/>
      <p:bldP spid="22549" grpId="0" animBg="1"/>
      <p:bldP spid="22551" grpId="0" animBg="1"/>
      <p:bldP spid="22552" grpId="0" animBg="1"/>
      <p:bldP spid="22556" grpId="0" autoUpdateAnimBg="0"/>
      <p:bldP spid="22557" grpId="0" autoUpdateAnimBg="0"/>
      <p:bldP spid="22558" grpId="0" autoUpdateAnimBg="0"/>
      <p:bldP spid="22559" grpId="0" autoUpdateAnimBg="0"/>
      <p:bldP spid="22560" grpId="0" autoUpdateAnimBg="0"/>
      <p:bldP spid="22561" grpId="0" autoUpdateAnimBg="0"/>
      <p:bldP spid="22562" grpId="0" autoUpdateAnimBg="0"/>
      <p:bldP spid="22563" grpId="0" autoUpdateAnimBg="0"/>
      <p:bldP spid="22564" grpId="0" autoUpdateAnimBg="0"/>
      <p:bldP spid="22565" grpId="0" autoUpdateAnimBg="0"/>
      <p:bldP spid="22566" grpId="0" autoUpdateAnimBg="0"/>
      <p:bldP spid="22567" grpId="0" autoUpdateAnimBg="0"/>
      <p:bldP spid="22568" grpId="0" autoUpdateAnimBg="0"/>
      <p:bldP spid="22569" grpId="0" autoUpdateAnimBg="0"/>
      <p:bldP spid="2257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5943600"/>
            <a:ext cx="9144000" cy="914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0" y="12700"/>
            <a:ext cx="9144000" cy="5334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0" y="2679700"/>
            <a:ext cx="91440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0" y="2463800"/>
            <a:ext cx="9144000" cy="22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0" name="Rectangle 7"/>
          <p:cNvSpPr>
            <a:spLocks noChangeArrowheads="1"/>
          </p:cNvSpPr>
          <p:nvPr/>
        </p:nvSpPr>
        <p:spPr bwMode="auto">
          <a:xfrm>
            <a:off x="0" y="558800"/>
            <a:ext cx="9144000" cy="19050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2133600" y="3124200"/>
            <a:ext cx="4800600" cy="304800"/>
          </a:xfrm>
          <a:prstGeom prst="rect">
            <a:avLst/>
          </a:prstGeom>
          <a:solidFill>
            <a:srgbClr val="CC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2" name="Text Box 9"/>
          <p:cNvSpPr txBox="1">
            <a:spLocks noChangeArrowheads="1"/>
          </p:cNvSpPr>
          <p:nvPr/>
        </p:nvSpPr>
        <p:spPr bwMode="auto">
          <a:xfrm>
            <a:off x="2057400" y="38100"/>
            <a:ext cx="464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STEPS TO SOLVE PROBLEMS IN SOLIDS</a:t>
            </a:r>
          </a:p>
        </p:txBody>
      </p:sp>
      <p:sp>
        <p:nvSpPr>
          <p:cNvPr id="21513" name="Text Box 10"/>
          <p:cNvSpPr txBox="1">
            <a:spLocks noChangeArrowheads="1"/>
          </p:cNvSpPr>
          <p:nvPr/>
        </p:nvSpPr>
        <p:spPr bwMode="auto">
          <a:xfrm>
            <a:off x="381000" y="304800"/>
            <a:ext cx="8543925" cy="26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                                   Problem is solved in three steps: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STEP 1</a:t>
            </a:r>
            <a:r>
              <a:rPr lang="en-US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en-US" altLang="en-US" sz="1400">
                <a:latin typeface="Times New Roman" panose="02020603050405020304" pitchFamily="18" charset="0"/>
              </a:rPr>
              <a:t> ASSUME SOLID STANDING ON THE PLANE WITH WHICH IT IS MAKING INCLINATION.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( IF IT IS INCLINED TO HP, ASSUME IT STANDING ON HP)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 ( IF IT IS INCLINED TO VP, ASSUME IT STANDING ON VP)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	IF STANDING ON HP - IT’S TV WILL BE TRUE SHAPE OF IT’S BASE OR TOP: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              	IF STANDING ON VP - IT’S FV WILL BE TRUE SHAPE OF IT’S BASE OR TOP.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	BEGIN WITH THIS VIEW: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              IT’S OTHER VIEW WILL BE A RECTANGLE ( IF SOLID IS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CYLINDER OR ONE OF THE PRISMS)</a:t>
            </a: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              IT’S OTHER VIEW WILL BE A TRIANGLE     ( IF SOLID IS </a:t>
            </a:r>
            <a:r>
              <a:rPr lang="en-US" altLang="en-US" sz="1400" b="1" i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CONE OR ONE OF THE PYRAMIDS):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	DRAW FV &amp; TV OF THAT SOLID IN STANDING POSITION: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STEP 2</a:t>
            </a:r>
            <a:r>
              <a:rPr lang="en-US" altLang="en-US" sz="1400" b="1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 CONSIDERING SOLID’S INCLINATION ( AXIS POSITION ) DRAW IT’S FV &amp; TV.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STEP 3</a:t>
            </a:r>
            <a:r>
              <a:rPr lang="en-US" altLang="en-US" sz="1400" b="1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en-US" altLang="en-US" sz="1400">
                <a:latin typeface="Times New Roman" panose="02020603050405020304" pitchFamily="18" charset="0"/>
                <a:sym typeface="Wingdings" panose="05000000000000000000" pitchFamily="2" charset="2"/>
              </a:rPr>
              <a:t> IN LAST STEP, CONSIDERING REMAINING INCLINATION, DRAW IT’S FINAL FV &amp; TV.</a:t>
            </a:r>
            <a:endParaRPr lang="en-US" altLang="en-US" sz="14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4" name="Rectangle 11"/>
          <p:cNvSpPr>
            <a:spLocks noChangeArrowheads="1"/>
          </p:cNvSpPr>
          <p:nvPr/>
        </p:nvSpPr>
        <p:spPr bwMode="auto">
          <a:xfrm>
            <a:off x="2236788" y="3990975"/>
            <a:ext cx="2295525" cy="1922463"/>
          </a:xfrm>
          <a:prstGeom prst="rect">
            <a:avLst/>
          </a:prstGeom>
          <a:solidFill>
            <a:srgbClr val="CC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5" name="Rectangle 12"/>
          <p:cNvSpPr>
            <a:spLocks noChangeArrowheads="1"/>
          </p:cNvSpPr>
          <p:nvPr/>
        </p:nvSpPr>
        <p:spPr bwMode="auto">
          <a:xfrm>
            <a:off x="28575" y="3990975"/>
            <a:ext cx="2165350" cy="19224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6" name="AutoShape 13"/>
          <p:cNvSpPr>
            <a:spLocks noChangeArrowheads="1"/>
          </p:cNvSpPr>
          <p:nvPr/>
        </p:nvSpPr>
        <p:spPr bwMode="auto">
          <a:xfrm>
            <a:off x="239713" y="4448175"/>
            <a:ext cx="388937" cy="54927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7" name="Oval 14"/>
          <p:cNvSpPr>
            <a:spLocks noChangeArrowheads="1"/>
          </p:cNvSpPr>
          <p:nvPr/>
        </p:nvSpPr>
        <p:spPr bwMode="auto">
          <a:xfrm>
            <a:off x="239713" y="5089525"/>
            <a:ext cx="388937" cy="4111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8" name="Line 15"/>
          <p:cNvSpPr>
            <a:spLocks noChangeShapeType="1"/>
          </p:cNvSpPr>
          <p:nvPr/>
        </p:nvSpPr>
        <p:spPr bwMode="auto">
          <a:xfrm>
            <a:off x="309563" y="4997450"/>
            <a:ext cx="3941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19" name="Line 16"/>
          <p:cNvSpPr>
            <a:spLocks noChangeShapeType="1"/>
          </p:cNvSpPr>
          <p:nvPr/>
        </p:nvSpPr>
        <p:spPr bwMode="auto">
          <a:xfrm>
            <a:off x="434975" y="4402138"/>
            <a:ext cx="0" cy="6413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1520" name="Group 17"/>
          <p:cNvGrpSpPr>
            <a:grpSpLocks/>
          </p:cNvGrpSpPr>
          <p:nvPr/>
        </p:nvGrpSpPr>
        <p:grpSpPr bwMode="auto">
          <a:xfrm>
            <a:off x="715963" y="4467225"/>
            <a:ext cx="685800" cy="1068388"/>
            <a:chOff x="1008" y="2660"/>
            <a:chExt cx="760" cy="1120"/>
          </a:xfrm>
        </p:grpSpPr>
        <p:sp>
          <p:nvSpPr>
            <p:cNvPr id="21644" name="AutoShape 18"/>
            <p:cNvSpPr>
              <a:spLocks noChangeArrowheads="1"/>
            </p:cNvSpPr>
            <p:nvPr/>
          </p:nvSpPr>
          <p:spPr bwMode="auto">
            <a:xfrm rot="3082504">
              <a:off x="1264" y="2588"/>
              <a:ext cx="432" cy="57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45" name="Oval 19"/>
            <p:cNvSpPr>
              <a:spLocks noChangeArrowheads="1"/>
            </p:cNvSpPr>
            <p:nvPr/>
          </p:nvSpPr>
          <p:spPr bwMode="auto">
            <a:xfrm>
              <a:off x="1104" y="3324"/>
              <a:ext cx="288" cy="4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46" name="Line 20"/>
            <p:cNvSpPr>
              <a:spLocks noChangeShapeType="1"/>
            </p:cNvSpPr>
            <p:nvPr/>
          </p:nvSpPr>
          <p:spPr bwMode="auto">
            <a:xfrm>
              <a:off x="1296" y="3336"/>
              <a:ext cx="432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47" name="Line 21"/>
            <p:cNvSpPr>
              <a:spLocks noChangeShapeType="1"/>
            </p:cNvSpPr>
            <p:nvPr/>
          </p:nvSpPr>
          <p:spPr bwMode="auto">
            <a:xfrm flipV="1">
              <a:off x="1296" y="3552"/>
              <a:ext cx="432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48" name="Line 22"/>
            <p:cNvSpPr>
              <a:spLocks noChangeShapeType="1"/>
            </p:cNvSpPr>
            <p:nvPr/>
          </p:nvSpPr>
          <p:spPr bwMode="auto">
            <a:xfrm flipH="1">
              <a:off x="1008" y="2680"/>
              <a:ext cx="72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521" name="Group 23"/>
          <p:cNvGrpSpPr>
            <a:grpSpLocks/>
          </p:cNvGrpSpPr>
          <p:nvPr/>
        </p:nvGrpSpPr>
        <p:grpSpPr bwMode="auto">
          <a:xfrm>
            <a:off x="1463675" y="4494213"/>
            <a:ext cx="508000" cy="1052512"/>
            <a:chOff x="1836" y="2688"/>
            <a:chExt cx="564" cy="1104"/>
          </a:xfrm>
        </p:grpSpPr>
        <p:grpSp>
          <p:nvGrpSpPr>
            <p:cNvPr id="21636" name="Group 24"/>
            <p:cNvGrpSpPr>
              <a:grpSpLocks/>
            </p:cNvGrpSpPr>
            <p:nvPr/>
          </p:nvGrpSpPr>
          <p:grpSpPr bwMode="auto">
            <a:xfrm rot="-2766602">
              <a:off x="1836" y="3252"/>
              <a:ext cx="624" cy="456"/>
              <a:chOff x="1488" y="2988"/>
              <a:chExt cx="624" cy="456"/>
            </a:xfrm>
          </p:grpSpPr>
          <p:sp>
            <p:nvSpPr>
              <p:cNvPr id="21641" name="Oval 25"/>
              <p:cNvSpPr>
                <a:spLocks noChangeArrowheads="1"/>
              </p:cNvSpPr>
              <p:nvPr/>
            </p:nvSpPr>
            <p:spPr bwMode="auto">
              <a:xfrm>
                <a:off x="1488" y="2988"/>
                <a:ext cx="288" cy="4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1642" name="Line 26"/>
              <p:cNvSpPr>
                <a:spLocks noChangeShapeType="1"/>
              </p:cNvSpPr>
              <p:nvPr/>
            </p:nvSpPr>
            <p:spPr bwMode="auto">
              <a:xfrm>
                <a:off x="1680" y="3000"/>
                <a:ext cx="432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643" name="Line 27"/>
              <p:cNvSpPr>
                <a:spLocks noChangeShapeType="1"/>
              </p:cNvSpPr>
              <p:nvPr/>
            </p:nvSpPr>
            <p:spPr bwMode="auto">
              <a:xfrm flipV="1">
                <a:off x="1680" y="3216"/>
                <a:ext cx="432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1637" name="Oval 28"/>
            <p:cNvSpPr>
              <a:spLocks noChangeArrowheads="1"/>
            </p:cNvSpPr>
            <p:nvPr/>
          </p:nvSpPr>
          <p:spPr bwMode="auto">
            <a:xfrm>
              <a:off x="1836" y="2880"/>
              <a:ext cx="384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38" name="Line 29"/>
            <p:cNvSpPr>
              <a:spLocks noChangeShapeType="1"/>
            </p:cNvSpPr>
            <p:nvPr/>
          </p:nvSpPr>
          <p:spPr bwMode="auto">
            <a:xfrm flipH="1">
              <a:off x="1968" y="268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39" name="Line 30"/>
            <p:cNvSpPr>
              <a:spLocks noChangeShapeType="1"/>
            </p:cNvSpPr>
            <p:nvPr/>
          </p:nvSpPr>
          <p:spPr bwMode="auto">
            <a:xfrm flipH="1">
              <a:off x="2208" y="2688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40" name="Line 31"/>
            <p:cNvSpPr>
              <a:spLocks noChangeShapeType="1"/>
            </p:cNvSpPr>
            <p:nvPr/>
          </p:nvSpPr>
          <p:spPr bwMode="auto">
            <a:xfrm flipH="1">
              <a:off x="1872" y="3216"/>
              <a:ext cx="52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522" name="Line 32"/>
          <p:cNvSpPr>
            <a:spLocks noChangeShapeType="1"/>
          </p:cNvSpPr>
          <p:nvPr/>
        </p:nvSpPr>
        <p:spPr bwMode="auto">
          <a:xfrm flipV="1">
            <a:off x="1647825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23" name="Line 33"/>
          <p:cNvSpPr>
            <a:spLocks noChangeShapeType="1"/>
          </p:cNvSpPr>
          <p:nvPr/>
        </p:nvSpPr>
        <p:spPr bwMode="auto">
          <a:xfrm>
            <a:off x="1136650" y="38989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24" name="Line 34"/>
          <p:cNvSpPr>
            <a:spLocks noChangeShapeType="1"/>
          </p:cNvSpPr>
          <p:nvPr/>
        </p:nvSpPr>
        <p:spPr bwMode="auto">
          <a:xfrm>
            <a:off x="434975" y="38989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25" name="Rectangle 35"/>
          <p:cNvSpPr>
            <a:spLocks noChangeArrowheads="1"/>
          </p:cNvSpPr>
          <p:nvPr/>
        </p:nvSpPr>
        <p:spPr bwMode="auto">
          <a:xfrm>
            <a:off x="6819900" y="3986213"/>
            <a:ext cx="2295525" cy="1922462"/>
          </a:xfrm>
          <a:prstGeom prst="rect">
            <a:avLst/>
          </a:prstGeom>
          <a:solidFill>
            <a:srgbClr val="CC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26" name="Rectangle 36"/>
          <p:cNvSpPr>
            <a:spLocks noChangeArrowheads="1"/>
          </p:cNvSpPr>
          <p:nvPr/>
        </p:nvSpPr>
        <p:spPr bwMode="auto">
          <a:xfrm>
            <a:off x="4611688" y="3986213"/>
            <a:ext cx="2165350" cy="192246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27" name="Line 37"/>
          <p:cNvSpPr>
            <a:spLocks noChangeShapeType="1"/>
          </p:cNvSpPr>
          <p:nvPr/>
        </p:nvSpPr>
        <p:spPr bwMode="auto">
          <a:xfrm>
            <a:off x="4892675" y="4873625"/>
            <a:ext cx="3941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1528" name="Group 38"/>
          <p:cNvGrpSpPr>
            <a:grpSpLocks/>
          </p:cNvGrpSpPr>
          <p:nvPr/>
        </p:nvGrpSpPr>
        <p:grpSpPr bwMode="auto">
          <a:xfrm rot="10792971">
            <a:off x="4800600" y="4373563"/>
            <a:ext cx="390525" cy="1098550"/>
            <a:chOff x="2784" y="2688"/>
            <a:chExt cx="432" cy="1152"/>
          </a:xfrm>
        </p:grpSpPr>
        <p:sp>
          <p:nvSpPr>
            <p:cNvPr id="21633" name="AutoShape 39"/>
            <p:cNvSpPr>
              <a:spLocks noChangeArrowheads="1"/>
            </p:cNvSpPr>
            <p:nvPr/>
          </p:nvSpPr>
          <p:spPr bwMode="auto">
            <a:xfrm>
              <a:off x="2784" y="2736"/>
              <a:ext cx="432" cy="57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34" name="Oval 40"/>
            <p:cNvSpPr>
              <a:spLocks noChangeArrowheads="1"/>
            </p:cNvSpPr>
            <p:nvPr/>
          </p:nvSpPr>
          <p:spPr bwMode="auto">
            <a:xfrm>
              <a:off x="2784" y="340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35" name="Line 41"/>
            <p:cNvSpPr>
              <a:spLocks noChangeShapeType="1"/>
            </p:cNvSpPr>
            <p:nvPr/>
          </p:nvSpPr>
          <p:spPr bwMode="auto">
            <a:xfrm>
              <a:off x="3000" y="26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529" name="Group 42"/>
          <p:cNvGrpSpPr>
            <a:grpSpLocks/>
          </p:cNvGrpSpPr>
          <p:nvPr/>
        </p:nvGrpSpPr>
        <p:grpSpPr bwMode="auto">
          <a:xfrm rot="10800000" flipH="1">
            <a:off x="5375275" y="4373563"/>
            <a:ext cx="700088" cy="1068387"/>
            <a:chOff x="1008" y="2660"/>
            <a:chExt cx="760" cy="1120"/>
          </a:xfrm>
        </p:grpSpPr>
        <p:sp>
          <p:nvSpPr>
            <p:cNvPr id="21628" name="AutoShape 43"/>
            <p:cNvSpPr>
              <a:spLocks noChangeArrowheads="1"/>
            </p:cNvSpPr>
            <p:nvPr/>
          </p:nvSpPr>
          <p:spPr bwMode="auto">
            <a:xfrm rot="3082504">
              <a:off x="1264" y="2588"/>
              <a:ext cx="432" cy="57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29" name="Oval 44"/>
            <p:cNvSpPr>
              <a:spLocks noChangeArrowheads="1"/>
            </p:cNvSpPr>
            <p:nvPr/>
          </p:nvSpPr>
          <p:spPr bwMode="auto">
            <a:xfrm>
              <a:off x="1104" y="3324"/>
              <a:ext cx="288" cy="4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30" name="Line 45"/>
            <p:cNvSpPr>
              <a:spLocks noChangeShapeType="1"/>
            </p:cNvSpPr>
            <p:nvPr/>
          </p:nvSpPr>
          <p:spPr bwMode="auto">
            <a:xfrm>
              <a:off x="1296" y="3336"/>
              <a:ext cx="432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31" name="Line 46"/>
            <p:cNvSpPr>
              <a:spLocks noChangeShapeType="1"/>
            </p:cNvSpPr>
            <p:nvPr/>
          </p:nvSpPr>
          <p:spPr bwMode="auto">
            <a:xfrm flipV="1">
              <a:off x="1296" y="3552"/>
              <a:ext cx="432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32" name="Line 47"/>
            <p:cNvSpPr>
              <a:spLocks noChangeShapeType="1"/>
            </p:cNvSpPr>
            <p:nvPr/>
          </p:nvSpPr>
          <p:spPr bwMode="auto">
            <a:xfrm flipH="1">
              <a:off x="1008" y="2680"/>
              <a:ext cx="72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530" name="Group 48"/>
          <p:cNvGrpSpPr>
            <a:grpSpLocks/>
          </p:cNvGrpSpPr>
          <p:nvPr/>
        </p:nvGrpSpPr>
        <p:grpSpPr bwMode="auto">
          <a:xfrm>
            <a:off x="6192838" y="4922838"/>
            <a:ext cx="465137" cy="503237"/>
            <a:chOff x="4176" y="2688"/>
            <a:chExt cx="516" cy="528"/>
          </a:xfrm>
        </p:grpSpPr>
        <p:sp>
          <p:nvSpPr>
            <p:cNvPr id="21625" name="Oval 49"/>
            <p:cNvSpPr>
              <a:spLocks noChangeArrowheads="1"/>
            </p:cNvSpPr>
            <p:nvPr/>
          </p:nvSpPr>
          <p:spPr bwMode="auto">
            <a:xfrm>
              <a:off x="4176" y="2880"/>
              <a:ext cx="384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26" name="Line 50"/>
            <p:cNvSpPr>
              <a:spLocks noChangeShapeType="1"/>
            </p:cNvSpPr>
            <p:nvPr/>
          </p:nvSpPr>
          <p:spPr bwMode="auto">
            <a:xfrm flipH="1">
              <a:off x="4308" y="268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627" name="Line 51"/>
            <p:cNvSpPr>
              <a:spLocks noChangeShapeType="1"/>
            </p:cNvSpPr>
            <p:nvPr/>
          </p:nvSpPr>
          <p:spPr bwMode="auto">
            <a:xfrm flipH="1">
              <a:off x="4548" y="2688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531" name="Group 52"/>
          <p:cNvGrpSpPr>
            <a:grpSpLocks/>
          </p:cNvGrpSpPr>
          <p:nvPr/>
        </p:nvGrpSpPr>
        <p:grpSpPr bwMode="auto">
          <a:xfrm>
            <a:off x="6203950" y="4235450"/>
            <a:ext cx="476250" cy="595313"/>
            <a:chOff x="4212" y="3168"/>
            <a:chExt cx="528" cy="624"/>
          </a:xfrm>
        </p:grpSpPr>
        <p:grpSp>
          <p:nvGrpSpPr>
            <p:cNvPr id="21620" name="Group 53"/>
            <p:cNvGrpSpPr>
              <a:grpSpLocks/>
            </p:cNvGrpSpPr>
            <p:nvPr/>
          </p:nvGrpSpPr>
          <p:grpSpPr bwMode="auto">
            <a:xfrm rot="-2766602">
              <a:off x="4176" y="3252"/>
              <a:ext cx="624" cy="456"/>
              <a:chOff x="1488" y="2988"/>
              <a:chExt cx="624" cy="456"/>
            </a:xfrm>
          </p:grpSpPr>
          <p:sp>
            <p:nvSpPr>
              <p:cNvPr id="21622" name="Oval 54"/>
              <p:cNvSpPr>
                <a:spLocks noChangeArrowheads="1"/>
              </p:cNvSpPr>
              <p:nvPr/>
            </p:nvSpPr>
            <p:spPr bwMode="auto">
              <a:xfrm>
                <a:off x="1488" y="2988"/>
                <a:ext cx="288" cy="4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1623" name="Line 55"/>
              <p:cNvSpPr>
                <a:spLocks noChangeShapeType="1"/>
              </p:cNvSpPr>
              <p:nvPr/>
            </p:nvSpPr>
            <p:spPr bwMode="auto">
              <a:xfrm>
                <a:off x="1680" y="3000"/>
                <a:ext cx="432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624" name="Line 56"/>
              <p:cNvSpPr>
                <a:spLocks noChangeShapeType="1"/>
              </p:cNvSpPr>
              <p:nvPr/>
            </p:nvSpPr>
            <p:spPr bwMode="auto">
              <a:xfrm flipV="1">
                <a:off x="1680" y="3216"/>
                <a:ext cx="432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1621" name="Line 57"/>
            <p:cNvSpPr>
              <a:spLocks noChangeShapeType="1"/>
            </p:cNvSpPr>
            <p:nvPr/>
          </p:nvSpPr>
          <p:spPr bwMode="auto">
            <a:xfrm flipH="1">
              <a:off x="4212" y="3216"/>
              <a:ext cx="52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532" name="Line 58"/>
          <p:cNvSpPr>
            <a:spLocks noChangeShapeType="1"/>
          </p:cNvSpPr>
          <p:nvPr/>
        </p:nvSpPr>
        <p:spPr bwMode="auto">
          <a:xfrm flipV="1">
            <a:off x="5029200" y="5791200"/>
            <a:ext cx="0" cy="182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33" name="Line 59"/>
          <p:cNvSpPr>
            <a:spLocks noChangeShapeType="1"/>
          </p:cNvSpPr>
          <p:nvPr/>
        </p:nvSpPr>
        <p:spPr bwMode="auto">
          <a:xfrm flipV="1">
            <a:off x="5654675" y="5334000"/>
            <a:ext cx="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34" name="Line 60"/>
          <p:cNvSpPr>
            <a:spLocks noChangeShapeType="1"/>
          </p:cNvSpPr>
          <p:nvPr/>
        </p:nvSpPr>
        <p:spPr bwMode="auto">
          <a:xfrm>
            <a:off x="6300788" y="4191000"/>
            <a:ext cx="0" cy="182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35" name="Oval 61"/>
          <p:cNvSpPr>
            <a:spLocks noChangeArrowheads="1"/>
          </p:cNvSpPr>
          <p:nvPr/>
        </p:nvSpPr>
        <p:spPr bwMode="auto">
          <a:xfrm>
            <a:off x="3667125" y="4662488"/>
            <a:ext cx="292100" cy="3333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36" name="Oval 62"/>
          <p:cNvSpPr>
            <a:spLocks noChangeArrowheads="1"/>
          </p:cNvSpPr>
          <p:nvPr/>
        </p:nvSpPr>
        <p:spPr bwMode="auto">
          <a:xfrm>
            <a:off x="2433638" y="5043488"/>
            <a:ext cx="376237" cy="376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1537" name="Group 63"/>
          <p:cNvGrpSpPr>
            <a:grpSpLocks/>
          </p:cNvGrpSpPr>
          <p:nvPr/>
        </p:nvGrpSpPr>
        <p:grpSpPr bwMode="auto">
          <a:xfrm>
            <a:off x="2433638" y="4414838"/>
            <a:ext cx="376237" cy="587375"/>
            <a:chOff x="744" y="2592"/>
            <a:chExt cx="432" cy="672"/>
          </a:xfrm>
        </p:grpSpPr>
        <p:sp>
          <p:nvSpPr>
            <p:cNvPr id="21618" name="Rectangle 64"/>
            <p:cNvSpPr>
              <a:spLocks noChangeArrowheads="1"/>
            </p:cNvSpPr>
            <p:nvPr/>
          </p:nvSpPr>
          <p:spPr bwMode="auto">
            <a:xfrm>
              <a:off x="744" y="2640"/>
              <a:ext cx="432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19" name="Line 65"/>
            <p:cNvSpPr>
              <a:spLocks noChangeShapeType="1"/>
            </p:cNvSpPr>
            <p:nvPr/>
          </p:nvSpPr>
          <p:spPr bwMode="auto">
            <a:xfrm>
              <a:off x="960" y="259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538" name="Line 66"/>
          <p:cNvSpPr>
            <a:spLocks noChangeShapeType="1"/>
          </p:cNvSpPr>
          <p:nvPr/>
        </p:nvSpPr>
        <p:spPr bwMode="auto">
          <a:xfrm flipV="1">
            <a:off x="3971925" y="5886450"/>
            <a:ext cx="0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1539" name="Group 67"/>
          <p:cNvGrpSpPr>
            <a:grpSpLocks/>
          </p:cNvGrpSpPr>
          <p:nvPr/>
        </p:nvGrpSpPr>
        <p:grpSpPr bwMode="auto">
          <a:xfrm rot="3289504">
            <a:off x="3101181" y="4394994"/>
            <a:ext cx="377825" cy="585788"/>
            <a:chOff x="744" y="2592"/>
            <a:chExt cx="432" cy="672"/>
          </a:xfrm>
        </p:grpSpPr>
        <p:sp>
          <p:nvSpPr>
            <p:cNvPr id="21616" name="Rectangle 68"/>
            <p:cNvSpPr>
              <a:spLocks noChangeArrowheads="1"/>
            </p:cNvSpPr>
            <p:nvPr/>
          </p:nvSpPr>
          <p:spPr bwMode="auto">
            <a:xfrm>
              <a:off x="744" y="2640"/>
              <a:ext cx="432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17" name="Line 69"/>
            <p:cNvSpPr>
              <a:spLocks noChangeShapeType="1"/>
            </p:cNvSpPr>
            <p:nvPr/>
          </p:nvSpPr>
          <p:spPr bwMode="auto">
            <a:xfrm>
              <a:off x="960" y="259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540" name="Line 70"/>
          <p:cNvSpPr>
            <a:spLocks noChangeShapeType="1"/>
          </p:cNvSpPr>
          <p:nvPr/>
        </p:nvSpPr>
        <p:spPr bwMode="auto">
          <a:xfrm>
            <a:off x="2328863" y="5002213"/>
            <a:ext cx="1924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1541" name="Group 71"/>
          <p:cNvGrpSpPr>
            <a:grpSpLocks/>
          </p:cNvGrpSpPr>
          <p:nvPr/>
        </p:nvGrpSpPr>
        <p:grpSpPr bwMode="auto">
          <a:xfrm>
            <a:off x="2914650" y="5067300"/>
            <a:ext cx="642938" cy="358775"/>
            <a:chOff x="1296" y="3339"/>
            <a:chExt cx="738" cy="411"/>
          </a:xfrm>
        </p:grpSpPr>
        <p:sp>
          <p:nvSpPr>
            <p:cNvPr id="21612" name="Oval 72"/>
            <p:cNvSpPr>
              <a:spLocks noChangeArrowheads="1"/>
            </p:cNvSpPr>
            <p:nvPr/>
          </p:nvSpPr>
          <p:spPr bwMode="auto">
            <a:xfrm>
              <a:off x="1296" y="3342"/>
              <a:ext cx="210" cy="4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13" name="Rectangle 73"/>
            <p:cNvSpPr>
              <a:spLocks noChangeArrowheads="1"/>
            </p:cNvSpPr>
            <p:nvPr/>
          </p:nvSpPr>
          <p:spPr bwMode="auto">
            <a:xfrm>
              <a:off x="1392" y="3339"/>
              <a:ext cx="528" cy="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14" name="Oval 74"/>
            <p:cNvSpPr>
              <a:spLocks noChangeArrowheads="1"/>
            </p:cNvSpPr>
            <p:nvPr/>
          </p:nvSpPr>
          <p:spPr bwMode="auto">
            <a:xfrm>
              <a:off x="1824" y="3342"/>
              <a:ext cx="210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15" name="Oval 75"/>
            <p:cNvSpPr>
              <a:spLocks noChangeArrowheads="1"/>
            </p:cNvSpPr>
            <p:nvPr/>
          </p:nvSpPr>
          <p:spPr bwMode="auto">
            <a:xfrm>
              <a:off x="1320" y="3348"/>
              <a:ext cx="210" cy="3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1542" name="Group 76"/>
          <p:cNvGrpSpPr>
            <a:grpSpLocks/>
          </p:cNvGrpSpPr>
          <p:nvPr/>
        </p:nvGrpSpPr>
        <p:grpSpPr bwMode="auto">
          <a:xfrm rot="2472940">
            <a:off x="3667125" y="5170488"/>
            <a:ext cx="642938" cy="357187"/>
            <a:chOff x="1296" y="3339"/>
            <a:chExt cx="738" cy="411"/>
          </a:xfrm>
        </p:grpSpPr>
        <p:sp>
          <p:nvSpPr>
            <p:cNvPr id="21608" name="Oval 77"/>
            <p:cNvSpPr>
              <a:spLocks noChangeArrowheads="1"/>
            </p:cNvSpPr>
            <p:nvPr/>
          </p:nvSpPr>
          <p:spPr bwMode="auto">
            <a:xfrm>
              <a:off x="1296" y="3342"/>
              <a:ext cx="210" cy="4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09" name="Rectangle 78"/>
            <p:cNvSpPr>
              <a:spLocks noChangeArrowheads="1"/>
            </p:cNvSpPr>
            <p:nvPr/>
          </p:nvSpPr>
          <p:spPr bwMode="auto">
            <a:xfrm>
              <a:off x="1392" y="3339"/>
              <a:ext cx="528" cy="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10" name="Oval 79"/>
            <p:cNvSpPr>
              <a:spLocks noChangeArrowheads="1"/>
            </p:cNvSpPr>
            <p:nvPr/>
          </p:nvSpPr>
          <p:spPr bwMode="auto">
            <a:xfrm>
              <a:off x="1824" y="3342"/>
              <a:ext cx="210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11" name="Oval 80"/>
            <p:cNvSpPr>
              <a:spLocks noChangeArrowheads="1"/>
            </p:cNvSpPr>
            <p:nvPr/>
          </p:nvSpPr>
          <p:spPr bwMode="auto">
            <a:xfrm>
              <a:off x="1320" y="3348"/>
              <a:ext cx="210" cy="3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1543" name="Oval 81"/>
          <p:cNvSpPr>
            <a:spLocks noChangeArrowheads="1"/>
          </p:cNvSpPr>
          <p:nvPr/>
        </p:nvSpPr>
        <p:spPr bwMode="auto">
          <a:xfrm>
            <a:off x="4002088" y="4373563"/>
            <a:ext cx="292100" cy="3349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4" name="Line 82"/>
          <p:cNvSpPr>
            <a:spLocks noChangeShapeType="1"/>
          </p:cNvSpPr>
          <p:nvPr/>
        </p:nvSpPr>
        <p:spPr bwMode="auto">
          <a:xfrm flipH="1">
            <a:off x="3697288" y="4389438"/>
            <a:ext cx="377825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45" name="Line 83"/>
          <p:cNvSpPr>
            <a:spLocks noChangeShapeType="1"/>
          </p:cNvSpPr>
          <p:nvPr/>
        </p:nvSpPr>
        <p:spPr bwMode="auto">
          <a:xfrm flipH="1">
            <a:off x="3902075" y="4635500"/>
            <a:ext cx="376238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46" name="Oval 84"/>
          <p:cNvSpPr>
            <a:spLocks noChangeArrowheads="1"/>
          </p:cNvSpPr>
          <p:nvPr/>
        </p:nvSpPr>
        <p:spPr bwMode="auto">
          <a:xfrm>
            <a:off x="3708400" y="4641850"/>
            <a:ext cx="276225" cy="3333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7" name="Line 85"/>
          <p:cNvSpPr>
            <a:spLocks noChangeShapeType="1"/>
          </p:cNvSpPr>
          <p:nvPr/>
        </p:nvSpPr>
        <p:spPr bwMode="auto">
          <a:xfrm>
            <a:off x="3165475" y="4289425"/>
            <a:ext cx="0" cy="16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48" name="Line 86"/>
          <p:cNvSpPr>
            <a:spLocks noChangeShapeType="1"/>
          </p:cNvSpPr>
          <p:nvPr/>
        </p:nvSpPr>
        <p:spPr bwMode="auto">
          <a:xfrm>
            <a:off x="2592388" y="4252913"/>
            <a:ext cx="0" cy="166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49" name="Oval 87"/>
          <p:cNvSpPr>
            <a:spLocks noChangeArrowheads="1"/>
          </p:cNvSpPr>
          <p:nvPr/>
        </p:nvSpPr>
        <p:spPr bwMode="auto">
          <a:xfrm flipV="1">
            <a:off x="8267700" y="4881563"/>
            <a:ext cx="292100" cy="3333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50" name="Oval 88"/>
          <p:cNvSpPr>
            <a:spLocks noChangeArrowheads="1"/>
          </p:cNvSpPr>
          <p:nvPr/>
        </p:nvSpPr>
        <p:spPr bwMode="auto">
          <a:xfrm flipV="1">
            <a:off x="7034213" y="4457700"/>
            <a:ext cx="376237" cy="3762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1551" name="Group 89"/>
          <p:cNvGrpSpPr>
            <a:grpSpLocks/>
          </p:cNvGrpSpPr>
          <p:nvPr/>
        </p:nvGrpSpPr>
        <p:grpSpPr bwMode="auto">
          <a:xfrm flipV="1">
            <a:off x="7034213" y="4875213"/>
            <a:ext cx="376237" cy="587375"/>
            <a:chOff x="744" y="2592"/>
            <a:chExt cx="432" cy="672"/>
          </a:xfrm>
        </p:grpSpPr>
        <p:sp>
          <p:nvSpPr>
            <p:cNvPr id="21606" name="Rectangle 90"/>
            <p:cNvSpPr>
              <a:spLocks noChangeArrowheads="1"/>
            </p:cNvSpPr>
            <p:nvPr/>
          </p:nvSpPr>
          <p:spPr bwMode="auto">
            <a:xfrm>
              <a:off x="744" y="2640"/>
              <a:ext cx="432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07" name="Line 91"/>
            <p:cNvSpPr>
              <a:spLocks noChangeShapeType="1"/>
            </p:cNvSpPr>
            <p:nvPr/>
          </p:nvSpPr>
          <p:spPr bwMode="auto">
            <a:xfrm>
              <a:off x="960" y="259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552" name="Line 92"/>
          <p:cNvSpPr>
            <a:spLocks noChangeShapeType="1"/>
          </p:cNvSpPr>
          <p:nvPr/>
        </p:nvSpPr>
        <p:spPr bwMode="auto">
          <a:xfrm>
            <a:off x="8382000" y="4210050"/>
            <a:ext cx="0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1553" name="Group 93"/>
          <p:cNvGrpSpPr>
            <a:grpSpLocks/>
          </p:cNvGrpSpPr>
          <p:nvPr/>
        </p:nvGrpSpPr>
        <p:grpSpPr bwMode="auto">
          <a:xfrm rot="18310496" flipV="1">
            <a:off x="7701756" y="4896644"/>
            <a:ext cx="377825" cy="585788"/>
            <a:chOff x="744" y="2592"/>
            <a:chExt cx="432" cy="672"/>
          </a:xfrm>
        </p:grpSpPr>
        <p:sp>
          <p:nvSpPr>
            <p:cNvPr id="21604" name="Rectangle 94"/>
            <p:cNvSpPr>
              <a:spLocks noChangeArrowheads="1"/>
            </p:cNvSpPr>
            <p:nvPr/>
          </p:nvSpPr>
          <p:spPr bwMode="auto">
            <a:xfrm>
              <a:off x="744" y="2640"/>
              <a:ext cx="432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05" name="Line 95"/>
            <p:cNvSpPr>
              <a:spLocks noChangeShapeType="1"/>
            </p:cNvSpPr>
            <p:nvPr/>
          </p:nvSpPr>
          <p:spPr bwMode="auto">
            <a:xfrm>
              <a:off x="960" y="259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554" name="Line 96"/>
          <p:cNvSpPr>
            <a:spLocks noChangeShapeType="1"/>
          </p:cNvSpPr>
          <p:nvPr/>
        </p:nvSpPr>
        <p:spPr bwMode="auto">
          <a:xfrm flipV="1">
            <a:off x="6929438" y="4875213"/>
            <a:ext cx="1924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1555" name="Group 97"/>
          <p:cNvGrpSpPr>
            <a:grpSpLocks/>
          </p:cNvGrpSpPr>
          <p:nvPr/>
        </p:nvGrpSpPr>
        <p:grpSpPr bwMode="auto">
          <a:xfrm flipV="1">
            <a:off x="7515225" y="4451350"/>
            <a:ext cx="642938" cy="358775"/>
            <a:chOff x="1296" y="3339"/>
            <a:chExt cx="738" cy="411"/>
          </a:xfrm>
        </p:grpSpPr>
        <p:sp>
          <p:nvSpPr>
            <p:cNvPr id="21600" name="Oval 98"/>
            <p:cNvSpPr>
              <a:spLocks noChangeArrowheads="1"/>
            </p:cNvSpPr>
            <p:nvPr/>
          </p:nvSpPr>
          <p:spPr bwMode="auto">
            <a:xfrm>
              <a:off x="1296" y="3342"/>
              <a:ext cx="210" cy="4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01" name="Rectangle 99"/>
            <p:cNvSpPr>
              <a:spLocks noChangeArrowheads="1"/>
            </p:cNvSpPr>
            <p:nvPr/>
          </p:nvSpPr>
          <p:spPr bwMode="auto">
            <a:xfrm>
              <a:off x="1392" y="3339"/>
              <a:ext cx="528" cy="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02" name="Oval 100"/>
            <p:cNvSpPr>
              <a:spLocks noChangeArrowheads="1"/>
            </p:cNvSpPr>
            <p:nvPr/>
          </p:nvSpPr>
          <p:spPr bwMode="auto">
            <a:xfrm>
              <a:off x="1824" y="3342"/>
              <a:ext cx="210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603" name="Oval 101"/>
            <p:cNvSpPr>
              <a:spLocks noChangeArrowheads="1"/>
            </p:cNvSpPr>
            <p:nvPr/>
          </p:nvSpPr>
          <p:spPr bwMode="auto">
            <a:xfrm>
              <a:off x="1320" y="3348"/>
              <a:ext cx="210" cy="3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1556" name="Group 102"/>
          <p:cNvGrpSpPr>
            <a:grpSpLocks/>
          </p:cNvGrpSpPr>
          <p:nvPr/>
        </p:nvGrpSpPr>
        <p:grpSpPr bwMode="auto">
          <a:xfrm rot="19127060" flipV="1">
            <a:off x="8267700" y="4349750"/>
            <a:ext cx="642938" cy="357188"/>
            <a:chOff x="1296" y="3339"/>
            <a:chExt cx="738" cy="411"/>
          </a:xfrm>
        </p:grpSpPr>
        <p:sp>
          <p:nvSpPr>
            <p:cNvPr id="21596" name="Oval 103"/>
            <p:cNvSpPr>
              <a:spLocks noChangeArrowheads="1"/>
            </p:cNvSpPr>
            <p:nvPr/>
          </p:nvSpPr>
          <p:spPr bwMode="auto">
            <a:xfrm>
              <a:off x="1296" y="3342"/>
              <a:ext cx="210" cy="4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97" name="Rectangle 104"/>
            <p:cNvSpPr>
              <a:spLocks noChangeArrowheads="1"/>
            </p:cNvSpPr>
            <p:nvPr/>
          </p:nvSpPr>
          <p:spPr bwMode="auto">
            <a:xfrm>
              <a:off x="1392" y="3339"/>
              <a:ext cx="528" cy="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98" name="Oval 105"/>
            <p:cNvSpPr>
              <a:spLocks noChangeArrowheads="1"/>
            </p:cNvSpPr>
            <p:nvPr/>
          </p:nvSpPr>
          <p:spPr bwMode="auto">
            <a:xfrm>
              <a:off x="1824" y="3342"/>
              <a:ext cx="210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99" name="Oval 106"/>
            <p:cNvSpPr>
              <a:spLocks noChangeArrowheads="1"/>
            </p:cNvSpPr>
            <p:nvPr/>
          </p:nvSpPr>
          <p:spPr bwMode="auto">
            <a:xfrm>
              <a:off x="1320" y="3348"/>
              <a:ext cx="210" cy="3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1557" name="Oval 107"/>
          <p:cNvSpPr>
            <a:spLocks noChangeArrowheads="1"/>
          </p:cNvSpPr>
          <p:nvPr/>
        </p:nvSpPr>
        <p:spPr bwMode="auto">
          <a:xfrm flipV="1">
            <a:off x="8602663" y="5168900"/>
            <a:ext cx="292100" cy="3349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58" name="Line 108"/>
          <p:cNvSpPr>
            <a:spLocks noChangeShapeType="1"/>
          </p:cNvSpPr>
          <p:nvPr/>
        </p:nvSpPr>
        <p:spPr bwMode="auto">
          <a:xfrm flipH="1" flipV="1">
            <a:off x="8297863" y="5153025"/>
            <a:ext cx="377825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59" name="Line 109"/>
          <p:cNvSpPr>
            <a:spLocks noChangeShapeType="1"/>
          </p:cNvSpPr>
          <p:nvPr/>
        </p:nvSpPr>
        <p:spPr bwMode="auto">
          <a:xfrm flipH="1" flipV="1">
            <a:off x="8502650" y="4906963"/>
            <a:ext cx="376238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60" name="Oval 110"/>
          <p:cNvSpPr>
            <a:spLocks noChangeArrowheads="1"/>
          </p:cNvSpPr>
          <p:nvPr/>
        </p:nvSpPr>
        <p:spPr bwMode="auto">
          <a:xfrm flipV="1">
            <a:off x="8308975" y="4902200"/>
            <a:ext cx="276225" cy="3333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61" name="Line 111"/>
          <p:cNvSpPr>
            <a:spLocks noChangeShapeType="1"/>
          </p:cNvSpPr>
          <p:nvPr/>
        </p:nvSpPr>
        <p:spPr bwMode="auto">
          <a:xfrm flipV="1">
            <a:off x="7924800" y="5791200"/>
            <a:ext cx="0" cy="16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62" name="Line 112"/>
          <p:cNvSpPr>
            <a:spLocks noChangeShapeType="1"/>
          </p:cNvSpPr>
          <p:nvPr/>
        </p:nvSpPr>
        <p:spPr bwMode="auto">
          <a:xfrm flipV="1">
            <a:off x="7239000" y="5791200"/>
            <a:ext cx="0" cy="166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63" name="Text Box 113"/>
          <p:cNvSpPr txBox="1">
            <a:spLocks noChangeArrowheads="1"/>
          </p:cNvSpPr>
          <p:nvPr/>
        </p:nvSpPr>
        <p:spPr bwMode="auto">
          <a:xfrm>
            <a:off x="104775" y="4095750"/>
            <a:ext cx="749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VERTICAL</a:t>
            </a:r>
            <a:endParaRPr lang="en-US" altLang="en-US" sz="900">
              <a:latin typeface="Times New Roman" panose="02020603050405020304" pitchFamily="18" charset="0"/>
            </a:endParaRPr>
          </a:p>
        </p:txBody>
      </p:sp>
      <p:sp>
        <p:nvSpPr>
          <p:cNvPr id="21564" name="Text Box 114"/>
          <p:cNvSpPr txBox="1">
            <a:spLocks noChangeArrowheads="1"/>
          </p:cNvSpPr>
          <p:nvPr/>
        </p:nvSpPr>
        <p:spPr bwMode="auto">
          <a:xfrm>
            <a:off x="717550" y="4095750"/>
            <a:ext cx="898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INCLINED HP</a:t>
            </a:r>
          </a:p>
        </p:txBody>
      </p:sp>
      <p:sp>
        <p:nvSpPr>
          <p:cNvPr id="21565" name="Text Box 115"/>
          <p:cNvSpPr txBox="1">
            <a:spLocks noChangeArrowheads="1"/>
          </p:cNvSpPr>
          <p:nvPr/>
        </p:nvSpPr>
        <p:spPr bwMode="auto">
          <a:xfrm>
            <a:off x="1200150" y="5505450"/>
            <a:ext cx="898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INCLINED VP</a:t>
            </a:r>
          </a:p>
        </p:txBody>
      </p:sp>
      <p:sp>
        <p:nvSpPr>
          <p:cNvPr id="21566" name="Text Box 116"/>
          <p:cNvSpPr txBox="1">
            <a:spLocks noChangeArrowheads="1"/>
          </p:cNvSpPr>
          <p:nvPr/>
        </p:nvSpPr>
        <p:spPr bwMode="auto">
          <a:xfrm>
            <a:off x="2238375" y="3978275"/>
            <a:ext cx="749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VERTICAL</a:t>
            </a:r>
            <a:endParaRPr lang="en-US" altLang="en-US" sz="900">
              <a:latin typeface="Times New Roman" panose="02020603050405020304" pitchFamily="18" charset="0"/>
            </a:endParaRPr>
          </a:p>
        </p:txBody>
      </p:sp>
      <p:sp>
        <p:nvSpPr>
          <p:cNvPr id="21567" name="Text Box 117"/>
          <p:cNvSpPr txBox="1">
            <a:spLocks noChangeArrowheads="1"/>
          </p:cNvSpPr>
          <p:nvPr/>
        </p:nvSpPr>
        <p:spPr bwMode="auto">
          <a:xfrm>
            <a:off x="2851150" y="3978275"/>
            <a:ext cx="898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INCLINED HP</a:t>
            </a:r>
          </a:p>
        </p:txBody>
      </p:sp>
      <p:sp>
        <p:nvSpPr>
          <p:cNvPr id="21568" name="Text Box 118"/>
          <p:cNvSpPr txBox="1">
            <a:spLocks noChangeArrowheads="1"/>
          </p:cNvSpPr>
          <p:nvPr/>
        </p:nvSpPr>
        <p:spPr bwMode="auto">
          <a:xfrm>
            <a:off x="3524250" y="5591175"/>
            <a:ext cx="898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INCLINED VP</a:t>
            </a:r>
          </a:p>
        </p:txBody>
      </p:sp>
      <p:grpSp>
        <p:nvGrpSpPr>
          <p:cNvPr id="21569" name="Group 119"/>
          <p:cNvGrpSpPr>
            <a:grpSpLocks/>
          </p:cNvGrpSpPr>
          <p:nvPr/>
        </p:nvGrpSpPr>
        <p:grpSpPr bwMode="auto">
          <a:xfrm>
            <a:off x="4533900" y="5372100"/>
            <a:ext cx="1066800" cy="371475"/>
            <a:chOff x="2016" y="3750"/>
            <a:chExt cx="672" cy="234"/>
          </a:xfrm>
        </p:grpSpPr>
        <p:sp>
          <p:nvSpPr>
            <p:cNvPr id="21590" name="Text Box 120"/>
            <p:cNvSpPr txBox="1">
              <a:spLocks noChangeArrowheads="1"/>
            </p:cNvSpPr>
            <p:nvPr/>
          </p:nvSpPr>
          <p:spPr bwMode="auto">
            <a:xfrm>
              <a:off x="2016" y="3840"/>
              <a:ext cx="67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latin typeface="Times New Roman" panose="02020603050405020304" pitchFamily="18" charset="0"/>
                </a:rPr>
                <a:t>AXIS         </a:t>
              </a:r>
              <a:r>
                <a:rPr lang="en-US" altLang="en-US" sz="900">
                  <a:solidFill>
                    <a:srgbClr val="FF0000"/>
                  </a:solidFill>
                  <a:latin typeface="Times New Roman" panose="02020603050405020304" pitchFamily="18" charset="0"/>
                </a:rPr>
                <a:t>TO VP</a:t>
              </a:r>
              <a:endParaRPr lang="en-US" altLang="en-US" sz="900">
                <a:latin typeface="Times New Roman" panose="02020603050405020304" pitchFamily="18" charset="0"/>
              </a:endParaRPr>
            </a:p>
          </p:txBody>
        </p:sp>
        <p:grpSp>
          <p:nvGrpSpPr>
            <p:cNvPr id="21591" name="Group 121"/>
            <p:cNvGrpSpPr>
              <a:grpSpLocks/>
            </p:cNvGrpSpPr>
            <p:nvPr/>
          </p:nvGrpSpPr>
          <p:grpSpPr bwMode="auto">
            <a:xfrm>
              <a:off x="2268" y="3750"/>
              <a:ext cx="203" cy="192"/>
              <a:chOff x="2496" y="4032"/>
              <a:chExt cx="203" cy="192"/>
            </a:xfrm>
          </p:grpSpPr>
          <p:grpSp>
            <p:nvGrpSpPr>
              <p:cNvPr id="21592" name="Group 122"/>
              <p:cNvGrpSpPr>
                <a:grpSpLocks/>
              </p:cNvGrpSpPr>
              <p:nvPr/>
            </p:nvGrpSpPr>
            <p:grpSpPr bwMode="auto">
              <a:xfrm>
                <a:off x="2496" y="4128"/>
                <a:ext cx="96" cy="96"/>
                <a:chOff x="2688" y="3888"/>
                <a:chExt cx="96" cy="96"/>
              </a:xfrm>
            </p:grpSpPr>
            <p:sp>
              <p:nvSpPr>
                <p:cNvPr id="21594" name="Line 123"/>
                <p:cNvSpPr>
                  <a:spLocks noChangeShapeType="1"/>
                </p:cNvSpPr>
                <p:nvPr/>
              </p:nvSpPr>
              <p:spPr bwMode="auto">
                <a:xfrm>
                  <a:off x="2736" y="3888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595" name="Line 124"/>
                <p:cNvSpPr>
                  <a:spLocks noChangeShapeType="1"/>
                </p:cNvSpPr>
                <p:nvPr/>
              </p:nvSpPr>
              <p:spPr bwMode="auto">
                <a:xfrm>
                  <a:off x="2688" y="3984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21593" name="Text Box 125"/>
              <p:cNvSpPr txBox="1">
                <a:spLocks noChangeArrowheads="1"/>
              </p:cNvSpPr>
              <p:nvPr/>
            </p:nvSpPr>
            <p:spPr bwMode="auto">
              <a:xfrm>
                <a:off x="2508" y="4032"/>
                <a:ext cx="191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Times New Roman" panose="02020603050405020304" pitchFamily="18" charset="0"/>
                  </a:rPr>
                  <a:t>er</a:t>
                </a:r>
              </a:p>
            </p:txBody>
          </p:sp>
        </p:grpSp>
      </p:grpSp>
      <p:sp>
        <p:nvSpPr>
          <p:cNvPr id="21570" name="Text Box 126"/>
          <p:cNvSpPr txBox="1">
            <a:spLocks noChangeArrowheads="1"/>
          </p:cNvSpPr>
          <p:nvPr/>
        </p:nvSpPr>
        <p:spPr bwMode="auto">
          <a:xfrm>
            <a:off x="5502275" y="5486400"/>
            <a:ext cx="7524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INCLINED</a:t>
            </a:r>
            <a:r>
              <a:rPr lang="en-US" altLang="en-US" sz="900"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VP</a:t>
            </a:r>
          </a:p>
        </p:txBody>
      </p:sp>
      <p:sp>
        <p:nvSpPr>
          <p:cNvPr id="21571" name="Text Box 127"/>
          <p:cNvSpPr txBox="1">
            <a:spLocks noChangeArrowheads="1"/>
          </p:cNvSpPr>
          <p:nvPr/>
        </p:nvSpPr>
        <p:spPr bwMode="auto">
          <a:xfrm>
            <a:off x="5883275" y="3819525"/>
            <a:ext cx="898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INCLINED HP</a:t>
            </a:r>
          </a:p>
        </p:txBody>
      </p:sp>
      <p:grpSp>
        <p:nvGrpSpPr>
          <p:cNvPr id="21572" name="Group 128"/>
          <p:cNvGrpSpPr>
            <a:grpSpLocks/>
          </p:cNvGrpSpPr>
          <p:nvPr/>
        </p:nvGrpSpPr>
        <p:grpSpPr bwMode="auto">
          <a:xfrm>
            <a:off x="6778625" y="5403850"/>
            <a:ext cx="1066800" cy="371475"/>
            <a:chOff x="2016" y="3750"/>
            <a:chExt cx="672" cy="234"/>
          </a:xfrm>
        </p:grpSpPr>
        <p:sp>
          <p:nvSpPr>
            <p:cNvPr id="21584" name="Text Box 129"/>
            <p:cNvSpPr txBox="1">
              <a:spLocks noChangeArrowheads="1"/>
            </p:cNvSpPr>
            <p:nvPr/>
          </p:nvSpPr>
          <p:spPr bwMode="auto">
            <a:xfrm>
              <a:off x="2016" y="3840"/>
              <a:ext cx="67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900">
                  <a:latin typeface="Times New Roman" panose="02020603050405020304" pitchFamily="18" charset="0"/>
                </a:rPr>
                <a:t>AXIS         </a:t>
              </a:r>
              <a:r>
                <a:rPr lang="en-US" altLang="en-US" sz="900">
                  <a:solidFill>
                    <a:srgbClr val="FF0000"/>
                  </a:solidFill>
                  <a:latin typeface="Times New Roman" panose="02020603050405020304" pitchFamily="18" charset="0"/>
                </a:rPr>
                <a:t>TO VP</a:t>
              </a:r>
              <a:endParaRPr lang="en-US" altLang="en-US" sz="900">
                <a:latin typeface="Times New Roman" panose="02020603050405020304" pitchFamily="18" charset="0"/>
              </a:endParaRPr>
            </a:p>
          </p:txBody>
        </p:sp>
        <p:grpSp>
          <p:nvGrpSpPr>
            <p:cNvPr id="21585" name="Group 130"/>
            <p:cNvGrpSpPr>
              <a:grpSpLocks/>
            </p:cNvGrpSpPr>
            <p:nvPr/>
          </p:nvGrpSpPr>
          <p:grpSpPr bwMode="auto">
            <a:xfrm>
              <a:off x="2268" y="3750"/>
              <a:ext cx="203" cy="192"/>
              <a:chOff x="2496" y="4032"/>
              <a:chExt cx="203" cy="192"/>
            </a:xfrm>
          </p:grpSpPr>
          <p:grpSp>
            <p:nvGrpSpPr>
              <p:cNvPr id="21586" name="Group 131"/>
              <p:cNvGrpSpPr>
                <a:grpSpLocks/>
              </p:cNvGrpSpPr>
              <p:nvPr/>
            </p:nvGrpSpPr>
            <p:grpSpPr bwMode="auto">
              <a:xfrm>
                <a:off x="2496" y="4128"/>
                <a:ext cx="96" cy="96"/>
                <a:chOff x="2688" y="3888"/>
                <a:chExt cx="96" cy="96"/>
              </a:xfrm>
            </p:grpSpPr>
            <p:sp>
              <p:nvSpPr>
                <p:cNvPr id="21588" name="Line 132"/>
                <p:cNvSpPr>
                  <a:spLocks noChangeShapeType="1"/>
                </p:cNvSpPr>
                <p:nvPr/>
              </p:nvSpPr>
              <p:spPr bwMode="auto">
                <a:xfrm>
                  <a:off x="2736" y="3888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589" name="Line 133"/>
                <p:cNvSpPr>
                  <a:spLocks noChangeShapeType="1"/>
                </p:cNvSpPr>
                <p:nvPr/>
              </p:nvSpPr>
              <p:spPr bwMode="auto">
                <a:xfrm>
                  <a:off x="2688" y="3984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21587" name="Text Box 134"/>
              <p:cNvSpPr txBox="1">
                <a:spLocks noChangeArrowheads="1"/>
              </p:cNvSpPr>
              <p:nvPr/>
            </p:nvSpPr>
            <p:spPr bwMode="auto">
              <a:xfrm>
                <a:off x="2508" y="4032"/>
                <a:ext cx="191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Times New Roman" panose="02020603050405020304" pitchFamily="18" charset="0"/>
                  </a:rPr>
                  <a:t>er</a:t>
                </a:r>
              </a:p>
            </p:txBody>
          </p:sp>
        </p:grpSp>
      </p:grpSp>
      <p:sp>
        <p:nvSpPr>
          <p:cNvPr id="21573" name="Text Box 135"/>
          <p:cNvSpPr txBox="1">
            <a:spLocks noChangeArrowheads="1"/>
          </p:cNvSpPr>
          <p:nvPr/>
        </p:nvSpPr>
        <p:spPr bwMode="auto">
          <a:xfrm>
            <a:off x="7693025" y="5480050"/>
            <a:ext cx="7524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INCLINED</a:t>
            </a:r>
            <a:r>
              <a:rPr lang="en-US" altLang="en-US" sz="900"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VP</a:t>
            </a:r>
          </a:p>
        </p:txBody>
      </p:sp>
      <p:sp>
        <p:nvSpPr>
          <p:cNvPr id="21574" name="Text Box 136"/>
          <p:cNvSpPr txBox="1">
            <a:spLocks noChangeArrowheads="1"/>
          </p:cNvSpPr>
          <p:nvPr/>
        </p:nvSpPr>
        <p:spPr bwMode="auto">
          <a:xfrm>
            <a:off x="8074025" y="3822700"/>
            <a:ext cx="898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AXIS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Times New Roman" panose="02020603050405020304" pitchFamily="18" charset="0"/>
              </a:rPr>
              <a:t>INCLINED HP</a:t>
            </a:r>
          </a:p>
        </p:txBody>
      </p:sp>
      <p:sp>
        <p:nvSpPr>
          <p:cNvPr id="21575" name="Text Box 137"/>
          <p:cNvSpPr txBox="1">
            <a:spLocks noChangeArrowheads="1"/>
          </p:cNvSpPr>
          <p:nvPr/>
        </p:nvSpPr>
        <p:spPr bwMode="auto">
          <a:xfrm>
            <a:off x="2209800" y="3124200"/>
            <a:ext cx="4756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GENERAL PATTERN ( THREE STEPS ) OF SOLUTION:</a:t>
            </a:r>
          </a:p>
        </p:txBody>
      </p:sp>
      <p:sp>
        <p:nvSpPr>
          <p:cNvPr id="21576" name="Text Box 138"/>
          <p:cNvSpPr txBox="1">
            <a:spLocks noChangeArrowheads="1"/>
          </p:cNvSpPr>
          <p:nvPr/>
        </p:nvSpPr>
        <p:spPr bwMode="auto">
          <a:xfrm>
            <a:off x="254000" y="3440113"/>
            <a:ext cx="16319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GROUP B SOLID.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CONE</a:t>
            </a:r>
          </a:p>
        </p:txBody>
      </p:sp>
      <p:sp>
        <p:nvSpPr>
          <p:cNvPr id="21577" name="Text Box 139"/>
          <p:cNvSpPr txBox="1">
            <a:spLocks noChangeArrowheads="1"/>
          </p:cNvSpPr>
          <p:nvPr/>
        </p:nvSpPr>
        <p:spPr bwMode="auto">
          <a:xfrm>
            <a:off x="2551113" y="3429000"/>
            <a:ext cx="16414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GROUP A SOLID.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CYLINDER</a:t>
            </a:r>
          </a:p>
        </p:txBody>
      </p:sp>
      <p:sp>
        <p:nvSpPr>
          <p:cNvPr id="21578" name="Text Box 140"/>
          <p:cNvSpPr txBox="1">
            <a:spLocks noChangeArrowheads="1"/>
          </p:cNvSpPr>
          <p:nvPr/>
        </p:nvSpPr>
        <p:spPr bwMode="auto">
          <a:xfrm>
            <a:off x="4857750" y="3417888"/>
            <a:ext cx="16319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GROUP B SOLID.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CONE</a:t>
            </a:r>
          </a:p>
        </p:txBody>
      </p:sp>
      <p:sp>
        <p:nvSpPr>
          <p:cNvPr id="21579" name="Text Box 141"/>
          <p:cNvSpPr txBox="1">
            <a:spLocks noChangeArrowheads="1"/>
          </p:cNvSpPr>
          <p:nvPr/>
        </p:nvSpPr>
        <p:spPr bwMode="auto">
          <a:xfrm>
            <a:off x="7154863" y="3406775"/>
            <a:ext cx="16414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GROUP A SOLID.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CYLINDER</a:t>
            </a:r>
          </a:p>
        </p:txBody>
      </p:sp>
      <p:sp>
        <p:nvSpPr>
          <p:cNvPr id="21580" name="Text Box 142"/>
          <p:cNvSpPr txBox="1">
            <a:spLocks noChangeArrowheads="1"/>
          </p:cNvSpPr>
          <p:nvPr/>
        </p:nvSpPr>
        <p:spPr bwMode="auto">
          <a:xfrm>
            <a:off x="-38100" y="6035675"/>
            <a:ext cx="199548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Three steps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If solid is inclined to Hp</a:t>
            </a:r>
          </a:p>
        </p:txBody>
      </p:sp>
      <p:sp>
        <p:nvSpPr>
          <p:cNvPr id="21581" name="Text Box 143"/>
          <p:cNvSpPr txBox="1">
            <a:spLocks noChangeArrowheads="1"/>
          </p:cNvSpPr>
          <p:nvPr/>
        </p:nvSpPr>
        <p:spPr bwMode="auto">
          <a:xfrm>
            <a:off x="2324100" y="6022975"/>
            <a:ext cx="199548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Three steps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If solid is inclined to Hp</a:t>
            </a:r>
          </a:p>
        </p:txBody>
      </p:sp>
      <p:sp>
        <p:nvSpPr>
          <p:cNvPr id="21582" name="Text Box 144"/>
          <p:cNvSpPr txBox="1">
            <a:spLocks noChangeArrowheads="1"/>
          </p:cNvSpPr>
          <p:nvPr/>
        </p:nvSpPr>
        <p:spPr bwMode="auto">
          <a:xfrm>
            <a:off x="7053263" y="5997575"/>
            <a:ext cx="1985962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Three steps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If solid is inclined to Vp</a:t>
            </a:r>
          </a:p>
        </p:txBody>
      </p:sp>
      <p:sp>
        <p:nvSpPr>
          <p:cNvPr id="21583" name="Text Box 146"/>
          <p:cNvSpPr txBox="1">
            <a:spLocks noChangeArrowheads="1"/>
          </p:cNvSpPr>
          <p:nvPr/>
        </p:nvSpPr>
        <p:spPr bwMode="auto">
          <a:xfrm>
            <a:off x="4691063" y="6010275"/>
            <a:ext cx="201453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Three steps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If solid is inclined to Vp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2"/>
          <p:cNvSpPr>
            <a:spLocks noChangeShapeType="1"/>
          </p:cNvSpPr>
          <p:nvPr/>
        </p:nvSpPr>
        <p:spPr bwMode="auto">
          <a:xfrm>
            <a:off x="457200" y="41148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0" y="37338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7543800" y="35814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 flipH="1">
            <a:off x="990600" y="4591050"/>
            <a:ext cx="1143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990600" y="4572000"/>
            <a:ext cx="1143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685800" y="434340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685800" y="5334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2095500" y="535305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2076450" y="4343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1409700" y="50482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 flipV="1">
            <a:off x="990600" y="4114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 flipV="1">
            <a:off x="2133600" y="411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 flipH="1" flipV="1">
            <a:off x="1581150" y="22098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 flipH="1">
            <a:off x="990600" y="2438400"/>
            <a:ext cx="6096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1562100" y="2476500"/>
            <a:ext cx="6096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>
            <a:off x="990600" y="459105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990600" y="56578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990600" y="45910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>
            <a:off x="2133600" y="459105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1543050" y="2209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o’</a:t>
            </a:r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2228850" y="3733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d’</a:t>
            </a:r>
          </a:p>
        </p:txBody>
      </p: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2057400" y="37338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c’</a:t>
            </a:r>
          </a:p>
        </p:txBody>
      </p:sp>
      <p:sp>
        <p:nvSpPr>
          <p:cNvPr id="26648" name="Text Box 24"/>
          <p:cNvSpPr txBox="1">
            <a:spLocks noChangeArrowheads="1"/>
          </p:cNvSpPr>
          <p:nvPr/>
        </p:nvSpPr>
        <p:spPr bwMode="auto">
          <a:xfrm>
            <a:off x="723900" y="3733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26649" name="Text Box 25"/>
          <p:cNvSpPr txBox="1">
            <a:spLocks noChangeArrowheads="1"/>
          </p:cNvSpPr>
          <p:nvPr/>
        </p:nvSpPr>
        <p:spPr bwMode="auto">
          <a:xfrm>
            <a:off x="495300" y="371475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a’</a:t>
            </a:r>
          </a:p>
        </p:txBody>
      </p:sp>
      <p:grpSp>
        <p:nvGrpSpPr>
          <p:cNvPr id="26650" name="Group 26"/>
          <p:cNvGrpSpPr>
            <a:grpSpLocks/>
          </p:cNvGrpSpPr>
          <p:nvPr/>
        </p:nvGrpSpPr>
        <p:grpSpPr bwMode="auto">
          <a:xfrm>
            <a:off x="2895600" y="2800350"/>
            <a:ext cx="2057400" cy="2171700"/>
            <a:chOff x="1824" y="1572"/>
            <a:chExt cx="1296" cy="1368"/>
          </a:xfrm>
        </p:grpSpPr>
        <p:grpSp>
          <p:nvGrpSpPr>
            <p:cNvPr id="23664" name="Group 27"/>
            <p:cNvGrpSpPr>
              <a:grpSpLocks/>
            </p:cNvGrpSpPr>
            <p:nvPr/>
          </p:nvGrpSpPr>
          <p:grpSpPr bwMode="auto">
            <a:xfrm rot="6624581">
              <a:off x="1812" y="1632"/>
              <a:ext cx="1368" cy="1248"/>
              <a:chOff x="408" y="1296"/>
              <a:chExt cx="1368" cy="1248"/>
            </a:xfrm>
          </p:grpSpPr>
          <p:sp>
            <p:nvSpPr>
              <p:cNvPr id="23666" name="Line 28"/>
              <p:cNvSpPr>
                <a:spLocks noChangeShapeType="1"/>
              </p:cNvSpPr>
              <p:nvPr/>
            </p:nvSpPr>
            <p:spPr bwMode="auto">
              <a:xfrm flipH="1" flipV="1">
                <a:off x="1092" y="1296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67" name="Line 29"/>
              <p:cNvSpPr>
                <a:spLocks noChangeShapeType="1"/>
              </p:cNvSpPr>
              <p:nvPr/>
            </p:nvSpPr>
            <p:spPr bwMode="auto">
              <a:xfrm flipH="1">
                <a:off x="720" y="1440"/>
                <a:ext cx="384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68" name="Line 30"/>
              <p:cNvSpPr>
                <a:spLocks noChangeShapeType="1"/>
              </p:cNvSpPr>
              <p:nvPr/>
            </p:nvSpPr>
            <p:spPr bwMode="auto">
              <a:xfrm>
                <a:off x="1080" y="1464"/>
                <a:ext cx="384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69" name="Text Box 31"/>
              <p:cNvSpPr txBox="1">
                <a:spLocks noChangeArrowheads="1"/>
              </p:cNvSpPr>
              <p:nvPr/>
            </p:nvSpPr>
            <p:spPr bwMode="auto">
              <a:xfrm>
                <a:off x="1068" y="1296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o’</a:t>
                </a:r>
              </a:p>
            </p:txBody>
          </p:sp>
          <p:sp>
            <p:nvSpPr>
              <p:cNvPr id="23670" name="Text Box 32"/>
              <p:cNvSpPr txBox="1">
                <a:spLocks noChangeArrowheads="1"/>
              </p:cNvSpPr>
              <p:nvPr/>
            </p:nvSpPr>
            <p:spPr bwMode="auto">
              <a:xfrm>
                <a:off x="1500" y="2256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d’</a:t>
                </a:r>
              </a:p>
            </p:txBody>
          </p:sp>
          <p:sp>
            <p:nvSpPr>
              <p:cNvPr id="23671" name="Text Box 33"/>
              <p:cNvSpPr txBox="1">
                <a:spLocks noChangeArrowheads="1"/>
              </p:cNvSpPr>
              <p:nvPr/>
            </p:nvSpPr>
            <p:spPr bwMode="auto">
              <a:xfrm>
                <a:off x="1392" y="2256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c’</a:t>
                </a:r>
              </a:p>
            </p:txBody>
          </p:sp>
          <p:sp>
            <p:nvSpPr>
              <p:cNvPr id="23672" name="Text Box 34"/>
              <p:cNvSpPr txBox="1">
                <a:spLocks noChangeArrowheads="1"/>
              </p:cNvSpPr>
              <p:nvPr/>
            </p:nvSpPr>
            <p:spPr bwMode="auto">
              <a:xfrm>
                <a:off x="552" y="2256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b’</a:t>
                </a:r>
              </a:p>
            </p:txBody>
          </p:sp>
          <p:sp>
            <p:nvSpPr>
              <p:cNvPr id="23673" name="Text Box 35"/>
              <p:cNvSpPr txBox="1">
                <a:spLocks noChangeArrowheads="1"/>
              </p:cNvSpPr>
              <p:nvPr/>
            </p:nvSpPr>
            <p:spPr bwMode="auto">
              <a:xfrm>
                <a:off x="408" y="2244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a’</a:t>
                </a:r>
              </a:p>
            </p:txBody>
          </p:sp>
        </p:grpSp>
        <p:sp>
          <p:nvSpPr>
            <p:cNvPr id="23665" name="Line 36"/>
            <p:cNvSpPr>
              <a:spLocks noChangeShapeType="1"/>
            </p:cNvSpPr>
            <p:nvPr/>
          </p:nvSpPr>
          <p:spPr bwMode="auto">
            <a:xfrm flipH="1">
              <a:off x="1824" y="1728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661" name="Line 37"/>
          <p:cNvSpPr>
            <a:spLocks noChangeShapeType="1"/>
          </p:cNvSpPr>
          <p:nvPr/>
        </p:nvSpPr>
        <p:spPr bwMode="auto">
          <a:xfrm>
            <a:off x="2895600" y="4038600"/>
            <a:ext cx="0" cy="16764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62" name="Line 38"/>
          <p:cNvSpPr>
            <a:spLocks noChangeShapeType="1"/>
          </p:cNvSpPr>
          <p:nvPr/>
        </p:nvSpPr>
        <p:spPr bwMode="auto">
          <a:xfrm>
            <a:off x="3352800" y="2971800"/>
            <a:ext cx="0" cy="27432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63" name="Line 39"/>
          <p:cNvSpPr>
            <a:spLocks noChangeShapeType="1"/>
          </p:cNvSpPr>
          <p:nvPr/>
        </p:nvSpPr>
        <p:spPr bwMode="auto">
          <a:xfrm>
            <a:off x="2209800" y="4572000"/>
            <a:ext cx="14478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64" name="Line 40"/>
          <p:cNvSpPr>
            <a:spLocks noChangeShapeType="1"/>
          </p:cNvSpPr>
          <p:nvPr/>
        </p:nvSpPr>
        <p:spPr bwMode="auto">
          <a:xfrm>
            <a:off x="2209800" y="5638800"/>
            <a:ext cx="14478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65" name="Line 41"/>
          <p:cNvSpPr>
            <a:spLocks noChangeShapeType="1"/>
          </p:cNvSpPr>
          <p:nvPr/>
        </p:nvSpPr>
        <p:spPr bwMode="auto">
          <a:xfrm>
            <a:off x="1514475" y="5124450"/>
            <a:ext cx="33528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66" name="Line 42"/>
          <p:cNvSpPr>
            <a:spLocks noChangeShapeType="1"/>
          </p:cNvSpPr>
          <p:nvPr/>
        </p:nvSpPr>
        <p:spPr bwMode="auto">
          <a:xfrm>
            <a:off x="4648200" y="3962400"/>
            <a:ext cx="0" cy="16002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67" name="Line 43"/>
          <p:cNvSpPr>
            <a:spLocks noChangeShapeType="1"/>
          </p:cNvSpPr>
          <p:nvPr/>
        </p:nvSpPr>
        <p:spPr bwMode="auto">
          <a:xfrm>
            <a:off x="2895600" y="4572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68" name="Line 44"/>
          <p:cNvSpPr>
            <a:spLocks noChangeShapeType="1"/>
          </p:cNvSpPr>
          <p:nvPr/>
        </p:nvSpPr>
        <p:spPr bwMode="auto">
          <a:xfrm>
            <a:off x="2895600" y="56388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69" name="Line 45"/>
          <p:cNvSpPr>
            <a:spLocks noChangeShapeType="1"/>
          </p:cNvSpPr>
          <p:nvPr/>
        </p:nvSpPr>
        <p:spPr bwMode="auto">
          <a:xfrm>
            <a:off x="2895600" y="4572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70" name="Line 46"/>
          <p:cNvSpPr>
            <a:spLocks noChangeShapeType="1"/>
          </p:cNvSpPr>
          <p:nvPr/>
        </p:nvSpPr>
        <p:spPr bwMode="auto">
          <a:xfrm>
            <a:off x="3352800" y="4572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71" name="Line 47"/>
          <p:cNvSpPr>
            <a:spLocks noChangeShapeType="1"/>
          </p:cNvSpPr>
          <p:nvPr/>
        </p:nvSpPr>
        <p:spPr bwMode="auto">
          <a:xfrm rot="166886">
            <a:off x="3352800" y="4581525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72" name="Line 48"/>
          <p:cNvSpPr>
            <a:spLocks noChangeShapeType="1"/>
          </p:cNvSpPr>
          <p:nvPr/>
        </p:nvSpPr>
        <p:spPr bwMode="auto">
          <a:xfrm rot="115835" flipV="1">
            <a:off x="3362325" y="512445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73" name="Line 49"/>
          <p:cNvSpPr>
            <a:spLocks noChangeShapeType="1"/>
          </p:cNvSpPr>
          <p:nvPr/>
        </p:nvSpPr>
        <p:spPr bwMode="auto">
          <a:xfrm rot="-100386">
            <a:off x="2895600" y="4572000"/>
            <a:ext cx="1752600" cy="6096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74" name="Line 50"/>
          <p:cNvSpPr>
            <a:spLocks noChangeShapeType="1"/>
          </p:cNvSpPr>
          <p:nvPr/>
        </p:nvSpPr>
        <p:spPr bwMode="auto">
          <a:xfrm rot="21583876" flipV="1">
            <a:off x="2895600" y="5153025"/>
            <a:ext cx="1752600" cy="4572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75" name="Text Box 51"/>
          <p:cNvSpPr txBox="1">
            <a:spLocks noChangeArrowheads="1"/>
          </p:cNvSpPr>
          <p:nvPr/>
        </p:nvSpPr>
        <p:spPr bwMode="auto">
          <a:xfrm>
            <a:off x="4610100" y="49530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76" name="Text Box 52"/>
          <p:cNvSpPr txBox="1">
            <a:spLocks noChangeArrowheads="1"/>
          </p:cNvSpPr>
          <p:nvPr/>
        </p:nvSpPr>
        <p:spPr bwMode="auto">
          <a:xfrm>
            <a:off x="2609850" y="4371975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77" name="Text Box 53"/>
          <p:cNvSpPr txBox="1">
            <a:spLocks noChangeArrowheads="1"/>
          </p:cNvSpPr>
          <p:nvPr/>
        </p:nvSpPr>
        <p:spPr bwMode="auto">
          <a:xfrm>
            <a:off x="3295650" y="5511800"/>
            <a:ext cx="40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78" name="Text Box 54"/>
          <p:cNvSpPr txBox="1">
            <a:spLocks noChangeArrowheads="1"/>
          </p:cNvSpPr>
          <p:nvPr/>
        </p:nvSpPr>
        <p:spPr bwMode="auto">
          <a:xfrm>
            <a:off x="2609850" y="5483225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79" name="Text Box 55"/>
          <p:cNvSpPr txBox="1">
            <a:spLocks noChangeArrowheads="1"/>
          </p:cNvSpPr>
          <p:nvPr/>
        </p:nvSpPr>
        <p:spPr bwMode="auto">
          <a:xfrm>
            <a:off x="3200400" y="426720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80" name="Line 56"/>
          <p:cNvSpPr>
            <a:spLocks noChangeShapeType="1"/>
          </p:cNvSpPr>
          <p:nvPr/>
        </p:nvSpPr>
        <p:spPr bwMode="auto">
          <a:xfrm flipV="1">
            <a:off x="5229225" y="28194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81" name="Line 57"/>
          <p:cNvSpPr>
            <a:spLocks noChangeShapeType="1"/>
          </p:cNvSpPr>
          <p:nvPr/>
        </p:nvSpPr>
        <p:spPr bwMode="auto">
          <a:xfrm flipV="1">
            <a:off x="5595938" y="2743200"/>
            <a:ext cx="0" cy="1905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82" name="Line 58"/>
          <p:cNvSpPr>
            <a:spLocks noChangeShapeType="1"/>
          </p:cNvSpPr>
          <p:nvPr/>
        </p:nvSpPr>
        <p:spPr bwMode="auto">
          <a:xfrm flipV="1">
            <a:off x="5886450" y="2743200"/>
            <a:ext cx="0" cy="3124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83" name="Line 59"/>
          <p:cNvSpPr>
            <a:spLocks noChangeShapeType="1"/>
          </p:cNvSpPr>
          <p:nvPr/>
        </p:nvSpPr>
        <p:spPr bwMode="auto">
          <a:xfrm flipV="1">
            <a:off x="6262688" y="2819400"/>
            <a:ext cx="0" cy="2743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84" name="Line 60"/>
          <p:cNvSpPr>
            <a:spLocks noChangeShapeType="1"/>
          </p:cNvSpPr>
          <p:nvPr/>
        </p:nvSpPr>
        <p:spPr bwMode="auto">
          <a:xfrm>
            <a:off x="3276600" y="2971800"/>
            <a:ext cx="3124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85" name="Oval 61"/>
          <p:cNvSpPr>
            <a:spLocks noChangeArrowheads="1"/>
          </p:cNvSpPr>
          <p:nvPr/>
        </p:nvSpPr>
        <p:spPr bwMode="auto">
          <a:xfrm>
            <a:off x="5181600" y="40862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5853113" y="40719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7" name="Oval 63"/>
          <p:cNvSpPr>
            <a:spLocks noChangeArrowheads="1"/>
          </p:cNvSpPr>
          <p:nvPr/>
        </p:nvSpPr>
        <p:spPr bwMode="auto">
          <a:xfrm>
            <a:off x="5567363" y="29622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8" name="Oval 64"/>
          <p:cNvSpPr>
            <a:spLocks noChangeArrowheads="1"/>
          </p:cNvSpPr>
          <p:nvPr/>
        </p:nvSpPr>
        <p:spPr bwMode="auto">
          <a:xfrm>
            <a:off x="6934200" y="40814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9" name="Oval 65"/>
          <p:cNvSpPr>
            <a:spLocks noChangeArrowheads="1"/>
          </p:cNvSpPr>
          <p:nvPr/>
        </p:nvSpPr>
        <p:spPr bwMode="auto">
          <a:xfrm>
            <a:off x="6219825" y="29432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90" name="Line 66"/>
          <p:cNvSpPr>
            <a:spLocks noChangeShapeType="1"/>
          </p:cNvSpPr>
          <p:nvPr/>
        </p:nvSpPr>
        <p:spPr bwMode="auto">
          <a:xfrm flipV="1">
            <a:off x="6981825" y="3810000"/>
            <a:ext cx="0" cy="762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91" name="Line 67"/>
          <p:cNvSpPr>
            <a:spLocks noChangeShapeType="1"/>
          </p:cNvSpPr>
          <p:nvPr/>
        </p:nvSpPr>
        <p:spPr bwMode="auto">
          <a:xfrm>
            <a:off x="6248400" y="2971800"/>
            <a:ext cx="762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92" name="Line 68"/>
          <p:cNvSpPr>
            <a:spLocks noChangeShapeType="1"/>
          </p:cNvSpPr>
          <p:nvPr/>
        </p:nvSpPr>
        <p:spPr bwMode="auto">
          <a:xfrm flipH="1">
            <a:off x="5181600" y="2971800"/>
            <a:ext cx="457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93" name="Line 69"/>
          <p:cNvSpPr>
            <a:spLocks noChangeShapeType="1"/>
          </p:cNvSpPr>
          <p:nvPr/>
        </p:nvSpPr>
        <p:spPr bwMode="auto">
          <a:xfrm>
            <a:off x="5638800" y="2971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94" name="Line 70"/>
          <p:cNvSpPr>
            <a:spLocks noChangeShapeType="1"/>
          </p:cNvSpPr>
          <p:nvPr/>
        </p:nvSpPr>
        <p:spPr bwMode="auto">
          <a:xfrm flipH="1">
            <a:off x="5943600" y="29718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95" name="Line 71"/>
          <p:cNvSpPr>
            <a:spLocks noChangeShapeType="1"/>
          </p:cNvSpPr>
          <p:nvPr/>
        </p:nvSpPr>
        <p:spPr bwMode="auto">
          <a:xfrm>
            <a:off x="5638800" y="2971800"/>
            <a:ext cx="13716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696" name="Text Box 72"/>
          <p:cNvSpPr txBox="1">
            <a:spLocks noChangeArrowheads="1"/>
          </p:cNvSpPr>
          <p:nvPr/>
        </p:nvSpPr>
        <p:spPr bwMode="auto">
          <a:xfrm>
            <a:off x="5334000" y="2667000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97" name="Text Box 73"/>
          <p:cNvSpPr txBox="1">
            <a:spLocks noChangeArrowheads="1"/>
          </p:cNvSpPr>
          <p:nvPr/>
        </p:nvSpPr>
        <p:spPr bwMode="auto">
          <a:xfrm>
            <a:off x="4953000" y="3824288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98" name="Text Box 74"/>
          <p:cNvSpPr txBox="1">
            <a:spLocks noChangeArrowheads="1"/>
          </p:cNvSpPr>
          <p:nvPr/>
        </p:nvSpPr>
        <p:spPr bwMode="auto">
          <a:xfrm>
            <a:off x="6019800" y="3810000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99" name="Text Box 75"/>
          <p:cNvSpPr txBox="1">
            <a:spLocks noChangeArrowheads="1"/>
          </p:cNvSpPr>
          <p:nvPr/>
        </p:nvSpPr>
        <p:spPr bwMode="auto">
          <a:xfrm>
            <a:off x="6096000" y="25908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700" name="Text Box 76"/>
          <p:cNvSpPr txBox="1">
            <a:spLocks noChangeArrowheads="1"/>
          </p:cNvSpPr>
          <p:nvPr/>
        </p:nvSpPr>
        <p:spPr bwMode="auto">
          <a:xfrm>
            <a:off x="6934200" y="37338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o’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6701" name="Group 77"/>
          <p:cNvGrpSpPr>
            <a:grpSpLocks/>
          </p:cNvGrpSpPr>
          <p:nvPr/>
        </p:nvGrpSpPr>
        <p:grpSpPr bwMode="auto">
          <a:xfrm>
            <a:off x="5105400" y="4114800"/>
            <a:ext cx="2374900" cy="1506538"/>
            <a:chOff x="3216" y="2400"/>
            <a:chExt cx="1496" cy="949"/>
          </a:xfrm>
        </p:grpSpPr>
        <p:grpSp>
          <p:nvGrpSpPr>
            <p:cNvPr id="23649" name="Group 78"/>
            <p:cNvGrpSpPr>
              <a:grpSpLocks/>
            </p:cNvGrpSpPr>
            <p:nvPr/>
          </p:nvGrpSpPr>
          <p:grpSpPr bwMode="auto">
            <a:xfrm rot="-2233345">
              <a:off x="3216" y="2400"/>
              <a:ext cx="1496" cy="949"/>
              <a:chOff x="1740" y="2658"/>
              <a:chExt cx="1496" cy="949"/>
            </a:xfrm>
          </p:grpSpPr>
          <p:sp>
            <p:nvSpPr>
              <p:cNvPr id="23651" name="Line 79"/>
              <p:cNvSpPr>
                <a:spLocks noChangeShapeType="1"/>
              </p:cNvSpPr>
              <p:nvPr/>
            </p:nvSpPr>
            <p:spPr bwMode="auto">
              <a:xfrm>
                <a:off x="1776" y="3144"/>
                <a:ext cx="1392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52" name="Line 80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53" name="Line 81"/>
              <p:cNvSpPr>
                <a:spLocks noChangeShapeType="1"/>
              </p:cNvSpPr>
              <p:nvPr/>
            </p:nvSpPr>
            <p:spPr bwMode="auto">
              <a:xfrm>
                <a:off x="1920" y="345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54" name="Line 82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55" name="Line 83"/>
              <p:cNvSpPr>
                <a:spLocks noChangeShapeType="1"/>
              </p:cNvSpPr>
              <p:nvPr/>
            </p:nvSpPr>
            <p:spPr bwMode="auto">
              <a:xfrm>
                <a:off x="2208" y="278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56" name="Line 84"/>
              <p:cNvSpPr>
                <a:spLocks noChangeShapeType="1"/>
              </p:cNvSpPr>
              <p:nvPr/>
            </p:nvSpPr>
            <p:spPr bwMode="auto">
              <a:xfrm rot="166886">
                <a:off x="2208" y="2790"/>
                <a:ext cx="81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57" name="Line 85"/>
              <p:cNvSpPr>
                <a:spLocks noChangeShapeType="1"/>
              </p:cNvSpPr>
              <p:nvPr/>
            </p:nvSpPr>
            <p:spPr bwMode="auto">
              <a:xfrm rot="115835" flipV="1">
                <a:off x="2214" y="3132"/>
                <a:ext cx="81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58" name="Line 86"/>
              <p:cNvSpPr>
                <a:spLocks noChangeShapeType="1"/>
              </p:cNvSpPr>
              <p:nvPr/>
            </p:nvSpPr>
            <p:spPr bwMode="auto">
              <a:xfrm rot="-100386">
                <a:off x="1920" y="2784"/>
                <a:ext cx="1104" cy="3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59" name="Line 87"/>
              <p:cNvSpPr>
                <a:spLocks noChangeShapeType="1"/>
              </p:cNvSpPr>
              <p:nvPr/>
            </p:nvSpPr>
            <p:spPr bwMode="auto">
              <a:xfrm rot="21583876" flipV="1">
                <a:off x="1920" y="3150"/>
                <a:ext cx="1104" cy="288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60" name="Text Box 88"/>
              <p:cNvSpPr txBox="1">
                <a:spLocks noChangeArrowheads="1"/>
              </p:cNvSpPr>
              <p:nvPr/>
            </p:nvSpPr>
            <p:spPr bwMode="auto">
              <a:xfrm>
                <a:off x="3000" y="302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o</a:t>
                </a:r>
                <a:r>
                  <a:rPr lang="en-US" altLang="en-US" sz="18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661" name="Text Box 89"/>
              <p:cNvSpPr txBox="1">
                <a:spLocks noChangeArrowheads="1"/>
              </p:cNvSpPr>
              <p:nvPr/>
            </p:nvSpPr>
            <p:spPr bwMode="auto">
              <a:xfrm>
                <a:off x="1740" y="2658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8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662" name="Text Box 90"/>
              <p:cNvSpPr txBox="1">
                <a:spLocks noChangeArrowheads="1"/>
              </p:cNvSpPr>
              <p:nvPr/>
            </p:nvSpPr>
            <p:spPr bwMode="auto">
              <a:xfrm>
                <a:off x="2172" y="3376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b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663" name="Text Box 91"/>
              <p:cNvSpPr txBox="1">
                <a:spLocks noChangeArrowheads="1"/>
              </p:cNvSpPr>
              <p:nvPr/>
            </p:nvSpPr>
            <p:spPr bwMode="auto">
              <a:xfrm>
                <a:off x="1740" y="3358"/>
                <a:ext cx="2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en-US" sz="18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23650" name="Text Box 92"/>
            <p:cNvSpPr txBox="1">
              <a:spLocks noChangeArrowheads="1"/>
            </p:cNvSpPr>
            <p:nvPr/>
          </p:nvSpPr>
          <p:spPr bwMode="auto">
            <a:xfrm>
              <a:off x="3381" y="2565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a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6717" name="Line 93"/>
          <p:cNvSpPr>
            <a:spLocks noChangeShapeType="1"/>
          </p:cNvSpPr>
          <p:nvPr/>
        </p:nvSpPr>
        <p:spPr bwMode="auto">
          <a:xfrm>
            <a:off x="3429000" y="22860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718" name="Line 94"/>
          <p:cNvSpPr>
            <a:spLocks noChangeShapeType="1"/>
          </p:cNvSpPr>
          <p:nvPr/>
        </p:nvSpPr>
        <p:spPr bwMode="auto">
          <a:xfrm flipV="1">
            <a:off x="6096000" y="59436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6719" name="Group 95"/>
          <p:cNvGrpSpPr>
            <a:grpSpLocks/>
          </p:cNvGrpSpPr>
          <p:nvPr/>
        </p:nvGrpSpPr>
        <p:grpSpPr bwMode="auto">
          <a:xfrm rot="4419805">
            <a:off x="6881019" y="4548981"/>
            <a:ext cx="2374900" cy="1506538"/>
            <a:chOff x="3216" y="2400"/>
            <a:chExt cx="1496" cy="949"/>
          </a:xfrm>
        </p:grpSpPr>
        <p:grpSp>
          <p:nvGrpSpPr>
            <p:cNvPr id="23634" name="Group 96"/>
            <p:cNvGrpSpPr>
              <a:grpSpLocks/>
            </p:cNvGrpSpPr>
            <p:nvPr/>
          </p:nvGrpSpPr>
          <p:grpSpPr bwMode="auto">
            <a:xfrm rot="-2233345">
              <a:off x="3216" y="2400"/>
              <a:ext cx="1496" cy="949"/>
              <a:chOff x="1740" y="2658"/>
              <a:chExt cx="1496" cy="949"/>
            </a:xfrm>
          </p:grpSpPr>
          <p:sp>
            <p:nvSpPr>
              <p:cNvPr id="23636" name="Line 97"/>
              <p:cNvSpPr>
                <a:spLocks noChangeShapeType="1"/>
              </p:cNvSpPr>
              <p:nvPr/>
            </p:nvSpPr>
            <p:spPr bwMode="auto">
              <a:xfrm>
                <a:off x="1776" y="3144"/>
                <a:ext cx="1392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37" name="Line 98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38" name="Line 99"/>
              <p:cNvSpPr>
                <a:spLocks noChangeShapeType="1"/>
              </p:cNvSpPr>
              <p:nvPr/>
            </p:nvSpPr>
            <p:spPr bwMode="auto">
              <a:xfrm>
                <a:off x="1920" y="345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39" name="Line 100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40" name="Line 101"/>
              <p:cNvSpPr>
                <a:spLocks noChangeShapeType="1"/>
              </p:cNvSpPr>
              <p:nvPr/>
            </p:nvSpPr>
            <p:spPr bwMode="auto">
              <a:xfrm>
                <a:off x="2208" y="278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41" name="Line 102"/>
              <p:cNvSpPr>
                <a:spLocks noChangeShapeType="1"/>
              </p:cNvSpPr>
              <p:nvPr/>
            </p:nvSpPr>
            <p:spPr bwMode="auto">
              <a:xfrm rot="166886">
                <a:off x="2208" y="2790"/>
                <a:ext cx="81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42" name="Line 103"/>
              <p:cNvSpPr>
                <a:spLocks noChangeShapeType="1"/>
              </p:cNvSpPr>
              <p:nvPr/>
            </p:nvSpPr>
            <p:spPr bwMode="auto">
              <a:xfrm rot="115835" flipV="1">
                <a:off x="2214" y="3132"/>
                <a:ext cx="81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43" name="Line 104"/>
              <p:cNvSpPr>
                <a:spLocks noChangeShapeType="1"/>
              </p:cNvSpPr>
              <p:nvPr/>
            </p:nvSpPr>
            <p:spPr bwMode="auto">
              <a:xfrm rot="-100386">
                <a:off x="1920" y="2784"/>
                <a:ext cx="1104" cy="3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44" name="Line 105"/>
              <p:cNvSpPr>
                <a:spLocks noChangeShapeType="1"/>
              </p:cNvSpPr>
              <p:nvPr/>
            </p:nvSpPr>
            <p:spPr bwMode="auto">
              <a:xfrm rot="21583876" flipV="1">
                <a:off x="1920" y="3150"/>
                <a:ext cx="1104" cy="288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45" name="Text Box 106"/>
              <p:cNvSpPr txBox="1">
                <a:spLocks noChangeArrowheads="1"/>
              </p:cNvSpPr>
              <p:nvPr/>
            </p:nvSpPr>
            <p:spPr bwMode="auto">
              <a:xfrm>
                <a:off x="3000" y="302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o</a:t>
                </a:r>
                <a:r>
                  <a:rPr lang="en-US" altLang="en-US" sz="18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646" name="Text Box 107"/>
              <p:cNvSpPr txBox="1">
                <a:spLocks noChangeArrowheads="1"/>
              </p:cNvSpPr>
              <p:nvPr/>
            </p:nvSpPr>
            <p:spPr bwMode="auto">
              <a:xfrm>
                <a:off x="1740" y="2658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8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647" name="Text Box 108"/>
              <p:cNvSpPr txBox="1">
                <a:spLocks noChangeArrowheads="1"/>
              </p:cNvSpPr>
              <p:nvPr/>
            </p:nvSpPr>
            <p:spPr bwMode="auto">
              <a:xfrm>
                <a:off x="2172" y="3376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b</a:t>
                </a:r>
                <a:r>
                  <a:rPr lang="en-US" altLang="en-US" sz="2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648" name="Text Box 109"/>
              <p:cNvSpPr txBox="1">
                <a:spLocks noChangeArrowheads="1"/>
              </p:cNvSpPr>
              <p:nvPr/>
            </p:nvSpPr>
            <p:spPr bwMode="auto">
              <a:xfrm>
                <a:off x="1740" y="3358"/>
                <a:ext cx="2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en-US" sz="18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23635" name="Text Box 110"/>
            <p:cNvSpPr txBox="1">
              <a:spLocks noChangeArrowheads="1"/>
            </p:cNvSpPr>
            <p:nvPr/>
          </p:nvSpPr>
          <p:spPr bwMode="auto">
            <a:xfrm>
              <a:off x="3381" y="2565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a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6735" name="Text Box 111"/>
          <p:cNvSpPr txBox="1">
            <a:spLocks noChangeArrowheads="1"/>
          </p:cNvSpPr>
          <p:nvPr/>
        </p:nvSpPr>
        <p:spPr bwMode="auto">
          <a:xfrm>
            <a:off x="6407150" y="5562600"/>
            <a:ext cx="7556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(APEX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 NEARER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TO V.P)</a:t>
            </a:r>
            <a:r>
              <a:rPr lang="en-US" altLang="en-US" sz="14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6736" name="Text Box 112"/>
          <p:cNvSpPr txBox="1">
            <a:spLocks noChangeArrowheads="1"/>
          </p:cNvSpPr>
          <p:nvPr/>
        </p:nvSpPr>
        <p:spPr bwMode="auto">
          <a:xfrm>
            <a:off x="7467600" y="5715000"/>
            <a:ext cx="88741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(APEX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AWAY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FROM V.P.)</a:t>
            </a:r>
            <a:r>
              <a:rPr lang="en-US" altLang="en-US" sz="14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6737" name="Group 113"/>
          <p:cNvGrpSpPr>
            <a:grpSpLocks/>
          </p:cNvGrpSpPr>
          <p:nvPr/>
        </p:nvGrpSpPr>
        <p:grpSpPr bwMode="auto">
          <a:xfrm>
            <a:off x="-76200" y="0"/>
            <a:ext cx="3810000" cy="2286000"/>
            <a:chOff x="-48" y="0"/>
            <a:chExt cx="2400" cy="1440"/>
          </a:xfrm>
        </p:grpSpPr>
        <p:sp>
          <p:nvSpPr>
            <p:cNvPr id="23632" name="Rectangle 114"/>
            <p:cNvSpPr>
              <a:spLocks noChangeArrowheads="1"/>
            </p:cNvSpPr>
            <p:nvPr/>
          </p:nvSpPr>
          <p:spPr bwMode="auto">
            <a:xfrm>
              <a:off x="-48" y="0"/>
              <a:ext cx="2400" cy="14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3" name="Rectangle 115"/>
            <p:cNvSpPr>
              <a:spLocks noChangeArrowheads="1"/>
            </p:cNvSpPr>
            <p:nvPr/>
          </p:nvSpPr>
          <p:spPr bwMode="auto">
            <a:xfrm>
              <a:off x="56" y="0"/>
              <a:ext cx="2256" cy="1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chemeClr val="accent2"/>
                  </a:solidFill>
                </a:rPr>
                <a:t>Problem 1.</a:t>
              </a:r>
              <a:r>
                <a:rPr lang="en-US" altLang="en-US" sz="1800">
                  <a:solidFill>
                    <a:srgbClr val="000000"/>
                  </a:solidFill>
                </a:rPr>
                <a:t>  </a:t>
              </a:r>
              <a:r>
                <a:rPr lang="en-US" altLang="en-US" sz="1600">
                  <a:solidFill>
                    <a:srgbClr val="000000"/>
                  </a:solidFill>
                </a:rPr>
                <a:t>A square pyramid, 40 mm base sides and axis 60 mm long, has a triangular face on the ground and the vertical plane containing the axis makes an angle of 45</a:t>
              </a:r>
              <a:r>
                <a:rPr lang="en-US" altLang="en-US" sz="1600" baseline="30000">
                  <a:solidFill>
                    <a:schemeClr val="tx2"/>
                  </a:solidFill>
                </a:rPr>
                <a:t>0</a:t>
              </a:r>
              <a:r>
                <a:rPr lang="en-US" altLang="en-US" sz="1600">
                  <a:solidFill>
                    <a:schemeClr val="tx2"/>
                  </a:solidFill>
                </a:rPr>
                <a:t> with the VP. Draw its projections. Take  apex nearer to VP</a:t>
              </a:r>
              <a:endParaRPr lang="en-US" altLang="en-US" sz="16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740" name="Group 116"/>
          <p:cNvGrpSpPr>
            <a:grpSpLocks/>
          </p:cNvGrpSpPr>
          <p:nvPr/>
        </p:nvGrpSpPr>
        <p:grpSpPr bwMode="auto">
          <a:xfrm>
            <a:off x="3733800" y="0"/>
            <a:ext cx="5410200" cy="2286000"/>
            <a:chOff x="2352" y="0"/>
            <a:chExt cx="3408" cy="1440"/>
          </a:xfrm>
        </p:grpSpPr>
        <p:sp>
          <p:nvSpPr>
            <p:cNvPr id="23630" name="Rectangle 117"/>
            <p:cNvSpPr>
              <a:spLocks noChangeArrowheads="1"/>
            </p:cNvSpPr>
            <p:nvPr/>
          </p:nvSpPr>
          <p:spPr bwMode="auto">
            <a:xfrm>
              <a:off x="2352" y="0"/>
              <a:ext cx="3408" cy="14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1" name="Text Box 118"/>
            <p:cNvSpPr txBox="1">
              <a:spLocks noChangeArrowheads="1"/>
            </p:cNvSpPr>
            <p:nvPr/>
          </p:nvSpPr>
          <p:spPr bwMode="auto">
            <a:xfrm>
              <a:off x="2448" y="0"/>
              <a:ext cx="3216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 b="1">
                  <a:solidFill>
                    <a:schemeClr val="accent2"/>
                  </a:solidFill>
                </a:rPr>
                <a:t>Solution Steps :</a:t>
              </a:r>
            </a:p>
            <a:p>
              <a:pPr eaLnBrk="1" hangingPunct="1"/>
              <a:r>
                <a:rPr lang="en-US" altLang="en-US" sz="1200"/>
                <a:t>Triangular face on Hp , means it is lying on Hp:</a:t>
              </a:r>
            </a:p>
            <a:p>
              <a:pPr eaLnBrk="1" hangingPunct="1"/>
              <a:r>
                <a:rPr lang="en-US" altLang="en-US" sz="1200"/>
                <a:t>1.Assume it standing on Hp.</a:t>
              </a:r>
            </a:p>
            <a:p>
              <a:pPr eaLnBrk="1" hangingPunct="1"/>
              <a:r>
                <a:rPr lang="en-US" altLang="en-US" sz="1200"/>
                <a:t>2.It’s Tv  will show True Shape of base( square)</a:t>
              </a:r>
            </a:p>
            <a:p>
              <a:pPr eaLnBrk="1" hangingPunct="1"/>
              <a:r>
                <a:rPr lang="en-US" altLang="en-US" sz="1200"/>
                <a:t>3.Draw square of 40mm sides with one side vertical Tv &amp;</a:t>
              </a:r>
            </a:p>
            <a:p>
              <a:pPr eaLnBrk="1" hangingPunct="1"/>
              <a:r>
                <a:rPr lang="en-US" altLang="en-US" sz="1200"/>
                <a:t>   taking 50 mm axis project Fv. ( a triangle)</a:t>
              </a:r>
            </a:p>
            <a:p>
              <a:pPr eaLnBrk="1" hangingPunct="1"/>
              <a:r>
                <a:rPr lang="en-US" altLang="en-US" sz="1200"/>
                <a:t>4.Name all points as shown in illustration.</a:t>
              </a:r>
            </a:p>
            <a:p>
              <a:pPr eaLnBrk="1" hangingPunct="1"/>
              <a:r>
                <a:rPr lang="en-US" altLang="en-US" sz="1200"/>
                <a:t>5.Draw 2</a:t>
              </a:r>
              <a:r>
                <a:rPr lang="en-US" altLang="en-US" sz="1200" baseline="30000"/>
                <a:t>nd</a:t>
              </a:r>
              <a:r>
                <a:rPr lang="en-US" altLang="en-US" sz="1200"/>
                <a:t> Fv in lying position I.e.o’c’d’ face on xy. And project it’s Tv.</a:t>
              </a:r>
            </a:p>
            <a:p>
              <a:pPr eaLnBrk="1" hangingPunct="1"/>
              <a:r>
                <a:rPr lang="en-US" altLang="en-US" sz="1200"/>
                <a:t>6.Make visible lines dark and hidden dotted, as per the procedure.</a:t>
              </a:r>
            </a:p>
            <a:p>
              <a:pPr eaLnBrk="1" hangingPunct="1"/>
              <a:r>
                <a:rPr lang="en-US" altLang="en-US" sz="1200"/>
                <a:t>7.Then construct remaining inclination with Vp</a:t>
              </a:r>
            </a:p>
            <a:p>
              <a:pPr eaLnBrk="1" hangingPunct="1"/>
              <a:r>
                <a:rPr lang="en-US" altLang="en-US" sz="1200"/>
                <a:t>   ( Vp containing axis ic the center line of 2</a:t>
              </a:r>
              <a:r>
                <a:rPr lang="en-US" altLang="en-US" sz="1200" baseline="30000"/>
                <a:t>nd</a:t>
              </a:r>
              <a:r>
                <a:rPr lang="en-US" altLang="en-US" sz="1200"/>
                <a:t> Tv.Make it 45</a:t>
              </a:r>
              <a:r>
                <a:rPr lang="en-US" altLang="en-US" sz="1200" baseline="30000"/>
                <a:t>0</a:t>
              </a:r>
              <a:r>
                <a:rPr lang="en-US" altLang="en-US" sz="1200"/>
                <a:t> to xy as</a:t>
              </a:r>
            </a:p>
            <a:p>
              <a:pPr eaLnBrk="1" hangingPunct="1"/>
              <a:r>
                <a:rPr lang="en-US" altLang="en-US" sz="1200"/>
                <a:t>   shown  take apex near to xy, as it is nearer to Vp) &amp; project final Fv.</a:t>
              </a:r>
            </a:p>
          </p:txBody>
        </p:sp>
      </p:grpSp>
      <p:grpSp>
        <p:nvGrpSpPr>
          <p:cNvPr id="26743" name="Group 119"/>
          <p:cNvGrpSpPr>
            <a:grpSpLocks/>
          </p:cNvGrpSpPr>
          <p:nvPr/>
        </p:nvGrpSpPr>
        <p:grpSpPr bwMode="auto">
          <a:xfrm>
            <a:off x="19050" y="5867400"/>
            <a:ext cx="5924550" cy="962025"/>
            <a:chOff x="60" y="3696"/>
            <a:chExt cx="3732" cy="606"/>
          </a:xfrm>
        </p:grpSpPr>
        <p:sp>
          <p:nvSpPr>
            <p:cNvPr id="23628" name="AutoShape 120"/>
            <p:cNvSpPr>
              <a:spLocks noChangeArrowheads="1"/>
            </p:cNvSpPr>
            <p:nvPr/>
          </p:nvSpPr>
          <p:spPr bwMode="auto">
            <a:xfrm>
              <a:off x="60" y="3726"/>
              <a:ext cx="3696" cy="576"/>
            </a:xfrm>
            <a:prstGeom prst="wedgeRoundRectCallout">
              <a:avLst>
                <a:gd name="adj1" fmla="val 19074"/>
                <a:gd name="adj2" fmla="val -76912"/>
                <a:gd name="adj3" fmla="val 16667"/>
              </a:avLst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3629" name="Text Box 121"/>
            <p:cNvSpPr txBox="1">
              <a:spLocks noChangeArrowheads="1"/>
            </p:cNvSpPr>
            <p:nvPr/>
          </p:nvSpPr>
          <p:spPr bwMode="auto">
            <a:xfrm>
              <a:off x="96" y="3696"/>
              <a:ext cx="3696" cy="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3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en-US" sz="16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For dark and dotted lines</a:t>
              </a:r>
            </a:p>
            <a:p>
              <a:pPr eaLnBrk="1" hangingPunct="1"/>
              <a:r>
                <a:rPr lang="en-US" altLang="en-US" sz="13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1.Draw proper outline of new view DARK. 2. Decide direction of an observer.</a:t>
              </a:r>
            </a:p>
            <a:p>
              <a:pPr eaLnBrk="1" hangingPunct="1"/>
              <a:r>
                <a:rPr lang="en-US" altLang="en-US" sz="13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3. Select nearest point to observer and draw all lines starting from it-dark.</a:t>
              </a:r>
            </a:p>
            <a:p>
              <a:pPr eaLnBrk="1" hangingPunct="1"/>
              <a:r>
                <a:rPr lang="en-US" altLang="en-US" sz="13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4. Select farthest point to observer and draw all lines (remaining)from it- dotted.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3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8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6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6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6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6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6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6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6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6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3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6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6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6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6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6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6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6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6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6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6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6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6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6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6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6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6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6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6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6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26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6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26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6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6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26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6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6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26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6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2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6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6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26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26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26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26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6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6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26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26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0" dur="500"/>
                                        <p:tgtEl>
                                          <p:spTgt spid="2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5" dur="500"/>
                                        <p:tgtEl>
                                          <p:spTgt spid="2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0" dur="500"/>
                                        <p:tgtEl>
                                          <p:spTgt spid="2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5" dur="500"/>
                                        <p:tgtEl>
                                          <p:spTgt spid="2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26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26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26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26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26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26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26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26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26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26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0" dur="500"/>
                                        <p:tgtEl>
                                          <p:spTgt spid="2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26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26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 nodeType="clickPar">
                      <p:stCondLst>
                        <p:cond delay="indefinite"/>
                      </p:stCondLst>
                      <p:childTnLst>
                        <p:par>
                          <p:cTn id="3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26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26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26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26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 nodeType="clickPar">
                      <p:stCondLst>
                        <p:cond delay="indefinite"/>
                      </p:stCondLst>
                      <p:childTnLst>
                        <p:par>
                          <p:cTn id="3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26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26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26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26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26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26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26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26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 nodeType="clickPar">
                      <p:stCondLst>
                        <p:cond delay="indefinite"/>
                      </p:stCondLst>
                      <p:childTnLst>
                        <p:par>
                          <p:cTn id="3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26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26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26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26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 nodeType="clickPar">
                      <p:stCondLst>
                        <p:cond delay="indefinite"/>
                      </p:stCondLst>
                      <p:childTnLst>
                        <p:par>
                          <p:cTn id="3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26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500" fill="hold"/>
                                        <p:tgtEl>
                                          <p:spTgt spid="26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 nodeType="clickPar">
                      <p:stCondLst>
                        <p:cond delay="indefinite"/>
                      </p:stCondLst>
                      <p:childTnLst>
                        <p:par>
                          <p:cTn id="3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26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26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26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26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 nodeType="clickPar">
                      <p:stCondLst>
                        <p:cond delay="indefinite"/>
                      </p:stCondLst>
                      <p:childTnLst>
                        <p:par>
                          <p:cTn id="3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26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26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500" fill="hold"/>
                                        <p:tgtEl>
                                          <p:spTgt spid="26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500" fill="hold"/>
                                        <p:tgtEl>
                                          <p:spTgt spid="26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 nodeType="clickPar">
                      <p:stCondLst>
                        <p:cond delay="indefinite"/>
                      </p:stCondLst>
                      <p:childTnLst>
                        <p:par>
                          <p:cTn id="3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 fill="hold"/>
                                        <p:tgtEl>
                                          <p:spTgt spid="26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500" fill="hold"/>
                                        <p:tgtEl>
                                          <p:spTgt spid="26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 nodeType="clickPar">
                      <p:stCondLst>
                        <p:cond delay="indefinite"/>
                      </p:stCondLst>
                      <p:childTnLst>
                        <p:par>
                          <p:cTn id="3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5" dur="500" fill="hold"/>
                                        <p:tgtEl>
                                          <p:spTgt spid="26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26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Par">
                      <p:stCondLst>
                        <p:cond delay="indefinite"/>
                      </p:stCondLst>
                      <p:childTnLst>
                        <p:par>
                          <p:cTn id="3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500" fill="hold"/>
                                        <p:tgtEl>
                                          <p:spTgt spid="26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500" fill="hold"/>
                                        <p:tgtEl>
                                          <p:spTgt spid="26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 nodeType="clickPar">
                      <p:stCondLst>
                        <p:cond delay="indefinite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7" dur="500" fill="hold"/>
                                        <p:tgtEl>
                                          <p:spTgt spid="26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8" dur="500" fill="hold"/>
                                        <p:tgtEl>
                                          <p:spTgt spid="26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 nodeType="clickPar">
                      <p:stCondLst>
                        <p:cond delay="indefinite"/>
                      </p:stCondLst>
                      <p:childTnLst>
                        <p:par>
                          <p:cTn id="4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26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26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Par">
                      <p:stCondLst>
                        <p:cond delay="indefinite"/>
                      </p:stCondLst>
                      <p:childTnLst>
                        <p:par>
                          <p:cTn id="4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9" dur="500" fill="hold"/>
                                        <p:tgtEl>
                                          <p:spTgt spid="26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0" dur="500" fill="hold"/>
                                        <p:tgtEl>
                                          <p:spTgt spid="26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 nodeType="clickPar">
                      <p:stCondLst>
                        <p:cond delay="indefinite"/>
                      </p:stCondLst>
                      <p:childTnLst>
                        <p:par>
                          <p:cTn id="4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5" dur="500" fill="hold"/>
                                        <p:tgtEl>
                                          <p:spTgt spid="26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6" dur="500" fill="hold"/>
                                        <p:tgtEl>
                                          <p:spTgt spid="26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 nodeType="clickPar">
                      <p:stCondLst>
                        <p:cond delay="indefinite"/>
                      </p:stCondLst>
                      <p:childTnLst>
                        <p:par>
                          <p:cTn id="4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1" dur="500" fill="hold"/>
                                        <p:tgtEl>
                                          <p:spTgt spid="26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2" dur="500" fill="hold"/>
                                        <p:tgtEl>
                                          <p:spTgt spid="26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 nodeType="clickPar">
                      <p:stCondLst>
                        <p:cond delay="indefinite"/>
                      </p:stCondLst>
                      <p:childTnLst>
                        <p:par>
                          <p:cTn id="4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37" dur="500"/>
                                        <p:tgtEl>
                                          <p:spTgt spid="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 nodeType="clickPar">
                      <p:stCondLst>
                        <p:cond delay="indefinite"/>
                      </p:stCondLst>
                      <p:childTnLst>
                        <p:par>
                          <p:cTn id="4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26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26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500" fill="hold"/>
                                        <p:tgtEl>
                                          <p:spTgt spid="26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26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 nodeType="clickPar">
                      <p:stCondLst>
                        <p:cond delay="indefinite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0" dur="500"/>
                                        <p:tgtEl>
                                          <p:spTgt spid="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 nodeType="clickPar">
                      <p:stCondLst>
                        <p:cond delay="indefinite"/>
                      </p:stCondLst>
                      <p:childTnLst>
                        <p:par>
                          <p:cTn id="4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5" dur="500"/>
                                        <p:tgtEl>
                                          <p:spTgt spid="2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 nodeType="clickPar">
                      <p:stCondLst>
                        <p:cond delay="indefinite"/>
                      </p:stCondLst>
                      <p:childTnLst>
                        <p:par>
                          <p:cTn id="4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0" dur="500"/>
                                        <p:tgtEl>
                                          <p:spTgt spid="2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 nodeType="clickPar">
                      <p:stCondLst>
                        <p:cond delay="indefinite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26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26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7" dur="500" fill="hold"/>
                                        <p:tgtEl>
                                          <p:spTgt spid="26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500" fill="hold"/>
                                        <p:tgtEl>
                                          <p:spTgt spid="26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 nodeType="clickPar">
                      <p:stCondLst>
                        <p:cond delay="indefinite"/>
                      </p:stCondLst>
                      <p:childTnLst>
                        <p:par>
                          <p:cTn id="4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3" dur="500"/>
                                        <p:tgtEl>
                                          <p:spTgt spid="2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 nodeType="clickPar">
                      <p:stCondLst>
                        <p:cond delay="indefinite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8" dur="500" fill="hold"/>
                                        <p:tgtEl>
                                          <p:spTgt spid="26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500" fill="hold"/>
                                        <p:tgtEl>
                                          <p:spTgt spid="26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00" fill="hold"/>
                                        <p:tgtEl>
                                          <p:spTgt spid="26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1" dur="500" fill="hold"/>
                                        <p:tgtEl>
                                          <p:spTgt spid="26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28" grpId="0" autoUpdateAnimBg="0"/>
      <p:bldP spid="26631" grpId="0" autoUpdateAnimBg="0"/>
      <p:bldP spid="26632" grpId="0" autoUpdateAnimBg="0"/>
      <p:bldP spid="26633" grpId="0" autoUpdateAnimBg="0"/>
      <p:bldP spid="26634" grpId="0" autoUpdateAnimBg="0"/>
      <p:bldP spid="26635" grpId="0" autoUpdateAnimBg="0"/>
      <p:bldP spid="26645" grpId="0" autoUpdateAnimBg="0"/>
      <p:bldP spid="26646" grpId="0" autoUpdateAnimBg="0"/>
      <p:bldP spid="26647" grpId="0" autoUpdateAnimBg="0"/>
      <p:bldP spid="26648" grpId="0" autoUpdateAnimBg="0"/>
      <p:bldP spid="26649" grpId="0" autoUpdateAnimBg="0"/>
      <p:bldP spid="26675" grpId="0" autoUpdateAnimBg="0"/>
      <p:bldP spid="26676" grpId="0" autoUpdateAnimBg="0"/>
      <p:bldP spid="26677" grpId="0" autoUpdateAnimBg="0"/>
      <p:bldP spid="26678" grpId="0" autoUpdateAnimBg="0"/>
      <p:bldP spid="26679" grpId="0" autoUpdateAnimBg="0"/>
      <p:bldP spid="26685" grpId="0" animBg="1"/>
      <p:bldP spid="26686" grpId="0" animBg="1"/>
      <p:bldP spid="26687" grpId="0" animBg="1"/>
      <p:bldP spid="26688" grpId="0" animBg="1"/>
      <p:bldP spid="26689" grpId="0" animBg="1"/>
      <p:bldP spid="26696" grpId="0" autoUpdateAnimBg="0"/>
      <p:bldP spid="26697" grpId="0" autoUpdateAnimBg="0"/>
      <p:bldP spid="26698" grpId="0" autoUpdateAnimBg="0"/>
      <p:bldP spid="26699" grpId="0" autoUpdateAnimBg="0"/>
      <p:bldP spid="26700" grpId="0" autoUpdateAnimBg="0"/>
      <p:bldP spid="26735" grpId="0" autoUpdateAnimBg="0"/>
      <p:bldP spid="2673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3962400" cy="2362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962400" y="0"/>
            <a:ext cx="5181600" cy="2362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6019800" y="4410075"/>
            <a:ext cx="490538" cy="1289050"/>
            <a:chOff x="336" y="2976"/>
            <a:chExt cx="309" cy="812"/>
          </a:xfrm>
        </p:grpSpPr>
        <p:sp>
          <p:nvSpPr>
            <p:cNvPr id="25744" name="Oval 5"/>
            <p:cNvSpPr>
              <a:spLocks noChangeArrowheads="1"/>
            </p:cNvSpPr>
            <p:nvPr/>
          </p:nvSpPr>
          <p:spPr bwMode="auto">
            <a:xfrm rot="1920323">
              <a:off x="336" y="2976"/>
              <a:ext cx="240" cy="7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45" name="Rectangle 6"/>
            <p:cNvSpPr>
              <a:spLocks noChangeArrowheads="1"/>
            </p:cNvSpPr>
            <p:nvPr/>
          </p:nvSpPr>
          <p:spPr bwMode="auto">
            <a:xfrm rot="-3440224">
              <a:off x="165" y="3308"/>
              <a:ext cx="76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0727" name="Oval 7"/>
          <p:cNvSpPr>
            <a:spLocks noChangeArrowheads="1"/>
          </p:cNvSpPr>
          <p:nvPr/>
        </p:nvSpPr>
        <p:spPr bwMode="auto">
          <a:xfrm rot="1920323">
            <a:off x="7251700" y="5459413"/>
            <a:ext cx="381000" cy="1165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30728" name="Group 8"/>
          <p:cNvGrpSpPr>
            <a:grpSpLocks/>
          </p:cNvGrpSpPr>
          <p:nvPr/>
        </p:nvGrpSpPr>
        <p:grpSpPr bwMode="auto">
          <a:xfrm>
            <a:off x="3214688" y="4087813"/>
            <a:ext cx="1812925" cy="2846387"/>
            <a:chOff x="2265" y="2397"/>
            <a:chExt cx="1142" cy="1793"/>
          </a:xfrm>
        </p:grpSpPr>
        <p:sp>
          <p:nvSpPr>
            <p:cNvPr id="25741" name="Rectangle 9"/>
            <p:cNvSpPr>
              <a:spLocks noChangeArrowheads="1"/>
            </p:cNvSpPr>
            <p:nvPr/>
          </p:nvSpPr>
          <p:spPr bwMode="auto">
            <a:xfrm rot="-2990154">
              <a:off x="2414" y="2755"/>
              <a:ext cx="768" cy="105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42" name="Text Box 10"/>
            <p:cNvSpPr txBox="1">
              <a:spLocks noChangeArrowheads="1"/>
            </p:cNvSpPr>
            <p:nvPr/>
          </p:nvSpPr>
          <p:spPr bwMode="auto">
            <a:xfrm rot="-2990154">
              <a:off x="1871" y="2791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            b d            c</a:t>
              </a:r>
              <a:r>
                <a:rPr lang="en-US" altLang="en-US" sz="240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5743" name="Text Box 11"/>
            <p:cNvSpPr txBox="1">
              <a:spLocks noChangeArrowheads="1"/>
            </p:cNvSpPr>
            <p:nvPr/>
          </p:nvSpPr>
          <p:spPr bwMode="auto">
            <a:xfrm rot="-2990154">
              <a:off x="2719" y="3502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1           2 4             3</a:t>
              </a:r>
              <a:r>
                <a:rPr lang="en-US" altLang="en-US" sz="2400"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30732" name="Group 12"/>
          <p:cNvGrpSpPr>
            <a:grpSpLocks/>
          </p:cNvGrpSpPr>
          <p:nvPr/>
        </p:nvGrpSpPr>
        <p:grpSpPr bwMode="auto">
          <a:xfrm>
            <a:off x="3060700" y="2974975"/>
            <a:ext cx="762000" cy="1219200"/>
            <a:chOff x="3888" y="1680"/>
            <a:chExt cx="480" cy="768"/>
          </a:xfrm>
        </p:grpSpPr>
        <p:sp>
          <p:nvSpPr>
            <p:cNvPr id="25739" name="Oval 13"/>
            <p:cNvSpPr>
              <a:spLocks noChangeArrowheads="1"/>
            </p:cNvSpPr>
            <p:nvPr/>
          </p:nvSpPr>
          <p:spPr bwMode="auto">
            <a:xfrm>
              <a:off x="3888" y="1680"/>
              <a:ext cx="480" cy="76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40" name="Rectangle 14"/>
            <p:cNvSpPr>
              <a:spLocks noChangeArrowheads="1"/>
            </p:cNvSpPr>
            <p:nvPr/>
          </p:nvSpPr>
          <p:spPr bwMode="auto">
            <a:xfrm>
              <a:off x="4128" y="1680"/>
              <a:ext cx="240" cy="7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0735" name="Line 15"/>
          <p:cNvSpPr>
            <a:spLocks noChangeShapeType="1"/>
          </p:cNvSpPr>
          <p:nvPr/>
        </p:nvSpPr>
        <p:spPr bwMode="auto">
          <a:xfrm>
            <a:off x="1066800" y="4473575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762000" y="40925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7696200" y="41687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0738" name="Oval 18"/>
          <p:cNvSpPr>
            <a:spLocks noChangeArrowheads="1"/>
          </p:cNvSpPr>
          <p:nvPr/>
        </p:nvSpPr>
        <p:spPr bwMode="auto">
          <a:xfrm>
            <a:off x="1447800" y="2949575"/>
            <a:ext cx="1219200" cy="1219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39" name="Line 19"/>
          <p:cNvSpPr>
            <a:spLocks noChangeShapeType="1"/>
          </p:cNvSpPr>
          <p:nvPr/>
        </p:nvSpPr>
        <p:spPr bwMode="auto">
          <a:xfrm>
            <a:off x="1447800" y="3559175"/>
            <a:ext cx="0" cy="28194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0" name="Line 20"/>
          <p:cNvSpPr>
            <a:spLocks noChangeShapeType="1"/>
          </p:cNvSpPr>
          <p:nvPr/>
        </p:nvSpPr>
        <p:spPr bwMode="auto">
          <a:xfrm>
            <a:off x="2667000" y="3482975"/>
            <a:ext cx="0" cy="28956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1447800" y="4473575"/>
            <a:ext cx="1219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42" name="Line 22"/>
          <p:cNvSpPr>
            <a:spLocks noChangeShapeType="1"/>
          </p:cNvSpPr>
          <p:nvPr/>
        </p:nvSpPr>
        <p:spPr bwMode="auto">
          <a:xfrm>
            <a:off x="2044700" y="4321175"/>
            <a:ext cx="0" cy="2057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3" name="Line 23"/>
          <p:cNvSpPr>
            <a:spLocks noChangeShapeType="1"/>
          </p:cNvSpPr>
          <p:nvPr/>
        </p:nvSpPr>
        <p:spPr bwMode="auto">
          <a:xfrm>
            <a:off x="1447800" y="3571875"/>
            <a:ext cx="12192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4" name="Line 24"/>
          <p:cNvSpPr>
            <a:spLocks noChangeShapeType="1"/>
          </p:cNvSpPr>
          <p:nvPr/>
        </p:nvSpPr>
        <p:spPr bwMode="auto">
          <a:xfrm flipV="1">
            <a:off x="2044700" y="2949575"/>
            <a:ext cx="0" cy="12192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5" name="Text Box 25"/>
          <p:cNvSpPr txBox="1">
            <a:spLocks noChangeArrowheads="1"/>
          </p:cNvSpPr>
          <p:nvPr/>
        </p:nvSpPr>
        <p:spPr bwMode="auto">
          <a:xfrm>
            <a:off x="1219200" y="4270375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            b d            c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746" name="Text Box 26"/>
          <p:cNvSpPr txBox="1">
            <a:spLocks noChangeArrowheads="1"/>
          </p:cNvSpPr>
          <p:nvPr/>
        </p:nvSpPr>
        <p:spPr bwMode="auto">
          <a:xfrm>
            <a:off x="1219200" y="5997575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1           2 4             3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0747" name="Group 27"/>
          <p:cNvGrpSpPr>
            <a:grpSpLocks/>
          </p:cNvGrpSpPr>
          <p:nvPr/>
        </p:nvGrpSpPr>
        <p:grpSpPr bwMode="auto">
          <a:xfrm>
            <a:off x="1039813" y="2682875"/>
            <a:ext cx="1933575" cy="1727200"/>
            <a:chOff x="895" y="1512"/>
            <a:chExt cx="1218" cy="1088"/>
          </a:xfrm>
        </p:grpSpPr>
        <p:grpSp>
          <p:nvGrpSpPr>
            <p:cNvPr id="25730" name="Group 28"/>
            <p:cNvGrpSpPr>
              <a:grpSpLocks/>
            </p:cNvGrpSpPr>
            <p:nvPr/>
          </p:nvGrpSpPr>
          <p:grpSpPr bwMode="auto">
            <a:xfrm>
              <a:off x="998" y="1512"/>
              <a:ext cx="1097" cy="1080"/>
              <a:chOff x="998" y="1512"/>
              <a:chExt cx="1097" cy="1080"/>
            </a:xfrm>
          </p:grpSpPr>
          <p:sp>
            <p:nvSpPr>
              <p:cNvPr id="25735" name="Text Box 29"/>
              <p:cNvSpPr txBox="1">
                <a:spLocks noChangeArrowheads="1"/>
              </p:cNvSpPr>
              <p:nvPr/>
            </p:nvSpPr>
            <p:spPr bwMode="auto">
              <a:xfrm>
                <a:off x="998" y="1975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a’</a:t>
                </a:r>
              </a:p>
            </p:txBody>
          </p:sp>
          <p:sp>
            <p:nvSpPr>
              <p:cNvPr id="25736" name="Text Box 30"/>
              <p:cNvSpPr txBox="1">
                <a:spLocks noChangeArrowheads="1"/>
              </p:cNvSpPr>
              <p:nvPr/>
            </p:nvSpPr>
            <p:spPr bwMode="auto">
              <a:xfrm>
                <a:off x="1488" y="2400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b’</a:t>
                </a:r>
              </a:p>
            </p:txBody>
          </p:sp>
          <p:sp>
            <p:nvSpPr>
              <p:cNvPr id="25737" name="Text Box 31"/>
              <p:cNvSpPr txBox="1">
                <a:spLocks noChangeArrowheads="1"/>
              </p:cNvSpPr>
              <p:nvPr/>
            </p:nvSpPr>
            <p:spPr bwMode="auto">
              <a:xfrm>
                <a:off x="1892" y="1968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c’</a:t>
                </a:r>
              </a:p>
            </p:txBody>
          </p:sp>
          <p:sp>
            <p:nvSpPr>
              <p:cNvPr id="25738" name="Text Box 32"/>
              <p:cNvSpPr txBox="1">
                <a:spLocks noChangeArrowheads="1"/>
              </p:cNvSpPr>
              <p:nvPr/>
            </p:nvSpPr>
            <p:spPr bwMode="auto">
              <a:xfrm>
                <a:off x="1440" y="1512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d’</a:t>
                </a:r>
              </a:p>
            </p:txBody>
          </p:sp>
        </p:grpSp>
        <p:sp>
          <p:nvSpPr>
            <p:cNvPr id="25731" name="Text Box 33"/>
            <p:cNvSpPr txBox="1">
              <a:spLocks noChangeArrowheads="1"/>
            </p:cNvSpPr>
            <p:nvPr/>
          </p:nvSpPr>
          <p:spPr bwMode="auto">
            <a:xfrm>
              <a:off x="895" y="1984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1’</a:t>
              </a:r>
            </a:p>
          </p:txBody>
        </p:sp>
        <p:sp>
          <p:nvSpPr>
            <p:cNvPr id="25732" name="Text Box 34"/>
            <p:cNvSpPr txBox="1">
              <a:spLocks noChangeArrowheads="1"/>
            </p:cNvSpPr>
            <p:nvPr/>
          </p:nvSpPr>
          <p:spPr bwMode="auto">
            <a:xfrm>
              <a:off x="1376" y="2408"/>
              <a:ext cx="21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2’</a:t>
              </a:r>
            </a:p>
          </p:txBody>
        </p:sp>
        <p:sp>
          <p:nvSpPr>
            <p:cNvPr id="25733" name="Text Box 35"/>
            <p:cNvSpPr txBox="1">
              <a:spLocks noChangeArrowheads="1"/>
            </p:cNvSpPr>
            <p:nvPr/>
          </p:nvSpPr>
          <p:spPr bwMode="auto">
            <a:xfrm>
              <a:off x="1904" y="1872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3’</a:t>
              </a:r>
            </a:p>
          </p:txBody>
        </p:sp>
        <p:sp>
          <p:nvSpPr>
            <p:cNvPr id="25734" name="Text Box 36"/>
            <p:cNvSpPr txBox="1">
              <a:spLocks noChangeArrowheads="1"/>
            </p:cNvSpPr>
            <p:nvPr/>
          </p:nvSpPr>
          <p:spPr bwMode="auto">
            <a:xfrm>
              <a:off x="1360" y="1520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4’</a:t>
              </a:r>
            </a:p>
          </p:txBody>
        </p:sp>
      </p:grpSp>
      <p:sp>
        <p:nvSpPr>
          <p:cNvPr id="30757" name="Line 37"/>
          <p:cNvSpPr>
            <a:spLocks noChangeShapeType="1"/>
          </p:cNvSpPr>
          <p:nvPr/>
        </p:nvSpPr>
        <p:spPr bwMode="auto">
          <a:xfrm rot="-2990154">
            <a:off x="4081463" y="4500563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8" name="Line 38"/>
          <p:cNvSpPr>
            <a:spLocks noChangeShapeType="1"/>
          </p:cNvSpPr>
          <p:nvPr/>
        </p:nvSpPr>
        <p:spPr bwMode="auto">
          <a:xfrm flipH="1" flipV="1">
            <a:off x="2819400" y="4473575"/>
            <a:ext cx="914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9" name="Text Box 39"/>
          <p:cNvSpPr txBox="1">
            <a:spLocks noChangeArrowheads="1"/>
          </p:cNvSpPr>
          <p:nvPr/>
        </p:nvSpPr>
        <p:spPr bwMode="auto">
          <a:xfrm>
            <a:off x="2943225" y="4433888"/>
            <a:ext cx="41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45</a:t>
            </a:r>
            <a:r>
              <a:rPr lang="en-US" altLang="en-US" sz="1400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760" name="Line 40"/>
          <p:cNvSpPr>
            <a:spLocks noChangeShapeType="1"/>
          </p:cNvSpPr>
          <p:nvPr/>
        </p:nvSpPr>
        <p:spPr bwMode="auto">
          <a:xfrm flipV="1">
            <a:off x="3048000" y="2949575"/>
            <a:ext cx="0" cy="24384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1" name="Line 41"/>
          <p:cNvSpPr>
            <a:spLocks noChangeShapeType="1"/>
          </p:cNvSpPr>
          <p:nvPr/>
        </p:nvSpPr>
        <p:spPr bwMode="auto">
          <a:xfrm flipV="1">
            <a:off x="3429000" y="2949575"/>
            <a:ext cx="0" cy="19812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2" name="Line 42"/>
          <p:cNvSpPr>
            <a:spLocks noChangeShapeType="1"/>
          </p:cNvSpPr>
          <p:nvPr/>
        </p:nvSpPr>
        <p:spPr bwMode="auto">
          <a:xfrm flipV="1">
            <a:off x="3810000" y="2949575"/>
            <a:ext cx="0" cy="15240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3" name="Line 43"/>
          <p:cNvSpPr>
            <a:spLocks noChangeShapeType="1"/>
          </p:cNvSpPr>
          <p:nvPr/>
        </p:nvSpPr>
        <p:spPr bwMode="auto">
          <a:xfrm flipV="1">
            <a:off x="4343400" y="2949575"/>
            <a:ext cx="0" cy="35052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4" name="Line 44"/>
          <p:cNvSpPr>
            <a:spLocks noChangeShapeType="1"/>
          </p:cNvSpPr>
          <p:nvPr/>
        </p:nvSpPr>
        <p:spPr bwMode="auto">
          <a:xfrm flipV="1">
            <a:off x="4724400" y="2949575"/>
            <a:ext cx="0" cy="30480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5" name="Line 45"/>
          <p:cNvSpPr>
            <a:spLocks noChangeShapeType="1"/>
          </p:cNvSpPr>
          <p:nvPr/>
        </p:nvSpPr>
        <p:spPr bwMode="auto">
          <a:xfrm flipV="1">
            <a:off x="5105400" y="2949575"/>
            <a:ext cx="0" cy="25908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6" name="Line 46"/>
          <p:cNvSpPr>
            <a:spLocks noChangeShapeType="1"/>
          </p:cNvSpPr>
          <p:nvPr/>
        </p:nvSpPr>
        <p:spPr bwMode="auto">
          <a:xfrm>
            <a:off x="2057400" y="2949575"/>
            <a:ext cx="32004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0767" name="Group 47"/>
          <p:cNvGrpSpPr>
            <a:grpSpLocks/>
          </p:cNvGrpSpPr>
          <p:nvPr/>
        </p:nvGrpSpPr>
        <p:grpSpPr bwMode="auto">
          <a:xfrm>
            <a:off x="2971800" y="2949575"/>
            <a:ext cx="838200" cy="1219200"/>
            <a:chOff x="2112" y="1680"/>
            <a:chExt cx="528" cy="768"/>
          </a:xfrm>
        </p:grpSpPr>
        <p:sp>
          <p:nvSpPr>
            <p:cNvPr id="25726" name="Oval 48"/>
            <p:cNvSpPr>
              <a:spLocks noChangeArrowheads="1"/>
            </p:cNvSpPr>
            <p:nvPr/>
          </p:nvSpPr>
          <p:spPr bwMode="auto">
            <a:xfrm>
              <a:off x="2400" y="168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27" name="Oval 49"/>
            <p:cNvSpPr>
              <a:spLocks noChangeArrowheads="1"/>
            </p:cNvSpPr>
            <p:nvPr/>
          </p:nvSpPr>
          <p:spPr bwMode="auto">
            <a:xfrm>
              <a:off x="2352" y="240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28" name="Oval 50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29" name="Oval 51"/>
            <p:cNvSpPr>
              <a:spLocks noChangeArrowheads="1"/>
            </p:cNvSpPr>
            <p:nvPr/>
          </p:nvSpPr>
          <p:spPr bwMode="auto">
            <a:xfrm>
              <a:off x="2592" y="20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0772" name="Group 52"/>
          <p:cNvGrpSpPr>
            <a:grpSpLocks/>
          </p:cNvGrpSpPr>
          <p:nvPr/>
        </p:nvGrpSpPr>
        <p:grpSpPr bwMode="auto">
          <a:xfrm>
            <a:off x="4279900" y="2924175"/>
            <a:ext cx="876300" cy="1295400"/>
            <a:chOff x="2936" y="1664"/>
            <a:chExt cx="552" cy="816"/>
          </a:xfrm>
        </p:grpSpPr>
        <p:sp>
          <p:nvSpPr>
            <p:cNvPr id="25722" name="Oval 53"/>
            <p:cNvSpPr>
              <a:spLocks noChangeArrowheads="1"/>
            </p:cNvSpPr>
            <p:nvPr/>
          </p:nvSpPr>
          <p:spPr bwMode="auto">
            <a:xfrm>
              <a:off x="3184" y="16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23" name="Oval 54"/>
            <p:cNvSpPr>
              <a:spLocks noChangeArrowheads="1"/>
            </p:cNvSpPr>
            <p:nvPr/>
          </p:nvSpPr>
          <p:spPr bwMode="auto">
            <a:xfrm>
              <a:off x="2936" y="20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24" name="Oval 55"/>
            <p:cNvSpPr>
              <a:spLocks noChangeArrowheads="1"/>
            </p:cNvSpPr>
            <p:nvPr/>
          </p:nvSpPr>
          <p:spPr bwMode="auto">
            <a:xfrm>
              <a:off x="3440" y="20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725" name="Oval 56"/>
            <p:cNvSpPr>
              <a:spLocks noChangeArrowheads="1"/>
            </p:cNvSpPr>
            <p:nvPr/>
          </p:nvSpPr>
          <p:spPr bwMode="auto">
            <a:xfrm>
              <a:off x="3176" y="24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0777" name="Group 57"/>
          <p:cNvGrpSpPr>
            <a:grpSpLocks/>
          </p:cNvGrpSpPr>
          <p:nvPr/>
        </p:nvGrpSpPr>
        <p:grpSpPr bwMode="auto">
          <a:xfrm>
            <a:off x="4122738" y="2720975"/>
            <a:ext cx="1296987" cy="1741488"/>
            <a:chOff x="1992" y="1495"/>
            <a:chExt cx="817" cy="1097"/>
          </a:xfrm>
        </p:grpSpPr>
        <p:sp>
          <p:nvSpPr>
            <p:cNvPr id="25718" name="Text Box 58"/>
            <p:cNvSpPr txBox="1">
              <a:spLocks noChangeArrowheads="1"/>
            </p:cNvSpPr>
            <p:nvPr/>
          </p:nvSpPr>
          <p:spPr bwMode="auto">
            <a:xfrm>
              <a:off x="2342" y="1495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4’</a:t>
              </a:r>
              <a:endParaRPr lang="en-US" altLang="en-US" sz="1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5719" name="Text Box 59"/>
            <p:cNvSpPr txBox="1">
              <a:spLocks noChangeArrowheads="1"/>
            </p:cNvSpPr>
            <p:nvPr/>
          </p:nvSpPr>
          <p:spPr bwMode="auto">
            <a:xfrm>
              <a:off x="2600" y="1920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3’</a:t>
              </a:r>
            </a:p>
          </p:txBody>
        </p:sp>
        <p:sp>
          <p:nvSpPr>
            <p:cNvPr id="25720" name="Text Box 60"/>
            <p:cNvSpPr txBox="1">
              <a:spLocks noChangeArrowheads="1"/>
            </p:cNvSpPr>
            <p:nvPr/>
          </p:nvSpPr>
          <p:spPr bwMode="auto">
            <a:xfrm>
              <a:off x="2304" y="2400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2’</a:t>
              </a:r>
            </a:p>
          </p:txBody>
        </p:sp>
        <p:sp>
          <p:nvSpPr>
            <p:cNvPr id="25721" name="Text Box 61"/>
            <p:cNvSpPr txBox="1">
              <a:spLocks noChangeArrowheads="1"/>
            </p:cNvSpPr>
            <p:nvPr/>
          </p:nvSpPr>
          <p:spPr bwMode="auto">
            <a:xfrm>
              <a:off x="1992" y="1968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1’</a:t>
              </a:r>
            </a:p>
          </p:txBody>
        </p:sp>
      </p:grpSp>
      <p:sp>
        <p:nvSpPr>
          <p:cNvPr id="30782" name="Line 62"/>
          <p:cNvSpPr>
            <a:spLocks noChangeShapeType="1"/>
          </p:cNvSpPr>
          <p:nvPr/>
        </p:nvSpPr>
        <p:spPr bwMode="auto">
          <a:xfrm flipV="1">
            <a:off x="4114800" y="653097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83" name="Oval 63"/>
          <p:cNvSpPr>
            <a:spLocks noChangeArrowheads="1"/>
          </p:cNvSpPr>
          <p:nvPr/>
        </p:nvSpPr>
        <p:spPr bwMode="auto">
          <a:xfrm>
            <a:off x="4343400" y="2949575"/>
            <a:ext cx="762000" cy="1219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84" name="Line 64"/>
          <p:cNvSpPr>
            <a:spLocks noChangeShapeType="1"/>
          </p:cNvSpPr>
          <p:nvPr/>
        </p:nvSpPr>
        <p:spPr bwMode="auto">
          <a:xfrm>
            <a:off x="2667000" y="3559175"/>
            <a:ext cx="25146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85" name="Line 65"/>
          <p:cNvSpPr>
            <a:spLocks noChangeShapeType="1"/>
          </p:cNvSpPr>
          <p:nvPr/>
        </p:nvSpPr>
        <p:spPr bwMode="auto">
          <a:xfrm>
            <a:off x="2057400" y="4168775"/>
            <a:ext cx="31242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0786" name="Group 66"/>
          <p:cNvGrpSpPr>
            <a:grpSpLocks/>
          </p:cNvGrpSpPr>
          <p:nvPr/>
        </p:nvGrpSpPr>
        <p:grpSpPr bwMode="auto">
          <a:xfrm>
            <a:off x="2794000" y="2682875"/>
            <a:ext cx="1287463" cy="1741488"/>
            <a:chOff x="1992" y="1495"/>
            <a:chExt cx="811" cy="1097"/>
          </a:xfrm>
        </p:grpSpPr>
        <p:sp>
          <p:nvSpPr>
            <p:cNvPr id="25714" name="Text Box 67"/>
            <p:cNvSpPr txBox="1">
              <a:spLocks noChangeArrowheads="1"/>
            </p:cNvSpPr>
            <p:nvPr/>
          </p:nvSpPr>
          <p:spPr bwMode="auto">
            <a:xfrm>
              <a:off x="2342" y="1495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d’</a:t>
              </a:r>
              <a:endParaRPr lang="en-US" altLang="en-US" sz="1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5715" name="Text Box 68"/>
            <p:cNvSpPr txBox="1">
              <a:spLocks noChangeArrowheads="1"/>
            </p:cNvSpPr>
            <p:nvPr/>
          </p:nvSpPr>
          <p:spPr bwMode="auto">
            <a:xfrm>
              <a:off x="2600" y="1920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c’</a:t>
              </a:r>
            </a:p>
          </p:txBody>
        </p:sp>
        <p:sp>
          <p:nvSpPr>
            <p:cNvPr id="25716" name="Text Box 69"/>
            <p:cNvSpPr txBox="1">
              <a:spLocks noChangeArrowheads="1"/>
            </p:cNvSpPr>
            <p:nvPr/>
          </p:nvSpPr>
          <p:spPr bwMode="auto">
            <a:xfrm>
              <a:off x="2304" y="2400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b’</a:t>
              </a:r>
            </a:p>
          </p:txBody>
        </p:sp>
        <p:sp>
          <p:nvSpPr>
            <p:cNvPr id="25717" name="Text Box 70"/>
            <p:cNvSpPr txBox="1">
              <a:spLocks noChangeArrowheads="1"/>
            </p:cNvSpPr>
            <p:nvPr/>
          </p:nvSpPr>
          <p:spPr bwMode="auto">
            <a:xfrm>
              <a:off x="1992" y="1968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a’</a:t>
              </a:r>
            </a:p>
          </p:txBody>
        </p:sp>
      </p:grpSp>
      <p:sp>
        <p:nvSpPr>
          <p:cNvPr id="30791" name="Line 71"/>
          <p:cNvSpPr>
            <a:spLocks noChangeShapeType="1"/>
          </p:cNvSpPr>
          <p:nvPr/>
        </p:nvSpPr>
        <p:spPr bwMode="auto">
          <a:xfrm flipH="1">
            <a:off x="3429000" y="2949575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92" name="Line 72"/>
          <p:cNvSpPr>
            <a:spLocks noChangeShapeType="1"/>
          </p:cNvSpPr>
          <p:nvPr/>
        </p:nvSpPr>
        <p:spPr bwMode="auto">
          <a:xfrm>
            <a:off x="3429000" y="4168775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93" name="Arc 73"/>
          <p:cNvSpPr>
            <a:spLocks/>
          </p:cNvSpPr>
          <p:nvPr/>
        </p:nvSpPr>
        <p:spPr bwMode="auto">
          <a:xfrm rot="236806" flipH="1">
            <a:off x="3124200" y="2949575"/>
            <a:ext cx="685800" cy="1244600"/>
          </a:xfrm>
          <a:custGeom>
            <a:avLst/>
            <a:gdLst>
              <a:gd name="T0" fmla="*/ 2147483646 w 21600"/>
              <a:gd name="T1" fmla="*/ 2147483646 h 36942"/>
              <a:gd name="T2" fmla="*/ 2147483646 w 21600"/>
              <a:gd name="T3" fmla="*/ 0 h 36942"/>
              <a:gd name="T4" fmla="*/ 2147483646 w 21600"/>
              <a:gd name="T5" fmla="*/ 2147483646 h 369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36942" fill="none" extrusionOk="0">
                <a:moveTo>
                  <a:pt x="10107" y="36942"/>
                </a:moveTo>
                <a:cubicBezTo>
                  <a:pt x="3817" y="32989"/>
                  <a:pt x="0" y="26081"/>
                  <a:pt x="0" y="18653"/>
                </a:cubicBezTo>
                <a:cubicBezTo>
                  <a:pt x="0" y="10974"/>
                  <a:pt x="4076" y="3872"/>
                  <a:pt x="10708" y="0"/>
                </a:cubicBezTo>
              </a:path>
              <a:path w="21600" h="36942" stroke="0" extrusionOk="0">
                <a:moveTo>
                  <a:pt x="10107" y="36942"/>
                </a:moveTo>
                <a:cubicBezTo>
                  <a:pt x="3817" y="32989"/>
                  <a:pt x="0" y="26081"/>
                  <a:pt x="0" y="18653"/>
                </a:cubicBezTo>
                <a:cubicBezTo>
                  <a:pt x="0" y="10974"/>
                  <a:pt x="4076" y="3872"/>
                  <a:pt x="10708" y="0"/>
                </a:cubicBezTo>
                <a:lnTo>
                  <a:pt x="21600" y="18653"/>
                </a:lnTo>
                <a:lnTo>
                  <a:pt x="10107" y="3694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0794" name="Group 74"/>
          <p:cNvGrpSpPr>
            <a:grpSpLocks/>
          </p:cNvGrpSpPr>
          <p:nvPr/>
        </p:nvGrpSpPr>
        <p:grpSpPr bwMode="auto">
          <a:xfrm rot="908840">
            <a:off x="5486400" y="2568575"/>
            <a:ext cx="2667000" cy="1905000"/>
            <a:chOff x="3552" y="1440"/>
            <a:chExt cx="1680" cy="1200"/>
          </a:xfrm>
        </p:grpSpPr>
        <p:grpSp>
          <p:nvGrpSpPr>
            <p:cNvPr id="25684" name="Group 75"/>
            <p:cNvGrpSpPr>
              <a:grpSpLocks/>
            </p:cNvGrpSpPr>
            <p:nvPr/>
          </p:nvGrpSpPr>
          <p:grpSpPr bwMode="auto">
            <a:xfrm rot="-2180497">
              <a:off x="3578" y="1440"/>
              <a:ext cx="1654" cy="1121"/>
              <a:chOff x="3434" y="1608"/>
              <a:chExt cx="1654" cy="1121"/>
            </a:xfrm>
          </p:grpSpPr>
          <p:grpSp>
            <p:nvGrpSpPr>
              <p:cNvPr id="25686" name="Group 76"/>
              <p:cNvGrpSpPr>
                <a:grpSpLocks/>
              </p:cNvGrpSpPr>
              <p:nvPr/>
            </p:nvGrpSpPr>
            <p:grpSpPr bwMode="auto">
              <a:xfrm>
                <a:off x="3602" y="1792"/>
                <a:ext cx="480" cy="768"/>
                <a:chOff x="3888" y="1680"/>
                <a:chExt cx="480" cy="768"/>
              </a:xfrm>
            </p:grpSpPr>
            <p:sp>
              <p:nvSpPr>
                <p:cNvPr id="25712" name="Oval 77"/>
                <p:cNvSpPr>
                  <a:spLocks noChangeArrowheads="1"/>
                </p:cNvSpPr>
                <p:nvPr/>
              </p:nvSpPr>
              <p:spPr bwMode="auto">
                <a:xfrm>
                  <a:off x="3888" y="1680"/>
                  <a:ext cx="480" cy="76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5713" name="Rectangle 78"/>
                <p:cNvSpPr>
                  <a:spLocks noChangeArrowheads="1"/>
                </p:cNvSpPr>
                <p:nvPr/>
              </p:nvSpPr>
              <p:spPr bwMode="auto">
                <a:xfrm>
                  <a:off x="4128" y="1680"/>
                  <a:ext cx="240" cy="768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5687" name="Group 79"/>
              <p:cNvGrpSpPr>
                <a:grpSpLocks/>
              </p:cNvGrpSpPr>
              <p:nvPr/>
            </p:nvGrpSpPr>
            <p:grpSpPr bwMode="auto">
              <a:xfrm>
                <a:off x="3546" y="1776"/>
                <a:ext cx="528" cy="768"/>
                <a:chOff x="2112" y="1680"/>
                <a:chExt cx="528" cy="768"/>
              </a:xfrm>
            </p:grpSpPr>
            <p:sp>
              <p:nvSpPr>
                <p:cNvPr id="25708" name="Oval 80"/>
                <p:cNvSpPr>
                  <a:spLocks noChangeArrowheads="1"/>
                </p:cNvSpPr>
                <p:nvPr/>
              </p:nvSpPr>
              <p:spPr bwMode="auto">
                <a:xfrm>
                  <a:off x="2400" y="1680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5709" name="Oval 81"/>
                <p:cNvSpPr>
                  <a:spLocks noChangeArrowheads="1"/>
                </p:cNvSpPr>
                <p:nvPr/>
              </p:nvSpPr>
              <p:spPr bwMode="auto">
                <a:xfrm>
                  <a:off x="2352" y="2400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5710" name="Oval 82"/>
                <p:cNvSpPr>
                  <a:spLocks noChangeArrowheads="1"/>
                </p:cNvSpPr>
                <p:nvPr/>
              </p:nvSpPr>
              <p:spPr bwMode="auto">
                <a:xfrm>
                  <a:off x="2112" y="2064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5711" name="Oval 83"/>
                <p:cNvSpPr>
                  <a:spLocks noChangeArrowheads="1"/>
                </p:cNvSpPr>
                <p:nvPr/>
              </p:nvSpPr>
              <p:spPr bwMode="auto">
                <a:xfrm>
                  <a:off x="2592" y="2064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5688" name="Group 84"/>
              <p:cNvGrpSpPr>
                <a:grpSpLocks/>
              </p:cNvGrpSpPr>
              <p:nvPr/>
            </p:nvGrpSpPr>
            <p:grpSpPr bwMode="auto">
              <a:xfrm>
                <a:off x="4370" y="1760"/>
                <a:ext cx="552" cy="816"/>
                <a:chOff x="2936" y="1664"/>
                <a:chExt cx="552" cy="816"/>
              </a:xfrm>
            </p:grpSpPr>
            <p:sp>
              <p:nvSpPr>
                <p:cNvPr id="25704" name="Oval 85"/>
                <p:cNvSpPr>
                  <a:spLocks noChangeArrowheads="1"/>
                </p:cNvSpPr>
                <p:nvPr/>
              </p:nvSpPr>
              <p:spPr bwMode="auto">
                <a:xfrm>
                  <a:off x="3184" y="1664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5705" name="Oval 86"/>
                <p:cNvSpPr>
                  <a:spLocks noChangeArrowheads="1"/>
                </p:cNvSpPr>
                <p:nvPr/>
              </p:nvSpPr>
              <p:spPr bwMode="auto">
                <a:xfrm>
                  <a:off x="2936" y="2032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5706" name="Oval 87"/>
                <p:cNvSpPr>
                  <a:spLocks noChangeArrowheads="1"/>
                </p:cNvSpPr>
                <p:nvPr/>
              </p:nvSpPr>
              <p:spPr bwMode="auto">
                <a:xfrm>
                  <a:off x="3440" y="2024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5707" name="Oval 88"/>
                <p:cNvSpPr>
                  <a:spLocks noChangeArrowheads="1"/>
                </p:cNvSpPr>
                <p:nvPr/>
              </p:nvSpPr>
              <p:spPr bwMode="auto">
                <a:xfrm>
                  <a:off x="3176" y="2432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5689" name="Group 89"/>
              <p:cNvGrpSpPr>
                <a:grpSpLocks/>
              </p:cNvGrpSpPr>
              <p:nvPr/>
            </p:nvGrpSpPr>
            <p:grpSpPr bwMode="auto">
              <a:xfrm>
                <a:off x="4271" y="1632"/>
                <a:ext cx="817" cy="1097"/>
                <a:chOff x="1992" y="1495"/>
                <a:chExt cx="817" cy="1097"/>
              </a:xfrm>
            </p:grpSpPr>
            <p:sp>
              <p:nvSpPr>
                <p:cNvPr id="25700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2342" y="1495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4’</a:t>
                  </a:r>
                  <a:endParaRPr lang="en-US" altLang="en-US" sz="14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701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2600" y="1920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3’</a:t>
                  </a:r>
                </a:p>
              </p:txBody>
            </p:sp>
            <p:sp>
              <p:nvSpPr>
                <p:cNvPr id="25702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2304" y="2400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2’</a:t>
                  </a:r>
                </a:p>
              </p:txBody>
            </p:sp>
            <p:sp>
              <p:nvSpPr>
                <p:cNvPr id="25703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1992" y="1968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1’</a:t>
                  </a:r>
                </a:p>
              </p:txBody>
            </p:sp>
          </p:grpSp>
          <p:sp>
            <p:nvSpPr>
              <p:cNvPr id="25690" name="Oval 94"/>
              <p:cNvSpPr>
                <a:spLocks noChangeArrowheads="1"/>
              </p:cNvSpPr>
              <p:nvPr/>
            </p:nvSpPr>
            <p:spPr bwMode="auto">
              <a:xfrm>
                <a:off x="4410" y="1776"/>
                <a:ext cx="480" cy="76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grpSp>
            <p:nvGrpSpPr>
              <p:cNvPr id="25691" name="Group 95"/>
              <p:cNvGrpSpPr>
                <a:grpSpLocks/>
              </p:cNvGrpSpPr>
              <p:nvPr/>
            </p:nvGrpSpPr>
            <p:grpSpPr bwMode="auto">
              <a:xfrm>
                <a:off x="3434" y="1608"/>
                <a:ext cx="811" cy="1097"/>
                <a:chOff x="1992" y="1495"/>
                <a:chExt cx="811" cy="1097"/>
              </a:xfrm>
            </p:grpSpPr>
            <p:sp>
              <p:nvSpPr>
                <p:cNvPr id="25696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2342" y="1495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d’</a:t>
                  </a:r>
                  <a:endParaRPr lang="en-US" altLang="en-US" sz="14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697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600" y="1920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c’</a:t>
                  </a:r>
                </a:p>
              </p:txBody>
            </p:sp>
            <p:sp>
              <p:nvSpPr>
                <p:cNvPr id="25698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2304" y="2400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b’</a:t>
                  </a:r>
                </a:p>
              </p:txBody>
            </p:sp>
            <p:sp>
              <p:nvSpPr>
                <p:cNvPr id="25699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1992" y="1968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a’</a:t>
                  </a:r>
                </a:p>
              </p:txBody>
            </p:sp>
          </p:grpSp>
          <p:sp>
            <p:nvSpPr>
              <p:cNvPr id="25692" name="Line 100"/>
              <p:cNvSpPr>
                <a:spLocks noChangeShapeType="1"/>
              </p:cNvSpPr>
              <p:nvPr/>
            </p:nvSpPr>
            <p:spPr bwMode="auto">
              <a:xfrm flipH="1">
                <a:off x="3834" y="1776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93" name="Line 101"/>
              <p:cNvSpPr>
                <a:spLocks noChangeShapeType="1"/>
              </p:cNvSpPr>
              <p:nvPr/>
            </p:nvSpPr>
            <p:spPr bwMode="auto">
              <a:xfrm>
                <a:off x="3786" y="1776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94" name="Line 102"/>
              <p:cNvSpPr>
                <a:spLocks noChangeShapeType="1"/>
              </p:cNvSpPr>
              <p:nvPr/>
            </p:nvSpPr>
            <p:spPr bwMode="auto">
              <a:xfrm>
                <a:off x="3834" y="2544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95" name="Arc 103"/>
              <p:cNvSpPr>
                <a:spLocks/>
              </p:cNvSpPr>
              <p:nvPr/>
            </p:nvSpPr>
            <p:spPr bwMode="auto">
              <a:xfrm rot="236806" flipH="1">
                <a:off x="3642" y="1776"/>
                <a:ext cx="432" cy="784"/>
              </a:xfrm>
              <a:custGeom>
                <a:avLst/>
                <a:gdLst>
                  <a:gd name="T0" fmla="*/ 0 w 21600"/>
                  <a:gd name="T1" fmla="*/ 0 h 36942"/>
                  <a:gd name="T2" fmla="*/ 0 w 21600"/>
                  <a:gd name="T3" fmla="*/ 0 h 36942"/>
                  <a:gd name="T4" fmla="*/ 0 w 21600"/>
                  <a:gd name="T5" fmla="*/ 0 h 369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6942" fill="none" extrusionOk="0">
                    <a:moveTo>
                      <a:pt x="10107" y="36942"/>
                    </a:moveTo>
                    <a:cubicBezTo>
                      <a:pt x="3817" y="32989"/>
                      <a:pt x="0" y="26081"/>
                      <a:pt x="0" y="18653"/>
                    </a:cubicBezTo>
                    <a:cubicBezTo>
                      <a:pt x="0" y="10974"/>
                      <a:pt x="4076" y="3872"/>
                      <a:pt x="10708" y="0"/>
                    </a:cubicBezTo>
                  </a:path>
                  <a:path w="21600" h="36942" stroke="0" extrusionOk="0">
                    <a:moveTo>
                      <a:pt x="10107" y="36942"/>
                    </a:moveTo>
                    <a:cubicBezTo>
                      <a:pt x="3817" y="32989"/>
                      <a:pt x="0" y="26081"/>
                      <a:pt x="0" y="18653"/>
                    </a:cubicBezTo>
                    <a:cubicBezTo>
                      <a:pt x="0" y="10974"/>
                      <a:pt x="4076" y="3872"/>
                      <a:pt x="10708" y="0"/>
                    </a:cubicBezTo>
                    <a:lnTo>
                      <a:pt x="21600" y="18653"/>
                    </a:lnTo>
                    <a:lnTo>
                      <a:pt x="10107" y="3694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5685" name="Line 104"/>
            <p:cNvSpPr>
              <a:spLocks noChangeShapeType="1"/>
            </p:cNvSpPr>
            <p:nvPr/>
          </p:nvSpPr>
          <p:spPr bwMode="auto">
            <a:xfrm flipV="1">
              <a:off x="3552" y="1440"/>
              <a:ext cx="1536" cy="120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825" name="Arc 105"/>
          <p:cNvSpPr>
            <a:spLocks/>
          </p:cNvSpPr>
          <p:nvPr/>
        </p:nvSpPr>
        <p:spPr bwMode="auto">
          <a:xfrm rot="-1138163">
            <a:off x="5416550" y="4003675"/>
            <a:ext cx="228600" cy="485775"/>
          </a:xfrm>
          <a:custGeom>
            <a:avLst/>
            <a:gdLst>
              <a:gd name="T0" fmla="*/ 230261753 w 21600"/>
              <a:gd name="T1" fmla="*/ 0 h 27515"/>
              <a:gd name="T2" fmla="*/ 180254116 w 21600"/>
              <a:gd name="T3" fmla="*/ 2147483646 h 27515"/>
              <a:gd name="T4" fmla="*/ 0 w 21600"/>
              <a:gd name="T5" fmla="*/ 1106299960 h 275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7515" fill="none" extrusionOk="0">
                <a:moveTo>
                  <a:pt x="18354" y="-1"/>
                </a:moveTo>
                <a:cubicBezTo>
                  <a:pt x="20475" y="3419"/>
                  <a:pt x="21600" y="7363"/>
                  <a:pt x="21600" y="11387"/>
                </a:cubicBezTo>
                <a:cubicBezTo>
                  <a:pt x="21600" y="17548"/>
                  <a:pt x="18968" y="23416"/>
                  <a:pt x="14368" y="27515"/>
                </a:cubicBezTo>
              </a:path>
              <a:path w="21600" h="27515" stroke="0" extrusionOk="0">
                <a:moveTo>
                  <a:pt x="18354" y="-1"/>
                </a:moveTo>
                <a:cubicBezTo>
                  <a:pt x="20475" y="3419"/>
                  <a:pt x="21600" y="7363"/>
                  <a:pt x="21600" y="11387"/>
                </a:cubicBezTo>
                <a:cubicBezTo>
                  <a:pt x="21600" y="17548"/>
                  <a:pt x="18968" y="23416"/>
                  <a:pt x="14368" y="27515"/>
                </a:cubicBezTo>
                <a:lnTo>
                  <a:pt x="0" y="11387"/>
                </a:lnTo>
                <a:lnTo>
                  <a:pt x="18354" y="-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26" name="Text Box 106"/>
          <p:cNvSpPr txBox="1">
            <a:spLocks noChangeArrowheads="1"/>
          </p:cNvSpPr>
          <p:nvPr/>
        </p:nvSpPr>
        <p:spPr bwMode="auto">
          <a:xfrm>
            <a:off x="5257800" y="4168775"/>
            <a:ext cx="41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35</a:t>
            </a:r>
            <a:r>
              <a:rPr lang="en-US" altLang="en-US" sz="1400" baseline="30000"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30827" name="Group 107"/>
          <p:cNvGrpSpPr>
            <a:grpSpLocks/>
          </p:cNvGrpSpPr>
          <p:nvPr/>
        </p:nvGrpSpPr>
        <p:grpSpPr bwMode="auto">
          <a:xfrm>
            <a:off x="5867400" y="2644775"/>
            <a:ext cx="1905000" cy="3962400"/>
            <a:chOff x="3936" y="1488"/>
            <a:chExt cx="1200" cy="2496"/>
          </a:xfrm>
        </p:grpSpPr>
        <p:sp>
          <p:nvSpPr>
            <p:cNvPr id="25676" name="Line 108"/>
            <p:cNvSpPr>
              <a:spLocks noChangeShapeType="1"/>
            </p:cNvSpPr>
            <p:nvPr/>
          </p:nvSpPr>
          <p:spPr bwMode="auto">
            <a:xfrm>
              <a:off x="5136" y="1728"/>
              <a:ext cx="0" cy="220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77" name="Line 109"/>
            <p:cNvSpPr>
              <a:spLocks noChangeShapeType="1"/>
            </p:cNvSpPr>
            <p:nvPr/>
          </p:nvSpPr>
          <p:spPr bwMode="auto">
            <a:xfrm>
              <a:off x="5040" y="2208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78" name="Line 110"/>
            <p:cNvSpPr>
              <a:spLocks noChangeShapeType="1"/>
            </p:cNvSpPr>
            <p:nvPr/>
          </p:nvSpPr>
          <p:spPr bwMode="auto">
            <a:xfrm>
              <a:off x="4800" y="1488"/>
              <a:ext cx="0" cy="249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79" name="Line 111"/>
            <p:cNvSpPr>
              <a:spLocks noChangeShapeType="1"/>
            </p:cNvSpPr>
            <p:nvPr/>
          </p:nvSpPr>
          <p:spPr bwMode="auto">
            <a:xfrm>
              <a:off x="4704" y="1920"/>
              <a:ext cx="0" cy="206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80" name="Line 112"/>
            <p:cNvSpPr>
              <a:spLocks noChangeShapeType="1"/>
            </p:cNvSpPr>
            <p:nvPr/>
          </p:nvSpPr>
          <p:spPr bwMode="auto">
            <a:xfrm>
              <a:off x="4368" y="2064"/>
              <a:ext cx="0" cy="192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81" name="Line 113"/>
            <p:cNvSpPr>
              <a:spLocks noChangeShapeType="1"/>
            </p:cNvSpPr>
            <p:nvPr/>
          </p:nvSpPr>
          <p:spPr bwMode="auto">
            <a:xfrm>
              <a:off x="4272" y="2496"/>
              <a:ext cx="0" cy="14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82" name="Line 114"/>
            <p:cNvSpPr>
              <a:spLocks noChangeShapeType="1"/>
            </p:cNvSpPr>
            <p:nvPr/>
          </p:nvSpPr>
          <p:spPr bwMode="auto">
            <a:xfrm>
              <a:off x="4032" y="1776"/>
              <a:ext cx="0" cy="220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83" name="Line 115"/>
            <p:cNvSpPr>
              <a:spLocks noChangeShapeType="1"/>
            </p:cNvSpPr>
            <p:nvPr/>
          </p:nvSpPr>
          <p:spPr bwMode="auto">
            <a:xfrm>
              <a:off x="3936" y="2256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836" name="Group 116"/>
          <p:cNvGrpSpPr>
            <a:grpSpLocks/>
          </p:cNvGrpSpPr>
          <p:nvPr/>
        </p:nvGrpSpPr>
        <p:grpSpPr bwMode="auto">
          <a:xfrm>
            <a:off x="3048000" y="4930775"/>
            <a:ext cx="4800600" cy="1600200"/>
            <a:chOff x="2160" y="2928"/>
            <a:chExt cx="3024" cy="1008"/>
          </a:xfrm>
        </p:grpSpPr>
        <p:sp>
          <p:nvSpPr>
            <p:cNvPr id="25671" name="Line 117"/>
            <p:cNvSpPr>
              <a:spLocks noChangeShapeType="1"/>
            </p:cNvSpPr>
            <p:nvPr/>
          </p:nvSpPr>
          <p:spPr bwMode="auto">
            <a:xfrm>
              <a:off x="2400" y="2928"/>
              <a:ext cx="278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72" name="Line 118"/>
            <p:cNvSpPr>
              <a:spLocks noChangeShapeType="1"/>
            </p:cNvSpPr>
            <p:nvPr/>
          </p:nvSpPr>
          <p:spPr bwMode="auto">
            <a:xfrm>
              <a:off x="2160" y="3216"/>
              <a:ext cx="302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73" name="Line 119"/>
            <p:cNvSpPr>
              <a:spLocks noChangeShapeType="1"/>
            </p:cNvSpPr>
            <p:nvPr/>
          </p:nvSpPr>
          <p:spPr bwMode="auto">
            <a:xfrm>
              <a:off x="3456" y="3344"/>
              <a:ext cx="172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74" name="Line 120"/>
            <p:cNvSpPr>
              <a:spLocks noChangeShapeType="1"/>
            </p:cNvSpPr>
            <p:nvPr/>
          </p:nvSpPr>
          <p:spPr bwMode="auto">
            <a:xfrm>
              <a:off x="3216" y="3648"/>
              <a:ext cx="196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75" name="Line 121"/>
            <p:cNvSpPr>
              <a:spLocks noChangeShapeType="1"/>
            </p:cNvSpPr>
            <p:nvPr/>
          </p:nvSpPr>
          <p:spPr bwMode="auto">
            <a:xfrm>
              <a:off x="2976" y="3936"/>
              <a:ext cx="220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842" name="Oval 122"/>
          <p:cNvSpPr>
            <a:spLocks noChangeArrowheads="1"/>
          </p:cNvSpPr>
          <p:nvPr/>
        </p:nvSpPr>
        <p:spPr bwMode="auto">
          <a:xfrm>
            <a:off x="6502400" y="44354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43" name="Oval 123"/>
          <p:cNvSpPr>
            <a:spLocks noChangeArrowheads="1"/>
          </p:cNvSpPr>
          <p:nvPr/>
        </p:nvSpPr>
        <p:spPr bwMode="auto">
          <a:xfrm>
            <a:off x="5842000" y="53371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44" name="Oval 124"/>
          <p:cNvSpPr>
            <a:spLocks noChangeArrowheads="1"/>
          </p:cNvSpPr>
          <p:nvPr/>
        </p:nvSpPr>
        <p:spPr bwMode="auto">
          <a:xfrm>
            <a:off x="5994400" y="48672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45" name="Oval 125"/>
          <p:cNvSpPr>
            <a:spLocks noChangeArrowheads="1"/>
          </p:cNvSpPr>
          <p:nvPr/>
        </p:nvSpPr>
        <p:spPr bwMode="auto">
          <a:xfrm>
            <a:off x="6350000" y="48672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46" name="Oval 126"/>
          <p:cNvSpPr>
            <a:spLocks noChangeArrowheads="1"/>
          </p:cNvSpPr>
          <p:nvPr/>
        </p:nvSpPr>
        <p:spPr bwMode="auto">
          <a:xfrm>
            <a:off x="7048500" y="64801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47" name="Oval 127"/>
          <p:cNvSpPr>
            <a:spLocks noChangeArrowheads="1"/>
          </p:cNvSpPr>
          <p:nvPr/>
        </p:nvSpPr>
        <p:spPr bwMode="auto">
          <a:xfrm>
            <a:off x="7188200" y="60102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48" name="Oval 128"/>
          <p:cNvSpPr>
            <a:spLocks noChangeArrowheads="1"/>
          </p:cNvSpPr>
          <p:nvPr/>
        </p:nvSpPr>
        <p:spPr bwMode="auto">
          <a:xfrm>
            <a:off x="7747000" y="55403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49" name="Oval 129"/>
          <p:cNvSpPr>
            <a:spLocks noChangeArrowheads="1"/>
          </p:cNvSpPr>
          <p:nvPr/>
        </p:nvSpPr>
        <p:spPr bwMode="auto">
          <a:xfrm>
            <a:off x="7581900" y="60483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50" name="Line 130"/>
          <p:cNvSpPr>
            <a:spLocks noChangeShapeType="1"/>
          </p:cNvSpPr>
          <p:nvPr/>
        </p:nvSpPr>
        <p:spPr bwMode="auto">
          <a:xfrm>
            <a:off x="6629400" y="236855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51" name="Arc 131"/>
          <p:cNvSpPr>
            <a:spLocks/>
          </p:cNvSpPr>
          <p:nvPr/>
        </p:nvSpPr>
        <p:spPr bwMode="auto">
          <a:xfrm rot="1801823">
            <a:off x="6096000" y="4397375"/>
            <a:ext cx="317500" cy="1143000"/>
          </a:xfrm>
          <a:custGeom>
            <a:avLst/>
            <a:gdLst>
              <a:gd name="T0" fmla="*/ 102692613 w 31303"/>
              <a:gd name="T1" fmla="*/ 0 h 43200"/>
              <a:gd name="T2" fmla="*/ 0 w 31303"/>
              <a:gd name="T3" fmla="*/ 2147483646 h 43200"/>
              <a:gd name="T4" fmla="*/ 102692613 w 31303"/>
              <a:gd name="T5" fmla="*/ 2147483646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303" h="43200" fill="none" extrusionOk="0">
                <a:moveTo>
                  <a:pt x="9702" y="0"/>
                </a:moveTo>
                <a:cubicBezTo>
                  <a:pt x="21632" y="0"/>
                  <a:pt x="31303" y="9670"/>
                  <a:pt x="31303" y="21600"/>
                </a:cubicBezTo>
                <a:cubicBezTo>
                  <a:pt x="31303" y="33529"/>
                  <a:pt x="21632" y="43200"/>
                  <a:pt x="9703" y="43200"/>
                </a:cubicBezTo>
                <a:cubicBezTo>
                  <a:pt x="6333" y="43200"/>
                  <a:pt x="3010" y="42411"/>
                  <a:pt x="0" y="40897"/>
                </a:cubicBezTo>
              </a:path>
              <a:path w="31303" h="43200" stroke="0" extrusionOk="0">
                <a:moveTo>
                  <a:pt x="9702" y="0"/>
                </a:moveTo>
                <a:cubicBezTo>
                  <a:pt x="21632" y="0"/>
                  <a:pt x="31303" y="9670"/>
                  <a:pt x="31303" y="21600"/>
                </a:cubicBezTo>
                <a:cubicBezTo>
                  <a:pt x="31303" y="33529"/>
                  <a:pt x="21632" y="43200"/>
                  <a:pt x="9703" y="43200"/>
                </a:cubicBezTo>
                <a:cubicBezTo>
                  <a:pt x="6333" y="43200"/>
                  <a:pt x="3010" y="42411"/>
                  <a:pt x="0" y="40897"/>
                </a:cubicBezTo>
                <a:lnTo>
                  <a:pt x="9703" y="21600"/>
                </a:lnTo>
                <a:lnTo>
                  <a:pt x="9702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852" name="Line 132"/>
          <p:cNvSpPr>
            <a:spLocks noChangeShapeType="1"/>
          </p:cNvSpPr>
          <p:nvPr/>
        </p:nvSpPr>
        <p:spPr bwMode="auto">
          <a:xfrm rot="-101402">
            <a:off x="5867400" y="5387975"/>
            <a:ext cx="1219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53" name="Line 133"/>
          <p:cNvSpPr>
            <a:spLocks noChangeShapeType="1"/>
          </p:cNvSpPr>
          <p:nvPr/>
        </p:nvSpPr>
        <p:spPr bwMode="auto">
          <a:xfrm rot="-101402">
            <a:off x="6565900" y="4473575"/>
            <a:ext cx="1219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0854" name="Group 134"/>
          <p:cNvGrpSpPr>
            <a:grpSpLocks/>
          </p:cNvGrpSpPr>
          <p:nvPr/>
        </p:nvGrpSpPr>
        <p:grpSpPr bwMode="auto">
          <a:xfrm>
            <a:off x="5622925" y="4473575"/>
            <a:ext cx="1174750" cy="1066800"/>
            <a:chOff x="3782" y="2640"/>
            <a:chExt cx="740" cy="672"/>
          </a:xfrm>
        </p:grpSpPr>
        <p:sp>
          <p:nvSpPr>
            <p:cNvPr id="25667" name="Text Box 135"/>
            <p:cNvSpPr txBox="1">
              <a:spLocks noChangeArrowheads="1"/>
            </p:cNvSpPr>
            <p:nvPr/>
          </p:nvSpPr>
          <p:spPr bwMode="auto">
            <a:xfrm>
              <a:off x="3782" y="3120"/>
              <a:ext cx="20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68" name="Text Box 136"/>
            <p:cNvSpPr txBox="1">
              <a:spLocks noChangeArrowheads="1"/>
            </p:cNvSpPr>
            <p:nvPr/>
          </p:nvSpPr>
          <p:spPr bwMode="auto">
            <a:xfrm>
              <a:off x="4256" y="2880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69" name="Text Box 137"/>
            <p:cNvSpPr txBox="1">
              <a:spLocks noChangeArrowheads="1"/>
            </p:cNvSpPr>
            <p:nvPr/>
          </p:nvSpPr>
          <p:spPr bwMode="auto">
            <a:xfrm>
              <a:off x="4320" y="2640"/>
              <a:ext cx="20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70" name="Text Box 138"/>
            <p:cNvSpPr txBox="1">
              <a:spLocks noChangeArrowheads="1"/>
            </p:cNvSpPr>
            <p:nvPr/>
          </p:nvSpPr>
          <p:spPr bwMode="auto">
            <a:xfrm>
              <a:off x="3872" y="2768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30859" name="Group 139"/>
          <p:cNvGrpSpPr>
            <a:grpSpLocks/>
          </p:cNvGrpSpPr>
          <p:nvPr/>
        </p:nvGrpSpPr>
        <p:grpSpPr bwMode="auto">
          <a:xfrm>
            <a:off x="6858000" y="5387975"/>
            <a:ext cx="1187450" cy="1371600"/>
            <a:chOff x="4560" y="3216"/>
            <a:chExt cx="748" cy="864"/>
          </a:xfrm>
        </p:grpSpPr>
        <p:sp>
          <p:nvSpPr>
            <p:cNvPr id="25663" name="Text Box 140"/>
            <p:cNvSpPr txBox="1">
              <a:spLocks noChangeArrowheads="1"/>
            </p:cNvSpPr>
            <p:nvPr/>
          </p:nvSpPr>
          <p:spPr bwMode="auto">
            <a:xfrm>
              <a:off x="4560" y="388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64" name="Text Box 141"/>
            <p:cNvSpPr txBox="1">
              <a:spLocks noChangeArrowheads="1"/>
            </p:cNvSpPr>
            <p:nvPr/>
          </p:nvSpPr>
          <p:spPr bwMode="auto">
            <a:xfrm>
              <a:off x="5040" y="360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665" name="Text Box 142"/>
            <p:cNvSpPr txBox="1">
              <a:spLocks noChangeArrowheads="1"/>
            </p:cNvSpPr>
            <p:nvPr/>
          </p:nvSpPr>
          <p:spPr bwMode="auto">
            <a:xfrm>
              <a:off x="5136" y="321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5666" name="Text Box 143"/>
            <p:cNvSpPr txBox="1">
              <a:spLocks noChangeArrowheads="1"/>
            </p:cNvSpPr>
            <p:nvPr/>
          </p:nvSpPr>
          <p:spPr bwMode="auto">
            <a:xfrm>
              <a:off x="4628" y="350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30864" name="Rectangle 144"/>
          <p:cNvSpPr>
            <a:spLocks noChangeArrowheads="1"/>
          </p:cNvSpPr>
          <p:nvPr/>
        </p:nvSpPr>
        <p:spPr bwMode="auto">
          <a:xfrm>
            <a:off x="152400" y="0"/>
            <a:ext cx="4038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Problem 2: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A cylinder 40 mm diameter and 50 mm axis is resting on one point of a base circle on Vp while it’s axis makes 45</a:t>
            </a:r>
            <a:r>
              <a:rPr lang="en-US" altLang="en-US" sz="1800" baseline="30000">
                <a:solidFill>
                  <a:schemeClr val="tx2"/>
                </a:solidFill>
                <a:latin typeface="Times New Roman" panose="02020603050405020304" pitchFamily="18" charset="0"/>
              </a:rPr>
              <a:t>0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with Vp and  Fv of the axis 35</a:t>
            </a:r>
            <a:r>
              <a:rPr lang="en-US" altLang="en-US" sz="1800" baseline="30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with Hp. Draw projections..</a:t>
            </a:r>
          </a:p>
        </p:txBody>
      </p:sp>
      <p:sp>
        <p:nvSpPr>
          <p:cNvPr id="30865" name="Text Box 145"/>
          <p:cNvSpPr txBox="1">
            <a:spLocks noChangeArrowheads="1"/>
          </p:cNvSpPr>
          <p:nvPr/>
        </p:nvSpPr>
        <p:spPr bwMode="auto">
          <a:xfrm>
            <a:off x="3962400" y="0"/>
            <a:ext cx="5205413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300" b="1">
                <a:solidFill>
                  <a:schemeClr val="accent2"/>
                </a:solidFill>
              </a:rPr>
              <a:t>Solution Steps:</a:t>
            </a:r>
          </a:p>
          <a:p>
            <a:pPr eaLnBrk="1" hangingPunct="1"/>
            <a:r>
              <a:rPr lang="en-US" altLang="en-US" sz="1300"/>
              <a:t>Resting on Vp on one point of base, means inclined to Vp:</a:t>
            </a:r>
          </a:p>
          <a:p>
            <a:pPr eaLnBrk="1" hangingPunct="1"/>
            <a:r>
              <a:rPr lang="en-US" altLang="en-US" sz="1300"/>
              <a:t>1.Assume it standing on Vp</a:t>
            </a:r>
          </a:p>
          <a:p>
            <a:pPr eaLnBrk="1" hangingPunct="1"/>
            <a:r>
              <a:rPr lang="en-US" altLang="en-US" sz="1300"/>
              <a:t>2.It’s Fv will show True Shape of base &amp; top( circle )</a:t>
            </a:r>
          </a:p>
          <a:p>
            <a:pPr eaLnBrk="1" hangingPunct="1"/>
            <a:r>
              <a:rPr lang="en-US" altLang="en-US" sz="1300"/>
              <a:t>3.Draw 40mm dia. Circle as Fv &amp;  taking 50 mm axis project Tv. </a:t>
            </a:r>
          </a:p>
          <a:p>
            <a:pPr eaLnBrk="1" hangingPunct="1"/>
            <a:r>
              <a:rPr lang="en-US" altLang="en-US" sz="1300"/>
              <a:t>   ( a Rectangle)</a:t>
            </a:r>
          </a:p>
          <a:p>
            <a:pPr eaLnBrk="1" hangingPunct="1"/>
            <a:r>
              <a:rPr lang="en-US" altLang="en-US" sz="1300"/>
              <a:t>4.Name all points as shown in illustration.</a:t>
            </a:r>
          </a:p>
          <a:p>
            <a:pPr eaLnBrk="1" hangingPunct="1"/>
            <a:r>
              <a:rPr lang="en-US" altLang="en-US" sz="1300"/>
              <a:t>5.Draw 2</a:t>
            </a:r>
            <a:r>
              <a:rPr lang="en-US" altLang="en-US" sz="1300" baseline="30000"/>
              <a:t>nd</a:t>
            </a:r>
            <a:r>
              <a:rPr lang="en-US" altLang="en-US" sz="1300"/>
              <a:t> Tv making axis 45</a:t>
            </a:r>
            <a:r>
              <a:rPr lang="en-US" altLang="en-US" sz="1300" baseline="30000"/>
              <a:t>0</a:t>
            </a:r>
            <a:r>
              <a:rPr lang="en-US" altLang="en-US" sz="1300"/>
              <a:t> to xy And project it’s Fv above xy.</a:t>
            </a:r>
          </a:p>
          <a:p>
            <a:pPr eaLnBrk="1" hangingPunct="1"/>
            <a:r>
              <a:rPr lang="en-US" altLang="en-US" sz="1300"/>
              <a:t>6.Make visible lines dark and hidden dotted,  as per the procedure.</a:t>
            </a:r>
          </a:p>
          <a:p>
            <a:pPr eaLnBrk="1" hangingPunct="1"/>
            <a:r>
              <a:rPr lang="en-US" altLang="en-US" sz="1300"/>
              <a:t>7.Then construct remaining inclination with Hp</a:t>
            </a:r>
          </a:p>
          <a:p>
            <a:pPr eaLnBrk="1" hangingPunct="1"/>
            <a:r>
              <a:rPr lang="en-US" altLang="en-US" sz="1300"/>
              <a:t> ( Fv of axis I.e. center line of view to xy as shown) &amp; project final Tv.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8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8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0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0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3" dur="500"/>
                                        <p:tgtEl>
                                          <p:spTgt spid="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8" dur="500"/>
                                        <p:tgtEl>
                                          <p:spTgt spid="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0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0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0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0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0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0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0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0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0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0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0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0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0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0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0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0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0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0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30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0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0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0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0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30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30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30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30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30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30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30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30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0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0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0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30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30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30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30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30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30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30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30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30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30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30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30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30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30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30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30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7" dur="500"/>
                                        <p:tgtEl>
                                          <p:spTgt spid="3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2" dur="500"/>
                                        <p:tgtEl>
                                          <p:spTgt spid="3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7" dur="500"/>
                                        <p:tgtEl>
                                          <p:spTgt spid="3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30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30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30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30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30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30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30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30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30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30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30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30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30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30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 nodeType="clickPar">
                      <p:stCondLst>
                        <p:cond delay="indefinite"/>
                      </p:stCondLst>
                      <p:childTnLst>
                        <p:par>
                          <p:cTn id="3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30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30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30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30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Par">
                      <p:stCondLst>
                        <p:cond delay="indefinite"/>
                      </p:stCondLst>
                      <p:childTnLst>
                        <p:par>
                          <p:cTn id="3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30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30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 nodeType="clickPar">
                      <p:stCondLst>
                        <p:cond delay="indefinite"/>
                      </p:stCondLst>
                      <p:childTnLst>
                        <p:par>
                          <p:cTn id="3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 nodeType="clickPar">
                      <p:stCondLst>
                        <p:cond delay="indefinite"/>
                      </p:stCondLst>
                      <p:childTnLst>
                        <p:par>
                          <p:cTn id="3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8" dur="500" fill="hold"/>
                                        <p:tgtEl>
                                          <p:spTgt spid="30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30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 nodeType="clickPar">
                      <p:stCondLst>
                        <p:cond delay="indefinite"/>
                      </p:stCondLst>
                      <p:childTnLst>
                        <p:par>
                          <p:cTn id="3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30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30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30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30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 nodeType="clickPar">
                      <p:stCondLst>
                        <p:cond delay="indefinite"/>
                      </p:stCondLst>
                      <p:childTnLst>
                        <p:par>
                          <p:cTn id="3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 nodeType="clickPar">
                      <p:stCondLst>
                        <p:cond delay="indefinite"/>
                      </p:stCondLst>
                      <p:childTnLst>
                        <p:par>
                          <p:cTn id="3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4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 nodeType="clickPar">
                      <p:stCondLst>
                        <p:cond delay="indefinite"/>
                      </p:stCondLst>
                      <p:childTnLst>
                        <p:par>
                          <p:cTn id="3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0" dur="500"/>
                                        <p:tgtEl>
                                          <p:spTgt spid="3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 nodeType="clickPar">
                      <p:stCondLst>
                        <p:cond delay="indefinite"/>
                      </p:stCondLst>
                      <p:childTnLst>
                        <p:par>
                          <p:cTn id="3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5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 nodeType="clickPar">
                      <p:stCondLst>
                        <p:cond delay="indefinite"/>
                      </p:stCondLst>
                      <p:childTnLst>
                        <p:par>
                          <p:cTn id="3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0" dur="500"/>
                                        <p:tgtEl>
                                          <p:spTgt spid="3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 nodeType="clickPar">
                      <p:stCondLst>
                        <p:cond delay="indefinite"/>
                      </p:stCondLst>
                      <p:childTnLst>
                        <p:par>
                          <p:cTn id="3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5" dur="500"/>
                                        <p:tgtEl>
                                          <p:spTgt spid="3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 animBg="1"/>
      <p:bldP spid="30736" grpId="0" autoUpdateAnimBg="0"/>
      <p:bldP spid="30737" grpId="0" autoUpdateAnimBg="0"/>
      <p:bldP spid="30738" grpId="0" animBg="1"/>
      <p:bldP spid="30741" grpId="0" animBg="1"/>
      <p:bldP spid="30745" grpId="0" autoUpdateAnimBg="0"/>
      <p:bldP spid="30746" grpId="0" autoUpdateAnimBg="0"/>
      <p:bldP spid="30759" grpId="0" autoUpdateAnimBg="0"/>
      <p:bldP spid="30783" grpId="0" animBg="1"/>
      <p:bldP spid="30826" grpId="0" autoUpdateAnimBg="0"/>
      <p:bldP spid="30842" grpId="0" animBg="1"/>
      <p:bldP spid="30843" grpId="0" animBg="1"/>
      <p:bldP spid="30844" grpId="0" animBg="1"/>
      <p:bldP spid="30845" grpId="0" animBg="1"/>
      <p:bldP spid="30846" grpId="0" animBg="1"/>
      <p:bldP spid="30847" grpId="0" animBg="1"/>
      <p:bldP spid="30848" grpId="0" animBg="1"/>
      <p:bldP spid="30849" grpId="0" animBg="1"/>
      <p:bldP spid="30864" grpId="0" autoUpdateAnimBg="0"/>
      <p:bldP spid="3086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7581900" y="4013598"/>
            <a:ext cx="29527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Y</a:t>
            </a:r>
          </a:p>
        </p:txBody>
      </p:sp>
      <p:grpSp>
        <p:nvGrpSpPr>
          <p:cNvPr id="36867" name="Group 3"/>
          <p:cNvGrpSpPr>
            <a:grpSpLocks/>
          </p:cNvGrpSpPr>
          <p:nvPr/>
        </p:nvGrpSpPr>
        <p:grpSpPr bwMode="auto">
          <a:xfrm>
            <a:off x="1143000" y="857250"/>
            <a:ext cx="2800350" cy="1028700"/>
            <a:chOff x="0" y="0"/>
            <a:chExt cx="2352" cy="864"/>
          </a:xfrm>
        </p:grpSpPr>
        <p:sp>
          <p:nvSpPr>
            <p:cNvPr id="27763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2256" cy="86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  <p:sp>
          <p:nvSpPr>
            <p:cNvPr id="27764" name="Text Box 5"/>
            <p:cNvSpPr txBox="1">
              <a:spLocks noChangeArrowheads="1"/>
            </p:cNvSpPr>
            <p:nvPr/>
          </p:nvSpPr>
          <p:spPr bwMode="auto">
            <a:xfrm>
              <a:off x="0" y="0"/>
              <a:ext cx="2352" cy="8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</a:rPr>
                <a:t>Problem 3:</a:t>
              </a:r>
              <a:r>
                <a:rPr lang="en-US" altLang="en-US" sz="1200"/>
                <a:t>A tetrahedron of 50 mm long edges is resting on one edge on Hp while one triangular face containing this edge is vertical and 45</a:t>
              </a:r>
              <a:r>
                <a:rPr lang="en-US" altLang="en-US" sz="1200" baseline="30000"/>
                <a:t>0</a:t>
              </a:r>
              <a:r>
                <a:rPr lang="en-US" altLang="en-US" sz="1200"/>
                <a:t> inclined to Vp. Draw projections.</a:t>
              </a:r>
            </a:p>
          </p:txBody>
        </p:sp>
      </p:grpSp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2759870" y="4177904"/>
            <a:ext cx="49363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>
            <a:off x="4180285" y="4477942"/>
            <a:ext cx="0" cy="112156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 flipH="1" flipV="1">
            <a:off x="3208735" y="5000626"/>
            <a:ext cx="971550" cy="59888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 flipV="1">
            <a:off x="3208735" y="4477941"/>
            <a:ext cx="971550" cy="52268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3208736" y="5000625"/>
            <a:ext cx="67270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 flipH="1">
            <a:off x="3881439" y="4477941"/>
            <a:ext cx="298847" cy="52268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3881439" y="5000626"/>
            <a:ext cx="298847" cy="59888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2609850" y="3923110"/>
            <a:ext cx="3238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V="1">
            <a:off x="4180285" y="4177903"/>
            <a:ext cx="0" cy="30003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 flipV="1">
            <a:off x="3881438" y="4177903"/>
            <a:ext cx="0" cy="822722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V="1">
            <a:off x="3208735" y="4177903"/>
            <a:ext cx="0" cy="822722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 flipV="1">
            <a:off x="3881438" y="2981325"/>
            <a:ext cx="0" cy="1196579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 rot="2181704">
            <a:off x="3543300" y="3159920"/>
            <a:ext cx="1191" cy="112156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3881439" y="3281363"/>
            <a:ext cx="298847" cy="8965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3208735" y="4177904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3582592" y="3106341"/>
            <a:ext cx="148828" cy="100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>
            <a:off x="2908698" y="3954067"/>
            <a:ext cx="225028" cy="1500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 flipV="1">
            <a:off x="3367087" y="3121820"/>
            <a:ext cx="225029" cy="2988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 flipH="1">
            <a:off x="2983706" y="3655220"/>
            <a:ext cx="225029" cy="3738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9" name="Text Box 25"/>
          <p:cNvSpPr txBox="1">
            <a:spLocks noChangeArrowheads="1"/>
          </p:cNvSpPr>
          <p:nvPr/>
        </p:nvSpPr>
        <p:spPr bwMode="auto">
          <a:xfrm>
            <a:off x="3058716" y="3383756"/>
            <a:ext cx="381836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50">
                <a:latin typeface="Times New Roman" panose="02020603050405020304" pitchFamily="18" charset="0"/>
              </a:rPr>
              <a:t>T L</a:t>
            </a:r>
          </a:p>
        </p:txBody>
      </p:sp>
      <p:grpSp>
        <p:nvGrpSpPr>
          <p:cNvPr id="36890" name="Group 26"/>
          <p:cNvGrpSpPr>
            <a:grpSpLocks/>
          </p:cNvGrpSpPr>
          <p:nvPr/>
        </p:nvGrpSpPr>
        <p:grpSpPr bwMode="auto">
          <a:xfrm>
            <a:off x="3043238" y="4299348"/>
            <a:ext cx="1335370" cy="1427491"/>
            <a:chOff x="278" y="1134"/>
            <a:chExt cx="857" cy="916"/>
          </a:xfrm>
        </p:grpSpPr>
        <p:sp>
          <p:nvSpPr>
            <p:cNvPr id="27759" name="Text Box 27"/>
            <p:cNvSpPr txBox="1">
              <a:spLocks noChangeArrowheads="1"/>
            </p:cNvSpPr>
            <p:nvPr/>
          </p:nvSpPr>
          <p:spPr bwMode="auto">
            <a:xfrm>
              <a:off x="278" y="1479"/>
              <a:ext cx="163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60" name="Text Box 28"/>
            <p:cNvSpPr txBox="1">
              <a:spLocks noChangeArrowheads="1"/>
            </p:cNvSpPr>
            <p:nvPr/>
          </p:nvSpPr>
          <p:spPr bwMode="auto">
            <a:xfrm>
              <a:off x="804" y="1470"/>
              <a:ext cx="16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7761" name="Text Box 29"/>
            <p:cNvSpPr txBox="1">
              <a:spLocks noChangeArrowheads="1"/>
            </p:cNvSpPr>
            <p:nvPr/>
          </p:nvSpPr>
          <p:spPr bwMode="auto">
            <a:xfrm>
              <a:off x="966" y="1872"/>
              <a:ext cx="16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62" name="Text Box 30"/>
            <p:cNvSpPr txBox="1">
              <a:spLocks noChangeArrowheads="1"/>
            </p:cNvSpPr>
            <p:nvPr/>
          </p:nvSpPr>
          <p:spPr bwMode="auto">
            <a:xfrm>
              <a:off x="972" y="1134"/>
              <a:ext cx="163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36895" name="Group 31"/>
          <p:cNvGrpSpPr>
            <a:grpSpLocks/>
          </p:cNvGrpSpPr>
          <p:nvPr/>
        </p:nvGrpSpPr>
        <p:grpSpPr bwMode="auto">
          <a:xfrm>
            <a:off x="2983708" y="3162301"/>
            <a:ext cx="1436570" cy="1136963"/>
            <a:chOff x="240" y="404"/>
            <a:chExt cx="922" cy="730"/>
          </a:xfrm>
        </p:grpSpPr>
        <p:sp>
          <p:nvSpPr>
            <p:cNvPr id="27755" name="Text Box 32"/>
            <p:cNvSpPr txBox="1">
              <a:spLocks noChangeArrowheads="1"/>
            </p:cNvSpPr>
            <p:nvPr/>
          </p:nvSpPr>
          <p:spPr bwMode="auto">
            <a:xfrm>
              <a:off x="960" y="884"/>
              <a:ext cx="201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b’</a:t>
              </a:r>
            </a:p>
          </p:txBody>
        </p:sp>
        <p:sp>
          <p:nvSpPr>
            <p:cNvPr id="27756" name="Text Box 33"/>
            <p:cNvSpPr txBox="1">
              <a:spLocks noChangeArrowheads="1"/>
            </p:cNvSpPr>
            <p:nvPr/>
          </p:nvSpPr>
          <p:spPr bwMode="auto">
            <a:xfrm>
              <a:off x="240" y="912"/>
              <a:ext cx="19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a’</a:t>
              </a:r>
            </a:p>
          </p:txBody>
        </p:sp>
        <p:sp>
          <p:nvSpPr>
            <p:cNvPr id="27757" name="Text Box 34"/>
            <p:cNvSpPr txBox="1">
              <a:spLocks noChangeArrowheads="1"/>
            </p:cNvSpPr>
            <p:nvPr/>
          </p:nvSpPr>
          <p:spPr bwMode="auto">
            <a:xfrm>
              <a:off x="966" y="956"/>
              <a:ext cx="19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c’</a:t>
              </a:r>
            </a:p>
          </p:txBody>
        </p:sp>
        <p:sp>
          <p:nvSpPr>
            <p:cNvPr id="27758" name="Text Box 35"/>
            <p:cNvSpPr txBox="1">
              <a:spLocks noChangeArrowheads="1"/>
            </p:cNvSpPr>
            <p:nvPr/>
          </p:nvSpPr>
          <p:spPr bwMode="auto">
            <a:xfrm>
              <a:off x="768" y="404"/>
              <a:ext cx="201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o’</a:t>
              </a:r>
            </a:p>
          </p:txBody>
        </p:sp>
      </p:grpSp>
      <p:grpSp>
        <p:nvGrpSpPr>
          <p:cNvPr id="36900" name="Group 36"/>
          <p:cNvGrpSpPr>
            <a:grpSpLocks/>
          </p:cNvGrpSpPr>
          <p:nvPr/>
        </p:nvGrpSpPr>
        <p:grpSpPr bwMode="auto">
          <a:xfrm>
            <a:off x="4383141" y="3540920"/>
            <a:ext cx="1205656" cy="484585"/>
            <a:chOff x="1138" y="647"/>
            <a:chExt cx="774" cy="311"/>
          </a:xfrm>
        </p:grpSpPr>
        <p:sp>
          <p:nvSpPr>
            <p:cNvPr id="27752" name="Line 37"/>
            <p:cNvSpPr>
              <a:spLocks noChangeShapeType="1"/>
            </p:cNvSpPr>
            <p:nvPr/>
          </p:nvSpPr>
          <p:spPr bwMode="auto">
            <a:xfrm rot="3203600">
              <a:off x="1551" y="288"/>
              <a:ext cx="1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53" name="Line 38"/>
            <p:cNvSpPr>
              <a:spLocks noChangeShapeType="1"/>
            </p:cNvSpPr>
            <p:nvPr/>
          </p:nvSpPr>
          <p:spPr bwMode="auto">
            <a:xfrm rot="1021896">
              <a:off x="1245" y="957"/>
              <a:ext cx="62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54" name="Text Box 39"/>
            <p:cNvSpPr txBox="1">
              <a:spLocks noChangeArrowheads="1"/>
            </p:cNvSpPr>
            <p:nvPr/>
          </p:nvSpPr>
          <p:spPr bwMode="auto">
            <a:xfrm rot="1021896">
              <a:off x="1138" y="684"/>
              <a:ext cx="19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a’</a:t>
              </a:r>
            </a:p>
          </p:txBody>
        </p:sp>
      </p:grpSp>
      <p:grpSp>
        <p:nvGrpSpPr>
          <p:cNvPr id="36904" name="Group 40"/>
          <p:cNvGrpSpPr>
            <a:grpSpLocks/>
          </p:cNvGrpSpPr>
          <p:nvPr/>
        </p:nvGrpSpPr>
        <p:grpSpPr bwMode="auto">
          <a:xfrm>
            <a:off x="4573192" y="3804047"/>
            <a:ext cx="926306" cy="1870472"/>
            <a:chOff x="1260" y="816"/>
            <a:chExt cx="594" cy="1200"/>
          </a:xfrm>
        </p:grpSpPr>
        <p:sp>
          <p:nvSpPr>
            <p:cNvPr id="27750" name="Line 41"/>
            <p:cNvSpPr>
              <a:spLocks noChangeShapeType="1"/>
            </p:cNvSpPr>
            <p:nvPr/>
          </p:nvSpPr>
          <p:spPr bwMode="auto">
            <a:xfrm>
              <a:off x="1260" y="81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51" name="Line 42"/>
            <p:cNvSpPr>
              <a:spLocks noChangeShapeType="1"/>
            </p:cNvSpPr>
            <p:nvPr/>
          </p:nvSpPr>
          <p:spPr bwMode="auto">
            <a:xfrm>
              <a:off x="1854" y="96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907" name="Group 43"/>
          <p:cNvGrpSpPr>
            <a:grpSpLocks/>
          </p:cNvGrpSpPr>
          <p:nvPr/>
        </p:nvGrpSpPr>
        <p:grpSpPr bwMode="auto">
          <a:xfrm>
            <a:off x="3881438" y="4477942"/>
            <a:ext cx="1944291" cy="1121569"/>
            <a:chOff x="816" y="1248"/>
            <a:chExt cx="1248" cy="720"/>
          </a:xfrm>
        </p:grpSpPr>
        <p:sp>
          <p:nvSpPr>
            <p:cNvPr id="27747" name="Line 44"/>
            <p:cNvSpPr>
              <a:spLocks noChangeShapeType="1"/>
            </p:cNvSpPr>
            <p:nvPr/>
          </p:nvSpPr>
          <p:spPr bwMode="auto">
            <a:xfrm>
              <a:off x="1008" y="124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48" name="Line 45"/>
            <p:cNvSpPr>
              <a:spLocks noChangeShapeType="1"/>
            </p:cNvSpPr>
            <p:nvPr/>
          </p:nvSpPr>
          <p:spPr bwMode="auto">
            <a:xfrm>
              <a:off x="816" y="1584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49" name="Line 46"/>
            <p:cNvSpPr>
              <a:spLocks noChangeShapeType="1"/>
            </p:cNvSpPr>
            <p:nvPr/>
          </p:nvSpPr>
          <p:spPr bwMode="auto">
            <a:xfrm>
              <a:off x="1008" y="196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911" name="Group 47"/>
          <p:cNvGrpSpPr>
            <a:grpSpLocks/>
          </p:cNvGrpSpPr>
          <p:nvPr/>
        </p:nvGrpSpPr>
        <p:grpSpPr bwMode="auto">
          <a:xfrm>
            <a:off x="4330305" y="4327923"/>
            <a:ext cx="1510028" cy="1398906"/>
            <a:chOff x="1104" y="1152"/>
            <a:chExt cx="969" cy="898"/>
          </a:xfrm>
        </p:grpSpPr>
        <p:sp>
          <p:nvSpPr>
            <p:cNvPr id="27738" name="Text Box 48"/>
            <p:cNvSpPr txBox="1">
              <a:spLocks noChangeArrowheads="1"/>
            </p:cNvSpPr>
            <p:nvPr/>
          </p:nvSpPr>
          <p:spPr bwMode="auto">
            <a:xfrm>
              <a:off x="1104" y="1488"/>
              <a:ext cx="19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a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27739" name="Group 49"/>
            <p:cNvGrpSpPr>
              <a:grpSpLocks/>
            </p:cNvGrpSpPr>
            <p:nvPr/>
          </p:nvGrpSpPr>
          <p:grpSpPr bwMode="auto">
            <a:xfrm>
              <a:off x="1230" y="1152"/>
              <a:ext cx="843" cy="898"/>
              <a:chOff x="1230" y="1152"/>
              <a:chExt cx="843" cy="898"/>
            </a:xfrm>
          </p:grpSpPr>
          <p:sp>
            <p:nvSpPr>
              <p:cNvPr id="27740" name="Oval 50"/>
              <p:cNvSpPr>
                <a:spLocks noChangeArrowheads="1"/>
              </p:cNvSpPr>
              <p:nvPr/>
            </p:nvSpPr>
            <p:spPr bwMode="auto">
              <a:xfrm>
                <a:off x="1230" y="1554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350"/>
              </a:p>
            </p:txBody>
          </p:sp>
          <p:sp>
            <p:nvSpPr>
              <p:cNvPr id="27741" name="Oval 51"/>
              <p:cNvSpPr>
                <a:spLocks noChangeArrowheads="1"/>
              </p:cNvSpPr>
              <p:nvPr/>
            </p:nvSpPr>
            <p:spPr bwMode="auto">
              <a:xfrm>
                <a:off x="1824" y="156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350"/>
              </a:p>
            </p:txBody>
          </p:sp>
          <p:sp>
            <p:nvSpPr>
              <p:cNvPr id="27742" name="Oval 52"/>
              <p:cNvSpPr>
                <a:spLocks noChangeArrowheads="1"/>
              </p:cNvSpPr>
              <p:nvPr/>
            </p:nvSpPr>
            <p:spPr bwMode="auto">
              <a:xfrm>
                <a:off x="1830" y="1944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350"/>
              </a:p>
            </p:txBody>
          </p:sp>
          <p:sp>
            <p:nvSpPr>
              <p:cNvPr id="27743" name="Text Box 53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196" cy="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Times New Roman" panose="02020603050405020304" pitchFamily="18" charset="0"/>
                  </a:rPr>
                  <a:t>c</a:t>
                </a:r>
                <a:r>
                  <a:rPr lang="en-US" altLang="en-US" sz="12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7744" name="Text Box 54"/>
              <p:cNvSpPr txBox="1">
                <a:spLocks noChangeArrowheads="1"/>
              </p:cNvSpPr>
              <p:nvPr/>
            </p:nvSpPr>
            <p:spPr bwMode="auto">
              <a:xfrm>
                <a:off x="1824" y="1488"/>
                <a:ext cx="201" cy="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Times New Roman" panose="02020603050405020304" pitchFamily="18" charset="0"/>
                  </a:rPr>
                  <a:t>o</a:t>
                </a:r>
                <a:r>
                  <a:rPr lang="en-US" altLang="en-US" sz="12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7745" name="Text Box 55"/>
              <p:cNvSpPr txBox="1">
                <a:spLocks noChangeArrowheads="1"/>
              </p:cNvSpPr>
              <p:nvPr/>
            </p:nvSpPr>
            <p:spPr bwMode="auto">
              <a:xfrm>
                <a:off x="1872" y="1872"/>
                <a:ext cx="201" cy="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Times New Roman" panose="02020603050405020304" pitchFamily="18" charset="0"/>
                  </a:rPr>
                  <a:t>b</a:t>
                </a:r>
                <a:r>
                  <a:rPr lang="en-US" altLang="en-US" sz="12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7746" name="Line 56"/>
              <p:cNvSpPr>
                <a:spLocks noChangeShapeType="1"/>
              </p:cNvSpPr>
              <p:nvPr/>
            </p:nvSpPr>
            <p:spPr bwMode="auto">
              <a:xfrm>
                <a:off x="1860" y="1248"/>
                <a:ext cx="0" cy="7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36921" name="Group 57"/>
          <p:cNvGrpSpPr>
            <a:grpSpLocks/>
          </p:cNvGrpSpPr>
          <p:nvPr/>
        </p:nvGrpSpPr>
        <p:grpSpPr bwMode="auto">
          <a:xfrm>
            <a:off x="4554142" y="4477942"/>
            <a:ext cx="972740" cy="1121569"/>
            <a:chOff x="1248" y="1248"/>
            <a:chExt cx="624" cy="720"/>
          </a:xfrm>
        </p:grpSpPr>
        <p:sp>
          <p:nvSpPr>
            <p:cNvPr id="27735" name="Line 58"/>
            <p:cNvSpPr>
              <a:spLocks noChangeShapeType="1"/>
            </p:cNvSpPr>
            <p:nvPr/>
          </p:nvSpPr>
          <p:spPr bwMode="auto">
            <a:xfrm flipV="1">
              <a:off x="1248" y="1248"/>
              <a:ext cx="62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36" name="Line 59"/>
            <p:cNvSpPr>
              <a:spLocks noChangeShapeType="1"/>
            </p:cNvSpPr>
            <p:nvPr/>
          </p:nvSpPr>
          <p:spPr bwMode="auto">
            <a:xfrm>
              <a:off x="1248" y="1584"/>
              <a:ext cx="624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37" name="Line 60"/>
            <p:cNvSpPr>
              <a:spLocks noChangeShapeType="1"/>
            </p:cNvSpPr>
            <p:nvPr/>
          </p:nvSpPr>
          <p:spPr bwMode="auto">
            <a:xfrm>
              <a:off x="1296" y="1584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925" name="Group 61"/>
          <p:cNvGrpSpPr>
            <a:grpSpLocks/>
          </p:cNvGrpSpPr>
          <p:nvPr/>
        </p:nvGrpSpPr>
        <p:grpSpPr bwMode="auto">
          <a:xfrm>
            <a:off x="6136482" y="4513661"/>
            <a:ext cx="1179910" cy="1072753"/>
            <a:chOff x="2263" y="1271"/>
            <a:chExt cx="757" cy="689"/>
          </a:xfrm>
        </p:grpSpPr>
        <p:sp>
          <p:nvSpPr>
            <p:cNvPr id="27731" name="Oval 62"/>
            <p:cNvSpPr>
              <a:spLocks noChangeArrowheads="1"/>
            </p:cNvSpPr>
            <p:nvPr/>
          </p:nvSpPr>
          <p:spPr bwMode="auto">
            <a:xfrm rot="-2435986">
              <a:off x="2495" y="1271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  <p:sp>
          <p:nvSpPr>
            <p:cNvPr id="27732" name="Oval 63"/>
            <p:cNvSpPr>
              <a:spLocks noChangeArrowheads="1"/>
            </p:cNvSpPr>
            <p:nvPr/>
          </p:nvSpPr>
          <p:spPr bwMode="auto">
            <a:xfrm rot="-2435986">
              <a:off x="2263" y="191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  <p:sp>
          <p:nvSpPr>
            <p:cNvPr id="27733" name="Oval 64"/>
            <p:cNvSpPr>
              <a:spLocks noChangeArrowheads="1"/>
            </p:cNvSpPr>
            <p:nvPr/>
          </p:nvSpPr>
          <p:spPr bwMode="auto">
            <a:xfrm rot="-2435986">
              <a:off x="2718" y="153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  <p:sp>
          <p:nvSpPr>
            <p:cNvPr id="27734" name="Oval 65"/>
            <p:cNvSpPr>
              <a:spLocks noChangeArrowheads="1"/>
            </p:cNvSpPr>
            <p:nvPr/>
          </p:nvSpPr>
          <p:spPr bwMode="auto">
            <a:xfrm rot="-2435986">
              <a:off x="2972" y="181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</p:grpSp>
      <p:grpSp>
        <p:nvGrpSpPr>
          <p:cNvPr id="36930" name="Group 66"/>
          <p:cNvGrpSpPr>
            <a:grpSpLocks/>
          </p:cNvGrpSpPr>
          <p:nvPr/>
        </p:nvGrpSpPr>
        <p:grpSpPr bwMode="auto">
          <a:xfrm>
            <a:off x="5885261" y="4735744"/>
            <a:ext cx="1654525" cy="1036406"/>
            <a:chOff x="2102" y="1414"/>
            <a:chExt cx="1062" cy="665"/>
          </a:xfrm>
        </p:grpSpPr>
        <p:sp>
          <p:nvSpPr>
            <p:cNvPr id="27725" name="Text Box 67"/>
            <p:cNvSpPr txBox="1">
              <a:spLocks noChangeArrowheads="1"/>
            </p:cNvSpPr>
            <p:nvPr/>
          </p:nvSpPr>
          <p:spPr bwMode="auto">
            <a:xfrm rot="19164014">
              <a:off x="2133" y="1884"/>
              <a:ext cx="19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a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726" name="Text Box 68"/>
            <p:cNvSpPr txBox="1">
              <a:spLocks noChangeArrowheads="1"/>
            </p:cNvSpPr>
            <p:nvPr/>
          </p:nvSpPr>
          <p:spPr bwMode="auto">
            <a:xfrm rot="19164014">
              <a:off x="2678" y="1414"/>
              <a:ext cx="201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o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727" name="Text Box 69"/>
            <p:cNvSpPr txBox="1">
              <a:spLocks noChangeArrowheads="1"/>
            </p:cNvSpPr>
            <p:nvPr/>
          </p:nvSpPr>
          <p:spPr bwMode="auto">
            <a:xfrm rot="19164014">
              <a:off x="2963" y="1673"/>
              <a:ext cx="201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728" name="Line 70"/>
            <p:cNvSpPr>
              <a:spLocks noChangeShapeType="1"/>
            </p:cNvSpPr>
            <p:nvPr/>
          </p:nvSpPr>
          <p:spPr bwMode="auto">
            <a:xfrm rot="19164014" flipV="1">
              <a:off x="2102" y="1446"/>
              <a:ext cx="62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29" name="Line 71"/>
            <p:cNvSpPr>
              <a:spLocks noChangeShapeType="1"/>
            </p:cNvSpPr>
            <p:nvPr/>
          </p:nvSpPr>
          <p:spPr bwMode="auto">
            <a:xfrm rot="-2435986">
              <a:off x="2336" y="1695"/>
              <a:ext cx="624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30" name="Line 72"/>
            <p:cNvSpPr>
              <a:spLocks noChangeShapeType="1"/>
            </p:cNvSpPr>
            <p:nvPr/>
          </p:nvSpPr>
          <p:spPr bwMode="auto">
            <a:xfrm rot="-2435986">
              <a:off x="2253" y="1726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937" name="Text Box 73"/>
          <p:cNvSpPr txBox="1">
            <a:spLocks noChangeArrowheads="1"/>
          </p:cNvSpPr>
          <p:nvPr/>
        </p:nvSpPr>
        <p:spPr bwMode="auto">
          <a:xfrm>
            <a:off x="5713810" y="3730229"/>
            <a:ext cx="364202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50">
                <a:latin typeface="Times New Roman" panose="02020603050405020304" pitchFamily="18" charset="0"/>
              </a:rPr>
              <a:t>90</a:t>
            </a:r>
            <a:r>
              <a:rPr lang="en-US" altLang="en-US" sz="1050" baseline="30000"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36938" name="Group 74"/>
          <p:cNvGrpSpPr>
            <a:grpSpLocks/>
          </p:cNvGrpSpPr>
          <p:nvPr/>
        </p:nvGrpSpPr>
        <p:grpSpPr bwMode="auto">
          <a:xfrm>
            <a:off x="6253162" y="4149330"/>
            <a:ext cx="539354" cy="391715"/>
            <a:chOff x="2352" y="1044"/>
            <a:chExt cx="346" cy="252"/>
          </a:xfrm>
        </p:grpSpPr>
        <p:sp>
          <p:nvSpPr>
            <p:cNvPr id="27721" name="Line 75"/>
            <p:cNvSpPr>
              <a:spLocks noChangeShapeType="1"/>
            </p:cNvSpPr>
            <p:nvPr/>
          </p:nvSpPr>
          <p:spPr bwMode="auto">
            <a:xfrm flipH="1" flipV="1">
              <a:off x="2352" y="1056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7722" name="Group 76"/>
            <p:cNvGrpSpPr>
              <a:grpSpLocks/>
            </p:cNvGrpSpPr>
            <p:nvPr/>
          </p:nvGrpSpPr>
          <p:grpSpPr bwMode="auto">
            <a:xfrm>
              <a:off x="2400" y="1044"/>
              <a:ext cx="298" cy="204"/>
              <a:chOff x="2352" y="1008"/>
              <a:chExt cx="298" cy="204"/>
            </a:xfrm>
          </p:grpSpPr>
          <p:sp>
            <p:nvSpPr>
              <p:cNvPr id="27723" name="Text Box 77"/>
              <p:cNvSpPr txBox="1">
                <a:spLocks noChangeArrowheads="1"/>
              </p:cNvSpPr>
              <p:nvPr/>
            </p:nvSpPr>
            <p:spPr bwMode="auto">
              <a:xfrm>
                <a:off x="2352" y="1008"/>
                <a:ext cx="298" cy="1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50">
                    <a:latin typeface="Times New Roman" panose="02020603050405020304" pitchFamily="18" charset="0"/>
                  </a:rPr>
                  <a:t>45</a:t>
                </a:r>
                <a:r>
                  <a:rPr lang="en-US" altLang="en-US" sz="1050" baseline="30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7724" name="Arc 78"/>
              <p:cNvSpPr>
                <a:spLocks/>
              </p:cNvSpPr>
              <p:nvPr/>
            </p:nvSpPr>
            <p:spPr bwMode="auto">
              <a:xfrm rot="4681729">
                <a:off x="2466" y="1068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36943" name="Line 79"/>
          <p:cNvSpPr>
            <a:spLocks noChangeShapeType="1"/>
          </p:cNvSpPr>
          <p:nvPr/>
        </p:nvSpPr>
        <p:spPr bwMode="auto">
          <a:xfrm flipV="1">
            <a:off x="6125766" y="3206355"/>
            <a:ext cx="0" cy="2393156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44" name="Line 80"/>
          <p:cNvSpPr>
            <a:spLocks noChangeShapeType="1"/>
          </p:cNvSpPr>
          <p:nvPr/>
        </p:nvSpPr>
        <p:spPr bwMode="auto">
          <a:xfrm flipV="1">
            <a:off x="6873479" y="3206353"/>
            <a:ext cx="0" cy="17192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45" name="Line 81"/>
          <p:cNvSpPr>
            <a:spLocks noChangeShapeType="1"/>
          </p:cNvSpPr>
          <p:nvPr/>
        </p:nvSpPr>
        <p:spPr bwMode="auto">
          <a:xfrm flipV="1">
            <a:off x="7247335" y="3206355"/>
            <a:ext cx="0" cy="216812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46" name="Line 82"/>
          <p:cNvSpPr>
            <a:spLocks noChangeShapeType="1"/>
          </p:cNvSpPr>
          <p:nvPr/>
        </p:nvSpPr>
        <p:spPr bwMode="auto">
          <a:xfrm>
            <a:off x="5526881" y="3206354"/>
            <a:ext cx="1795463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47" name="Line 83"/>
          <p:cNvSpPr>
            <a:spLocks noChangeShapeType="1"/>
          </p:cNvSpPr>
          <p:nvPr/>
        </p:nvSpPr>
        <p:spPr bwMode="auto">
          <a:xfrm>
            <a:off x="4554141" y="3879056"/>
            <a:ext cx="2843213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948" name="Group 84"/>
          <p:cNvGrpSpPr>
            <a:grpSpLocks/>
          </p:cNvGrpSpPr>
          <p:nvPr/>
        </p:nvGrpSpPr>
        <p:grpSpPr bwMode="auto">
          <a:xfrm>
            <a:off x="6050756" y="3206354"/>
            <a:ext cx="1196579" cy="1037034"/>
            <a:chOff x="2232" y="408"/>
            <a:chExt cx="768" cy="666"/>
          </a:xfrm>
        </p:grpSpPr>
        <p:sp>
          <p:nvSpPr>
            <p:cNvPr id="27717" name="Oval 85"/>
            <p:cNvSpPr>
              <a:spLocks noChangeArrowheads="1"/>
            </p:cNvSpPr>
            <p:nvPr/>
          </p:nvSpPr>
          <p:spPr bwMode="auto">
            <a:xfrm>
              <a:off x="2712" y="4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  <p:sp>
          <p:nvSpPr>
            <p:cNvPr id="27718" name="Oval 86"/>
            <p:cNvSpPr>
              <a:spLocks noChangeArrowheads="1"/>
            </p:cNvSpPr>
            <p:nvPr/>
          </p:nvSpPr>
          <p:spPr bwMode="auto">
            <a:xfrm>
              <a:off x="2232" y="83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  <p:sp>
          <p:nvSpPr>
            <p:cNvPr id="27719" name="Oval 87"/>
            <p:cNvSpPr>
              <a:spLocks noChangeArrowheads="1"/>
            </p:cNvSpPr>
            <p:nvPr/>
          </p:nvSpPr>
          <p:spPr bwMode="auto">
            <a:xfrm>
              <a:off x="2520" y="101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  <p:sp>
          <p:nvSpPr>
            <p:cNvPr id="27720" name="Oval 88"/>
            <p:cNvSpPr>
              <a:spLocks noChangeArrowheads="1"/>
            </p:cNvSpPr>
            <p:nvPr/>
          </p:nvSpPr>
          <p:spPr bwMode="auto">
            <a:xfrm>
              <a:off x="2952" y="102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</p:grpSp>
      <p:grpSp>
        <p:nvGrpSpPr>
          <p:cNvPr id="36953" name="Group 89"/>
          <p:cNvGrpSpPr>
            <a:grpSpLocks/>
          </p:cNvGrpSpPr>
          <p:nvPr/>
        </p:nvGrpSpPr>
        <p:grpSpPr bwMode="auto">
          <a:xfrm>
            <a:off x="6462322" y="4351173"/>
            <a:ext cx="475453" cy="1192379"/>
            <a:chOff x="3661" y="1352"/>
            <a:chExt cx="305" cy="765"/>
          </a:xfrm>
        </p:grpSpPr>
        <p:sp>
          <p:nvSpPr>
            <p:cNvPr id="27715" name="Text Box 90"/>
            <p:cNvSpPr txBox="1">
              <a:spLocks noChangeArrowheads="1"/>
            </p:cNvSpPr>
            <p:nvPr/>
          </p:nvSpPr>
          <p:spPr bwMode="auto">
            <a:xfrm rot="19164014">
              <a:off x="3661" y="1352"/>
              <a:ext cx="19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c</a:t>
              </a:r>
              <a:r>
                <a:rPr lang="en-US" altLang="en-US" sz="12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716" name="Line 91"/>
            <p:cNvSpPr>
              <a:spLocks noChangeShapeType="1"/>
            </p:cNvSpPr>
            <p:nvPr/>
          </p:nvSpPr>
          <p:spPr bwMode="auto">
            <a:xfrm rot="-2435986">
              <a:off x="3966" y="1397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956" name="Line 92"/>
          <p:cNvSpPr>
            <a:spLocks noChangeShapeType="1"/>
          </p:cNvSpPr>
          <p:nvPr/>
        </p:nvSpPr>
        <p:spPr bwMode="auto">
          <a:xfrm flipV="1">
            <a:off x="6546056" y="3225405"/>
            <a:ext cx="0" cy="1345406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57" name="Text Box 93"/>
          <p:cNvSpPr txBox="1">
            <a:spLocks noChangeArrowheads="1"/>
          </p:cNvSpPr>
          <p:nvPr/>
        </p:nvSpPr>
        <p:spPr bwMode="auto">
          <a:xfrm>
            <a:off x="6274594" y="4029076"/>
            <a:ext cx="31290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 b="1">
                <a:latin typeface="Times New Roman" panose="02020603050405020304" pitchFamily="18" charset="0"/>
              </a:rPr>
              <a:t>c’</a:t>
            </a:r>
            <a:r>
              <a:rPr lang="en-US" altLang="en-US" sz="9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58" name="Line 94"/>
          <p:cNvSpPr>
            <a:spLocks noChangeShapeType="1"/>
          </p:cNvSpPr>
          <p:nvPr/>
        </p:nvSpPr>
        <p:spPr bwMode="auto">
          <a:xfrm>
            <a:off x="6125767" y="3879058"/>
            <a:ext cx="448865" cy="2988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59" name="Line 95"/>
          <p:cNvSpPr>
            <a:spLocks noChangeShapeType="1"/>
          </p:cNvSpPr>
          <p:nvPr/>
        </p:nvSpPr>
        <p:spPr bwMode="auto">
          <a:xfrm>
            <a:off x="6574631" y="4177904"/>
            <a:ext cx="67270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60" name="Line 96"/>
          <p:cNvSpPr>
            <a:spLocks noChangeShapeType="1"/>
          </p:cNvSpPr>
          <p:nvPr/>
        </p:nvSpPr>
        <p:spPr bwMode="auto">
          <a:xfrm flipH="1" flipV="1">
            <a:off x="6873480" y="3206354"/>
            <a:ext cx="373856" cy="971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61" name="Line 97"/>
          <p:cNvSpPr>
            <a:spLocks noChangeShapeType="1"/>
          </p:cNvSpPr>
          <p:nvPr/>
        </p:nvSpPr>
        <p:spPr bwMode="auto">
          <a:xfrm flipH="1">
            <a:off x="6125766" y="3206355"/>
            <a:ext cx="747713" cy="6727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62" name="Line 98"/>
          <p:cNvSpPr>
            <a:spLocks noChangeShapeType="1"/>
          </p:cNvSpPr>
          <p:nvPr/>
        </p:nvSpPr>
        <p:spPr bwMode="auto">
          <a:xfrm flipH="1">
            <a:off x="5133976" y="3131344"/>
            <a:ext cx="373856" cy="972741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963" name="Group 99"/>
          <p:cNvGrpSpPr>
            <a:grpSpLocks/>
          </p:cNvGrpSpPr>
          <p:nvPr/>
        </p:nvGrpSpPr>
        <p:grpSpPr bwMode="auto">
          <a:xfrm>
            <a:off x="5415437" y="3108170"/>
            <a:ext cx="479356" cy="1111958"/>
            <a:chOff x="3594" y="1185"/>
            <a:chExt cx="308" cy="714"/>
          </a:xfrm>
        </p:grpSpPr>
        <p:sp>
          <p:nvSpPr>
            <p:cNvPr id="27710" name="Text Box 100"/>
            <p:cNvSpPr txBox="1">
              <a:spLocks noChangeArrowheads="1"/>
            </p:cNvSpPr>
            <p:nvPr/>
          </p:nvSpPr>
          <p:spPr bwMode="auto">
            <a:xfrm rot="1021896">
              <a:off x="3613" y="1693"/>
              <a:ext cx="201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b’</a:t>
              </a:r>
            </a:p>
          </p:txBody>
        </p:sp>
        <p:sp>
          <p:nvSpPr>
            <p:cNvPr id="27711" name="Text Box 101"/>
            <p:cNvSpPr txBox="1">
              <a:spLocks noChangeArrowheads="1"/>
            </p:cNvSpPr>
            <p:nvPr/>
          </p:nvSpPr>
          <p:spPr bwMode="auto">
            <a:xfrm rot="1021896">
              <a:off x="3706" y="1721"/>
              <a:ext cx="19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c’</a:t>
              </a:r>
            </a:p>
          </p:txBody>
        </p:sp>
        <p:sp>
          <p:nvSpPr>
            <p:cNvPr id="27712" name="Text Box 102"/>
            <p:cNvSpPr txBox="1">
              <a:spLocks noChangeArrowheads="1"/>
            </p:cNvSpPr>
            <p:nvPr/>
          </p:nvSpPr>
          <p:spPr bwMode="auto">
            <a:xfrm rot="1021896">
              <a:off x="3594" y="1185"/>
              <a:ext cx="201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o’</a:t>
              </a:r>
            </a:p>
          </p:txBody>
        </p:sp>
        <p:sp>
          <p:nvSpPr>
            <p:cNvPr id="27713" name="Line 103"/>
            <p:cNvSpPr>
              <a:spLocks noChangeShapeType="1"/>
            </p:cNvSpPr>
            <p:nvPr/>
          </p:nvSpPr>
          <p:spPr bwMode="auto">
            <a:xfrm>
              <a:off x="3644" y="1249"/>
              <a:ext cx="0" cy="6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14" name="Arc 104"/>
            <p:cNvSpPr>
              <a:spLocks/>
            </p:cNvSpPr>
            <p:nvPr/>
          </p:nvSpPr>
          <p:spPr bwMode="auto">
            <a:xfrm>
              <a:off x="3662" y="164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6969" name="Line 105"/>
          <p:cNvSpPr>
            <a:spLocks noChangeShapeType="1"/>
          </p:cNvSpPr>
          <p:nvPr/>
        </p:nvSpPr>
        <p:spPr bwMode="auto">
          <a:xfrm flipH="1" flipV="1">
            <a:off x="6125767" y="3879058"/>
            <a:ext cx="1121569" cy="298847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70" name="Line 106"/>
          <p:cNvSpPr>
            <a:spLocks noChangeShapeType="1"/>
          </p:cNvSpPr>
          <p:nvPr/>
        </p:nvSpPr>
        <p:spPr bwMode="auto">
          <a:xfrm flipV="1">
            <a:off x="6574633" y="3206354"/>
            <a:ext cx="298847" cy="971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971" name="Group 107"/>
          <p:cNvGrpSpPr>
            <a:grpSpLocks/>
          </p:cNvGrpSpPr>
          <p:nvPr/>
        </p:nvGrpSpPr>
        <p:grpSpPr bwMode="auto">
          <a:xfrm>
            <a:off x="5900738" y="2944417"/>
            <a:ext cx="1640199" cy="1235800"/>
            <a:chOff x="2112" y="264"/>
            <a:chExt cx="1052" cy="793"/>
          </a:xfrm>
        </p:grpSpPr>
        <p:sp>
          <p:nvSpPr>
            <p:cNvPr id="27707" name="Text Box 108"/>
            <p:cNvSpPr txBox="1">
              <a:spLocks noChangeArrowheads="1"/>
            </p:cNvSpPr>
            <p:nvPr/>
          </p:nvSpPr>
          <p:spPr bwMode="auto">
            <a:xfrm>
              <a:off x="2112" y="672"/>
              <a:ext cx="214" cy="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50">
                  <a:latin typeface="Times New Roman" panose="02020603050405020304" pitchFamily="18" charset="0"/>
                </a:rPr>
                <a:t>a’</a:t>
              </a:r>
              <a:r>
                <a:rPr lang="en-US" altLang="en-US" sz="105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708" name="Text Box 109"/>
            <p:cNvSpPr txBox="1">
              <a:spLocks noChangeArrowheads="1"/>
            </p:cNvSpPr>
            <p:nvPr/>
          </p:nvSpPr>
          <p:spPr bwMode="auto">
            <a:xfrm>
              <a:off x="2688" y="264"/>
              <a:ext cx="219" cy="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50">
                  <a:latin typeface="Times New Roman" panose="02020603050405020304" pitchFamily="18" charset="0"/>
                </a:rPr>
                <a:t>o’</a:t>
              </a:r>
              <a:r>
                <a:rPr lang="en-US" altLang="en-US" sz="105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709" name="Text Box 110"/>
            <p:cNvSpPr txBox="1">
              <a:spLocks noChangeArrowheads="1"/>
            </p:cNvSpPr>
            <p:nvPr/>
          </p:nvSpPr>
          <p:spPr bwMode="auto">
            <a:xfrm>
              <a:off x="2945" y="894"/>
              <a:ext cx="219" cy="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50">
                  <a:latin typeface="Times New Roman" panose="02020603050405020304" pitchFamily="18" charset="0"/>
                </a:rPr>
                <a:t>b’</a:t>
              </a:r>
              <a:r>
                <a:rPr lang="en-US" altLang="en-US" sz="105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36975" name="Group 111"/>
          <p:cNvGrpSpPr>
            <a:grpSpLocks/>
          </p:cNvGrpSpPr>
          <p:nvPr/>
        </p:nvGrpSpPr>
        <p:grpSpPr bwMode="auto">
          <a:xfrm>
            <a:off x="1164432" y="1885950"/>
            <a:ext cx="1578769" cy="3208734"/>
            <a:chOff x="18" y="864"/>
            <a:chExt cx="1326" cy="2695"/>
          </a:xfrm>
        </p:grpSpPr>
        <p:sp>
          <p:nvSpPr>
            <p:cNvPr id="27705" name="Rectangle 112"/>
            <p:cNvSpPr>
              <a:spLocks noChangeArrowheads="1"/>
            </p:cNvSpPr>
            <p:nvPr/>
          </p:nvSpPr>
          <p:spPr bwMode="auto">
            <a:xfrm>
              <a:off x="18" y="864"/>
              <a:ext cx="1248" cy="254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350"/>
            </a:p>
          </p:txBody>
        </p:sp>
        <p:sp>
          <p:nvSpPr>
            <p:cNvPr id="27706" name="Text Box 113"/>
            <p:cNvSpPr txBox="1">
              <a:spLocks noChangeArrowheads="1"/>
            </p:cNvSpPr>
            <p:nvPr/>
          </p:nvSpPr>
          <p:spPr bwMode="auto">
            <a:xfrm>
              <a:off x="24" y="864"/>
              <a:ext cx="1320" cy="26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IMPORTANT: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Tetrahedron is a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special type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of triangular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pyramid in which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base sides &amp;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slant edges are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equal in length.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Solid of four faces.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Like cube it is also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described by One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dimension only..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Axis length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generally not given.</a:t>
              </a:r>
            </a:p>
          </p:txBody>
        </p:sp>
      </p:grpSp>
      <p:grpSp>
        <p:nvGrpSpPr>
          <p:cNvPr id="36978" name="Group 114"/>
          <p:cNvGrpSpPr>
            <a:grpSpLocks/>
          </p:cNvGrpSpPr>
          <p:nvPr/>
        </p:nvGrpSpPr>
        <p:grpSpPr bwMode="auto">
          <a:xfrm>
            <a:off x="3886200" y="857251"/>
            <a:ext cx="4129088" cy="2284809"/>
            <a:chOff x="2304" y="0"/>
            <a:chExt cx="3468" cy="1919"/>
          </a:xfrm>
        </p:grpSpPr>
        <p:sp>
          <p:nvSpPr>
            <p:cNvPr id="27703" name="AutoShape 115"/>
            <p:cNvSpPr>
              <a:spLocks noChangeArrowheads="1"/>
            </p:cNvSpPr>
            <p:nvPr/>
          </p:nvSpPr>
          <p:spPr bwMode="auto">
            <a:xfrm>
              <a:off x="2304" y="0"/>
              <a:ext cx="3465" cy="1488"/>
            </a:xfrm>
            <a:prstGeom prst="wedgeRoundRectCallout">
              <a:avLst>
                <a:gd name="adj1" fmla="val -42208"/>
                <a:gd name="adj2" fmla="val 70028"/>
                <a:gd name="adj3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050">
                <a:latin typeface="Times New Roman" panose="02020603050405020304" pitchFamily="18" charset="0"/>
              </a:endParaRPr>
            </a:p>
          </p:txBody>
        </p:sp>
        <p:sp>
          <p:nvSpPr>
            <p:cNvPr id="27704" name="Text Box 116"/>
            <p:cNvSpPr txBox="1">
              <a:spLocks noChangeArrowheads="1"/>
            </p:cNvSpPr>
            <p:nvPr/>
          </p:nvSpPr>
          <p:spPr bwMode="auto">
            <a:xfrm>
              <a:off x="2352" y="0"/>
              <a:ext cx="3420" cy="1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  Solution Steps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As it is resting assume it standing on Hp.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Begin with Tv , an equilateral triangle as side case as shown: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First project base points of Fv on xy, name those &amp; axis line.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From a’ with TL of edge, 50 mm, cut on axis line &amp; mark o’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(as axis is not known, o’ is finalized by slant edge length)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Then complete Fv.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In 2</a:t>
              </a:r>
              <a:r>
                <a:rPr lang="en-US" altLang="en-US" sz="1200" b="1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nd</a:t>
              </a: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Fv make face o’b’c’ vertical as said in problem.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And like all previous problems solve completely.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5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8839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6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6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6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6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6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6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6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6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9" dur="500"/>
                                        <p:tgtEl>
                                          <p:spTgt spid="3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6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6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6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36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36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6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6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6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6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36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4" dur="500"/>
                                        <p:tgtEl>
                                          <p:spTgt spid="3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36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36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36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36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36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36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36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36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36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36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36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36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6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6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36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36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36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36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36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36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36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36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36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36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87" dur="500"/>
                                        <p:tgtEl>
                                          <p:spTgt spid="3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2" dur="500"/>
                                        <p:tgtEl>
                                          <p:spTgt spid="36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 nodeType="clickPar">
                      <p:stCondLst>
                        <p:cond delay="indefinite"/>
                      </p:stCondLst>
                      <p:childTnLst>
                        <p:par>
                          <p:cTn id="2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7" dur="500"/>
                                        <p:tgtEl>
                                          <p:spTgt spid="36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36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36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36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36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10" dur="500"/>
                                        <p:tgtEl>
                                          <p:spTgt spid="3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5" dur="500"/>
                                        <p:tgtEl>
                                          <p:spTgt spid="3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77" grpId="0" autoUpdateAnimBg="0"/>
      <p:bldP spid="36889" grpId="0" autoUpdateAnimBg="0"/>
      <p:bldP spid="36937" grpId="0" autoUpdateAnimBg="0"/>
      <p:bldP spid="3695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777875" y="1041400"/>
            <a:ext cx="7245350" cy="4133850"/>
            <a:chOff x="490" y="656"/>
            <a:chExt cx="4564" cy="2604"/>
          </a:xfrm>
        </p:grpSpPr>
        <p:sp>
          <p:nvSpPr>
            <p:cNvPr id="29703" name="Text Box 3"/>
            <p:cNvSpPr txBox="1">
              <a:spLocks noChangeArrowheads="1"/>
            </p:cNvSpPr>
            <p:nvPr/>
          </p:nvSpPr>
          <p:spPr bwMode="auto">
            <a:xfrm>
              <a:off x="490" y="656"/>
              <a:ext cx="4564" cy="4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FREELY SUSPENDED SOLIDS: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Positions of CG, on axis, from base, for different solids are shown below.</a:t>
              </a:r>
              <a:endPara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04" name="Rectangle 4"/>
            <p:cNvSpPr>
              <a:spLocks noChangeArrowheads="1"/>
            </p:cNvSpPr>
            <p:nvPr/>
          </p:nvSpPr>
          <p:spPr bwMode="auto">
            <a:xfrm>
              <a:off x="1163" y="1417"/>
              <a:ext cx="820" cy="141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05" name="AutoShape 5"/>
            <p:cNvSpPr>
              <a:spLocks noChangeArrowheads="1"/>
            </p:cNvSpPr>
            <p:nvPr/>
          </p:nvSpPr>
          <p:spPr bwMode="auto">
            <a:xfrm>
              <a:off x="3325" y="1417"/>
              <a:ext cx="1119" cy="141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06" name="Line 6"/>
            <p:cNvSpPr>
              <a:spLocks noChangeShapeType="1"/>
            </p:cNvSpPr>
            <p:nvPr/>
          </p:nvSpPr>
          <p:spPr bwMode="auto">
            <a:xfrm>
              <a:off x="2132" y="1417"/>
              <a:ext cx="11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07" name="Line 7"/>
            <p:cNvSpPr>
              <a:spLocks noChangeShapeType="1"/>
            </p:cNvSpPr>
            <p:nvPr/>
          </p:nvSpPr>
          <p:spPr bwMode="auto">
            <a:xfrm>
              <a:off x="2058" y="2834"/>
              <a:ext cx="1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08" name="Line 8"/>
            <p:cNvSpPr>
              <a:spLocks noChangeShapeType="1"/>
            </p:cNvSpPr>
            <p:nvPr/>
          </p:nvSpPr>
          <p:spPr bwMode="auto">
            <a:xfrm>
              <a:off x="2729" y="1417"/>
              <a:ext cx="0" cy="14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09" name="Text Box 9"/>
            <p:cNvSpPr txBox="1">
              <a:spLocks noChangeArrowheads="1"/>
            </p:cNvSpPr>
            <p:nvPr/>
          </p:nvSpPr>
          <p:spPr bwMode="auto">
            <a:xfrm>
              <a:off x="2497" y="1924"/>
              <a:ext cx="20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9710" name="Text Box 10"/>
            <p:cNvSpPr txBox="1">
              <a:spLocks noChangeArrowheads="1"/>
            </p:cNvSpPr>
            <p:nvPr/>
          </p:nvSpPr>
          <p:spPr bwMode="auto">
            <a:xfrm>
              <a:off x="576" y="2345"/>
              <a:ext cx="30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H/2</a:t>
              </a:r>
            </a:p>
          </p:txBody>
        </p:sp>
        <p:sp>
          <p:nvSpPr>
            <p:cNvPr id="29711" name="Text Box 11"/>
            <p:cNvSpPr txBox="1">
              <a:spLocks noChangeArrowheads="1"/>
            </p:cNvSpPr>
            <p:nvPr/>
          </p:nvSpPr>
          <p:spPr bwMode="auto">
            <a:xfrm>
              <a:off x="4615" y="2543"/>
              <a:ext cx="30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H/4</a:t>
              </a:r>
            </a:p>
          </p:txBody>
        </p:sp>
        <p:sp>
          <p:nvSpPr>
            <p:cNvPr id="29712" name="Line 12"/>
            <p:cNvSpPr>
              <a:spLocks noChangeShapeType="1"/>
            </p:cNvSpPr>
            <p:nvPr/>
          </p:nvSpPr>
          <p:spPr bwMode="auto">
            <a:xfrm>
              <a:off x="1564" y="1361"/>
              <a:ext cx="0" cy="1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3" name="Line 13"/>
            <p:cNvSpPr>
              <a:spLocks noChangeShapeType="1"/>
            </p:cNvSpPr>
            <p:nvPr/>
          </p:nvSpPr>
          <p:spPr bwMode="auto">
            <a:xfrm>
              <a:off x="3875" y="1380"/>
              <a:ext cx="0" cy="1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4" name="Line 14"/>
            <p:cNvSpPr>
              <a:spLocks noChangeShapeType="1"/>
            </p:cNvSpPr>
            <p:nvPr/>
          </p:nvSpPr>
          <p:spPr bwMode="auto">
            <a:xfrm>
              <a:off x="865" y="2834"/>
              <a:ext cx="3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5" name="Line 15"/>
            <p:cNvSpPr>
              <a:spLocks noChangeShapeType="1"/>
            </p:cNvSpPr>
            <p:nvPr/>
          </p:nvSpPr>
          <p:spPr bwMode="auto">
            <a:xfrm>
              <a:off x="790" y="2098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6" name="Line 16"/>
            <p:cNvSpPr>
              <a:spLocks noChangeShapeType="1"/>
            </p:cNvSpPr>
            <p:nvPr/>
          </p:nvSpPr>
          <p:spPr bwMode="auto">
            <a:xfrm>
              <a:off x="3847" y="2461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7" name="Line 17"/>
            <p:cNvSpPr>
              <a:spLocks noChangeShapeType="1"/>
            </p:cNvSpPr>
            <p:nvPr/>
          </p:nvSpPr>
          <p:spPr bwMode="auto">
            <a:xfrm>
              <a:off x="3847" y="2834"/>
              <a:ext cx="11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8" name="Line 18"/>
            <p:cNvSpPr>
              <a:spLocks noChangeShapeType="1"/>
            </p:cNvSpPr>
            <p:nvPr/>
          </p:nvSpPr>
          <p:spPr bwMode="auto">
            <a:xfrm>
              <a:off x="4593" y="2461"/>
              <a:ext cx="0" cy="3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9" name="Line 19"/>
            <p:cNvSpPr>
              <a:spLocks noChangeShapeType="1"/>
            </p:cNvSpPr>
            <p:nvPr/>
          </p:nvSpPr>
          <p:spPr bwMode="auto">
            <a:xfrm>
              <a:off x="939" y="2089"/>
              <a:ext cx="0" cy="7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20" name="Text Box 20"/>
            <p:cNvSpPr txBox="1">
              <a:spLocks noChangeArrowheads="1"/>
            </p:cNvSpPr>
            <p:nvPr/>
          </p:nvSpPr>
          <p:spPr bwMode="auto">
            <a:xfrm>
              <a:off x="934" y="2893"/>
              <a:ext cx="1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Times New Roman" panose="02020603050405020304" pitchFamily="18" charset="0"/>
                </a:rPr>
                <a:t>GROUP A SOLIDS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Times New Roman" panose="02020603050405020304" pitchFamily="18" charset="0"/>
                </a:rPr>
                <a:t>( Cylinder &amp; Prisms)</a:t>
              </a:r>
            </a:p>
          </p:txBody>
        </p:sp>
        <p:sp>
          <p:nvSpPr>
            <p:cNvPr id="29721" name="Text Box 21"/>
            <p:cNvSpPr txBox="1">
              <a:spLocks noChangeArrowheads="1"/>
            </p:cNvSpPr>
            <p:nvPr/>
          </p:nvSpPr>
          <p:spPr bwMode="auto">
            <a:xfrm>
              <a:off x="3263" y="2893"/>
              <a:ext cx="1249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Times New Roman" panose="02020603050405020304" pitchFamily="18" charset="0"/>
                </a:rPr>
                <a:t>GROUP B SOLIDS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Times New Roman" panose="02020603050405020304" pitchFamily="18" charset="0"/>
                </a:rPr>
                <a:t>( Cone  &amp; Pyramids)</a:t>
              </a:r>
            </a:p>
          </p:txBody>
        </p:sp>
      </p:grpSp>
      <p:sp>
        <p:nvSpPr>
          <p:cNvPr id="29699" name="Text Box 22"/>
          <p:cNvSpPr txBox="1">
            <a:spLocks noChangeArrowheads="1"/>
          </p:cNvSpPr>
          <p:nvPr/>
        </p:nvSpPr>
        <p:spPr bwMode="auto">
          <a:xfrm>
            <a:off x="2514600" y="3200400"/>
            <a:ext cx="450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  <a:latin typeface="Times New Roman" panose="02020603050405020304" pitchFamily="18" charset="0"/>
              </a:rPr>
              <a:t>CG</a:t>
            </a:r>
          </a:p>
        </p:txBody>
      </p:sp>
      <p:sp>
        <p:nvSpPr>
          <p:cNvPr id="29700" name="Text Box 23"/>
          <p:cNvSpPr txBox="1">
            <a:spLocks noChangeArrowheads="1"/>
          </p:cNvSpPr>
          <p:nvPr/>
        </p:nvSpPr>
        <p:spPr bwMode="auto">
          <a:xfrm>
            <a:off x="5715000" y="3733800"/>
            <a:ext cx="450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  <a:latin typeface="Times New Roman" panose="02020603050405020304" pitchFamily="18" charset="0"/>
              </a:rPr>
              <a:t>CG</a:t>
            </a:r>
          </a:p>
        </p:txBody>
      </p:sp>
      <p:sp>
        <p:nvSpPr>
          <p:cNvPr id="29701" name="Oval 24"/>
          <p:cNvSpPr>
            <a:spLocks noChangeArrowheads="1"/>
          </p:cNvSpPr>
          <p:nvPr/>
        </p:nvSpPr>
        <p:spPr bwMode="auto">
          <a:xfrm>
            <a:off x="2438400" y="3276600"/>
            <a:ext cx="76200" cy="76200"/>
          </a:xfrm>
          <a:prstGeom prst="ellipse">
            <a:avLst/>
          </a:prstGeom>
          <a:solidFill>
            <a:srgbClr val="33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2" name="Oval 25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rgbClr val="33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2"/>
          <p:cNvSpPr>
            <a:spLocks noChangeArrowheads="1"/>
          </p:cNvSpPr>
          <p:nvPr/>
        </p:nvSpPr>
        <p:spPr bwMode="auto">
          <a:xfrm rot="-7545332">
            <a:off x="3555207" y="4217193"/>
            <a:ext cx="1066800" cy="1014413"/>
          </a:xfrm>
          <a:prstGeom prst="pentag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963" name="Line 3"/>
          <p:cNvSpPr>
            <a:spLocks noChangeShapeType="1"/>
          </p:cNvSpPr>
          <p:nvPr/>
        </p:nvSpPr>
        <p:spPr bwMode="auto">
          <a:xfrm>
            <a:off x="2819400" y="3886200"/>
            <a:ext cx="594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2647950" y="3733800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8442325" y="3592513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 flipH="1">
            <a:off x="4114800" y="41910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67" name="Line 7"/>
          <p:cNvSpPr>
            <a:spLocks noChangeShapeType="1"/>
          </p:cNvSpPr>
          <p:nvPr/>
        </p:nvSpPr>
        <p:spPr bwMode="auto">
          <a:xfrm>
            <a:off x="3657600" y="4343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68" name="Line 8"/>
          <p:cNvSpPr>
            <a:spLocks noChangeShapeType="1"/>
          </p:cNvSpPr>
          <p:nvPr/>
        </p:nvSpPr>
        <p:spPr bwMode="auto">
          <a:xfrm flipH="1" flipV="1">
            <a:off x="4114800" y="47244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 flipV="1">
            <a:off x="3657600" y="47244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0" name="Line 10"/>
          <p:cNvSpPr>
            <a:spLocks noChangeShapeType="1"/>
          </p:cNvSpPr>
          <p:nvPr/>
        </p:nvSpPr>
        <p:spPr bwMode="auto">
          <a:xfrm>
            <a:off x="4114800" y="47148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 flipV="1">
            <a:off x="36576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 flipV="1">
            <a:off x="4114800" y="24003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3" name="Line 13"/>
          <p:cNvSpPr>
            <a:spLocks noChangeShapeType="1"/>
          </p:cNvSpPr>
          <p:nvPr/>
        </p:nvSpPr>
        <p:spPr bwMode="auto">
          <a:xfrm flipV="1">
            <a:off x="4267200" y="3810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 flipV="1">
            <a:off x="4676775" y="386715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5" name="Line 15"/>
          <p:cNvSpPr>
            <a:spLocks noChangeShapeType="1"/>
          </p:cNvSpPr>
          <p:nvPr/>
        </p:nvSpPr>
        <p:spPr bwMode="auto">
          <a:xfrm flipH="1">
            <a:off x="3657600" y="2438400"/>
            <a:ext cx="457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6" name="Line 16"/>
          <p:cNvSpPr>
            <a:spLocks noChangeShapeType="1"/>
          </p:cNvSpPr>
          <p:nvPr/>
        </p:nvSpPr>
        <p:spPr bwMode="auto">
          <a:xfrm rot="-69725">
            <a:off x="4133850" y="2438400"/>
            <a:ext cx="533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7" name="Line 17"/>
          <p:cNvSpPr>
            <a:spLocks noChangeShapeType="1"/>
          </p:cNvSpPr>
          <p:nvPr/>
        </p:nvSpPr>
        <p:spPr bwMode="auto">
          <a:xfrm>
            <a:off x="4114800" y="2438400"/>
            <a:ext cx="152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0978" name="Group 18"/>
          <p:cNvGrpSpPr>
            <a:grpSpLocks/>
          </p:cNvGrpSpPr>
          <p:nvPr/>
        </p:nvGrpSpPr>
        <p:grpSpPr bwMode="auto">
          <a:xfrm>
            <a:off x="3438525" y="2238375"/>
            <a:ext cx="1541463" cy="1743075"/>
            <a:chOff x="822" y="1026"/>
            <a:chExt cx="971" cy="1098"/>
          </a:xfrm>
        </p:grpSpPr>
        <p:sp>
          <p:nvSpPr>
            <p:cNvPr id="31879" name="Text Box 19"/>
            <p:cNvSpPr txBox="1">
              <a:spLocks noChangeArrowheads="1"/>
            </p:cNvSpPr>
            <p:nvPr/>
          </p:nvSpPr>
          <p:spPr bwMode="auto">
            <a:xfrm>
              <a:off x="822" y="1932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a’</a:t>
              </a:r>
            </a:p>
          </p:txBody>
        </p:sp>
        <p:sp>
          <p:nvSpPr>
            <p:cNvPr id="31880" name="Text Box 20"/>
            <p:cNvSpPr txBox="1">
              <a:spLocks noChangeArrowheads="1"/>
            </p:cNvSpPr>
            <p:nvPr/>
          </p:nvSpPr>
          <p:spPr bwMode="auto">
            <a:xfrm>
              <a:off x="1584" y="1920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d’</a:t>
              </a:r>
            </a:p>
          </p:txBody>
        </p:sp>
        <p:sp>
          <p:nvSpPr>
            <p:cNvPr id="31881" name="Text Box 21"/>
            <p:cNvSpPr txBox="1">
              <a:spLocks noChangeArrowheads="1"/>
            </p:cNvSpPr>
            <p:nvPr/>
          </p:nvSpPr>
          <p:spPr bwMode="auto">
            <a:xfrm>
              <a:off x="1296" y="1914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e’</a:t>
              </a:r>
            </a:p>
          </p:txBody>
        </p:sp>
        <p:sp>
          <p:nvSpPr>
            <p:cNvPr id="31882" name="Text Box 22"/>
            <p:cNvSpPr txBox="1">
              <a:spLocks noChangeArrowheads="1"/>
            </p:cNvSpPr>
            <p:nvPr/>
          </p:nvSpPr>
          <p:spPr bwMode="auto">
            <a:xfrm>
              <a:off x="1200" y="1920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c’</a:t>
              </a:r>
            </a:p>
          </p:txBody>
        </p:sp>
        <p:sp>
          <p:nvSpPr>
            <p:cNvPr id="31883" name="Text Box 23"/>
            <p:cNvSpPr txBox="1">
              <a:spLocks noChangeArrowheads="1"/>
            </p:cNvSpPr>
            <p:nvPr/>
          </p:nvSpPr>
          <p:spPr bwMode="auto">
            <a:xfrm>
              <a:off x="960" y="1920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b’</a:t>
              </a:r>
            </a:p>
          </p:txBody>
        </p:sp>
        <p:sp>
          <p:nvSpPr>
            <p:cNvPr id="31884" name="Text Box 24"/>
            <p:cNvSpPr txBox="1">
              <a:spLocks noChangeArrowheads="1"/>
            </p:cNvSpPr>
            <p:nvPr/>
          </p:nvSpPr>
          <p:spPr bwMode="auto">
            <a:xfrm>
              <a:off x="1200" y="1026"/>
              <a:ext cx="20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o’</a:t>
              </a:r>
            </a:p>
          </p:txBody>
        </p:sp>
      </p:grpSp>
      <p:grpSp>
        <p:nvGrpSpPr>
          <p:cNvPr id="40985" name="Group 25"/>
          <p:cNvGrpSpPr>
            <a:grpSpLocks/>
          </p:cNvGrpSpPr>
          <p:nvPr/>
        </p:nvGrpSpPr>
        <p:grpSpPr bwMode="auto">
          <a:xfrm>
            <a:off x="3429000" y="3971925"/>
            <a:ext cx="1473200" cy="1438275"/>
            <a:chOff x="816" y="2118"/>
            <a:chExt cx="928" cy="906"/>
          </a:xfrm>
        </p:grpSpPr>
        <p:sp>
          <p:nvSpPr>
            <p:cNvPr id="31873" name="Text Box 26"/>
            <p:cNvSpPr txBox="1">
              <a:spLocks noChangeArrowheads="1"/>
            </p:cNvSpPr>
            <p:nvPr/>
          </p:nvSpPr>
          <p:spPr bwMode="auto">
            <a:xfrm>
              <a:off x="816" y="2304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874" name="Text Box 27"/>
            <p:cNvSpPr txBox="1">
              <a:spLocks noChangeArrowheads="1"/>
            </p:cNvSpPr>
            <p:nvPr/>
          </p:nvSpPr>
          <p:spPr bwMode="auto">
            <a:xfrm>
              <a:off x="828" y="264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875" name="Text Box 28"/>
            <p:cNvSpPr txBox="1">
              <a:spLocks noChangeArrowheads="1"/>
            </p:cNvSpPr>
            <p:nvPr/>
          </p:nvSpPr>
          <p:spPr bwMode="auto">
            <a:xfrm>
              <a:off x="1248" y="283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1876" name="Text Box 29"/>
            <p:cNvSpPr txBox="1">
              <a:spLocks noChangeArrowheads="1"/>
            </p:cNvSpPr>
            <p:nvPr/>
          </p:nvSpPr>
          <p:spPr bwMode="auto">
            <a:xfrm>
              <a:off x="1572" y="246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1877" name="Text Box 30"/>
            <p:cNvSpPr txBox="1">
              <a:spLocks noChangeArrowheads="1"/>
            </p:cNvSpPr>
            <p:nvPr/>
          </p:nvSpPr>
          <p:spPr bwMode="auto">
            <a:xfrm>
              <a:off x="1320" y="2118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1878" name="Text Box 31"/>
            <p:cNvSpPr txBox="1">
              <a:spLocks noChangeArrowheads="1"/>
            </p:cNvSpPr>
            <p:nvPr/>
          </p:nvSpPr>
          <p:spPr bwMode="auto">
            <a:xfrm>
              <a:off x="1080" y="24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40992" name="Oval 32"/>
          <p:cNvSpPr>
            <a:spLocks noChangeArrowheads="1"/>
          </p:cNvSpPr>
          <p:nvPr/>
        </p:nvSpPr>
        <p:spPr bwMode="auto">
          <a:xfrm>
            <a:off x="4067175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993" name="Text Box 33"/>
          <p:cNvSpPr txBox="1">
            <a:spLocks noChangeArrowheads="1"/>
          </p:cNvSpPr>
          <p:nvPr/>
        </p:nvSpPr>
        <p:spPr bwMode="auto">
          <a:xfrm>
            <a:off x="3867150" y="3276600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g’</a:t>
            </a:r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 flipH="1">
            <a:off x="3200400" y="35433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>
            <a:off x="3359150" y="33051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6" name="Line 36"/>
          <p:cNvSpPr>
            <a:spLocks noChangeShapeType="1"/>
          </p:cNvSpPr>
          <p:nvPr/>
        </p:nvSpPr>
        <p:spPr bwMode="auto">
          <a:xfrm flipV="1">
            <a:off x="3359150" y="38671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7" name="Text Box 37"/>
          <p:cNvSpPr txBox="1">
            <a:spLocks noChangeArrowheads="1"/>
          </p:cNvSpPr>
          <p:nvPr/>
        </p:nvSpPr>
        <p:spPr bwMode="auto">
          <a:xfrm>
            <a:off x="3168650" y="3543300"/>
            <a:ext cx="450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H/4</a:t>
            </a:r>
          </a:p>
        </p:txBody>
      </p:sp>
      <p:sp>
        <p:nvSpPr>
          <p:cNvPr id="40998" name="Line 38"/>
          <p:cNvSpPr>
            <a:spLocks noChangeShapeType="1"/>
          </p:cNvSpPr>
          <p:nvPr/>
        </p:nvSpPr>
        <p:spPr bwMode="auto">
          <a:xfrm flipH="1">
            <a:off x="2743200" y="2438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>
            <a:off x="3048000" y="3276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 flipV="1">
            <a:off x="3057525" y="2438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1" name="Text Box 41"/>
          <p:cNvSpPr txBox="1">
            <a:spLocks noChangeArrowheads="1"/>
          </p:cNvSpPr>
          <p:nvPr/>
        </p:nvSpPr>
        <p:spPr bwMode="auto">
          <a:xfrm>
            <a:off x="2898775" y="2973388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1002" name="Line 42"/>
          <p:cNvSpPr>
            <a:spLocks noChangeShapeType="1"/>
          </p:cNvSpPr>
          <p:nvPr/>
        </p:nvSpPr>
        <p:spPr bwMode="auto">
          <a:xfrm flipH="1" flipV="1">
            <a:off x="4114800" y="3524250"/>
            <a:ext cx="6096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3" name="Line 43"/>
          <p:cNvSpPr>
            <a:spLocks noChangeShapeType="1"/>
          </p:cNvSpPr>
          <p:nvPr/>
        </p:nvSpPr>
        <p:spPr bwMode="auto">
          <a:xfrm rot="-7320323" flipH="1" flipV="1">
            <a:off x="5686425" y="2514600"/>
            <a:ext cx="6096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4" name="Line 44"/>
          <p:cNvSpPr>
            <a:spLocks noChangeShapeType="1"/>
          </p:cNvSpPr>
          <p:nvPr/>
        </p:nvSpPr>
        <p:spPr bwMode="auto">
          <a:xfrm rot="14282219" flipV="1">
            <a:off x="5753100" y="2332038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5" name="Line 45"/>
          <p:cNvSpPr>
            <a:spLocks noChangeShapeType="1"/>
          </p:cNvSpPr>
          <p:nvPr/>
        </p:nvSpPr>
        <p:spPr bwMode="auto">
          <a:xfrm rot="14282219" flipH="1">
            <a:off x="5580063" y="2681288"/>
            <a:ext cx="457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6" name="Line 46"/>
          <p:cNvSpPr>
            <a:spLocks noChangeShapeType="1"/>
          </p:cNvSpPr>
          <p:nvPr/>
        </p:nvSpPr>
        <p:spPr bwMode="auto">
          <a:xfrm rot="-7387505">
            <a:off x="5270500" y="2244725"/>
            <a:ext cx="533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7" name="Line 47"/>
          <p:cNvSpPr>
            <a:spLocks noChangeShapeType="1"/>
          </p:cNvSpPr>
          <p:nvPr/>
        </p:nvSpPr>
        <p:spPr bwMode="auto">
          <a:xfrm rot="-7317781">
            <a:off x="5570538" y="2422525"/>
            <a:ext cx="152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8" name="Oval 48"/>
          <p:cNvSpPr>
            <a:spLocks noChangeArrowheads="1"/>
          </p:cNvSpPr>
          <p:nvPr/>
        </p:nvSpPr>
        <p:spPr bwMode="auto">
          <a:xfrm rot="-7317781">
            <a:off x="5978525" y="29797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09" name="Line 49"/>
          <p:cNvSpPr>
            <a:spLocks noChangeShapeType="1"/>
          </p:cNvSpPr>
          <p:nvPr/>
        </p:nvSpPr>
        <p:spPr bwMode="auto">
          <a:xfrm rot="-7317781">
            <a:off x="5761831" y="2770982"/>
            <a:ext cx="998537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10" name="Text Box 50"/>
          <p:cNvSpPr txBox="1">
            <a:spLocks noChangeArrowheads="1"/>
          </p:cNvSpPr>
          <p:nvPr/>
        </p:nvSpPr>
        <p:spPr bwMode="auto">
          <a:xfrm>
            <a:off x="4800600" y="1981200"/>
            <a:ext cx="1958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LINE</a:t>
            </a:r>
            <a:r>
              <a:rPr lang="en-US" altLang="en-US" sz="1400">
                <a:latin typeface="Times New Roman" panose="02020603050405020304" pitchFamily="18" charset="0"/>
              </a:rPr>
              <a:t> d’g’ </a:t>
            </a:r>
            <a:r>
              <a:rPr lang="en-US" altLang="en-US" sz="1000">
                <a:latin typeface="Times New Roman" panose="02020603050405020304" pitchFamily="18" charset="0"/>
              </a:rPr>
              <a:t>VERTICAL</a:t>
            </a:r>
          </a:p>
        </p:txBody>
      </p:sp>
      <p:sp>
        <p:nvSpPr>
          <p:cNvPr id="41011" name="Text Box 51"/>
          <p:cNvSpPr txBox="1">
            <a:spLocks noChangeArrowheads="1"/>
          </p:cNvSpPr>
          <p:nvPr/>
        </p:nvSpPr>
        <p:spPr bwMode="auto">
          <a:xfrm>
            <a:off x="6467475" y="3000375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a’</a:t>
            </a:r>
          </a:p>
        </p:txBody>
      </p:sp>
      <p:sp>
        <p:nvSpPr>
          <p:cNvPr id="41012" name="Text Box 52"/>
          <p:cNvSpPr txBox="1">
            <a:spLocks noChangeArrowheads="1"/>
          </p:cNvSpPr>
          <p:nvPr/>
        </p:nvSpPr>
        <p:spPr bwMode="auto">
          <a:xfrm>
            <a:off x="6591300" y="3048000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b’</a:t>
            </a:r>
          </a:p>
        </p:txBody>
      </p:sp>
      <p:sp>
        <p:nvSpPr>
          <p:cNvPr id="41013" name="Text Box 53"/>
          <p:cNvSpPr txBox="1">
            <a:spLocks noChangeArrowheads="1"/>
          </p:cNvSpPr>
          <p:nvPr/>
        </p:nvSpPr>
        <p:spPr bwMode="auto">
          <a:xfrm>
            <a:off x="6172200" y="2514600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c’</a:t>
            </a:r>
          </a:p>
        </p:txBody>
      </p:sp>
      <p:sp>
        <p:nvSpPr>
          <p:cNvPr id="41014" name="Text Box 54"/>
          <p:cNvSpPr txBox="1">
            <a:spLocks noChangeArrowheads="1"/>
          </p:cNvSpPr>
          <p:nvPr/>
        </p:nvSpPr>
        <p:spPr bwMode="auto">
          <a:xfrm>
            <a:off x="5953125" y="2152650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d’</a:t>
            </a:r>
          </a:p>
        </p:txBody>
      </p:sp>
      <p:sp>
        <p:nvSpPr>
          <p:cNvPr id="41015" name="Text Box 55"/>
          <p:cNvSpPr txBox="1">
            <a:spLocks noChangeArrowheads="1"/>
          </p:cNvSpPr>
          <p:nvPr/>
        </p:nvSpPr>
        <p:spPr bwMode="auto">
          <a:xfrm>
            <a:off x="7696200" y="3505200"/>
            <a:ext cx="352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o”</a:t>
            </a:r>
          </a:p>
        </p:txBody>
      </p:sp>
      <p:sp>
        <p:nvSpPr>
          <p:cNvPr id="41016" name="Text Box 56"/>
          <p:cNvSpPr txBox="1">
            <a:spLocks noChangeArrowheads="1"/>
          </p:cNvSpPr>
          <p:nvPr/>
        </p:nvSpPr>
        <p:spPr bwMode="auto">
          <a:xfrm>
            <a:off x="6286500" y="2514600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e’</a:t>
            </a:r>
          </a:p>
        </p:txBody>
      </p:sp>
      <p:sp>
        <p:nvSpPr>
          <p:cNvPr id="41017" name="Text Box 57"/>
          <p:cNvSpPr txBox="1">
            <a:spLocks noChangeArrowheads="1"/>
          </p:cNvSpPr>
          <p:nvPr/>
        </p:nvSpPr>
        <p:spPr bwMode="auto">
          <a:xfrm>
            <a:off x="5972175" y="2847975"/>
            <a:ext cx="33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g’</a:t>
            </a:r>
          </a:p>
        </p:txBody>
      </p:sp>
      <p:grpSp>
        <p:nvGrpSpPr>
          <p:cNvPr id="41018" name="Group 58"/>
          <p:cNvGrpSpPr>
            <a:grpSpLocks/>
          </p:cNvGrpSpPr>
          <p:nvPr/>
        </p:nvGrpSpPr>
        <p:grpSpPr bwMode="auto">
          <a:xfrm>
            <a:off x="5029200" y="2667000"/>
            <a:ext cx="1524000" cy="2743200"/>
            <a:chOff x="1824" y="1296"/>
            <a:chExt cx="960" cy="1728"/>
          </a:xfrm>
        </p:grpSpPr>
        <p:sp>
          <p:nvSpPr>
            <p:cNvPr id="31869" name="Line 59"/>
            <p:cNvSpPr>
              <a:spLocks noChangeShapeType="1"/>
            </p:cNvSpPr>
            <p:nvPr/>
          </p:nvSpPr>
          <p:spPr bwMode="auto">
            <a:xfrm>
              <a:off x="2784" y="1632"/>
              <a:ext cx="0" cy="139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870" name="Line 60"/>
            <p:cNvSpPr>
              <a:spLocks noChangeShapeType="1"/>
            </p:cNvSpPr>
            <p:nvPr/>
          </p:nvSpPr>
          <p:spPr bwMode="auto">
            <a:xfrm>
              <a:off x="2568" y="1296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871" name="Line 61"/>
            <p:cNvSpPr>
              <a:spLocks noChangeShapeType="1"/>
            </p:cNvSpPr>
            <p:nvPr/>
          </p:nvSpPr>
          <p:spPr bwMode="auto">
            <a:xfrm>
              <a:off x="2436" y="1536"/>
              <a:ext cx="0" cy="14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872" name="Line 62"/>
            <p:cNvSpPr>
              <a:spLocks noChangeShapeType="1"/>
            </p:cNvSpPr>
            <p:nvPr/>
          </p:nvSpPr>
          <p:spPr bwMode="auto">
            <a:xfrm>
              <a:off x="1824" y="1872"/>
              <a:ext cx="0" cy="11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023" name="Group 63"/>
          <p:cNvGrpSpPr>
            <a:grpSpLocks/>
          </p:cNvGrpSpPr>
          <p:nvPr/>
        </p:nvGrpSpPr>
        <p:grpSpPr bwMode="auto">
          <a:xfrm>
            <a:off x="3657600" y="4191000"/>
            <a:ext cx="3048000" cy="1066800"/>
            <a:chOff x="960" y="2256"/>
            <a:chExt cx="1920" cy="672"/>
          </a:xfrm>
        </p:grpSpPr>
        <p:sp>
          <p:nvSpPr>
            <p:cNvPr id="31864" name="Line 64"/>
            <p:cNvSpPr>
              <a:spLocks noChangeShapeType="1"/>
            </p:cNvSpPr>
            <p:nvPr/>
          </p:nvSpPr>
          <p:spPr bwMode="auto">
            <a:xfrm>
              <a:off x="1344" y="2256"/>
              <a:ext cx="1536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865" name="Line 65"/>
            <p:cNvSpPr>
              <a:spLocks noChangeShapeType="1"/>
            </p:cNvSpPr>
            <p:nvPr/>
          </p:nvSpPr>
          <p:spPr bwMode="auto">
            <a:xfrm>
              <a:off x="960" y="2352"/>
              <a:ext cx="192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866" name="Line 66"/>
            <p:cNvSpPr>
              <a:spLocks noChangeShapeType="1"/>
            </p:cNvSpPr>
            <p:nvPr/>
          </p:nvSpPr>
          <p:spPr bwMode="auto">
            <a:xfrm>
              <a:off x="1584" y="2580"/>
              <a:ext cx="124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867" name="Line 67"/>
            <p:cNvSpPr>
              <a:spLocks noChangeShapeType="1"/>
            </p:cNvSpPr>
            <p:nvPr/>
          </p:nvSpPr>
          <p:spPr bwMode="auto">
            <a:xfrm>
              <a:off x="960" y="2784"/>
              <a:ext cx="187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868" name="Line 68"/>
            <p:cNvSpPr>
              <a:spLocks noChangeShapeType="1"/>
            </p:cNvSpPr>
            <p:nvPr/>
          </p:nvSpPr>
          <p:spPr bwMode="auto">
            <a:xfrm>
              <a:off x="1344" y="2928"/>
              <a:ext cx="148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029" name="Group 69"/>
          <p:cNvGrpSpPr>
            <a:grpSpLocks/>
          </p:cNvGrpSpPr>
          <p:nvPr/>
        </p:nvGrpSpPr>
        <p:grpSpPr bwMode="auto">
          <a:xfrm>
            <a:off x="4981575" y="4143375"/>
            <a:ext cx="1609725" cy="1143000"/>
            <a:chOff x="1794" y="2226"/>
            <a:chExt cx="1014" cy="720"/>
          </a:xfrm>
        </p:grpSpPr>
        <p:sp>
          <p:nvSpPr>
            <p:cNvPr id="31858" name="Oval 70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59" name="Oval 71"/>
            <p:cNvSpPr>
              <a:spLocks noChangeArrowheads="1"/>
            </p:cNvSpPr>
            <p:nvPr/>
          </p:nvSpPr>
          <p:spPr bwMode="auto">
            <a:xfrm>
              <a:off x="2544" y="222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60" name="Oval 72"/>
            <p:cNvSpPr>
              <a:spLocks noChangeArrowheads="1"/>
            </p:cNvSpPr>
            <p:nvPr/>
          </p:nvSpPr>
          <p:spPr bwMode="auto">
            <a:xfrm>
              <a:off x="2754" y="23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61" name="Oval 73"/>
            <p:cNvSpPr>
              <a:spLocks noChangeArrowheads="1"/>
            </p:cNvSpPr>
            <p:nvPr/>
          </p:nvSpPr>
          <p:spPr bwMode="auto">
            <a:xfrm>
              <a:off x="2760" y="276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62" name="Oval 74"/>
            <p:cNvSpPr>
              <a:spLocks noChangeArrowheads="1"/>
            </p:cNvSpPr>
            <p:nvPr/>
          </p:nvSpPr>
          <p:spPr bwMode="auto">
            <a:xfrm>
              <a:off x="2544" y="289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63" name="Oval 75"/>
            <p:cNvSpPr>
              <a:spLocks noChangeArrowheads="1"/>
            </p:cNvSpPr>
            <p:nvPr/>
          </p:nvSpPr>
          <p:spPr bwMode="auto">
            <a:xfrm>
              <a:off x="1794" y="25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41036" name="Group 76"/>
          <p:cNvGrpSpPr>
            <a:grpSpLocks/>
          </p:cNvGrpSpPr>
          <p:nvPr/>
        </p:nvGrpSpPr>
        <p:grpSpPr bwMode="auto">
          <a:xfrm>
            <a:off x="4775200" y="3895725"/>
            <a:ext cx="2108200" cy="1590675"/>
            <a:chOff x="1664" y="2070"/>
            <a:chExt cx="1328" cy="1002"/>
          </a:xfrm>
        </p:grpSpPr>
        <p:sp>
          <p:nvSpPr>
            <p:cNvPr id="31852" name="Text Box 77"/>
            <p:cNvSpPr txBox="1">
              <a:spLocks noChangeArrowheads="1"/>
            </p:cNvSpPr>
            <p:nvPr/>
          </p:nvSpPr>
          <p:spPr bwMode="auto">
            <a:xfrm>
              <a:off x="2766" y="2232"/>
              <a:ext cx="20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53" name="Text Box 78"/>
            <p:cNvSpPr txBox="1">
              <a:spLocks noChangeArrowheads="1"/>
            </p:cNvSpPr>
            <p:nvPr/>
          </p:nvSpPr>
          <p:spPr bwMode="auto">
            <a:xfrm>
              <a:off x="2784" y="2688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54" name="Text Box 79"/>
            <p:cNvSpPr txBox="1">
              <a:spLocks noChangeArrowheads="1"/>
            </p:cNvSpPr>
            <p:nvPr/>
          </p:nvSpPr>
          <p:spPr bwMode="auto">
            <a:xfrm>
              <a:off x="1664" y="2496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o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55" name="Text Box 80"/>
            <p:cNvSpPr txBox="1">
              <a:spLocks noChangeArrowheads="1"/>
            </p:cNvSpPr>
            <p:nvPr/>
          </p:nvSpPr>
          <p:spPr bwMode="auto">
            <a:xfrm>
              <a:off x="2520" y="2070"/>
              <a:ext cx="20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e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56" name="Text Box 81"/>
            <p:cNvSpPr txBox="1">
              <a:spLocks noChangeArrowheads="1"/>
            </p:cNvSpPr>
            <p:nvPr/>
          </p:nvSpPr>
          <p:spPr bwMode="auto">
            <a:xfrm>
              <a:off x="2244" y="2406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57" name="Text Box 82"/>
            <p:cNvSpPr txBox="1">
              <a:spLocks noChangeArrowheads="1"/>
            </p:cNvSpPr>
            <p:nvPr/>
          </p:nvSpPr>
          <p:spPr bwMode="auto">
            <a:xfrm>
              <a:off x="2448" y="2880"/>
              <a:ext cx="20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41043" name="Line 83"/>
          <p:cNvSpPr>
            <a:spLocks noChangeShapeType="1"/>
          </p:cNvSpPr>
          <p:nvPr/>
        </p:nvSpPr>
        <p:spPr bwMode="auto">
          <a:xfrm>
            <a:off x="6019800" y="1676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44" name="Line 84"/>
          <p:cNvSpPr>
            <a:spLocks noChangeShapeType="1"/>
          </p:cNvSpPr>
          <p:nvPr/>
        </p:nvSpPr>
        <p:spPr bwMode="auto">
          <a:xfrm flipV="1">
            <a:off x="5029200" y="41910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45" name="Line 85"/>
          <p:cNvSpPr>
            <a:spLocks noChangeShapeType="1"/>
          </p:cNvSpPr>
          <p:nvPr/>
        </p:nvSpPr>
        <p:spPr bwMode="auto">
          <a:xfrm>
            <a:off x="6248400" y="41910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46" name="Line 86"/>
          <p:cNvSpPr>
            <a:spLocks noChangeShapeType="1"/>
          </p:cNvSpPr>
          <p:nvPr/>
        </p:nvSpPr>
        <p:spPr bwMode="auto">
          <a:xfrm>
            <a:off x="6553200" y="4343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47" name="Line 87"/>
          <p:cNvSpPr>
            <a:spLocks noChangeShapeType="1"/>
          </p:cNvSpPr>
          <p:nvPr/>
        </p:nvSpPr>
        <p:spPr bwMode="auto">
          <a:xfrm flipH="1">
            <a:off x="6172200" y="50292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48" name="Line 88"/>
          <p:cNvSpPr>
            <a:spLocks noChangeShapeType="1"/>
          </p:cNvSpPr>
          <p:nvPr/>
        </p:nvSpPr>
        <p:spPr bwMode="auto">
          <a:xfrm flipH="1" flipV="1">
            <a:off x="5029200" y="47244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49" name="Line 89"/>
          <p:cNvSpPr>
            <a:spLocks noChangeShapeType="1"/>
          </p:cNvSpPr>
          <p:nvPr/>
        </p:nvSpPr>
        <p:spPr bwMode="auto">
          <a:xfrm flipV="1">
            <a:off x="5981700" y="4200525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0" name="Line 90"/>
          <p:cNvSpPr>
            <a:spLocks noChangeShapeType="1"/>
          </p:cNvSpPr>
          <p:nvPr/>
        </p:nvSpPr>
        <p:spPr bwMode="auto">
          <a:xfrm>
            <a:off x="5943600" y="46482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1" name="Line 91"/>
          <p:cNvSpPr>
            <a:spLocks noChangeShapeType="1"/>
          </p:cNvSpPr>
          <p:nvPr/>
        </p:nvSpPr>
        <p:spPr bwMode="auto">
          <a:xfrm>
            <a:off x="5029200" y="4724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2" name="Line 92"/>
          <p:cNvSpPr>
            <a:spLocks noChangeShapeType="1"/>
          </p:cNvSpPr>
          <p:nvPr/>
        </p:nvSpPr>
        <p:spPr bwMode="auto">
          <a:xfrm>
            <a:off x="5029200" y="4724400"/>
            <a:ext cx="15240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3" name="Line 93"/>
          <p:cNvSpPr>
            <a:spLocks noChangeShapeType="1"/>
          </p:cNvSpPr>
          <p:nvPr/>
        </p:nvSpPr>
        <p:spPr bwMode="auto">
          <a:xfrm flipV="1">
            <a:off x="5029200" y="43434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4" name="Line 94"/>
          <p:cNvSpPr>
            <a:spLocks noChangeShapeType="1"/>
          </p:cNvSpPr>
          <p:nvPr/>
        </p:nvSpPr>
        <p:spPr bwMode="auto">
          <a:xfrm>
            <a:off x="7010400" y="3886200"/>
            <a:ext cx="152400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5" name="Line 95"/>
          <p:cNvSpPr>
            <a:spLocks noChangeShapeType="1"/>
          </p:cNvSpPr>
          <p:nvPr/>
        </p:nvSpPr>
        <p:spPr bwMode="auto">
          <a:xfrm>
            <a:off x="6248400" y="4171950"/>
            <a:ext cx="10668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6" name="Line 96"/>
          <p:cNvSpPr>
            <a:spLocks noChangeShapeType="1"/>
          </p:cNvSpPr>
          <p:nvPr/>
        </p:nvSpPr>
        <p:spPr bwMode="auto">
          <a:xfrm>
            <a:off x="6553200" y="4343400"/>
            <a:ext cx="9144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7" name="Line 97"/>
          <p:cNvSpPr>
            <a:spLocks noChangeShapeType="1"/>
          </p:cNvSpPr>
          <p:nvPr/>
        </p:nvSpPr>
        <p:spPr bwMode="auto">
          <a:xfrm>
            <a:off x="6324600" y="4705350"/>
            <a:ext cx="15240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8" name="Line 98"/>
          <p:cNvSpPr>
            <a:spLocks noChangeShapeType="1"/>
          </p:cNvSpPr>
          <p:nvPr/>
        </p:nvSpPr>
        <p:spPr bwMode="auto">
          <a:xfrm>
            <a:off x="6553200" y="5048250"/>
            <a:ext cx="1600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9" name="Line 99"/>
          <p:cNvSpPr>
            <a:spLocks noChangeShapeType="1"/>
          </p:cNvSpPr>
          <p:nvPr/>
        </p:nvSpPr>
        <p:spPr bwMode="auto">
          <a:xfrm>
            <a:off x="6172200" y="5248275"/>
            <a:ext cx="22098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0" name="Line 100"/>
          <p:cNvSpPr>
            <a:spLocks noChangeShapeType="1"/>
          </p:cNvSpPr>
          <p:nvPr/>
        </p:nvSpPr>
        <p:spPr bwMode="auto">
          <a:xfrm flipV="1">
            <a:off x="7296150" y="2209800"/>
            <a:ext cx="0" cy="1981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1" name="Line 101"/>
          <p:cNvSpPr>
            <a:spLocks noChangeShapeType="1"/>
          </p:cNvSpPr>
          <p:nvPr/>
        </p:nvSpPr>
        <p:spPr bwMode="auto">
          <a:xfrm flipV="1">
            <a:off x="7486650" y="22098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2" name="Line 102"/>
          <p:cNvSpPr>
            <a:spLocks noChangeShapeType="1"/>
          </p:cNvSpPr>
          <p:nvPr/>
        </p:nvSpPr>
        <p:spPr bwMode="auto">
          <a:xfrm flipV="1">
            <a:off x="7820025" y="2238375"/>
            <a:ext cx="0" cy="24384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3" name="Line 103"/>
          <p:cNvSpPr>
            <a:spLocks noChangeShapeType="1"/>
          </p:cNvSpPr>
          <p:nvPr/>
        </p:nvSpPr>
        <p:spPr bwMode="auto">
          <a:xfrm flipV="1">
            <a:off x="8172450" y="2209800"/>
            <a:ext cx="0" cy="28194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" name="Line 104"/>
          <p:cNvSpPr>
            <a:spLocks noChangeShapeType="1"/>
          </p:cNvSpPr>
          <p:nvPr/>
        </p:nvSpPr>
        <p:spPr bwMode="auto">
          <a:xfrm flipV="1">
            <a:off x="8372475" y="2209800"/>
            <a:ext cx="0" cy="3048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" name="Line 105"/>
          <p:cNvSpPr>
            <a:spLocks noChangeShapeType="1"/>
          </p:cNvSpPr>
          <p:nvPr/>
        </p:nvSpPr>
        <p:spPr bwMode="auto">
          <a:xfrm>
            <a:off x="6019800" y="2362200"/>
            <a:ext cx="24384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" name="Line 106"/>
          <p:cNvSpPr>
            <a:spLocks noChangeShapeType="1"/>
          </p:cNvSpPr>
          <p:nvPr/>
        </p:nvSpPr>
        <p:spPr bwMode="auto">
          <a:xfrm>
            <a:off x="6238875" y="2686050"/>
            <a:ext cx="22098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7" name="Line 107"/>
          <p:cNvSpPr>
            <a:spLocks noChangeShapeType="1"/>
          </p:cNvSpPr>
          <p:nvPr/>
        </p:nvSpPr>
        <p:spPr bwMode="auto">
          <a:xfrm>
            <a:off x="6477000" y="3200400"/>
            <a:ext cx="1981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8" name="Line 108"/>
          <p:cNvSpPr>
            <a:spLocks noChangeShapeType="1"/>
          </p:cNvSpPr>
          <p:nvPr/>
        </p:nvSpPr>
        <p:spPr bwMode="auto">
          <a:xfrm>
            <a:off x="5029200" y="3581400"/>
            <a:ext cx="34290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9" name="Oval 109"/>
          <p:cNvSpPr>
            <a:spLocks noChangeArrowheads="1"/>
          </p:cNvSpPr>
          <p:nvPr/>
        </p:nvSpPr>
        <p:spPr bwMode="auto">
          <a:xfrm>
            <a:off x="7448550" y="31623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70" name="Oval 110"/>
          <p:cNvSpPr>
            <a:spLocks noChangeArrowheads="1"/>
          </p:cNvSpPr>
          <p:nvPr/>
        </p:nvSpPr>
        <p:spPr bwMode="auto">
          <a:xfrm>
            <a:off x="8134350" y="31623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71" name="Oval 111"/>
          <p:cNvSpPr>
            <a:spLocks noChangeArrowheads="1"/>
          </p:cNvSpPr>
          <p:nvPr/>
        </p:nvSpPr>
        <p:spPr bwMode="auto">
          <a:xfrm>
            <a:off x="8324850" y="26384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72" name="Oval 112"/>
          <p:cNvSpPr>
            <a:spLocks noChangeArrowheads="1"/>
          </p:cNvSpPr>
          <p:nvPr/>
        </p:nvSpPr>
        <p:spPr bwMode="auto">
          <a:xfrm>
            <a:off x="7772400" y="23145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73" name="Oval 113"/>
          <p:cNvSpPr>
            <a:spLocks noChangeArrowheads="1"/>
          </p:cNvSpPr>
          <p:nvPr/>
        </p:nvSpPr>
        <p:spPr bwMode="auto">
          <a:xfrm>
            <a:off x="7239000" y="26479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74" name="Oval 114"/>
          <p:cNvSpPr>
            <a:spLocks noChangeArrowheads="1"/>
          </p:cNvSpPr>
          <p:nvPr/>
        </p:nvSpPr>
        <p:spPr bwMode="auto">
          <a:xfrm>
            <a:off x="7772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75" name="Text Box 115"/>
          <p:cNvSpPr txBox="1">
            <a:spLocks noChangeArrowheads="1"/>
          </p:cNvSpPr>
          <p:nvPr/>
        </p:nvSpPr>
        <p:spPr bwMode="auto">
          <a:xfrm>
            <a:off x="7181850" y="3124200"/>
            <a:ext cx="342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a”</a:t>
            </a:r>
          </a:p>
        </p:txBody>
      </p:sp>
      <p:sp>
        <p:nvSpPr>
          <p:cNvPr id="41076" name="Text Box 116"/>
          <p:cNvSpPr txBox="1">
            <a:spLocks noChangeArrowheads="1"/>
          </p:cNvSpPr>
          <p:nvPr/>
        </p:nvSpPr>
        <p:spPr bwMode="auto">
          <a:xfrm>
            <a:off x="6934200" y="2514600"/>
            <a:ext cx="342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e”</a:t>
            </a:r>
          </a:p>
        </p:txBody>
      </p:sp>
      <p:sp>
        <p:nvSpPr>
          <p:cNvPr id="41077" name="Text Box 117"/>
          <p:cNvSpPr txBox="1">
            <a:spLocks noChangeArrowheads="1"/>
          </p:cNvSpPr>
          <p:nvPr/>
        </p:nvSpPr>
        <p:spPr bwMode="auto">
          <a:xfrm>
            <a:off x="7620000" y="2057400"/>
            <a:ext cx="352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d”</a:t>
            </a:r>
          </a:p>
        </p:txBody>
      </p:sp>
      <p:sp>
        <p:nvSpPr>
          <p:cNvPr id="41078" name="Text Box 118"/>
          <p:cNvSpPr txBox="1">
            <a:spLocks noChangeArrowheads="1"/>
          </p:cNvSpPr>
          <p:nvPr/>
        </p:nvSpPr>
        <p:spPr bwMode="auto">
          <a:xfrm>
            <a:off x="8305800" y="2514600"/>
            <a:ext cx="342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c”</a:t>
            </a:r>
          </a:p>
        </p:txBody>
      </p:sp>
      <p:sp>
        <p:nvSpPr>
          <p:cNvPr id="41079" name="Text Box 119"/>
          <p:cNvSpPr txBox="1">
            <a:spLocks noChangeArrowheads="1"/>
          </p:cNvSpPr>
          <p:nvPr/>
        </p:nvSpPr>
        <p:spPr bwMode="auto">
          <a:xfrm>
            <a:off x="8153400" y="3124200"/>
            <a:ext cx="352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b”</a:t>
            </a:r>
          </a:p>
        </p:txBody>
      </p:sp>
      <p:sp>
        <p:nvSpPr>
          <p:cNvPr id="41080" name="Line 120"/>
          <p:cNvSpPr>
            <a:spLocks noChangeShapeType="1"/>
          </p:cNvSpPr>
          <p:nvPr/>
        </p:nvSpPr>
        <p:spPr bwMode="auto">
          <a:xfrm flipV="1">
            <a:off x="7848600" y="32004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1" name="Line 121"/>
          <p:cNvSpPr>
            <a:spLocks noChangeShapeType="1"/>
          </p:cNvSpPr>
          <p:nvPr/>
        </p:nvSpPr>
        <p:spPr bwMode="auto">
          <a:xfrm flipV="1">
            <a:off x="8229600" y="26670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2" name="Line 122"/>
          <p:cNvSpPr>
            <a:spLocks noChangeShapeType="1"/>
          </p:cNvSpPr>
          <p:nvPr/>
        </p:nvSpPr>
        <p:spPr bwMode="auto">
          <a:xfrm flipH="1" flipV="1">
            <a:off x="7848600" y="2362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3" name="Line 123"/>
          <p:cNvSpPr>
            <a:spLocks noChangeShapeType="1"/>
          </p:cNvSpPr>
          <p:nvPr/>
        </p:nvSpPr>
        <p:spPr bwMode="auto">
          <a:xfrm flipH="1">
            <a:off x="7239000" y="23622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4" name="Line 124"/>
          <p:cNvSpPr>
            <a:spLocks noChangeShapeType="1"/>
          </p:cNvSpPr>
          <p:nvPr/>
        </p:nvSpPr>
        <p:spPr bwMode="auto">
          <a:xfrm>
            <a:off x="7315200" y="26670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5" name="Line 125"/>
          <p:cNvSpPr>
            <a:spLocks noChangeShapeType="1"/>
          </p:cNvSpPr>
          <p:nvPr/>
        </p:nvSpPr>
        <p:spPr bwMode="auto">
          <a:xfrm>
            <a:off x="7467600" y="32004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6" name="Line 126"/>
          <p:cNvSpPr>
            <a:spLocks noChangeShapeType="1"/>
          </p:cNvSpPr>
          <p:nvPr/>
        </p:nvSpPr>
        <p:spPr bwMode="auto">
          <a:xfrm>
            <a:off x="7315200" y="26670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7" name="Line 127"/>
          <p:cNvSpPr>
            <a:spLocks noChangeShapeType="1"/>
          </p:cNvSpPr>
          <p:nvPr/>
        </p:nvSpPr>
        <p:spPr bwMode="auto">
          <a:xfrm flipH="1">
            <a:off x="7848600" y="26670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8" name="Line 128"/>
          <p:cNvSpPr>
            <a:spLocks noChangeShapeType="1"/>
          </p:cNvSpPr>
          <p:nvPr/>
        </p:nvSpPr>
        <p:spPr bwMode="auto">
          <a:xfrm>
            <a:off x="7829550" y="2362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9" name="Line 129"/>
          <p:cNvSpPr>
            <a:spLocks noChangeShapeType="1"/>
          </p:cNvSpPr>
          <p:nvPr/>
        </p:nvSpPr>
        <p:spPr bwMode="auto">
          <a:xfrm>
            <a:off x="7467600" y="3200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90" name="Line 130"/>
          <p:cNvSpPr>
            <a:spLocks noChangeShapeType="1"/>
          </p:cNvSpPr>
          <p:nvPr/>
        </p:nvSpPr>
        <p:spPr bwMode="auto">
          <a:xfrm>
            <a:off x="4714875" y="30384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91" name="Text Box 131"/>
          <p:cNvSpPr txBox="1">
            <a:spLocks noChangeArrowheads="1"/>
          </p:cNvSpPr>
          <p:nvPr/>
        </p:nvSpPr>
        <p:spPr bwMode="auto">
          <a:xfrm>
            <a:off x="4394200" y="2855913"/>
            <a:ext cx="92233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latin typeface="Times New Roman" panose="02020603050405020304" pitchFamily="18" charset="0"/>
              </a:rPr>
              <a:t>FOR SIDE VIEW</a:t>
            </a:r>
          </a:p>
        </p:txBody>
      </p:sp>
      <p:grpSp>
        <p:nvGrpSpPr>
          <p:cNvPr id="41092" name="Group 132"/>
          <p:cNvGrpSpPr>
            <a:grpSpLocks/>
          </p:cNvGrpSpPr>
          <p:nvPr/>
        </p:nvGrpSpPr>
        <p:grpSpPr bwMode="auto">
          <a:xfrm>
            <a:off x="114300" y="114300"/>
            <a:ext cx="3048000" cy="1524000"/>
            <a:chOff x="0" y="0"/>
            <a:chExt cx="1920" cy="960"/>
          </a:xfrm>
        </p:grpSpPr>
        <p:sp>
          <p:nvSpPr>
            <p:cNvPr id="31850" name="AutoShape 133"/>
            <p:cNvSpPr>
              <a:spLocks noChangeArrowheads="1"/>
            </p:cNvSpPr>
            <p:nvPr/>
          </p:nvSpPr>
          <p:spPr bwMode="auto">
            <a:xfrm>
              <a:off x="0" y="0"/>
              <a:ext cx="1920" cy="960"/>
            </a:xfrm>
            <a:prstGeom prst="wedgeRoundRectCallout">
              <a:avLst>
                <a:gd name="adj1" fmla="val 63125"/>
                <a:gd name="adj2" fmla="val 78125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31851" name="Text Box 134"/>
            <p:cNvSpPr txBox="1">
              <a:spLocks noChangeArrowheads="1"/>
            </p:cNvSpPr>
            <p:nvPr/>
          </p:nvSpPr>
          <p:spPr bwMode="auto">
            <a:xfrm>
              <a:off x="22" y="48"/>
              <a:ext cx="1898" cy="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Problem 4:</a:t>
              </a:r>
              <a:r>
                <a:rPr lang="en-US" altLang="en-US" sz="1400">
                  <a:latin typeface="Times New Roman" panose="02020603050405020304" pitchFamily="18" charset="0"/>
                </a:rPr>
                <a:t> A pentagonal pyramid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30 mm base sides &amp; 60 mm long axis,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is freely suspended from one corner of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 base so that a plane containing it’s axis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remains parallel to Vp.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Draw it’s three views.  </a:t>
              </a:r>
            </a:p>
          </p:txBody>
        </p:sp>
      </p:grpSp>
      <p:grpSp>
        <p:nvGrpSpPr>
          <p:cNvPr id="41095" name="Group 135"/>
          <p:cNvGrpSpPr>
            <a:grpSpLocks/>
          </p:cNvGrpSpPr>
          <p:nvPr/>
        </p:nvGrpSpPr>
        <p:grpSpPr bwMode="auto">
          <a:xfrm>
            <a:off x="561975" y="3557588"/>
            <a:ext cx="2105025" cy="3300412"/>
            <a:chOff x="18" y="864"/>
            <a:chExt cx="1326" cy="2687"/>
          </a:xfrm>
        </p:grpSpPr>
        <p:sp>
          <p:nvSpPr>
            <p:cNvPr id="31848" name="Rectangle 136"/>
            <p:cNvSpPr>
              <a:spLocks noChangeArrowheads="1"/>
            </p:cNvSpPr>
            <p:nvPr/>
          </p:nvSpPr>
          <p:spPr bwMode="auto">
            <a:xfrm>
              <a:off x="18" y="864"/>
              <a:ext cx="1248" cy="254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9" name="Text Box 137"/>
            <p:cNvSpPr txBox="1">
              <a:spLocks noChangeArrowheads="1"/>
            </p:cNvSpPr>
            <p:nvPr/>
          </p:nvSpPr>
          <p:spPr bwMode="auto">
            <a:xfrm>
              <a:off x="24" y="864"/>
              <a:ext cx="1320" cy="2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IMPORTANT: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When a solid is freely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suspended from 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corner, then line joining point of contact &amp; C.G. remains vertical.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 Here axis shows  inclination with Hp.)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So in all such cases, assume solid standing on Hp initially.)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098" name="Group 138"/>
          <p:cNvGrpSpPr>
            <a:grpSpLocks/>
          </p:cNvGrpSpPr>
          <p:nvPr/>
        </p:nvGrpSpPr>
        <p:grpSpPr bwMode="auto">
          <a:xfrm>
            <a:off x="3276600" y="0"/>
            <a:ext cx="5867400" cy="1676400"/>
            <a:chOff x="2064" y="0"/>
            <a:chExt cx="3696" cy="1056"/>
          </a:xfrm>
        </p:grpSpPr>
        <p:sp>
          <p:nvSpPr>
            <p:cNvPr id="31846" name="Rectangle 139"/>
            <p:cNvSpPr>
              <a:spLocks noChangeArrowheads="1"/>
            </p:cNvSpPr>
            <p:nvPr/>
          </p:nvSpPr>
          <p:spPr bwMode="auto">
            <a:xfrm>
              <a:off x="2064" y="0"/>
              <a:ext cx="3696" cy="1056"/>
            </a:xfrm>
            <a:prstGeom prst="rect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47" name="Text Box 140"/>
            <p:cNvSpPr txBox="1">
              <a:spLocks noChangeArrowheads="1"/>
            </p:cNvSpPr>
            <p:nvPr/>
          </p:nvSpPr>
          <p:spPr bwMode="auto">
            <a:xfrm>
              <a:off x="2064" y="0"/>
              <a:ext cx="3696" cy="1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Solution Steps:</a:t>
              </a:r>
            </a:p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In all suspended cases axis shows inclination with Hp. </a:t>
              </a:r>
            </a:p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1.Hence assuming it standing on Hp, drew Tv - a regular pentagon,corner case.</a:t>
              </a:r>
            </a:p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2.Project Fv &amp; locate CG position on axis – ( ¼ H from base.) and name g’ and</a:t>
              </a:r>
            </a:p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   Join it with corner d’</a:t>
              </a:r>
            </a:p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3.As 2</a:t>
              </a:r>
              <a:r>
                <a:rPr lang="en-US" altLang="en-US" sz="1400" baseline="30000">
                  <a:latin typeface="Times New Roman" panose="02020603050405020304" pitchFamily="18" charset="0"/>
                </a:rPr>
                <a:t>nd</a:t>
              </a:r>
              <a:r>
                <a:rPr lang="en-US" altLang="en-US" sz="1400">
                  <a:latin typeface="Times New Roman" panose="02020603050405020304" pitchFamily="18" charset="0"/>
                </a:rPr>
                <a:t> Fv, redraw first keeping line </a:t>
              </a: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g’d’ </a:t>
              </a:r>
              <a:r>
                <a:rPr lang="en-US" altLang="en-US" sz="1400">
                  <a:latin typeface="Times New Roman" panose="02020603050405020304" pitchFamily="18" charset="0"/>
                </a:rPr>
                <a:t>vertical.</a:t>
              </a:r>
            </a:p>
            <a:p>
              <a:pPr eaLnBrk="1" hangingPunct="1"/>
              <a:r>
                <a:rPr lang="en-US" altLang="en-US" sz="1400">
                  <a:latin typeface="Times New Roman" panose="02020603050405020304" pitchFamily="18" charset="0"/>
                </a:rPr>
                <a:t>4.As usual project corresponding Tv and then Side View looking from.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0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0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0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0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0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0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0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3" dur="500"/>
                                        <p:tgtEl>
                                          <p:spTgt spid="4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41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1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1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1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41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41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3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3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3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3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8" dur="500"/>
                                        <p:tgtEl>
                                          <p:spTgt spid="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3" dur="500"/>
                                        <p:tgtEl>
                                          <p:spTgt spid="4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8" dur="500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3" dur="500"/>
                                        <p:tgtEl>
                                          <p:spTgt spid="4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4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4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2" dur="500"/>
                                        <p:tgtEl>
                                          <p:spTgt spid="4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7" dur="500"/>
                                        <p:tgtEl>
                                          <p:spTgt spid="4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4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4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41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41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0" dur="500"/>
                                        <p:tgtEl>
                                          <p:spTgt spid="4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35" dur="500"/>
                                        <p:tgtEl>
                                          <p:spTgt spid="4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410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410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 nodeType="clickPar">
                      <p:stCondLst>
                        <p:cond delay="indefinite"/>
                      </p:stCondLst>
                      <p:childTnLst>
                        <p:par>
                          <p:cTn id="3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41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41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 nodeType="clickPar">
                      <p:stCondLst>
                        <p:cond delay="indefinite"/>
                      </p:stCondLst>
                      <p:childTnLst>
                        <p:par>
                          <p:cTn id="3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41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41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 nodeType="clickPar">
                      <p:stCondLst>
                        <p:cond delay="indefinite"/>
                      </p:stCondLst>
                      <p:childTnLst>
                        <p:par>
                          <p:cTn id="3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4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4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41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500" fill="hold"/>
                                        <p:tgtEl>
                                          <p:spTgt spid="41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 nodeType="clickPar">
                      <p:stCondLst>
                        <p:cond delay="indefinite"/>
                      </p:stCondLst>
                      <p:childTnLst>
                        <p:par>
                          <p:cTn id="3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41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41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41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41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4" dur="500"/>
                                        <p:tgtEl>
                                          <p:spTgt spid="4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 nodeType="clickPar">
                      <p:stCondLst>
                        <p:cond delay="indefinite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41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41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500" fill="hold"/>
                                        <p:tgtEl>
                                          <p:spTgt spid="41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41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 nodeType="clickPar">
                      <p:stCondLst>
                        <p:cond delay="indefinite"/>
                      </p:stCondLst>
                      <p:childTnLst>
                        <p:par>
                          <p:cTn id="3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41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41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00" fill="hold"/>
                                        <p:tgtEl>
                                          <p:spTgt spid="41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41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 nodeType="clickPar">
                      <p:stCondLst>
                        <p:cond delay="indefinite"/>
                      </p:stCondLst>
                      <p:childTnLst>
                        <p:par>
                          <p:cTn id="3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41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4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41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41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 nodeType="clickPar">
                      <p:stCondLst>
                        <p:cond delay="indefinite"/>
                      </p:stCondLst>
                      <p:childTnLst>
                        <p:par>
                          <p:cTn id="4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4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500" fill="hold"/>
                                        <p:tgtEl>
                                          <p:spTgt spid="4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5" dur="500" fill="hold"/>
                                        <p:tgtEl>
                                          <p:spTgt spid="41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500" fill="hold"/>
                                        <p:tgtEl>
                                          <p:spTgt spid="41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 nodeType="clickPar">
                      <p:stCondLst>
                        <p:cond delay="indefinite"/>
                      </p:stCondLst>
                      <p:childTnLst>
                        <p:par>
                          <p:cTn id="4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41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41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41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00" fill="hold"/>
                                        <p:tgtEl>
                                          <p:spTgt spid="41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Par">
                      <p:stCondLst>
                        <p:cond delay="indefinite"/>
                      </p:stCondLst>
                      <p:childTnLst>
                        <p:par>
                          <p:cTn id="4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9" dur="500" fill="hold"/>
                                        <p:tgtEl>
                                          <p:spTgt spid="4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500" fill="hold"/>
                                        <p:tgtEl>
                                          <p:spTgt spid="4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500" fill="hold"/>
                                        <p:tgtEl>
                                          <p:spTgt spid="41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41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 nodeType="clickPar">
                      <p:stCondLst>
                        <p:cond delay="indefinite"/>
                      </p:stCondLst>
                      <p:childTnLst>
                        <p:par>
                          <p:cTn id="4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41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41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500" fill="hold"/>
                                        <p:tgtEl>
                                          <p:spTgt spid="41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0" dur="500" fill="hold"/>
                                        <p:tgtEl>
                                          <p:spTgt spid="41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 nodeType="clickPar">
                      <p:stCondLst>
                        <p:cond delay="indefinite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5" dur="500" fill="hold"/>
                                        <p:tgtEl>
                                          <p:spTgt spid="41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500" fill="hold"/>
                                        <p:tgtEl>
                                          <p:spTgt spid="41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500" fill="hold"/>
                                        <p:tgtEl>
                                          <p:spTgt spid="41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41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 nodeType="clickPar">
                      <p:stCondLst>
                        <p:cond delay="indefinite"/>
                      </p:stCondLst>
                      <p:childTnLst>
                        <p:par>
                          <p:cTn id="4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41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500" fill="hold"/>
                                        <p:tgtEl>
                                          <p:spTgt spid="41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41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41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 nodeType="clickPar">
                      <p:stCondLst>
                        <p:cond delay="indefinite"/>
                      </p:stCondLst>
                      <p:childTnLst>
                        <p:par>
                          <p:cTn id="4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1" dur="500" fill="hold"/>
                                        <p:tgtEl>
                                          <p:spTgt spid="41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41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41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500" fill="hold"/>
                                        <p:tgtEl>
                                          <p:spTgt spid="41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 nodeType="clickPar">
                      <p:stCondLst>
                        <p:cond delay="indefinite"/>
                      </p:stCondLst>
                      <p:childTnLst>
                        <p:par>
                          <p:cTn id="4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9" dur="500" fill="hold"/>
                                        <p:tgtEl>
                                          <p:spTgt spid="41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500" fill="hold"/>
                                        <p:tgtEl>
                                          <p:spTgt spid="41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1" dur="500" fill="hold"/>
                                        <p:tgtEl>
                                          <p:spTgt spid="41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500" fill="hold"/>
                                        <p:tgtEl>
                                          <p:spTgt spid="41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 nodeType="clickPar">
                      <p:stCondLst>
                        <p:cond delay="indefinite"/>
                      </p:stCondLst>
                      <p:childTnLst>
                        <p:par>
                          <p:cTn id="4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7" dur="500" fill="hold"/>
                                        <p:tgtEl>
                                          <p:spTgt spid="41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500" fill="hold"/>
                                        <p:tgtEl>
                                          <p:spTgt spid="41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9" dur="500" fill="hold"/>
                                        <p:tgtEl>
                                          <p:spTgt spid="41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41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 nodeType="clickPar">
                      <p:stCondLst>
                        <p:cond delay="indefinite"/>
                      </p:stCondLst>
                      <p:childTnLst>
                        <p:par>
                          <p:cTn id="4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5" dur="500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6" dur="500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00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500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 nodeType="clickPar">
                      <p:stCondLst>
                        <p:cond delay="indefinite"/>
                      </p:stCondLst>
                      <p:childTnLst>
                        <p:par>
                          <p:cTn id="4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00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00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5" dur="500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6" dur="500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 nodeType="clickPar">
                      <p:stCondLst>
                        <p:cond delay="indefinite"/>
                      </p:stCondLst>
                      <p:childTnLst>
                        <p:par>
                          <p:cTn id="4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1" dur="500" fill="hold"/>
                                        <p:tgtEl>
                                          <p:spTgt spid="41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2" dur="500" fill="hold"/>
                                        <p:tgtEl>
                                          <p:spTgt spid="41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 nodeType="clickPar">
                      <p:stCondLst>
                        <p:cond delay="indefinite"/>
                      </p:stCondLst>
                      <p:childTnLst>
                        <p:par>
                          <p:cTn id="4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500" fill="hold"/>
                                        <p:tgtEl>
                                          <p:spTgt spid="41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500" fill="hold"/>
                                        <p:tgtEl>
                                          <p:spTgt spid="41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 nodeType="clickPar">
                      <p:stCondLst>
                        <p:cond delay="indefinite"/>
                      </p:stCondLst>
                      <p:childTnLst>
                        <p:par>
                          <p:cTn id="5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500" fill="hold"/>
                                        <p:tgtEl>
                                          <p:spTgt spid="41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500" fill="hold"/>
                                        <p:tgtEl>
                                          <p:spTgt spid="41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 nodeType="clickPar">
                      <p:stCondLst>
                        <p:cond delay="indefinite"/>
                      </p:stCondLst>
                      <p:childTnLst>
                        <p:par>
                          <p:cTn id="5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9" dur="500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0" dur="500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 nodeType="clickPar">
                      <p:stCondLst>
                        <p:cond delay="indefinite"/>
                      </p:stCondLst>
                      <p:childTnLst>
                        <p:par>
                          <p:cTn id="5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5" dur="500" fill="hold"/>
                                        <p:tgtEl>
                                          <p:spTgt spid="41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6" dur="500" fill="hold"/>
                                        <p:tgtEl>
                                          <p:spTgt spid="41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 nodeType="clickPar">
                      <p:stCondLst>
                        <p:cond delay="indefinite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500" fill="hold"/>
                                        <p:tgtEl>
                                          <p:spTgt spid="41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41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 nodeType="clickPar">
                      <p:stCondLst>
                        <p:cond delay="indefinite"/>
                      </p:stCondLst>
                      <p:childTnLst>
                        <p:par>
                          <p:cTn id="5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7" dur="500" fill="hold"/>
                                        <p:tgtEl>
                                          <p:spTgt spid="4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8" dur="500" fill="hold"/>
                                        <p:tgtEl>
                                          <p:spTgt spid="41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 nodeType="clickPar">
                      <p:stCondLst>
                        <p:cond delay="indefinite"/>
                      </p:stCondLst>
                      <p:childTnLst>
                        <p:par>
                          <p:cTn id="5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3" dur="500" fill="hold"/>
                                        <p:tgtEl>
                                          <p:spTgt spid="41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500" fill="hold"/>
                                        <p:tgtEl>
                                          <p:spTgt spid="4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 nodeType="clickPar">
                      <p:stCondLst>
                        <p:cond delay="indefinite"/>
                      </p:stCondLst>
                      <p:childTnLst>
                        <p:par>
                          <p:cTn id="5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9" dur="500" fill="hold"/>
                                        <p:tgtEl>
                                          <p:spTgt spid="4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0" dur="500" fill="hold"/>
                                        <p:tgtEl>
                                          <p:spTgt spid="4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 nodeType="clickPar">
                      <p:stCondLst>
                        <p:cond delay="indefinite"/>
                      </p:stCondLst>
                      <p:childTnLst>
                        <p:par>
                          <p:cTn id="5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5" dur="500" fill="hold"/>
                                        <p:tgtEl>
                                          <p:spTgt spid="41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6" dur="500" fill="hold"/>
                                        <p:tgtEl>
                                          <p:spTgt spid="4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 nodeType="clickPar">
                      <p:stCondLst>
                        <p:cond delay="indefinite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1" dur="500" fill="hold"/>
                                        <p:tgtEl>
                                          <p:spTgt spid="41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2" dur="500" fill="hold"/>
                                        <p:tgtEl>
                                          <p:spTgt spid="41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 nodeType="clickPar">
                      <p:stCondLst>
                        <p:cond delay="indefinite"/>
                      </p:stCondLst>
                      <p:childTnLst>
                        <p:par>
                          <p:cTn id="5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7" dur="500" fill="hold"/>
                                        <p:tgtEl>
                                          <p:spTgt spid="4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8" dur="500" fill="hold"/>
                                        <p:tgtEl>
                                          <p:spTgt spid="4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 nodeType="clickPar">
                      <p:stCondLst>
                        <p:cond delay="indefinite"/>
                      </p:stCondLst>
                      <p:childTnLst>
                        <p:par>
                          <p:cTn id="5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3" dur="500" fill="hold"/>
                                        <p:tgtEl>
                                          <p:spTgt spid="4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00" fill="hold"/>
                                        <p:tgtEl>
                                          <p:spTgt spid="41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5" dur="500" fill="hold"/>
                                        <p:tgtEl>
                                          <p:spTgt spid="41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6" dur="500" fill="hold"/>
                                        <p:tgtEl>
                                          <p:spTgt spid="41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 nodeType="clickPar">
                      <p:stCondLst>
                        <p:cond delay="indefinite"/>
                      </p:stCondLst>
                      <p:childTnLst>
                        <p:par>
                          <p:cTn id="5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1" dur="500" fill="hold"/>
                                        <p:tgtEl>
                                          <p:spTgt spid="41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2" dur="500" fill="hold"/>
                                        <p:tgtEl>
                                          <p:spTgt spid="41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3" dur="500" fill="hold"/>
                                        <p:tgtEl>
                                          <p:spTgt spid="41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4" dur="500" fill="hold"/>
                                        <p:tgtEl>
                                          <p:spTgt spid="41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 nodeType="clickPar">
                      <p:stCondLst>
                        <p:cond delay="indefinite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9" dur="500"/>
                                        <p:tgtEl>
                                          <p:spTgt spid="4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 nodeType="clickPar">
                      <p:stCondLst>
                        <p:cond delay="indefinite"/>
                      </p:stCondLst>
                      <p:childTnLst>
                        <p:par>
                          <p:cTn id="5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4" dur="500"/>
                                        <p:tgtEl>
                                          <p:spTgt spid="4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 nodeType="clickPar">
                      <p:stCondLst>
                        <p:cond delay="indefinite"/>
                      </p:stCondLst>
                      <p:childTnLst>
                        <p:par>
                          <p:cTn id="5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89" dur="500"/>
                                        <p:tgtEl>
                                          <p:spTgt spid="4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0" fill="hold" nodeType="clickPar">
                      <p:stCondLst>
                        <p:cond delay="indefinite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4" dur="500"/>
                                        <p:tgtEl>
                                          <p:spTgt spid="4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 nodeType="clickPar">
                      <p:stCondLst>
                        <p:cond delay="indefinite"/>
                      </p:stCondLst>
                      <p:childTnLst>
                        <p:par>
                          <p:cTn id="5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9" dur="500"/>
                                        <p:tgtEl>
                                          <p:spTgt spid="4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 nodeType="clickPar">
                      <p:stCondLst>
                        <p:cond delay="indefinite"/>
                      </p:stCondLst>
                      <p:childTnLst>
                        <p:par>
                          <p:cTn id="6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4" dur="500"/>
                                        <p:tgtEl>
                                          <p:spTgt spid="4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 nodeType="clickPar">
                      <p:stCondLst>
                        <p:cond delay="indefinite"/>
                      </p:stCondLst>
                      <p:childTnLst>
                        <p:par>
                          <p:cTn id="6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500" fill="hold"/>
                                        <p:tgtEl>
                                          <p:spTgt spid="41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500" fill="hold"/>
                                        <p:tgtEl>
                                          <p:spTgt spid="41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1" dur="500" fill="hold"/>
                                        <p:tgtEl>
                                          <p:spTgt spid="41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2" dur="500" fill="hold"/>
                                        <p:tgtEl>
                                          <p:spTgt spid="41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 nodeType="clickPar">
                      <p:stCondLst>
                        <p:cond delay="indefinite"/>
                      </p:stCondLst>
                      <p:childTnLst>
                        <p:par>
                          <p:cTn id="6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7" dur="500" fill="hold"/>
                                        <p:tgtEl>
                                          <p:spTgt spid="41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8" dur="500" fill="hold"/>
                                        <p:tgtEl>
                                          <p:spTgt spid="41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9" dur="500" fill="hold"/>
                                        <p:tgtEl>
                                          <p:spTgt spid="41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00" fill="hold"/>
                                        <p:tgtEl>
                                          <p:spTgt spid="41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 nodeType="clickPar">
                      <p:stCondLst>
                        <p:cond delay="indefinite"/>
                      </p:stCondLst>
                      <p:childTnLst>
                        <p:par>
                          <p:cTn id="6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5" dur="500" fill="hold"/>
                                        <p:tgtEl>
                                          <p:spTgt spid="41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6" dur="500" fill="hold"/>
                                        <p:tgtEl>
                                          <p:spTgt spid="41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500" fill="hold"/>
                                        <p:tgtEl>
                                          <p:spTgt spid="41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8" dur="500" fill="hold"/>
                                        <p:tgtEl>
                                          <p:spTgt spid="41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 nodeType="clickPar">
                      <p:stCondLst>
                        <p:cond delay="indefinite"/>
                      </p:stCondLst>
                      <p:childTnLst>
                        <p:par>
                          <p:cTn id="6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3" dur="500" fill="hold"/>
                                        <p:tgtEl>
                                          <p:spTgt spid="4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500" fill="hold"/>
                                        <p:tgtEl>
                                          <p:spTgt spid="41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5" dur="500" fill="hold"/>
                                        <p:tgtEl>
                                          <p:spTgt spid="41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6" dur="500" fill="hold"/>
                                        <p:tgtEl>
                                          <p:spTgt spid="41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nimBg="1"/>
      <p:bldP spid="40964" grpId="0" autoUpdateAnimBg="0"/>
      <p:bldP spid="40965" grpId="0" autoUpdateAnimBg="0"/>
      <p:bldP spid="40992" grpId="0" animBg="1"/>
      <p:bldP spid="40993" grpId="0" autoUpdateAnimBg="0"/>
      <p:bldP spid="40997" grpId="0" autoUpdateAnimBg="0"/>
      <p:bldP spid="41001" grpId="0" autoUpdateAnimBg="0"/>
      <p:bldP spid="41008" grpId="0" animBg="1"/>
      <p:bldP spid="41010" grpId="0" autoUpdateAnimBg="0"/>
      <p:bldP spid="41011" grpId="0" autoUpdateAnimBg="0"/>
      <p:bldP spid="41012" grpId="0" autoUpdateAnimBg="0"/>
      <p:bldP spid="41013" grpId="0" autoUpdateAnimBg="0"/>
      <p:bldP spid="41014" grpId="0" autoUpdateAnimBg="0"/>
      <p:bldP spid="41015" grpId="0" autoUpdateAnimBg="0"/>
      <p:bldP spid="41016" grpId="0" autoUpdateAnimBg="0"/>
      <p:bldP spid="41017" grpId="0" autoUpdateAnimBg="0"/>
      <p:bldP spid="41069" grpId="0" animBg="1"/>
      <p:bldP spid="41070" grpId="0" animBg="1"/>
      <p:bldP spid="41071" grpId="0" animBg="1"/>
      <p:bldP spid="41072" grpId="0" animBg="1"/>
      <p:bldP spid="41073" grpId="0" animBg="1"/>
      <p:bldP spid="41074" grpId="0" animBg="1"/>
      <p:bldP spid="41075" grpId="0" autoUpdateAnimBg="0"/>
      <p:bldP spid="41076" grpId="0" autoUpdateAnimBg="0"/>
      <p:bldP spid="41077" grpId="0" autoUpdateAnimBg="0"/>
      <p:bldP spid="41078" grpId="0" autoUpdateAnimBg="0"/>
      <p:bldP spid="41079" grpId="0" autoUpdateAnimBg="0"/>
      <p:bldP spid="4109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2"/>
          <p:cNvGrpSpPr>
            <a:grpSpLocks/>
          </p:cNvGrpSpPr>
          <p:nvPr/>
        </p:nvGrpSpPr>
        <p:grpSpPr bwMode="auto">
          <a:xfrm>
            <a:off x="6135688" y="3733800"/>
            <a:ext cx="2168525" cy="2381250"/>
            <a:chOff x="3865" y="2112"/>
            <a:chExt cx="1366" cy="1500"/>
          </a:xfrm>
        </p:grpSpPr>
        <p:sp>
          <p:nvSpPr>
            <p:cNvPr id="33960" name="Oval 3"/>
            <p:cNvSpPr>
              <a:spLocks noChangeArrowheads="1"/>
            </p:cNvSpPr>
            <p:nvPr/>
          </p:nvSpPr>
          <p:spPr bwMode="auto">
            <a:xfrm rot="-7513297">
              <a:off x="4344" y="2592"/>
              <a:ext cx="564" cy="100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61" name="Line 4"/>
            <p:cNvSpPr>
              <a:spLocks noChangeShapeType="1"/>
            </p:cNvSpPr>
            <p:nvPr/>
          </p:nvSpPr>
          <p:spPr bwMode="auto">
            <a:xfrm rot="-7513297">
              <a:off x="3644" y="2587"/>
              <a:ext cx="945" cy="5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62" name="Line 5"/>
            <p:cNvSpPr>
              <a:spLocks noChangeShapeType="1"/>
            </p:cNvSpPr>
            <p:nvPr/>
          </p:nvSpPr>
          <p:spPr bwMode="auto">
            <a:xfrm rot="14086703" flipV="1">
              <a:off x="4089" y="2295"/>
              <a:ext cx="870" cy="5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63" name="Text Box 6"/>
            <p:cNvSpPr txBox="1">
              <a:spLocks noChangeArrowheads="1"/>
            </p:cNvSpPr>
            <p:nvPr/>
          </p:nvSpPr>
          <p:spPr bwMode="auto">
            <a:xfrm rot="-354110">
              <a:off x="4643" y="3288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64" name="Text Box 7"/>
            <p:cNvSpPr txBox="1">
              <a:spLocks noChangeArrowheads="1"/>
            </p:cNvSpPr>
            <p:nvPr/>
          </p:nvSpPr>
          <p:spPr bwMode="auto">
            <a:xfrm rot="-11191">
              <a:off x="4357" y="3420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h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65" name="Text Box 8"/>
            <p:cNvSpPr txBox="1">
              <a:spLocks noChangeArrowheads="1"/>
            </p:cNvSpPr>
            <p:nvPr/>
          </p:nvSpPr>
          <p:spPr bwMode="auto">
            <a:xfrm rot="50137">
              <a:off x="4193" y="3051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f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66" name="Text Box 9"/>
            <p:cNvSpPr txBox="1">
              <a:spLocks noChangeArrowheads="1"/>
            </p:cNvSpPr>
            <p:nvPr/>
          </p:nvSpPr>
          <p:spPr bwMode="auto">
            <a:xfrm rot="-262626">
              <a:off x="4374" y="2825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e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67" name="Text Box 10"/>
            <p:cNvSpPr txBox="1">
              <a:spLocks noChangeArrowheads="1"/>
            </p:cNvSpPr>
            <p:nvPr/>
          </p:nvSpPr>
          <p:spPr bwMode="auto">
            <a:xfrm rot="-309977">
              <a:off x="4673" y="2688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68" name="Text Box 11"/>
            <p:cNvSpPr txBox="1">
              <a:spLocks noChangeArrowheads="1"/>
            </p:cNvSpPr>
            <p:nvPr/>
          </p:nvSpPr>
          <p:spPr bwMode="auto">
            <a:xfrm rot="10391">
              <a:off x="4991" y="2685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69" name="Text Box 12"/>
            <p:cNvSpPr txBox="1">
              <a:spLocks noChangeArrowheads="1"/>
            </p:cNvSpPr>
            <p:nvPr/>
          </p:nvSpPr>
          <p:spPr bwMode="auto">
            <a:xfrm rot="-174120">
              <a:off x="4910" y="3059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70" name="Oval 13"/>
            <p:cNvSpPr>
              <a:spLocks noChangeArrowheads="1"/>
            </p:cNvSpPr>
            <p:nvPr/>
          </p:nvSpPr>
          <p:spPr bwMode="auto">
            <a:xfrm>
              <a:off x="4907" y="30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71" name="Text Box 14"/>
            <p:cNvSpPr txBox="1">
              <a:spLocks noChangeArrowheads="1"/>
            </p:cNvSpPr>
            <p:nvPr/>
          </p:nvSpPr>
          <p:spPr bwMode="auto">
            <a:xfrm rot="-11191">
              <a:off x="4121" y="3336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g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72" name="Oval 15"/>
            <p:cNvSpPr>
              <a:spLocks noChangeArrowheads="1"/>
            </p:cNvSpPr>
            <p:nvPr/>
          </p:nvSpPr>
          <p:spPr bwMode="auto">
            <a:xfrm>
              <a:off x="4229" y="33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73" name="Oval 16"/>
            <p:cNvSpPr>
              <a:spLocks noChangeArrowheads="1"/>
            </p:cNvSpPr>
            <p:nvPr/>
          </p:nvSpPr>
          <p:spPr bwMode="auto">
            <a:xfrm>
              <a:off x="4439" y="34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74" name="Oval 17"/>
            <p:cNvSpPr>
              <a:spLocks noChangeArrowheads="1"/>
            </p:cNvSpPr>
            <p:nvPr/>
          </p:nvSpPr>
          <p:spPr bwMode="auto">
            <a:xfrm>
              <a:off x="4811" y="32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75" name="Oval 18"/>
            <p:cNvSpPr>
              <a:spLocks noChangeArrowheads="1"/>
            </p:cNvSpPr>
            <p:nvPr/>
          </p:nvSpPr>
          <p:spPr bwMode="auto">
            <a:xfrm>
              <a:off x="5003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76" name="Oval 19"/>
            <p:cNvSpPr>
              <a:spLocks noChangeArrowheads="1"/>
            </p:cNvSpPr>
            <p:nvPr/>
          </p:nvSpPr>
          <p:spPr bwMode="auto">
            <a:xfrm>
              <a:off x="5003" y="278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77" name="Oval 20"/>
            <p:cNvSpPr>
              <a:spLocks noChangeArrowheads="1"/>
            </p:cNvSpPr>
            <p:nvPr/>
          </p:nvSpPr>
          <p:spPr bwMode="auto">
            <a:xfrm>
              <a:off x="4703" y="271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78" name="Oval 21"/>
            <p:cNvSpPr>
              <a:spLocks noChangeArrowheads="1"/>
            </p:cNvSpPr>
            <p:nvPr/>
          </p:nvSpPr>
          <p:spPr bwMode="auto">
            <a:xfrm>
              <a:off x="4439" y="284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79" name="Oval 22"/>
            <p:cNvSpPr>
              <a:spLocks noChangeArrowheads="1"/>
            </p:cNvSpPr>
            <p:nvPr/>
          </p:nvSpPr>
          <p:spPr bwMode="auto">
            <a:xfrm>
              <a:off x="4217" y="306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80" name="Text Box 23"/>
            <p:cNvSpPr txBox="1">
              <a:spLocks noChangeArrowheads="1"/>
            </p:cNvSpPr>
            <p:nvPr/>
          </p:nvSpPr>
          <p:spPr bwMode="auto">
            <a:xfrm>
              <a:off x="4571" y="308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47128" name="Oval 24"/>
          <p:cNvSpPr>
            <a:spLocks noChangeArrowheads="1"/>
          </p:cNvSpPr>
          <p:nvPr/>
        </p:nvSpPr>
        <p:spPr bwMode="auto">
          <a:xfrm rot="-2388062">
            <a:off x="6557963" y="2552700"/>
            <a:ext cx="1595437" cy="11128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 rot="59674">
            <a:off x="6154738" y="3927475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130" name="Oval 26"/>
          <p:cNvSpPr>
            <a:spLocks noChangeArrowheads="1"/>
          </p:cNvSpPr>
          <p:nvPr/>
        </p:nvSpPr>
        <p:spPr bwMode="auto">
          <a:xfrm>
            <a:off x="6400800" y="40481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31" name="Line 27"/>
          <p:cNvSpPr>
            <a:spLocks noChangeShapeType="1"/>
          </p:cNvSpPr>
          <p:nvPr/>
        </p:nvSpPr>
        <p:spPr bwMode="auto">
          <a:xfrm flipH="1">
            <a:off x="6400800" y="5305425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7132" name="Group 28"/>
          <p:cNvGrpSpPr>
            <a:grpSpLocks/>
          </p:cNvGrpSpPr>
          <p:nvPr/>
        </p:nvGrpSpPr>
        <p:grpSpPr bwMode="auto">
          <a:xfrm>
            <a:off x="6096000" y="4572000"/>
            <a:ext cx="1562100" cy="757238"/>
            <a:chOff x="3850" y="2643"/>
            <a:chExt cx="984" cy="477"/>
          </a:xfrm>
        </p:grpSpPr>
        <p:sp>
          <p:nvSpPr>
            <p:cNvPr id="33958" name="Line 29"/>
            <p:cNvSpPr>
              <a:spLocks noChangeShapeType="1"/>
            </p:cNvSpPr>
            <p:nvPr/>
          </p:nvSpPr>
          <p:spPr bwMode="auto">
            <a:xfrm rot="2676545">
              <a:off x="3850" y="2643"/>
              <a:ext cx="984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59" name="Oval 30"/>
            <p:cNvSpPr>
              <a:spLocks noChangeArrowheads="1"/>
            </p:cNvSpPr>
            <p:nvPr/>
          </p:nvSpPr>
          <p:spPr bwMode="auto">
            <a:xfrm>
              <a:off x="4608" y="30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47135" name="Group 31"/>
          <p:cNvGrpSpPr>
            <a:grpSpLocks/>
          </p:cNvGrpSpPr>
          <p:nvPr/>
        </p:nvGrpSpPr>
        <p:grpSpPr bwMode="auto">
          <a:xfrm>
            <a:off x="7010400" y="4114800"/>
            <a:ext cx="1524000" cy="457200"/>
            <a:chOff x="4416" y="2352"/>
            <a:chExt cx="960" cy="288"/>
          </a:xfrm>
        </p:grpSpPr>
        <p:sp>
          <p:nvSpPr>
            <p:cNvPr id="33956" name="Line 32"/>
            <p:cNvSpPr>
              <a:spLocks noChangeShapeType="1"/>
            </p:cNvSpPr>
            <p:nvPr/>
          </p:nvSpPr>
          <p:spPr bwMode="auto">
            <a:xfrm flipH="1">
              <a:off x="4416" y="2352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57" name="Line 33"/>
            <p:cNvSpPr>
              <a:spLocks noChangeShapeType="1"/>
            </p:cNvSpPr>
            <p:nvPr/>
          </p:nvSpPr>
          <p:spPr bwMode="auto">
            <a:xfrm>
              <a:off x="4800" y="235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138" name="Group 34"/>
          <p:cNvGrpSpPr>
            <a:grpSpLocks/>
          </p:cNvGrpSpPr>
          <p:nvPr/>
        </p:nvGrpSpPr>
        <p:grpSpPr bwMode="auto">
          <a:xfrm>
            <a:off x="5943600" y="3810000"/>
            <a:ext cx="2003425" cy="1281113"/>
            <a:chOff x="3747" y="2139"/>
            <a:chExt cx="1262" cy="807"/>
          </a:xfrm>
        </p:grpSpPr>
        <p:sp>
          <p:nvSpPr>
            <p:cNvPr id="33953" name="Line 35"/>
            <p:cNvSpPr>
              <a:spLocks noChangeShapeType="1"/>
            </p:cNvSpPr>
            <p:nvPr/>
          </p:nvSpPr>
          <p:spPr bwMode="auto">
            <a:xfrm rot="826034">
              <a:off x="3747" y="2296"/>
              <a:ext cx="1262" cy="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54" name="Arc 36"/>
            <p:cNvSpPr>
              <a:spLocks/>
            </p:cNvSpPr>
            <p:nvPr/>
          </p:nvSpPr>
          <p:spPr bwMode="auto">
            <a:xfrm flipH="1">
              <a:off x="4080" y="2139"/>
              <a:ext cx="336" cy="364"/>
            </a:xfrm>
            <a:custGeom>
              <a:avLst/>
              <a:gdLst>
                <a:gd name="T0" fmla="*/ 0 w 21600"/>
                <a:gd name="T1" fmla="*/ 0 h 23373"/>
                <a:gd name="T2" fmla="*/ 0 w 21600"/>
                <a:gd name="T3" fmla="*/ 0 h 23373"/>
                <a:gd name="T4" fmla="*/ 0 w 21600"/>
                <a:gd name="T5" fmla="*/ 0 h 233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3373" fill="none" extrusionOk="0">
                  <a:moveTo>
                    <a:pt x="11285" y="23372"/>
                  </a:moveTo>
                  <a:cubicBezTo>
                    <a:pt x="4330" y="19592"/>
                    <a:pt x="0" y="12310"/>
                    <a:pt x="0" y="4395"/>
                  </a:cubicBezTo>
                  <a:cubicBezTo>
                    <a:pt x="0" y="2918"/>
                    <a:pt x="151" y="1445"/>
                    <a:pt x="451" y="-1"/>
                  </a:cubicBezTo>
                </a:path>
                <a:path w="21600" h="23373" stroke="0" extrusionOk="0">
                  <a:moveTo>
                    <a:pt x="11285" y="23372"/>
                  </a:moveTo>
                  <a:cubicBezTo>
                    <a:pt x="4330" y="19592"/>
                    <a:pt x="0" y="12310"/>
                    <a:pt x="0" y="4395"/>
                  </a:cubicBezTo>
                  <a:cubicBezTo>
                    <a:pt x="0" y="2918"/>
                    <a:pt x="151" y="1445"/>
                    <a:pt x="451" y="-1"/>
                  </a:cubicBezTo>
                  <a:lnTo>
                    <a:pt x="21600" y="4395"/>
                  </a:lnTo>
                  <a:lnTo>
                    <a:pt x="11285" y="2337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955" name="Text Box 37"/>
            <p:cNvSpPr txBox="1">
              <a:spLocks noChangeArrowheads="1"/>
            </p:cNvSpPr>
            <p:nvPr/>
          </p:nvSpPr>
          <p:spPr bwMode="auto">
            <a:xfrm>
              <a:off x="4176" y="2208"/>
              <a:ext cx="2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40</a:t>
              </a:r>
              <a:r>
                <a:rPr lang="en-US" altLang="en-US" sz="1400" baseline="30000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47142" name="Group 38"/>
          <p:cNvGrpSpPr>
            <a:grpSpLocks/>
          </p:cNvGrpSpPr>
          <p:nvPr/>
        </p:nvGrpSpPr>
        <p:grpSpPr bwMode="auto">
          <a:xfrm>
            <a:off x="5410200" y="4524375"/>
            <a:ext cx="1362075" cy="428625"/>
            <a:chOff x="3408" y="2610"/>
            <a:chExt cx="858" cy="270"/>
          </a:xfrm>
        </p:grpSpPr>
        <p:sp>
          <p:nvSpPr>
            <p:cNvPr id="33950" name="Line 39"/>
            <p:cNvSpPr>
              <a:spLocks noChangeShapeType="1"/>
            </p:cNvSpPr>
            <p:nvPr/>
          </p:nvSpPr>
          <p:spPr bwMode="auto">
            <a:xfrm flipV="1">
              <a:off x="3978" y="261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51" name="Line 40"/>
            <p:cNvSpPr>
              <a:spLocks noChangeShapeType="1"/>
            </p:cNvSpPr>
            <p:nvPr/>
          </p:nvSpPr>
          <p:spPr bwMode="auto">
            <a:xfrm flipH="1">
              <a:off x="3456" y="284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52" name="Text Box 41"/>
            <p:cNvSpPr txBox="1">
              <a:spLocks noChangeArrowheads="1"/>
            </p:cNvSpPr>
            <p:nvPr/>
          </p:nvSpPr>
          <p:spPr bwMode="auto">
            <a:xfrm>
              <a:off x="3408" y="2688"/>
              <a:ext cx="65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Axis Tv Length</a:t>
              </a:r>
              <a:r>
                <a:rPr lang="en-US" altLang="en-US" sz="1400"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47146" name="Group 42"/>
          <p:cNvGrpSpPr>
            <a:grpSpLocks/>
          </p:cNvGrpSpPr>
          <p:nvPr/>
        </p:nvGrpSpPr>
        <p:grpSpPr bwMode="auto">
          <a:xfrm>
            <a:off x="3657600" y="5905500"/>
            <a:ext cx="1524000" cy="304800"/>
            <a:chOff x="2304" y="3480"/>
            <a:chExt cx="960" cy="192"/>
          </a:xfrm>
        </p:grpSpPr>
        <p:grpSp>
          <p:nvGrpSpPr>
            <p:cNvPr id="33946" name="Group 43"/>
            <p:cNvGrpSpPr>
              <a:grpSpLocks/>
            </p:cNvGrpSpPr>
            <p:nvPr/>
          </p:nvGrpSpPr>
          <p:grpSpPr bwMode="auto">
            <a:xfrm>
              <a:off x="2304" y="3600"/>
              <a:ext cx="960" cy="0"/>
              <a:chOff x="2304" y="3600"/>
              <a:chExt cx="960" cy="0"/>
            </a:xfrm>
          </p:grpSpPr>
          <p:sp>
            <p:nvSpPr>
              <p:cNvPr id="33948" name="Line 44"/>
              <p:cNvSpPr>
                <a:spLocks noChangeShapeType="1"/>
              </p:cNvSpPr>
              <p:nvPr/>
            </p:nvSpPr>
            <p:spPr bwMode="auto">
              <a:xfrm flipH="1">
                <a:off x="2304" y="360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949" name="Line 45"/>
              <p:cNvSpPr>
                <a:spLocks noChangeShapeType="1"/>
              </p:cNvSpPr>
              <p:nvPr/>
            </p:nvSpPr>
            <p:spPr bwMode="auto">
              <a:xfrm>
                <a:off x="3072" y="360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3947" name="Text Box 46"/>
            <p:cNvSpPr txBox="1">
              <a:spLocks noChangeArrowheads="1"/>
            </p:cNvSpPr>
            <p:nvPr/>
          </p:nvSpPr>
          <p:spPr bwMode="auto">
            <a:xfrm>
              <a:off x="2472" y="3480"/>
              <a:ext cx="65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Axis Tv Length</a:t>
              </a:r>
              <a:r>
                <a:rPr lang="en-US" altLang="en-US" sz="1400"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47151" name="Text Box 47"/>
          <p:cNvSpPr txBox="1">
            <a:spLocks noChangeArrowheads="1"/>
          </p:cNvSpPr>
          <p:nvPr/>
        </p:nvSpPr>
        <p:spPr bwMode="auto">
          <a:xfrm>
            <a:off x="7543800" y="3822700"/>
            <a:ext cx="1133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Axis True Length</a:t>
            </a:r>
            <a:r>
              <a:rPr lang="en-US" altLang="en-US" sz="1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7152" name="Text Box 48"/>
          <p:cNvSpPr txBox="1">
            <a:spLocks noChangeArrowheads="1"/>
          </p:cNvSpPr>
          <p:nvPr/>
        </p:nvSpPr>
        <p:spPr bwMode="auto">
          <a:xfrm>
            <a:off x="8124825" y="5097463"/>
            <a:ext cx="633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Locus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Center 1</a:t>
            </a:r>
          </a:p>
        </p:txBody>
      </p:sp>
      <p:grpSp>
        <p:nvGrpSpPr>
          <p:cNvPr id="47153" name="Group 49"/>
          <p:cNvGrpSpPr>
            <a:grpSpLocks/>
          </p:cNvGrpSpPr>
          <p:nvPr/>
        </p:nvGrpSpPr>
        <p:grpSpPr bwMode="auto">
          <a:xfrm>
            <a:off x="6400800" y="1905000"/>
            <a:ext cx="1600200" cy="3962400"/>
            <a:chOff x="4032" y="960"/>
            <a:chExt cx="1008" cy="2496"/>
          </a:xfrm>
        </p:grpSpPr>
        <p:sp>
          <p:nvSpPr>
            <p:cNvPr id="33938" name="Line 50"/>
            <p:cNvSpPr>
              <a:spLocks noChangeShapeType="1"/>
            </p:cNvSpPr>
            <p:nvPr/>
          </p:nvSpPr>
          <p:spPr bwMode="auto">
            <a:xfrm flipV="1">
              <a:off x="4032" y="960"/>
              <a:ext cx="0" cy="134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39" name="Line 51"/>
            <p:cNvSpPr>
              <a:spLocks noChangeShapeType="1"/>
            </p:cNvSpPr>
            <p:nvPr/>
          </p:nvSpPr>
          <p:spPr bwMode="auto">
            <a:xfrm flipV="1">
              <a:off x="4224" y="960"/>
              <a:ext cx="0" cy="244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40" name="Line 52"/>
            <p:cNvSpPr>
              <a:spLocks noChangeShapeType="1"/>
            </p:cNvSpPr>
            <p:nvPr/>
          </p:nvSpPr>
          <p:spPr bwMode="auto">
            <a:xfrm flipV="1">
              <a:off x="4464" y="960"/>
              <a:ext cx="0" cy="249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41" name="Line 53"/>
            <p:cNvSpPr>
              <a:spLocks noChangeShapeType="1"/>
            </p:cNvSpPr>
            <p:nvPr/>
          </p:nvSpPr>
          <p:spPr bwMode="auto">
            <a:xfrm flipV="1">
              <a:off x="4800" y="1008"/>
              <a:ext cx="0" cy="23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42" name="Line 54"/>
            <p:cNvSpPr>
              <a:spLocks noChangeShapeType="1"/>
            </p:cNvSpPr>
            <p:nvPr/>
          </p:nvSpPr>
          <p:spPr bwMode="auto">
            <a:xfrm flipV="1">
              <a:off x="5040" y="1008"/>
              <a:ext cx="0" cy="182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43" name="Line 55"/>
            <p:cNvSpPr>
              <a:spLocks noChangeShapeType="1"/>
            </p:cNvSpPr>
            <p:nvPr/>
          </p:nvSpPr>
          <p:spPr bwMode="auto">
            <a:xfrm flipV="1">
              <a:off x="4752" y="1008"/>
              <a:ext cx="0" cy="17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44" name="Line 56"/>
            <p:cNvSpPr>
              <a:spLocks noChangeShapeType="1"/>
            </p:cNvSpPr>
            <p:nvPr/>
          </p:nvSpPr>
          <p:spPr bwMode="auto">
            <a:xfrm flipV="1">
              <a:off x="4256" y="960"/>
              <a:ext cx="0" cy="211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45" name="Line 57"/>
            <p:cNvSpPr>
              <a:spLocks noChangeShapeType="1"/>
            </p:cNvSpPr>
            <p:nvPr/>
          </p:nvSpPr>
          <p:spPr bwMode="auto">
            <a:xfrm flipV="1">
              <a:off x="5008" y="1008"/>
              <a:ext cx="0" cy="206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162" name="Group 58"/>
          <p:cNvGrpSpPr>
            <a:grpSpLocks/>
          </p:cNvGrpSpPr>
          <p:nvPr/>
        </p:nvGrpSpPr>
        <p:grpSpPr bwMode="auto">
          <a:xfrm>
            <a:off x="3200400" y="2095500"/>
            <a:ext cx="4953000" cy="1562100"/>
            <a:chOff x="2016" y="1072"/>
            <a:chExt cx="3120" cy="984"/>
          </a:xfrm>
        </p:grpSpPr>
        <p:sp>
          <p:nvSpPr>
            <p:cNvPr id="33933" name="Line 59"/>
            <p:cNvSpPr>
              <a:spLocks noChangeShapeType="1"/>
            </p:cNvSpPr>
            <p:nvPr/>
          </p:nvSpPr>
          <p:spPr bwMode="auto">
            <a:xfrm>
              <a:off x="3216" y="1072"/>
              <a:ext cx="192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34" name="Line 60"/>
            <p:cNvSpPr>
              <a:spLocks noChangeShapeType="1"/>
            </p:cNvSpPr>
            <p:nvPr/>
          </p:nvSpPr>
          <p:spPr bwMode="auto">
            <a:xfrm>
              <a:off x="2016" y="1320"/>
              <a:ext cx="307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35" name="Line 61"/>
            <p:cNvSpPr>
              <a:spLocks noChangeShapeType="1"/>
            </p:cNvSpPr>
            <p:nvPr/>
          </p:nvSpPr>
          <p:spPr bwMode="auto">
            <a:xfrm>
              <a:off x="2064" y="1424"/>
              <a:ext cx="302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36" name="Line 62"/>
            <p:cNvSpPr>
              <a:spLocks noChangeShapeType="1"/>
            </p:cNvSpPr>
            <p:nvPr/>
          </p:nvSpPr>
          <p:spPr bwMode="auto">
            <a:xfrm>
              <a:off x="2272" y="1720"/>
              <a:ext cx="283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37" name="Line 63"/>
            <p:cNvSpPr>
              <a:spLocks noChangeShapeType="1"/>
            </p:cNvSpPr>
            <p:nvPr/>
          </p:nvSpPr>
          <p:spPr bwMode="auto">
            <a:xfrm>
              <a:off x="2496" y="2056"/>
              <a:ext cx="264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7168" name="Oval 64"/>
          <p:cNvSpPr>
            <a:spLocks noChangeArrowheads="1"/>
          </p:cNvSpPr>
          <p:nvPr/>
        </p:nvSpPr>
        <p:spPr bwMode="auto">
          <a:xfrm>
            <a:off x="6375400" y="20447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47169" name="Group 65"/>
          <p:cNvGrpSpPr>
            <a:grpSpLocks/>
          </p:cNvGrpSpPr>
          <p:nvPr/>
        </p:nvGrpSpPr>
        <p:grpSpPr bwMode="auto">
          <a:xfrm>
            <a:off x="6654800" y="2438400"/>
            <a:ext cx="1346200" cy="1384300"/>
            <a:chOff x="4192" y="1296"/>
            <a:chExt cx="848" cy="872"/>
          </a:xfrm>
        </p:grpSpPr>
        <p:sp>
          <p:nvSpPr>
            <p:cNvPr id="33925" name="Oval 66"/>
            <p:cNvSpPr>
              <a:spLocks noChangeArrowheads="1"/>
            </p:cNvSpPr>
            <p:nvPr/>
          </p:nvSpPr>
          <p:spPr bwMode="auto">
            <a:xfrm>
              <a:off x="4192" y="16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26" name="Oval 67"/>
            <p:cNvSpPr>
              <a:spLocks noChangeArrowheads="1"/>
            </p:cNvSpPr>
            <p:nvPr/>
          </p:nvSpPr>
          <p:spPr bwMode="auto">
            <a:xfrm>
              <a:off x="4992" y="168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27" name="Oval 68"/>
            <p:cNvSpPr>
              <a:spLocks noChangeArrowheads="1"/>
            </p:cNvSpPr>
            <p:nvPr/>
          </p:nvSpPr>
          <p:spPr bwMode="auto">
            <a:xfrm>
              <a:off x="4776" y="12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28" name="Oval 69"/>
            <p:cNvSpPr>
              <a:spLocks noChangeArrowheads="1"/>
            </p:cNvSpPr>
            <p:nvPr/>
          </p:nvSpPr>
          <p:spPr bwMode="auto">
            <a:xfrm>
              <a:off x="4968" y="139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29" name="Oval 70"/>
            <p:cNvSpPr>
              <a:spLocks noChangeArrowheads="1"/>
            </p:cNvSpPr>
            <p:nvPr/>
          </p:nvSpPr>
          <p:spPr bwMode="auto">
            <a:xfrm>
              <a:off x="4736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30" name="Oval 71"/>
            <p:cNvSpPr>
              <a:spLocks noChangeArrowheads="1"/>
            </p:cNvSpPr>
            <p:nvPr/>
          </p:nvSpPr>
          <p:spPr bwMode="auto">
            <a:xfrm>
              <a:off x="4440" y="21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31" name="Oval 72"/>
            <p:cNvSpPr>
              <a:spLocks noChangeArrowheads="1"/>
            </p:cNvSpPr>
            <p:nvPr/>
          </p:nvSpPr>
          <p:spPr bwMode="auto">
            <a:xfrm>
              <a:off x="4464" y="139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932" name="Oval 73"/>
            <p:cNvSpPr>
              <a:spLocks noChangeArrowheads="1"/>
            </p:cNvSpPr>
            <p:nvPr/>
          </p:nvSpPr>
          <p:spPr bwMode="auto">
            <a:xfrm>
              <a:off x="4224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47178" name="Group 74"/>
          <p:cNvGrpSpPr>
            <a:grpSpLocks/>
          </p:cNvGrpSpPr>
          <p:nvPr/>
        </p:nvGrpSpPr>
        <p:grpSpPr bwMode="auto">
          <a:xfrm>
            <a:off x="6096000" y="1765300"/>
            <a:ext cx="2322513" cy="2273300"/>
            <a:chOff x="3840" y="872"/>
            <a:chExt cx="1463" cy="1432"/>
          </a:xfrm>
        </p:grpSpPr>
        <p:sp>
          <p:nvSpPr>
            <p:cNvPr id="33916" name="Text Box 75"/>
            <p:cNvSpPr txBox="1">
              <a:spLocks noChangeArrowheads="1"/>
            </p:cNvSpPr>
            <p:nvPr/>
          </p:nvSpPr>
          <p:spPr bwMode="auto">
            <a:xfrm>
              <a:off x="5064" y="1584"/>
              <a:ext cx="23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17" name="Text Box 76"/>
            <p:cNvSpPr txBox="1">
              <a:spLocks noChangeArrowheads="1"/>
            </p:cNvSpPr>
            <p:nvPr/>
          </p:nvSpPr>
          <p:spPr bwMode="auto">
            <a:xfrm>
              <a:off x="4704" y="1104"/>
              <a:ext cx="23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18" name="Text Box 77"/>
            <p:cNvSpPr txBox="1">
              <a:spLocks noChangeArrowheads="1"/>
            </p:cNvSpPr>
            <p:nvPr/>
          </p:nvSpPr>
          <p:spPr bwMode="auto">
            <a:xfrm>
              <a:off x="5016" y="1296"/>
              <a:ext cx="24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19" name="Text Box 78"/>
            <p:cNvSpPr txBox="1">
              <a:spLocks noChangeArrowheads="1"/>
            </p:cNvSpPr>
            <p:nvPr/>
          </p:nvSpPr>
          <p:spPr bwMode="auto">
            <a:xfrm>
              <a:off x="4432" y="2112"/>
              <a:ext cx="23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e’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20" name="Text Box 79"/>
            <p:cNvSpPr txBox="1">
              <a:spLocks noChangeArrowheads="1"/>
            </p:cNvSpPr>
            <p:nvPr/>
          </p:nvSpPr>
          <p:spPr bwMode="auto">
            <a:xfrm>
              <a:off x="4752" y="1968"/>
              <a:ext cx="24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21" name="Text Box 80"/>
            <p:cNvSpPr txBox="1">
              <a:spLocks noChangeArrowheads="1"/>
            </p:cNvSpPr>
            <p:nvPr/>
          </p:nvSpPr>
          <p:spPr bwMode="auto">
            <a:xfrm>
              <a:off x="4272" y="1248"/>
              <a:ext cx="24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h’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22" name="Text Box 81"/>
            <p:cNvSpPr txBox="1">
              <a:spLocks noChangeArrowheads="1"/>
            </p:cNvSpPr>
            <p:nvPr/>
          </p:nvSpPr>
          <p:spPr bwMode="auto">
            <a:xfrm>
              <a:off x="3984" y="1920"/>
              <a:ext cx="22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f’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23" name="Text Box 82"/>
            <p:cNvSpPr txBox="1">
              <a:spLocks noChangeArrowheads="1"/>
            </p:cNvSpPr>
            <p:nvPr/>
          </p:nvSpPr>
          <p:spPr bwMode="auto">
            <a:xfrm>
              <a:off x="3936" y="1584"/>
              <a:ext cx="24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g’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24" name="Text Box 83"/>
            <p:cNvSpPr txBox="1">
              <a:spLocks noChangeArrowheads="1"/>
            </p:cNvSpPr>
            <p:nvPr/>
          </p:nvSpPr>
          <p:spPr bwMode="auto">
            <a:xfrm>
              <a:off x="3840" y="872"/>
              <a:ext cx="24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o’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47188" name="Line 84"/>
          <p:cNvSpPr>
            <a:spLocks noChangeShapeType="1"/>
          </p:cNvSpPr>
          <p:nvPr/>
        </p:nvSpPr>
        <p:spPr bwMode="auto">
          <a:xfrm>
            <a:off x="6400800" y="2057400"/>
            <a:ext cx="2286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89" name="Line 85"/>
          <p:cNvSpPr>
            <a:spLocks noChangeShapeType="1"/>
          </p:cNvSpPr>
          <p:nvPr/>
        </p:nvSpPr>
        <p:spPr bwMode="auto">
          <a:xfrm>
            <a:off x="6400800" y="20574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7190" name="Group 86"/>
          <p:cNvGrpSpPr>
            <a:grpSpLocks/>
          </p:cNvGrpSpPr>
          <p:nvPr/>
        </p:nvGrpSpPr>
        <p:grpSpPr bwMode="auto">
          <a:xfrm>
            <a:off x="1905000" y="4194175"/>
            <a:ext cx="3276600" cy="1600200"/>
            <a:chOff x="1200" y="2400"/>
            <a:chExt cx="2064" cy="1008"/>
          </a:xfrm>
        </p:grpSpPr>
        <p:sp>
          <p:nvSpPr>
            <p:cNvPr id="33911" name="Line 87"/>
            <p:cNvSpPr>
              <a:spLocks noChangeShapeType="1"/>
            </p:cNvSpPr>
            <p:nvPr/>
          </p:nvSpPr>
          <p:spPr bwMode="auto">
            <a:xfrm>
              <a:off x="1680" y="2880"/>
              <a:ext cx="1584" cy="0"/>
            </a:xfrm>
            <a:prstGeom prst="line">
              <a:avLst/>
            </a:prstGeom>
            <a:noFill/>
            <a:ln w="31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12" name="Line 88"/>
            <p:cNvSpPr>
              <a:spLocks noChangeShapeType="1"/>
            </p:cNvSpPr>
            <p:nvPr/>
          </p:nvSpPr>
          <p:spPr bwMode="auto">
            <a:xfrm>
              <a:off x="1200" y="2400"/>
              <a:ext cx="1427" cy="0"/>
            </a:xfrm>
            <a:prstGeom prst="line">
              <a:avLst/>
            </a:prstGeom>
            <a:noFill/>
            <a:ln w="31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13" name="Line 89"/>
            <p:cNvSpPr>
              <a:spLocks noChangeShapeType="1"/>
            </p:cNvSpPr>
            <p:nvPr/>
          </p:nvSpPr>
          <p:spPr bwMode="auto">
            <a:xfrm>
              <a:off x="1657" y="2592"/>
              <a:ext cx="970" cy="0"/>
            </a:xfrm>
            <a:prstGeom prst="line">
              <a:avLst/>
            </a:prstGeom>
            <a:noFill/>
            <a:ln w="31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14" name="Line 90"/>
            <p:cNvSpPr>
              <a:spLocks noChangeShapeType="1"/>
            </p:cNvSpPr>
            <p:nvPr/>
          </p:nvSpPr>
          <p:spPr bwMode="auto">
            <a:xfrm>
              <a:off x="1600" y="3234"/>
              <a:ext cx="1088" cy="0"/>
            </a:xfrm>
            <a:prstGeom prst="line">
              <a:avLst/>
            </a:prstGeom>
            <a:noFill/>
            <a:ln w="31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15" name="Line 91"/>
            <p:cNvSpPr>
              <a:spLocks noChangeShapeType="1"/>
            </p:cNvSpPr>
            <p:nvPr/>
          </p:nvSpPr>
          <p:spPr bwMode="auto">
            <a:xfrm>
              <a:off x="1200" y="3408"/>
              <a:ext cx="1427" cy="0"/>
            </a:xfrm>
            <a:prstGeom prst="line">
              <a:avLst/>
            </a:prstGeom>
            <a:noFill/>
            <a:ln w="31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196" name="Group 92"/>
          <p:cNvGrpSpPr>
            <a:grpSpLocks/>
          </p:cNvGrpSpPr>
          <p:nvPr/>
        </p:nvGrpSpPr>
        <p:grpSpPr bwMode="auto">
          <a:xfrm>
            <a:off x="457200" y="1831975"/>
            <a:ext cx="8382000" cy="4165600"/>
            <a:chOff x="288" y="1154"/>
            <a:chExt cx="5280" cy="2624"/>
          </a:xfrm>
        </p:grpSpPr>
        <p:grpSp>
          <p:nvGrpSpPr>
            <p:cNvPr id="33872" name="Group 93"/>
            <p:cNvGrpSpPr>
              <a:grpSpLocks/>
            </p:cNvGrpSpPr>
            <p:nvPr/>
          </p:nvGrpSpPr>
          <p:grpSpPr bwMode="auto">
            <a:xfrm>
              <a:off x="528" y="2474"/>
              <a:ext cx="1308" cy="1304"/>
              <a:chOff x="528" y="2232"/>
              <a:chExt cx="1308" cy="1304"/>
            </a:xfrm>
          </p:grpSpPr>
          <p:sp>
            <p:nvSpPr>
              <p:cNvPr id="33903" name="Text Box 94"/>
              <p:cNvSpPr txBox="1">
                <a:spLocks noChangeArrowheads="1"/>
              </p:cNvSpPr>
              <p:nvPr/>
            </p:nvSpPr>
            <p:spPr bwMode="auto">
              <a:xfrm>
                <a:off x="672" y="2448"/>
                <a:ext cx="164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33904" name="Text Box 95"/>
              <p:cNvSpPr txBox="1">
                <a:spLocks noChangeArrowheads="1"/>
              </p:cNvSpPr>
              <p:nvPr/>
            </p:nvSpPr>
            <p:spPr bwMode="auto">
              <a:xfrm>
                <a:off x="528" y="2768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3905" name="Text Box 96"/>
              <p:cNvSpPr txBox="1">
                <a:spLocks noChangeArrowheads="1"/>
              </p:cNvSpPr>
              <p:nvPr/>
            </p:nvSpPr>
            <p:spPr bwMode="auto">
              <a:xfrm>
                <a:off x="672" y="3171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3906" name="Text Box 97"/>
              <p:cNvSpPr txBox="1">
                <a:spLocks noChangeArrowheads="1"/>
              </p:cNvSpPr>
              <p:nvPr/>
            </p:nvSpPr>
            <p:spPr bwMode="auto">
              <a:xfrm>
                <a:off x="1104" y="3344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3907" name="Text Box 98"/>
              <p:cNvSpPr txBox="1">
                <a:spLocks noChangeArrowheads="1"/>
              </p:cNvSpPr>
              <p:nvPr/>
            </p:nvSpPr>
            <p:spPr bwMode="auto">
              <a:xfrm>
                <a:off x="1536" y="3171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3908" name="Text Box 99"/>
              <p:cNvSpPr txBox="1">
                <a:spLocks noChangeArrowheads="1"/>
              </p:cNvSpPr>
              <p:nvPr/>
            </p:nvSpPr>
            <p:spPr bwMode="auto">
              <a:xfrm>
                <a:off x="1670" y="2791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3909" name="Text Box 100"/>
              <p:cNvSpPr txBox="1">
                <a:spLocks noChangeArrowheads="1"/>
              </p:cNvSpPr>
              <p:nvPr/>
            </p:nvSpPr>
            <p:spPr bwMode="auto">
              <a:xfrm>
                <a:off x="1104" y="2232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33910" name="Text Box 101"/>
              <p:cNvSpPr txBox="1">
                <a:spLocks noChangeArrowheads="1"/>
              </p:cNvSpPr>
              <p:nvPr/>
            </p:nvSpPr>
            <p:spPr bwMode="auto">
              <a:xfrm>
                <a:off x="1536" y="2462"/>
                <a:ext cx="15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sp>
          <p:nvSpPr>
            <p:cNvPr id="33873" name="Line 102"/>
            <p:cNvSpPr>
              <a:spLocks noChangeShapeType="1"/>
            </p:cNvSpPr>
            <p:nvPr/>
          </p:nvSpPr>
          <p:spPr bwMode="auto">
            <a:xfrm>
              <a:off x="480" y="2402"/>
              <a:ext cx="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74" name="Text Box 103"/>
            <p:cNvSpPr txBox="1">
              <a:spLocks noChangeArrowheads="1"/>
            </p:cNvSpPr>
            <p:nvPr/>
          </p:nvSpPr>
          <p:spPr bwMode="auto">
            <a:xfrm>
              <a:off x="5328" y="221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3875" name="Oval 104"/>
            <p:cNvSpPr>
              <a:spLocks noChangeArrowheads="1"/>
            </p:cNvSpPr>
            <p:nvPr/>
          </p:nvSpPr>
          <p:spPr bwMode="auto">
            <a:xfrm>
              <a:off x="672" y="2642"/>
              <a:ext cx="1008" cy="100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33876" name="Group 105"/>
            <p:cNvGrpSpPr>
              <a:grpSpLocks/>
            </p:cNvGrpSpPr>
            <p:nvPr/>
          </p:nvGrpSpPr>
          <p:grpSpPr bwMode="auto">
            <a:xfrm>
              <a:off x="672" y="2642"/>
              <a:ext cx="1008" cy="1008"/>
              <a:chOff x="672" y="2400"/>
              <a:chExt cx="1008" cy="1008"/>
            </a:xfrm>
          </p:grpSpPr>
          <p:sp>
            <p:nvSpPr>
              <p:cNvPr id="33899" name="Line 106"/>
              <p:cNvSpPr>
                <a:spLocks noChangeShapeType="1"/>
              </p:cNvSpPr>
              <p:nvPr/>
            </p:nvSpPr>
            <p:spPr bwMode="auto">
              <a:xfrm>
                <a:off x="1189" y="2400"/>
                <a:ext cx="0" cy="1008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900" name="Line 107"/>
              <p:cNvSpPr>
                <a:spLocks noChangeShapeType="1"/>
              </p:cNvSpPr>
              <p:nvPr/>
            </p:nvSpPr>
            <p:spPr bwMode="auto">
              <a:xfrm>
                <a:off x="672" y="2902"/>
                <a:ext cx="1008" cy="0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901" name="Line 108"/>
              <p:cNvSpPr>
                <a:spLocks noChangeShapeType="1"/>
              </p:cNvSpPr>
              <p:nvPr/>
            </p:nvSpPr>
            <p:spPr bwMode="auto">
              <a:xfrm rot="189070" flipH="1" flipV="1">
                <a:off x="766" y="2576"/>
                <a:ext cx="814" cy="634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902" name="Line 109"/>
              <p:cNvSpPr>
                <a:spLocks noChangeShapeType="1"/>
              </p:cNvSpPr>
              <p:nvPr/>
            </p:nvSpPr>
            <p:spPr bwMode="auto">
              <a:xfrm rot="21410930" flipV="1">
                <a:off x="768" y="2598"/>
                <a:ext cx="814" cy="634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3877" name="AutoShape 110"/>
            <p:cNvSpPr>
              <a:spLocks noChangeArrowheads="1"/>
            </p:cNvSpPr>
            <p:nvPr/>
          </p:nvSpPr>
          <p:spPr bwMode="auto">
            <a:xfrm>
              <a:off x="672" y="1262"/>
              <a:ext cx="1008" cy="115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33878" name="Group 111"/>
            <p:cNvGrpSpPr>
              <a:grpSpLocks/>
            </p:cNvGrpSpPr>
            <p:nvPr/>
          </p:nvGrpSpPr>
          <p:grpSpPr bwMode="auto">
            <a:xfrm>
              <a:off x="672" y="1154"/>
              <a:ext cx="1008" cy="2064"/>
              <a:chOff x="672" y="912"/>
              <a:chExt cx="1008" cy="2064"/>
            </a:xfrm>
          </p:grpSpPr>
          <p:sp>
            <p:nvSpPr>
              <p:cNvPr id="33894" name="Line 112"/>
              <p:cNvSpPr>
                <a:spLocks noChangeShapeType="1"/>
              </p:cNvSpPr>
              <p:nvPr/>
            </p:nvSpPr>
            <p:spPr bwMode="auto">
              <a:xfrm>
                <a:off x="672" y="2160"/>
                <a:ext cx="0" cy="81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95" name="Line 113"/>
              <p:cNvSpPr>
                <a:spLocks noChangeShapeType="1"/>
              </p:cNvSpPr>
              <p:nvPr/>
            </p:nvSpPr>
            <p:spPr bwMode="auto">
              <a:xfrm>
                <a:off x="1680" y="2160"/>
                <a:ext cx="0" cy="81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96" name="Line 114"/>
              <p:cNvSpPr>
                <a:spLocks noChangeShapeType="1"/>
              </p:cNvSpPr>
              <p:nvPr/>
            </p:nvSpPr>
            <p:spPr bwMode="auto">
              <a:xfrm flipV="1">
                <a:off x="798" y="2160"/>
                <a:ext cx="0" cy="43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97" name="Line 115"/>
              <p:cNvSpPr>
                <a:spLocks noChangeShapeType="1"/>
              </p:cNvSpPr>
              <p:nvPr/>
            </p:nvSpPr>
            <p:spPr bwMode="auto">
              <a:xfrm flipV="1">
                <a:off x="1560" y="2148"/>
                <a:ext cx="0" cy="43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98" name="Line 116"/>
              <p:cNvSpPr>
                <a:spLocks noChangeShapeType="1"/>
              </p:cNvSpPr>
              <p:nvPr/>
            </p:nvSpPr>
            <p:spPr bwMode="auto">
              <a:xfrm>
                <a:off x="1176" y="912"/>
                <a:ext cx="0" cy="134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3879" name="Group 117"/>
            <p:cNvGrpSpPr>
              <a:grpSpLocks/>
            </p:cNvGrpSpPr>
            <p:nvPr/>
          </p:nvGrpSpPr>
          <p:grpSpPr bwMode="auto">
            <a:xfrm>
              <a:off x="816" y="1249"/>
              <a:ext cx="732" cy="1165"/>
              <a:chOff x="816" y="1007"/>
              <a:chExt cx="732" cy="1165"/>
            </a:xfrm>
          </p:grpSpPr>
          <p:sp>
            <p:nvSpPr>
              <p:cNvPr id="33892" name="Line 118"/>
              <p:cNvSpPr>
                <a:spLocks noChangeShapeType="1"/>
              </p:cNvSpPr>
              <p:nvPr/>
            </p:nvSpPr>
            <p:spPr bwMode="auto">
              <a:xfrm rot="92115" flipH="1">
                <a:off x="816" y="1007"/>
                <a:ext cx="348" cy="1153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93" name="Line 119"/>
              <p:cNvSpPr>
                <a:spLocks noChangeShapeType="1"/>
              </p:cNvSpPr>
              <p:nvPr/>
            </p:nvSpPr>
            <p:spPr bwMode="auto">
              <a:xfrm rot="-92115">
                <a:off x="1200" y="1019"/>
                <a:ext cx="348" cy="1153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3880" name="Text Box 120"/>
            <p:cNvSpPr txBox="1">
              <a:spLocks noChangeArrowheads="1"/>
            </p:cNvSpPr>
            <p:nvPr/>
          </p:nvSpPr>
          <p:spPr bwMode="auto">
            <a:xfrm>
              <a:off x="288" y="225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X</a:t>
              </a:r>
            </a:p>
          </p:txBody>
        </p:sp>
        <p:grpSp>
          <p:nvGrpSpPr>
            <p:cNvPr id="33881" name="Group 121"/>
            <p:cNvGrpSpPr>
              <a:grpSpLocks/>
            </p:cNvGrpSpPr>
            <p:nvPr/>
          </p:nvGrpSpPr>
          <p:grpSpPr bwMode="auto">
            <a:xfrm>
              <a:off x="528" y="1154"/>
              <a:ext cx="1301" cy="1302"/>
              <a:chOff x="528" y="912"/>
              <a:chExt cx="1301" cy="1302"/>
            </a:xfrm>
          </p:grpSpPr>
          <p:grpSp>
            <p:nvGrpSpPr>
              <p:cNvPr id="33882" name="Group 122"/>
              <p:cNvGrpSpPr>
                <a:grpSpLocks/>
              </p:cNvGrpSpPr>
              <p:nvPr/>
            </p:nvGrpSpPr>
            <p:grpSpPr bwMode="auto">
              <a:xfrm>
                <a:off x="528" y="2016"/>
                <a:ext cx="1301" cy="198"/>
                <a:chOff x="528" y="2016"/>
                <a:chExt cx="1301" cy="198"/>
              </a:xfrm>
            </p:grpSpPr>
            <p:sp>
              <p:nvSpPr>
                <p:cNvPr id="33884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528" y="2016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a’</a:t>
                  </a:r>
                </a:p>
              </p:txBody>
            </p:sp>
            <p:sp>
              <p:nvSpPr>
                <p:cNvPr id="33885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768" y="2016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b’</a:t>
                  </a:r>
                </a:p>
              </p:txBody>
            </p:sp>
            <p:sp>
              <p:nvSpPr>
                <p:cNvPr id="33886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1494" y="2022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d’</a:t>
                  </a:r>
                </a:p>
              </p:txBody>
            </p:sp>
            <p:sp>
              <p:nvSpPr>
                <p:cNvPr id="33887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1626" y="2016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e’</a:t>
                  </a:r>
                </a:p>
              </p:txBody>
            </p:sp>
            <p:sp>
              <p:nvSpPr>
                <p:cNvPr id="33888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1008" y="2016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c’</a:t>
                  </a:r>
                </a:p>
              </p:txBody>
            </p:sp>
            <p:sp>
              <p:nvSpPr>
                <p:cNvPr id="33889" name="Text Box 128"/>
                <p:cNvSpPr txBox="1">
                  <a:spLocks noChangeArrowheads="1"/>
                </p:cNvSpPr>
                <p:nvPr/>
              </p:nvSpPr>
              <p:spPr bwMode="auto">
                <a:xfrm>
                  <a:off x="1135" y="2016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g’</a:t>
                  </a:r>
                </a:p>
              </p:txBody>
            </p:sp>
            <p:sp>
              <p:nvSpPr>
                <p:cNvPr id="33890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1394" y="2016"/>
                  <a:ext cx="19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f’</a:t>
                  </a:r>
                </a:p>
              </p:txBody>
            </p:sp>
            <p:sp>
              <p:nvSpPr>
                <p:cNvPr id="33891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672" y="2016"/>
                  <a:ext cx="20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h’</a:t>
                  </a:r>
                </a:p>
              </p:txBody>
            </p:sp>
          </p:grpSp>
          <p:sp>
            <p:nvSpPr>
              <p:cNvPr id="33883" name="Text Box 131"/>
              <p:cNvSpPr txBox="1">
                <a:spLocks noChangeArrowheads="1"/>
              </p:cNvSpPr>
              <p:nvPr/>
            </p:nvSpPr>
            <p:spPr bwMode="auto">
              <a:xfrm>
                <a:off x="1152" y="912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o’</a:t>
                </a:r>
              </a:p>
            </p:txBody>
          </p:sp>
        </p:grpSp>
      </p:grpSp>
      <p:grpSp>
        <p:nvGrpSpPr>
          <p:cNvPr id="47236" name="Group 132"/>
          <p:cNvGrpSpPr>
            <a:grpSpLocks/>
          </p:cNvGrpSpPr>
          <p:nvPr/>
        </p:nvGrpSpPr>
        <p:grpSpPr bwMode="auto">
          <a:xfrm rot="-3477128">
            <a:off x="3067844" y="1337469"/>
            <a:ext cx="2155825" cy="2224087"/>
            <a:chOff x="1993" y="1029"/>
            <a:chExt cx="1358" cy="1401"/>
          </a:xfrm>
        </p:grpSpPr>
        <p:sp>
          <p:nvSpPr>
            <p:cNvPr id="33860" name="AutoShape 133"/>
            <p:cNvSpPr>
              <a:spLocks noChangeArrowheads="1"/>
            </p:cNvSpPr>
            <p:nvPr/>
          </p:nvSpPr>
          <p:spPr bwMode="auto">
            <a:xfrm rot="6853726">
              <a:off x="2164" y="1350"/>
              <a:ext cx="1008" cy="115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33861" name="Group 134"/>
            <p:cNvGrpSpPr>
              <a:grpSpLocks/>
            </p:cNvGrpSpPr>
            <p:nvPr/>
          </p:nvGrpSpPr>
          <p:grpSpPr bwMode="auto">
            <a:xfrm>
              <a:off x="1993" y="1029"/>
              <a:ext cx="1358" cy="1301"/>
              <a:chOff x="1993" y="1029"/>
              <a:chExt cx="1358" cy="1301"/>
            </a:xfrm>
          </p:grpSpPr>
          <p:sp>
            <p:nvSpPr>
              <p:cNvPr id="33862" name="Line 135"/>
              <p:cNvSpPr>
                <a:spLocks noChangeShapeType="1"/>
              </p:cNvSpPr>
              <p:nvPr/>
            </p:nvSpPr>
            <p:spPr bwMode="auto">
              <a:xfrm rot="6853726">
                <a:off x="2679" y="1259"/>
                <a:ext cx="0" cy="134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63" name="Line 136"/>
              <p:cNvSpPr>
                <a:spLocks noChangeShapeType="1"/>
              </p:cNvSpPr>
              <p:nvPr/>
            </p:nvSpPr>
            <p:spPr bwMode="auto">
              <a:xfrm rot="6945840" flipH="1">
                <a:off x="2571" y="1178"/>
                <a:ext cx="348" cy="1153"/>
              </a:xfrm>
              <a:prstGeom prst="line">
                <a:avLst/>
              </a:pr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64" name="Line 137"/>
              <p:cNvSpPr>
                <a:spLocks noChangeShapeType="1"/>
              </p:cNvSpPr>
              <p:nvPr/>
            </p:nvSpPr>
            <p:spPr bwMode="auto">
              <a:xfrm rot="6761611">
                <a:off x="2412" y="1529"/>
                <a:ext cx="348" cy="1153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33865" name="Group 138"/>
              <p:cNvGrpSpPr>
                <a:grpSpLocks/>
              </p:cNvGrpSpPr>
              <p:nvPr/>
            </p:nvGrpSpPr>
            <p:grpSpPr bwMode="auto">
              <a:xfrm rot="6855770">
                <a:off x="1439" y="1583"/>
                <a:ext cx="1301" cy="194"/>
                <a:chOff x="1434" y="1679"/>
                <a:chExt cx="1301" cy="194"/>
              </a:xfrm>
            </p:grpSpPr>
            <p:sp>
              <p:nvSpPr>
                <p:cNvPr id="33867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1434" y="1679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a’</a:t>
                  </a:r>
                </a:p>
              </p:txBody>
            </p:sp>
            <p:sp>
              <p:nvSpPr>
                <p:cNvPr id="33868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1674" y="1681"/>
                  <a:ext cx="302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h’b’</a:t>
                  </a:r>
                </a:p>
              </p:txBody>
            </p:sp>
            <p:sp>
              <p:nvSpPr>
                <p:cNvPr id="33869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2532" y="1679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e’</a:t>
                  </a:r>
                </a:p>
              </p:txBody>
            </p:sp>
            <p:sp>
              <p:nvSpPr>
                <p:cNvPr id="33870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1914" y="1680"/>
                  <a:ext cx="296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c’g’</a:t>
                  </a:r>
                </a:p>
              </p:txBody>
            </p:sp>
            <p:sp>
              <p:nvSpPr>
                <p:cNvPr id="33871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2298" y="1681"/>
                  <a:ext cx="283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Times New Roman" panose="02020603050405020304" pitchFamily="18" charset="0"/>
                    </a:rPr>
                    <a:t>d’f’</a:t>
                  </a:r>
                </a:p>
              </p:txBody>
            </p:sp>
          </p:grpSp>
          <p:sp>
            <p:nvSpPr>
              <p:cNvPr id="33866" name="Text Box 144"/>
              <p:cNvSpPr txBox="1">
                <a:spLocks noChangeArrowheads="1"/>
              </p:cNvSpPr>
              <p:nvPr/>
            </p:nvSpPr>
            <p:spPr bwMode="auto">
              <a:xfrm>
                <a:off x="3138" y="2010"/>
                <a:ext cx="20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o’</a:t>
                </a:r>
              </a:p>
            </p:txBody>
          </p:sp>
        </p:grpSp>
      </p:grpSp>
      <p:grpSp>
        <p:nvGrpSpPr>
          <p:cNvPr id="47249" name="Group 145"/>
          <p:cNvGrpSpPr>
            <a:grpSpLocks/>
          </p:cNvGrpSpPr>
          <p:nvPr/>
        </p:nvGrpSpPr>
        <p:grpSpPr bwMode="auto">
          <a:xfrm>
            <a:off x="2743200" y="3070225"/>
            <a:ext cx="914400" cy="736600"/>
            <a:chOff x="1728" y="1704"/>
            <a:chExt cx="576" cy="464"/>
          </a:xfrm>
        </p:grpSpPr>
        <p:sp>
          <p:nvSpPr>
            <p:cNvPr id="33857" name="Line 146"/>
            <p:cNvSpPr>
              <a:spLocks noChangeShapeType="1"/>
            </p:cNvSpPr>
            <p:nvPr/>
          </p:nvSpPr>
          <p:spPr bwMode="auto">
            <a:xfrm flipH="1">
              <a:off x="1728" y="1704"/>
              <a:ext cx="576" cy="4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58" name="Arc 147"/>
            <p:cNvSpPr>
              <a:spLocks/>
            </p:cNvSpPr>
            <p:nvPr/>
          </p:nvSpPr>
          <p:spPr bwMode="auto">
            <a:xfrm>
              <a:off x="1736" y="2039"/>
              <a:ext cx="192" cy="129"/>
            </a:xfrm>
            <a:custGeom>
              <a:avLst/>
              <a:gdLst>
                <a:gd name="T0" fmla="*/ 0 w 21600"/>
                <a:gd name="T1" fmla="*/ 0 h 14479"/>
                <a:gd name="T2" fmla="*/ 0 w 21600"/>
                <a:gd name="T3" fmla="*/ 0 h 14479"/>
                <a:gd name="T4" fmla="*/ 0 w 21600"/>
                <a:gd name="T5" fmla="*/ 0 h 144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4479" fill="none" extrusionOk="0">
                  <a:moveTo>
                    <a:pt x="17977" y="-1"/>
                  </a:moveTo>
                  <a:cubicBezTo>
                    <a:pt x="20339" y="3546"/>
                    <a:pt x="21600" y="7712"/>
                    <a:pt x="21600" y="11974"/>
                  </a:cubicBezTo>
                  <a:cubicBezTo>
                    <a:pt x="21600" y="12811"/>
                    <a:pt x="21551" y="13647"/>
                    <a:pt x="21454" y="14479"/>
                  </a:cubicBezTo>
                </a:path>
                <a:path w="21600" h="14479" stroke="0" extrusionOk="0">
                  <a:moveTo>
                    <a:pt x="17977" y="-1"/>
                  </a:moveTo>
                  <a:cubicBezTo>
                    <a:pt x="20339" y="3546"/>
                    <a:pt x="21600" y="7712"/>
                    <a:pt x="21600" y="11974"/>
                  </a:cubicBezTo>
                  <a:cubicBezTo>
                    <a:pt x="21600" y="12811"/>
                    <a:pt x="21551" y="13647"/>
                    <a:pt x="21454" y="14479"/>
                  </a:cubicBezTo>
                  <a:lnTo>
                    <a:pt x="0" y="11974"/>
                  </a:lnTo>
                  <a:lnTo>
                    <a:pt x="17977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59" name="Text Box 148"/>
            <p:cNvSpPr txBox="1">
              <a:spLocks noChangeArrowheads="1"/>
            </p:cNvSpPr>
            <p:nvPr/>
          </p:nvSpPr>
          <p:spPr bwMode="auto">
            <a:xfrm>
              <a:off x="1896" y="2000"/>
              <a:ext cx="22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>
                  <a:latin typeface="Times New Roman" panose="02020603050405020304" pitchFamily="18" charset="0"/>
                </a:rPr>
                <a:t>45</a:t>
              </a:r>
              <a:r>
                <a:rPr lang="en-US" altLang="en-US" sz="1000" baseline="30000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47253" name="Group 149"/>
          <p:cNvGrpSpPr>
            <a:grpSpLocks/>
          </p:cNvGrpSpPr>
          <p:nvPr/>
        </p:nvGrpSpPr>
        <p:grpSpPr bwMode="auto">
          <a:xfrm>
            <a:off x="2971800" y="2038350"/>
            <a:ext cx="2514600" cy="4191000"/>
            <a:chOff x="1872" y="1296"/>
            <a:chExt cx="1584" cy="2640"/>
          </a:xfrm>
        </p:grpSpPr>
        <p:grpSp>
          <p:nvGrpSpPr>
            <p:cNvPr id="33825" name="Group 150"/>
            <p:cNvGrpSpPr>
              <a:grpSpLocks/>
            </p:cNvGrpSpPr>
            <p:nvPr/>
          </p:nvGrpSpPr>
          <p:grpSpPr bwMode="auto">
            <a:xfrm>
              <a:off x="1872" y="2496"/>
              <a:ext cx="804" cy="1296"/>
              <a:chOff x="1884" y="2256"/>
              <a:chExt cx="804" cy="1296"/>
            </a:xfrm>
          </p:grpSpPr>
          <p:sp>
            <p:nvSpPr>
              <p:cNvPr id="33849" name="Text Box 151"/>
              <p:cNvSpPr txBox="1">
                <a:spLocks noChangeArrowheads="1"/>
              </p:cNvSpPr>
              <p:nvPr/>
            </p:nvSpPr>
            <p:spPr bwMode="auto">
              <a:xfrm>
                <a:off x="1884" y="278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50" name="Text Box 152"/>
              <p:cNvSpPr txBox="1">
                <a:spLocks noChangeArrowheads="1"/>
              </p:cNvSpPr>
              <p:nvPr/>
            </p:nvSpPr>
            <p:spPr bwMode="auto">
              <a:xfrm>
                <a:off x="1956" y="2460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h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51" name="Text Box 153"/>
              <p:cNvSpPr txBox="1">
                <a:spLocks noChangeArrowheads="1"/>
              </p:cNvSpPr>
              <p:nvPr/>
            </p:nvSpPr>
            <p:spPr bwMode="auto">
              <a:xfrm>
                <a:off x="2370" y="2496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f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52" name="Text Box 154"/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e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53" name="Text Box 155"/>
              <p:cNvSpPr txBox="1">
                <a:spLocks noChangeArrowheads="1"/>
              </p:cNvSpPr>
              <p:nvPr/>
            </p:nvSpPr>
            <p:spPr bwMode="auto">
              <a:xfrm>
                <a:off x="2364" y="3120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54" name="Text Box 156"/>
              <p:cNvSpPr txBox="1">
                <a:spLocks noChangeArrowheads="1"/>
              </p:cNvSpPr>
              <p:nvPr/>
            </p:nvSpPr>
            <p:spPr bwMode="auto">
              <a:xfrm>
                <a:off x="2184" y="3360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c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55" name="Text Box 157"/>
              <p:cNvSpPr txBox="1">
                <a:spLocks noChangeArrowheads="1"/>
              </p:cNvSpPr>
              <p:nvPr/>
            </p:nvSpPr>
            <p:spPr bwMode="auto">
              <a:xfrm>
                <a:off x="1932" y="3120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b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856" name="Text Box 158"/>
              <p:cNvSpPr txBox="1">
                <a:spLocks noChangeArrowheads="1"/>
              </p:cNvSpPr>
              <p:nvPr/>
            </p:nvSpPr>
            <p:spPr bwMode="auto">
              <a:xfrm>
                <a:off x="2124" y="2256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g</a:t>
                </a:r>
                <a:r>
                  <a:rPr lang="en-US" altLang="en-US" sz="14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33826" name="Group 159"/>
            <p:cNvGrpSpPr>
              <a:grpSpLocks/>
            </p:cNvGrpSpPr>
            <p:nvPr/>
          </p:nvGrpSpPr>
          <p:grpSpPr bwMode="auto">
            <a:xfrm>
              <a:off x="2016" y="1536"/>
              <a:ext cx="576" cy="2400"/>
              <a:chOff x="2016" y="1296"/>
              <a:chExt cx="576" cy="2400"/>
            </a:xfrm>
          </p:grpSpPr>
          <p:sp>
            <p:nvSpPr>
              <p:cNvPr id="33844" name="Line 160"/>
              <p:cNvSpPr>
                <a:spLocks noChangeShapeType="1"/>
              </p:cNvSpPr>
              <p:nvPr/>
            </p:nvSpPr>
            <p:spPr bwMode="auto">
              <a:xfrm>
                <a:off x="2016" y="1296"/>
                <a:ext cx="0" cy="216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45" name="Line 161"/>
              <p:cNvSpPr>
                <a:spLocks noChangeShapeType="1"/>
              </p:cNvSpPr>
              <p:nvPr/>
            </p:nvSpPr>
            <p:spPr bwMode="auto">
              <a:xfrm>
                <a:off x="2112" y="1440"/>
                <a:ext cx="0" cy="2016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46" name="Line 162"/>
              <p:cNvSpPr>
                <a:spLocks noChangeShapeType="1"/>
              </p:cNvSpPr>
              <p:nvPr/>
            </p:nvSpPr>
            <p:spPr bwMode="auto">
              <a:xfrm>
                <a:off x="2304" y="1728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47" name="Line 163"/>
              <p:cNvSpPr>
                <a:spLocks noChangeShapeType="1"/>
              </p:cNvSpPr>
              <p:nvPr/>
            </p:nvSpPr>
            <p:spPr bwMode="auto">
              <a:xfrm>
                <a:off x="2496" y="2064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848" name="Line 164"/>
              <p:cNvSpPr>
                <a:spLocks noChangeShapeType="1"/>
              </p:cNvSpPr>
              <p:nvPr/>
            </p:nvSpPr>
            <p:spPr bwMode="auto">
              <a:xfrm>
                <a:off x="2592" y="2160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3827" name="Line 165"/>
            <p:cNvSpPr>
              <a:spLocks noChangeShapeType="1"/>
            </p:cNvSpPr>
            <p:nvPr/>
          </p:nvSpPr>
          <p:spPr bwMode="auto">
            <a:xfrm>
              <a:off x="3264" y="1296"/>
              <a:ext cx="0" cy="26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28" name="Line 166"/>
            <p:cNvSpPr>
              <a:spLocks noChangeShapeType="1"/>
            </p:cNvSpPr>
            <p:nvPr/>
          </p:nvSpPr>
          <p:spPr bwMode="auto">
            <a:xfrm>
              <a:off x="2352" y="2642"/>
              <a:ext cx="945" cy="5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29" name="Line 167"/>
            <p:cNvSpPr>
              <a:spLocks noChangeShapeType="1"/>
            </p:cNvSpPr>
            <p:nvPr/>
          </p:nvSpPr>
          <p:spPr bwMode="auto">
            <a:xfrm flipV="1">
              <a:off x="2352" y="3147"/>
              <a:ext cx="918" cy="5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830" name="Text Box 168"/>
            <p:cNvSpPr txBox="1">
              <a:spLocks noChangeArrowheads="1"/>
            </p:cNvSpPr>
            <p:nvPr/>
          </p:nvSpPr>
          <p:spPr bwMode="auto">
            <a:xfrm>
              <a:off x="3216" y="3092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o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831" name="Text Box 169"/>
            <p:cNvSpPr txBox="1">
              <a:spLocks noChangeArrowheads="1"/>
            </p:cNvSpPr>
            <p:nvPr/>
          </p:nvSpPr>
          <p:spPr bwMode="auto">
            <a:xfrm>
              <a:off x="2160" y="302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832" name="Oval 170"/>
            <p:cNvSpPr>
              <a:spLocks noChangeArrowheads="1"/>
            </p:cNvSpPr>
            <p:nvPr/>
          </p:nvSpPr>
          <p:spPr bwMode="auto">
            <a:xfrm>
              <a:off x="2280" y="309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3" name="Arc 171"/>
            <p:cNvSpPr>
              <a:spLocks/>
            </p:cNvSpPr>
            <p:nvPr/>
          </p:nvSpPr>
          <p:spPr bwMode="auto">
            <a:xfrm flipH="1">
              <a:off x="2008" y="2641"/>
              <a:ext cx="324" cy="1021"/>
            </a:xfrm>
            <a:custGeom>
              <a:avLst/>
              <a:gdLst>
                <a:gd name="T0" fmla="*/ 0 w 21600"/>
                <a:gd name="T1" fmla="*/ 0 h 43178"/>
                <a:gd name="T2" fmla="*/ 0 w 21600"/>
                <a:gd name="T3" fmla="*/ 0 h 43178"/>
                <a:gd name="T4" fmla="*/ 0 w 21600"/>
                <a:gd name="T5" fmla="*/ 0 h 431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8" fill="none" extrusionOk="0">
                  <a:moveTo>
                    <a:pt x="471" y="0"/>
                  </a:moveTo>
                  <a:cubicBezTo>
                    <a:pt x="12214" y="256"/>
                    <a:pt x="21600" y="9849"/>
                    <a:pt x="21600" y="21595"/>
                  </a:cubicBezTo>
                  <a:cubicBezTo>
                    <a:pt x="21600" y="33187"/>
                    <a:pt x="12448" y="42713"/>
                    <a:pt x="864" y="43177"/>
                  </a:cubicBezTo>
                </a:path>
                <a:path w="21600" h="43178" stroke="0" extrusionOk="0">
                  <a:moveTo>
                    <a:pt x="471" y="0"/>
                  </a:moveTo>
                  <a:cubicBezTo>
                    <a:pt x="12214" y="256"/>
                    <a:pt x="21600" y="9849"/>
                    <a:pt x="21600" y="21595"/>
                  </a:cubicBezTo>
                  <a:cubicBezTo>
                    <a:pt x="21600" y="33187"/>
                    <a:pt x="12448" y="42713"/>
                    <a:pt x="864" y="43177"/>
                  </a:cubicBezTo>
                  <a:lnTo>
                    <a:pt x="0" y="21595"/>
                  </a:lnTo>
                  <a:lnTo>
                    <a:pt x="47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34" name="Arc 172"/>
            <p:cNvSpPr>
              <a:spLocks/>
            </p:cNvSpPr>
            <p:nvPr/>
          </p:nvSpPr>
          <p:spPr bwMode="auto">
            <a:xfrm>
              <a:off x="2256" y="2642"/>
              <a:ext cx="336" cy="1018"/>
            </a:xfrm>
            <a:custGeom>
              <a:avLst/>
              <a:gdLst>
                <a:gd name="T0" fmla="*/ 0 w 21600"/>
                <a:gd name="T1" fmla="*/ 0 h 42733"/>
                <a:gd name="T2" fmla="*/ 0 w 21600"/>
                <a:gd name="T3" fmla="*/ 0 h 42733"/>
                <a:gd name="T4" fmla="*/ 0 w 21600"/>
                <a:gd name="T5" fmla="*/ 0 h 427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2733" fill="none" extrusionOk="0">
                  <a:moveTo>
                    <a:pt x="3622" y="-1"/>
                  </a:moveTo>
                  <a:cubicBezTo>
                    <a:pt x="14004" y="1765"/>
                    <a:pt x="21600" y="10762"/>
                    <a:pt x="21600" y="21294"/>
                  </a:cubicBezTo>
                  <a:cubicBezTo>
                    <a:pt x="21600" y="32206"/>
                    <a:pt x="13461" y="41404"/>
                    <a:pt x="2630" y="42733"/>
                  </a:cubicBezTo>
                </a:path>
                <a:path w="21600" h="42733" stroke="0" extrusionOk="0">
                  <a:moveTo>
                    <a:pt x="3622" y="-1"/>
                  </a:moveTo>
                  <a:cubicBezTo>
                    <a:pt x="14004" y="1765"/>
                    <a:pt x="21600" y="10762"/>
                    <a:pt x="21600" y="21294"/>
                  </a:cubicBezTo>
                  <a:cubicBezTo>
                    <a:pt x="21600" y="32206"/>
                    <a:pt x="13461" y="41404"/>
                    <a:pt x="2630" y="42733"/>
                  </a:cubicBezTo>
                  <a:lnTo>
                    <a:pt x="0" y="21294"/>
                  </a:lnTo>
                  <a:lnTo>
                    <a:pt x="3622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33835" name="Group 173"/>
            <p:cNvGrpSpPr>
              <a:grpSpLocks/>
            </p:cNvGrpSpPr>
            <p:nvPr/>
          </p:nvGrpSpPr>
          <p:grpSpPr bwMode="auto">
            <a:xfrm>
              <a:off x="1968" y="2642"/>
              <a:ext cx="632" cy="1008"/>
              <a:chOff x="1968" y="2400"/>
              <a:chExt cx="632" cy="1008"/>
            </a:xfrm>
          </p:grpSpPr>
          <p:sp>
            <p:nvSpPr>
              <p:cNvPr id="33836" name="Oval 174"/>
              <p:cNvSpPr>
                <a:spLocks noChangeArrowheads="1"/>
              </p:cNvSpPr>
              <p:nvPr/>
            </p:nvSpPr>
            <p:spPr bwMode="auto">
              <a:xfrm>
                <a:off x="1968" y="288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7" name="Oval 175"/>
              <p:cNvSpPr>
                <a:spLocks noChangeArrowheads="1"/>
              </p:cNvSpPr>
              <p:nvPr/>
            </p:nvSpPr>
            <p:spPr bwMode="auto">
              <a:xfrm>
                <a:off x="2064" y="321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8" name="Oval 176"/>
              <p:cNvSpPr>
                <a:spLocks noChangeArrowheads="1"/>
              </p:cNvSpPr>
              <p:nvPr/>
            </p:nvSpPr>
            <p:spPr bwMode="auto">
              <a:xfrm>
                <a:off x="2256" y="336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39" name="Oval 177"/>
              <p:cNvSpPr>
                <a:spLocks noChangeArrowheads="1"/>
              </p:cNvSpPr>
              <p:nvPr/>
            </p:nvSpPr>
            <p:spPr bwMode="auto">
              <a:xfrm>
                <a:off x="2480" y="321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40" name="Oval 178"/>
              <p:cNvSpPr>
                <a:spLocks noChangeArrowheads="1"/>
              </p:cNvSpPr>
              <p:nvPr/>
            </p:nvSpPr>
            <p:spPr bwMode="auto">
              <a:xfrm>
                <a:off x="2552" y="287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41" name="Oval 179"/>
              <p:cNvSpPr>
                <a:spLocks noChangeArrowheads="1"/>
              </p:cNvSpPr>
              <p:nvPr/>
            </p:nvSpPr>
            <p:spPr bwMode="auto">
              <a:xfrm>
                <a:off x="2472" y="256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42" name="Oval 180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3843" name="Oval 181"/>
              <p:cNvSpPr>
                <a:spLocks noChangeArrowheads="1"/>
              </p:cNvSpPr>
              <p:nvPr/>
            </p:nvSpPr>
            <p:spPr bwMode="auto">
              <a:xfrm>
                <a:off x="2080" y="257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</p:grpSp>
      <p:sp>
        <p:nvSpPr>
          <p:cNvPr id="47286" name="Oval 182"/>
          <p:cNvSpPr>
            <a:spLocks noChangeArrowheads="1"/>
          </p:cNvSpPr>
          <p:nvPr/>
        </p:nvSpPr>
        <p:spPr bwMode="auto">
          <a:xfrm>
            <a:off x="77724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47287" name="Group 183"/>
          <p:cNvGrpSpPr>
            <a:grpSpLocks/>
          </p:cNvGrpSpPr>
          <p:nvPr/>
        </p:nvGrpSpPr>
        <p:grpSpPr bwMode="auto">
          <a:xfrm>
            <a:off x="0" y="0"/>
            <a:ext cx="2674938" cy="1581150"/>
            <a:chOff x="0" y="0"/>
            <a:chExt cx="1685" cy="996"/>
          </a:xfrm>
        </p:grpSpPr>
        <p:sp>
          <p:nvSpPr>
            <p:cNvPr id="33823" name="Rectangle 184"/>
            <p:cNvSpPr>
              <a:spLocks noChangeArrowheads="1"/>
            </p:cNvSpPr>
            <p:nvPr/>
          </p:nvSpPr>
          <p:spPr bwMode="auto">
            <a:xfrm>
              <a:off x="0" y="0"/>
              <a:ext cx="1632" cy="960"/>
            </a:xfrm>
            <a:prstGeom prst="rect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24" name="Text Box 185"/>
            <p:cNvSpPr txBox="1">
              <a:spLocks noChangeArrowheads="1"/>
            </p:cNvSpPr>
            <p:nvPr/>
          </p:nvSpPr>
          <p:spPr bwMode="auto">
            <a:xfrm>
              <a:off x="24" y="0"/>
              <a:ext cx="1661" cy="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Problem 5:</a:t>
              </a:r>
              <a:r>
                <a:rPr lang="en-US" altLang="en-US" sz="1400">
                  <a:latin typeface="Times New Roman" panose="02020603050405020304" pitchFamily="18" charset="0"/>
                </a:rPr>
                <a:t> A right circular cone,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40 mm base diameter and 60 mm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long axis is resting on Hp on one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point of base circle such that it’s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axis makes 45</a:t>
              </a:r>
              <a:r>
                <a:rPr lang="en-US" altLang="en-US" sz="1400" baseline="30000">
                  <a:latin typeface="Times New Roman" panose="02020603050405020304" pitchFamily="18" charset="0"/>
                </a:rPr>
                <a:t>0</a:t>
              </a:r>
              <a:r>
                <a:rPr lang="en-US" altLang="en-US" sz="1400">
                  <a:latin typeface="Times New Roman" panose="02020603050405020304" pitchFamily="18" charset="0"/>
                </a:rPr>
                <a:t> inclination with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Hp and 40</a:t>
              </a:r>
              <a:r>
                <a:rPr lang="en-US" altLang="en-US" sz="1400" baseline="30000">
                  <a:latin typeface="Times New Roman" panose="02020603050405020304" pitchFamily="18" charset="0"/>
                </a:rPr>
                <a:t>0</a:t>
              </a:r>
              <a:r>
                <a:rPr lang="en-US" altLang="en-US" sz="1400">
                  <a:latin typeface="Times New Roman" panose="02020603050405020304" pitchFamily="18" charset="0"/>
                </a:rPr>
                <a:t> inclination with Vp.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Draw it’s projections. </a:t>
              </a:r>
            </a:p>
          </p:txBody>
        </p:sp>
      </p:grpSp>
      <p:grpSp>
        <p:nvGrpSpPr>
          <p:cNvPr id="47290" name="Group 186"/>
          <p:cNvGrpSpPr>
            <a:grpSpLocks/>
          </p:cNvGrpSpPr>
          <p:nvPr/>
        </p:nvGrpSpPr>
        <p:grpSpPr bwMode="auto">
          <a:xfrm>
            <a:off x="2590800" y="0"/>
            <a:ext cx="6553200" cy="1524000"/>
            <a:chOff x="1632" y="0"/>
            <a:chExt cx="4128" cy="960"/>
          </a:xfrm>
        </p:grpSpPr>
        <p:sp>
          <p:nvSpPr>
            <p:cNvPr id="33821" name="Rectangle 187"/>
            <p:cNvSpPr>
              <a:spLocks noChangeArrowheads="1"/>
            </p:cNvSpPr>
            <p:nvPr/>
          </p:nvSpPr>
          <p:spPr bwMode="auto">
            <a:xfrm>
              <a:off x="1632" y="0"/>
              <a:ext cx="4128" cy="96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22" name="Text Box 188"/>
            <p:cNvSpPr txBox="1">
              <a:spLocks noChangeArrowheads="1"/>
            </p:cNvSpPr>
            <p:nvPr/>
          </p:nvSpPr>
          <p:spPr bwMode="auto">
            <a:xfrm>
              <a:off x="1680" y="16"/>
              <a:ext cx="4008" cy="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This case resembles to </a:t>
              </a:r>
              <a:r>
                <a:rPr lang="en-US" alt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problem no.7 &amp; 9 from projections of planes</a:t>
              </a: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 topic.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In previous all cases 2</a:t>
              </a:r>
              <a:r>
                <a:rPr lang="en-US" altLang="en-US" sz="1400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nd</a:t>
              </a: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 inclination was done by a parameter not showing TL.Like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Tv of axis is inclined to Vp etc. But here it is clearly said that the axis is 40</a:t>
              </a:r>
              <a:r>
                <a:rPr lang="en-US" altLang="en-US" sz="1400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 inclined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 to Vp. Means here TL inclination is expected. So the same construction done in those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Problems is done here also. See carefully the final Tv and inclination taken there.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So assuming it standing on HP begin as usual.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4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7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7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7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7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7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7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7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7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7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47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47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fill="hold"/>
                                        <p:tgtEl>
                                          <p:spTgt spid="47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00" fill="hold"/>
                                        <p:tgtEl>
                                          <p:spTgt spid="47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7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2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7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7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7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7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7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7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7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7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41" dur="500"/>
                                        <p:tgtEl>
                                          <p:spTgt spid="4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7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7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7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7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8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3" dur="500"/>
                                        <p:tgtEl>
                                          <p:spTgt spid="4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8" dur="500"/>
                                        <p:tgtEl>
                                          <p:spTgt spid="4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8" grpId="0" animBg="1"/>
      <p:bldP spid="47129" grpId="0" autoUpdateAnimBg="0"/>
      <p:bldP spid="47130" grpId="0" animBg="1"/>
      <p:bldP spid="47151" grpId="0" autoUpdateAnimBg="0"/>
      <p:bldP spid="47152" grpId="0" autoUpdateAnimBg="0"/>
      <p:bldP spid="47168" grpId="0" animBg="1"/>
      <p:bldP spid="4728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AutoShape 2"/>
          <p:cNvSpPr>
            <a:spLocks noChangeArrowheads="1"/>
          </p:cNvSpPr>
          <p:nvPr/>
        </p:nvSpPr>
        <p:spPr bwMode="auto">
          <a:xfrm rot="-5400000">
            <a:off x="1099344" y="3701256"/>
            <a:ext cx="1752600" cy="1665288"/>
          </a:xfrm>
          <a:prstGeom prst="pentagon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3251" name="AutoShape 3"/>
          <p:cNvSpPr>
            <a:spLocks noChangeArrowheads="1"/>
          </p:cNvSpPr>
          <p:nvPr/>
        </p:nvSpPr>
        <p:spPr bwMode="auto">
          <a:xfrm rot="-5400000">
            <a:off x="1518444" y="4063206"/>
            <a:ext cx="990600" cy="941388"/>
          </a:xfrm>
          <a:prstGeom prst="pentagon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53252" name="Group 4"/>
          <p:cNvGrpSpPr>
            <a:grpSpLocks/>
          </p:cNvGrpSpPr>
          <p:nvPr/>
        </p:nvGrpSpPr>
        <p:grpSpPr bwMode="auto">
          <a:xfrm>
            <a:off x="1152525" y="3686175"/>
            <a:ext cx="1676400" cy="1724025"/>
            <a:chOff x="726" y="2322"/>
            <a:chExt cx="1056" cy="1086"/>
          </a:xfrm>
        </p:grpSpPr>
        <p:sp>
          <p:nvSpPr>
            <p:cNvPr id="35938" name="Line 5"/>
            <p:cNvSpPr>
              <a:spLocks noChangeShapeType="1"/>
            </p:cNvSpPr>
            <p:nvPr/>
          </p:nvSpPr>
          <p:spPr bwMode="auto">
            <a:xfrm>
              <a:off x="726" y="2856"/>
              <a:ext cx="2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39" name="Line 6"/>
            <p:cNvSpPr>
              <a:spLocks noChangeShapeType="1"/>
            </p:cNvSpPr>
            <p:nvPr/>
          </p:nvSpPr>
          <p:spPr bwMode="auto">
            <a:xfrm>
              <a:off x="1584" y="3050"/>
              <a:ext cx="192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40" name="Line 7"/>
            <p:cNvSpPr>
              <a:spLocks noChangeShapeType="1"/>
            </p:cNvSpPr>
            <p:nvPr/>
          </p:nvSpPr>
          <p:spPr bwMode="auto">
            <a:xfrm flipV="1">
              <a:off x="1542" y="252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41" name="Line 8"/>
            <p:cNvSpPr>
              <a:spLocks noChangeShapeType="1"/>
            </p:cNvSpPr>
            <p:nvPr/>
          </p:nvSpPr>
          <p:spPr bwMode="auto">
            <a:xfrm flipH="1">
              <a:off x="1131" y="3168"/>
              <a:ext cx="69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42" name="Line 9"/>
            <p:cNvSpPr>
              <a:spLocks noChangeShapeType="1"/>
            </p:cNvSpPr>
            <p:nvPr/>
          </p:nvSpPr>
          <p:spPr bwMode="auto">
            <a:xfrm>
              <a:off x="1128" y="2322"/>
              <a:ext cx="65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1524000" y="4533900"/>
            <a:ext cx="990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1895475" y="4038600"/>
            <a:ext cx="166688" cy="5334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 flipV="1">
            <a:off x="1143000" y="3429000"/>
            <a:ext cx="0" cy="1066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1" name="Line 13"/>
          <p:cNvSpPr>
            <a:spLocks noChangeShapeType="1"/>
          </p:cNvSpPr>
          <p:nvPr/>
        </p:nvSpPr>
        <p:spPr bwMode="auto">
          <a:xfrm flipV="1">
            <a:off x="1781175" y="34290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 flipV="1">
            <a:off x="2819400" y="3429000"/>
            <a:ext cx="0" cy="5334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 flipV="1">
            <a:off x="1552575" y="1857375"/>
            <a:ext cx="0" cy="2667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 flipV="1">
            <a:off x="1895475" y="1828800"/>
            <a:ext cx="0" cy="2209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5" name="Line 17"/>
          <p:cNvSpPr>
            <a:spLocks noChangeShapeType="1"/>
          </p:cNvSpPr>
          <p:nvPr/>
        </p:nvSpPr>
        <p:spPr bwMode="auto">
          <a:xfrm flipV="1">
            <a:off x="2476500" y="1847850"/>
            <a:ext cx="0" cy="2362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6" name="Line 18"/>
          <p:cNvSpPr>
            <a:spLocks noChangeShapeType="1"/>
          </p:cNvSpPr>
          <p:nvPr/>
        </p:nvSpPr>
        <p:spPr bwMode="auto">
          <a:xfrm>
            <a:off x="1524000" y="1990725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7" name="Line 19"/>
          <p:cNvSpPr>
            <a:spLocks noChangeShapeType="1"/>
          </p:cNvSpPr>
          <p:nvPr/>
        </p:nvSpPr>
        <p:spPr bwMode="auto">
          <a:xfrm flipH="1">
            <a:off x="1143000" y="1981200"/>
            <a:ext cx="3810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8" name="Line 20"/>
          <p:cNvSpPr>
            <a:spLocks noChangeShapeType="1"/>
          </p:cNvSpPr>
          <p:nvPr/>
        </p:nvSpPr>
        <p:spPr bwMode="auto">
          <a:xfrm rot="21524656" flipH="1">
            <a:off x="1752600" y="1981200"/>
            <a:ext cx="152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9" name="Line 21"/>
          <p:cNvSpPr>
            <a:spLocks noChangeShapeType="1"/>
          </p:cNvSpPr>
          <p:nvPr/>
        </p:nvSpPr>
        <p:spPr bwMode="auto">
          <a:xfrm rot="134468">
            <a:off x="2457450" y="1981200"/>
            <a:ext cx="3810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70" name="Line 22"/>
          <p:cNvSpPr>
            <a:spLocks noChangeShapeType="1"/>
          </p:cNvSpPr>
          <p:nvPr/>
        </p:nvSpPr>
        <p:spPr bwMode="auto">
          <a:xfrm>
            <a:off x="1143000" y="3429000"/>
            <a:ext cx="167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3271" name="Group 23"/>
          <p:cNvGrpSpPr>
            <a:grpSpLocks/>
          </p:cNvGrpSpPr>
          <p:nvPr/>
        </p:nvGrpSpPr>
        <p:grpSpPr bwMode="auto">
          <a:xfrm>
            <a:off x="1143000" y="1981200"/>
            <a:ext cx="4267200" cy="2611438"/>
            <a:chOff x="720" y="1248"/>
            <a:chExt cx="2688" cy="1645"/>
          </a:xfrm>
        </p:grpSpPr>
        <p:sp>
          <p:nvSpPr>
            <p:cNvPr id="35932" name="Line 24"/>
            <p:cNvSpPr>
              <a:spLocks noChangeShapeType="1"/>
            </p:cNvSpPr>
            <p:nvPr/>
          </p:nvSpPr>
          <p:spPr bwMode="auto">
            <a:xfrm>
              <a:off x="1536" y="1248"/>
              <a:ext cx="1872" cy="52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33" name="Line 25"/>
            <p:cNvSpPr>
              <a:spLocks noChangeShapeType="1"/>
            </p:cNvSpPr>
            <p:nvPr/>
          </p:nvSpPr>
          <p:spPr bwMode="auto">
            <a:xfrm>
              <a:off x="1176" y="1248"/>
              <a:ext cx="2232" cy="63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34" name="Line 26"/>
            <p:cNvSpPr>
              <a:spLocks noChangeShapeType="1"/>
            </p:cNvSpPr>
            <p:nvPr/>
          </p:nvSpPr>
          <p:spPr bwMode="auto">
            <a:xfrm>
              <a:off x="942" y="1260"/>
              <a:ext cx="2418" cy="683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35" name="Line 27"/>
            <p:cNvSpPr>
              <a:spLocks noChangeShapeType="1"/>
            </p:cNvSpPr>
            <p:nvPr/>
          </p:nvSpPr>
          <p:spPr bwMode="auto">
            <a:xfrm>
              <a:off x="1776" y="2160"/>
              <a:ext cx="1632" cy="46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36" name="Line 28"/>
            <p:cNvSpPr>
              <a:spLocks noChangeShapeType="1"/>
            </p:cNvSpPr>
            <p:nvPr/>
          </p:nvSpPr>
          <p:spPr bwMode="auto">
            <a:xfrm>
              <a:off x="1104" y="2160"/>
              <a:ext cx="2256" cy="637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37" name="Line 29"/>
            <p:cNvSpPr>
              <a:spLocks noChangeShapeType="1"/>
            </p:cNvSpPr>
            <p:nvPr/>
          </p:nvSpPr>
          <p:spPr bwMode="auto">
            <a:xfrm>
              <a:off x="720" y="2160"/>
              <a:ext cx="2592" cy="733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278" name="Group 30"/>
          <p:cNvGrpSpPr>
            <a:grpSpLocks/>
          </p:cNvGrpSpPr>
          <p:nvPr/>
        </p:nvGrpSpPr>
        <p:grpSpPr bwMode="auto">
          <a:xfrm>
            <a:off x="4191000" y="2505075"/>
            <a:ext cx="1038225" cy="457200"/>
            <a:chOff x="2640" y="1578"/>
            <a:chExt cx="654" cy="288"/>
          </a:xfrm>
        </p:grpSpPr>
        <p:sp>
          <p:nvSpPr>
            <p:cNvPr id="35927" name="Oval 31"/>
            <p:cNvSpPr>
              <a:spLocks noChangeArrowheads="1"/>
            </p:cNvSpPr>
            <p:nvPr/>
          </p:nvSpPr>
          <p:spPr bwMode="auto">
            <a:xfrm>
              <a:off x="2928" y="180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28" name="Oval 32"/>
            <p:cNvSpPr>
              <a:spLocks noChangeArrowheads="1"/>
            </p:cNvSpPr>
            <p:nvPr/>
          </p:nvSpPr>
          <p:spPr bwMode="auto">
            <a:xfrm>
              <a:off x="2640" y="16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29" name="Oval 33"/>
            <p:cNvSpPr>
              <a:spLocks noChangeArrowheads="1"/>
            </p:cNvSpPr>
            <p:nvPr/>
          </p:nvSpPr>
          <p:spPr bwMode="auto">
            <a:xfrm>
              <a:off x="3246" y="181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30" name="Oval 34"/>
            <p:cNvSpPr>
              <a:spLocks noChangeArrowheads="1"/>
            </p:cNvSpPr>
            <p:nvPr/>
          </p:nvSpPr>
          <p:spPr bwMode="auto">
            <a:xfrm>
              <a:off x="2784" y="157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31" name="Oval 35"/>
            <p:cNvSpPr>
              <a:spLocks noChangeArrowheads="1"/>
            </p:cNvSpPr>
            <p:nvPr/>
          </p:nvSpPr>
          <p:spPr bwMode="auto">
            <a:xfrm>
              <a:off x="3168" y="168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53284" name="Line 36"/>
          <p:cNvSpPr>
            <a:spLocks noChangeShapeType="1"/>
          </p:cNvSpPr>
          <p:nvPr/>
        </p:nvSpPr>
        <p:spPr bwMode="auto">
          <a:xfrm flipH="1">
            <a:off x="3505200" y="2590800"/>
            <a:ext cx="68580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85" name="Line 37"/>
          <p:cNvSpPr>
            <a:spLocks noChangeShapeType="1"/>
          </p:cNvSpPr>
          <p:nvPr/>
        </p:nvSpPr>
        <p:spPr bwMode="auto">
          <a:xfrm>
            <a:off x="3505200" y="3962400"/>
            <a:ext cx="762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86" name="Line 38"/>
          <p:cNvSpPr>
            <a:spLocks noChangeShapeType="1"/>
          </p:cNvSpPr>
          <p:nvPr/>
        </p:nvSpPr>
        <p:spPr bwMode="auto">
          <a:xfrm>
            <a:off x="4267200" y="4343400"/>
            <a:ext cx="9144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87" name="Line 39"/>
          <p:cNvSpPr>
            <a:spLocks noChangeShapeType="1"/>
          </p:cNvSpPr>
          <p:nvPr/>
        </p:nvSpPr>
        <p:spPr bwMode="auto">
          <a:xfrm flipV="1">
            <a:off x="5181600" y="2971800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3288" name="Group 40"/>
          <p:cNvGrpSpPr>
            <a:grpSpLocks/>
          </p:cNvGrpSpPr>
          <p:nvPr/>
        </p:nvGrpSpPr>
        <p:grpSpPr bwMode="auto">
          <a:xfrm>
            <a:off x="4191000" y="2590800"/>
            <a:ext cx="1009650" cy="1752600"/>
            <a:chOff x="2640" y="1632"/>
            <a:chExt cx="636" cy="1104"/>
          </a:xfrm>
        </p:grpSpPr>
        <p:sp>
          <p:nvSpPr>
            <p:cNvPr id="35924" name="Line 41"/>
            <p:cNvSpPr>
              <a:spLocks noChangeShapeType="1"/>
            </p:cNvSpPr>
            <p:nvPr/>
          </p:nvSpPr>
          <p:spPr bwMode="auto">
            <a:xfrm flipH="1">
              <a:off x="2712" y="1824"/>
              <a:ext cx="23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25" name="Line 42"/>
            <p:cNvSpPr>
              <a:spLocks noChangeShapeType="1"/>
            </p:cNvSpPr>
            <p:nvPr/>
          </p:nvSpPr>
          <p:spPr bwMode="auto">
            <a:xfrm>
              <a:off x="2640" y="1632"/>
              <a:ext cx="2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26" name="Line 43"/>
            <p:cNvSpPr>
              <a:spLocks noChangeShapeType="1"/>
            </p:cNvSpPr>
            <p:nvPr/>
          </p:nvSpPr>
          <p:spPr bwMode="auto">
            <a:xfrm>
              <a:off x="2940" y="183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3292" name="Line 44"/>
          <p:cNvSpPr>
            <a:spLocks noChangeShapeType="1"/>
          </p:cNvSpPr>
          <p:nvPr/>
        </p:nvSpPr>
        <p:spPr bwMode="auto">
          <a:xfrm flipH="1" flipV="1">
            <a:off x="5029200" y="2667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93" name="Line 45"/>
          <p:cNvSpPr>
            <a:spLocks noChangeShapeType="1"/>
          </p:cNvSpPr>
          <p:nvPr/>
        </p:nvSpPr>
        <p:spPr bwMode="auto">
          <a:xfrm rot="131291" flipH="1" flipV="1">
            <a:off x="4438650" y="2543175"/>
            <a:ext cx="6096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94" name="Line 46"/>
          <p:cNvSpPr>
            <a:spLocks noChangeShapeType="1"/>
          </p:cNvSpPr>
          <p:nvPr/>
        </p:nvSpPr>
        <p:spPr bwMode="auto">
          <a:xfrm flipH="1">
            <a:off x="4191000" y="2514600"/>
            <a:ext cx="228600" cy="114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3295" name="Group 47"/>
          <p:cNvGrpSpPr>
            <a:grpSpLocks/>
          </p:cNvGrpSpPr>
          <p:nvPr/>
        </p:nvGrpSpPr>
        <p:grpSpPr bwMode="auto">
          <a:xfrm>
            <a:off x="3505200" y="2514600"/>
            <a:ext cx="1676400" cy="1905000"/>
            <a:chOff x="2208" y="1584"/>
            <a:chExt cx="1056" cy="1200"/>
          </a:xfrm>
        </p:grpSpPr>
        <p:sp>
          <p:nvSpPr>
            <p:cNvPr id="35919" name="Line 48"/>
            <p:cNvSpPr>
              <a:spLocks noChangeShapeType="1"/>
            </p:cNvSpPr>
            <p:nvPr/>
          </p:nvSpPr>
          <p:spPr bwMode="auto">
            <a:xfrm flipV="1">
              <a:off x="2208" y="235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20" name="Line 49"/>
            <p:cNvSpPr>
              <a:spLocks noChangeShapeType="1"/>
            </p:cNvSpPr>
            <p:nvPr/>
          </p:nvSpPr>
          <p:spPr bwMode="auto">
            <a:xfrm>
              <a:off x="2538" y="2376"/>
              <a:ext cx="52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21" name="Line 50"/>
            <p:cNvSpPr>
              <a:spLocks noChangeShapeType="1"/>
            </p:cNvSpPr>
            <p:nvPr/>
          </p:nvSpPr>
          <p:spPr bwMode="auto">
            <a:xfrm>
              <a:off x="3072" y="2496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22" name="Line 51"/>
            <p:cNvSpPr>
              <a:spLocks noChangeShapeType="1"/>
            </p:cNvSpPr>
            <p:nvPr/>
          </p:nvSpPr>
          <p:spPr bwMode="auto">
            <a:xfrm flipH="1">
              <a:off x="2544" y="1584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23" name="Line 52"/>
            <p:cNvSpPr>
              <a:spLocks noChangeShapeType="1"/>
            </p:cNvSpPr>
            <p:nvPr/>
          </p:nvSpPr>
          <p:spPr bwMode="auto">
            <a:xfrm flipH="1">
              <a:off x="3072" y="1680"/>
              <a:ext cx="9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301" name="Group 53"/>
          <p:cNvGrpSpPr>
            <a:grpSpLocks/>
          </p:cNvGrpSpPr>
          <p:nvPr/>
        </p:nvGrpSpPr>
        <p:grpSpPr bwMode="auto">
          <a:xfrm>
            <a:off x="3505200" y="3733800"/>
            <a:ext cx="1676400" cy="685800"/>
            <a:chOff x="2208" y="2352"/>
            <a:chExt cx="1056" cy="432"/>
          </a:xfrm>
        </p:grpSpPr>
        <p:sp>
          <p:nvSpPr>
            <p:cNvPr id="35914" name="Oval 54"/>
            <p:cNvSpPr>
              <a:spLocks noChangeArrowheads="1"/>
            </p:cNvSpPr>
            <p:nvPr/>
          </p:nvSpPr>
          <p:spPr bwMode="auto">
            <a:xfrm>
              <a:off x="2208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15" name="Oval 55"/>
            <p:cNvSpPr>
              <a:spLocks noChangeArrowheads="1"/>
            </p:cNvSpPr>
            <p:nvPr/>
          </p:nvSpPr>
          <p:spPr bwMode="auto">
            <a:xfrm>
              <a:off x="2688" y="26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16" name="Oval 56"/>
            <p:cNvSpPr>
              <a:spLocks noChangeArrowheads="1"/>
            </p:cNvSpPr>
            <p:nvPr/>
          </p:nvSpPr>
          <p:spPr bwMode="auto">
            <a:xfrm>
              <a:off x="3216" y="273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17" name="Oval 57"/>
            <p:cNvSpPr>
              <a:spLocks noChangeArrowheads="1"/>
            </p:cNvSpPr>
            <p:nvPr/>
          </p:nvSpPr>
          <p:spPr bwMode="auto">
            <a:xfrm>
              <a:off x="2496" y="235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918" name="Oval 58"/>
            <p:cNvSpPr>
              <a:spLocks noChangeArrowheads="1"/>
            </p:cNvSpPr>
            <p:nvPr/>
          </p:nvSpPr>
          <p:spPr bwMode="auto">
            <a:xfrm>
              <a:off x="3024" y="24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53307" name="Line 59"/>
          <p:cNvSpPr>
            <a:spLocks noChangeShapeType="1"/>
          </p:cNvSpPr>
          <p:nvPr/>
        </p:nvSpPr>
        <p:spPr bwMode="auto">
          <a:xfrm>
            <a:off x="533400" y="1752600"/>
            <a:ext cx="609600" cy="188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3308" name="Group 60"/>
          <p:cNvGrpSpPr>
            <a:grpSpLocks/>
          </p:cNvGrpSpPr>
          <p:nvPr/>
        </p:nvGrpSpPr>
        <p:grpSpPr bwMode="auto">
          <a:xfrm>
            <a:off x="365125" y="3182938"/>
            <a:ext cx="2911475" cy="333375"/>
            <a:chOff x="230" y="2005"/>
            <a:chExt cx="1834" cy="210"/>
          </a:xfrm>
        </p:grpSpPr>
        <p:sp>
          <p:nvSpPr>
            <p:cNvPr id="35911" name="Line 61"/>
            <p:cNvSpPr>
              <a:spLocks noChangeShapeType="1"/>
            </p:cNvSpPr>
            <p:nvPr/>
          </p:nvSpPr>
          <p:spPr bwMode="auto">
            <a:xfrm>
              <a:off x="384" y="21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12" name="Text Box 62"/>
            <p:cNvSpPr txBox="1">
              <a:spLocks noChangeArrowheads="1"/>
            </p:cNvSpPr>
            <p:nvPr/>
          </p:nvSpPr>
          <p:spPr bwMode="auto">
            <a:xfrm>
              <a:off x="230" y="2023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5913" name="Text Box 63"/>
            <p:cNvSpPr txBox="1">
              <a:spLocks noChangeArrowheads="1"/>
            </p:cNvSpPr>
            <p:nvPr/>
          </p:nvSpPr>
          <p:spPr bwMode="auto">
            <a:xfrm>
              <a:off x="1862" y="2005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53312" name="Group 64"/>
          <p:cNvGrpSpPr>
            <a:grpSpLocks/>
          </p:cNvGrpSpPr>
          <p:nvPr/>
        </p:nvGrpSpPr>
        <p:grpSpPr bwMode="auto">
          <a:xfrm>
            <a:off x="2889250" y="1714500"/>
            <a:ext cx="985838" cy="2811463"/>
            <a:chOff x="1820" y="1080"/>
            <a:chExt cx="621" cy="1771"/>
          </a:xfrm>
        </p:grpSpPr>
        <p:sp>
          <p:nvSpPr>
            <p:cNvPr id="35908" name="Line 65"/>
            <p:cNvSpPr>
              <a:spLocks noChangeShapeType="1"/>
            </p:cNvSpPr>
            <p:nvPr/>
          </p:nvSpPr>
          <p:spPr bwMode="auto">
            <a:xfrm flipH="1">
              <a:off x="1968" y="1200"/>
              <a:ext cx="432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09" name="Text Box 66"/>
            <p:cNvSpPr txBox="1">
              <a:spLocks noChangeArrowheads="1"/>
            </p:cNvSpPr>
            <p:nvPr/>
          </p:nvSpPr>
          <p:spPr bwMode="auto">
            <a:xfrm>
              <a:off x="1820" y="2659"/>
              <a:ext cx="23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X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5910" name="Text Box 67"/>
            <p:cNvSpPr txBox="1">
              <a:spLocks noChangeArrowheads="1"/>
            </p:cNvSpPr>
            <p:nvPr/>
          </p:nvSpPr>
          <p:spPr bwMode="auto">
            <a:xfrm>
              <a:off x="2208" y="1080"/>
              <a:ext cx="23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Y</a:t>
              </a:r>
              <a:r>
                <a:rPr lang="en-US" altLang="en-US" sz="1400" baseline="-2500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53316" name="Text Box 68"/>
          <p:cNvSpPr txBox="1">
            <a:spLocks noChangeArrowheads="1"/>
          </p:cNvSpPr>
          <p:nvPr/>
        </p:nvSpPr>
        <p:spPr bwMode="auto">
          <a:xfrm rot="-4433406">
            <a:off x="1019175" y="2466975"/>
            <a:ext cx="400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TL</a:t>
            </a:r>
          </a:p>
        </p:txBody>
      </p:sp>
      <p:grpSp>
        <p:nvGrpSpPr>
          <p:cNvPr id="53317" name="Group 69"/>
          <p:cNvGrpSpPr>
            <a:grpSpLocks/>
          </p:cNvGrpSpPr>
          <p:nvPr/>
        </p:nvGrpSpPr>
        <p:grpSpPr bwMode="auto">
          <a:xfrm>
            <a:off x="3771900" y="1647825"/>
            <a:ext cx="1812925" cy="639763"/>
            <a:chOff x="2376" y="1038"/>
            <a:chExt cx="1142" cy="403"/>
          </a:xfrm>
        </p:grpSpPr>
        <p:sp>
          <p:nvSpPr>
            <p:cNvPr id="35906" name="Text Box 70"/>
            <p:cNvSpPr txBox="1">
              <a:spLocks noChangeArrowheads="1"/>
            </p:cNvSpPr>
            <p:nvPr/>
          </p:nvSpPr>
          <p:spPr bwMode="auto">
            <a:xfrm>
              <a:off x="2622" y="1038"/>
              <a:ext cx="896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AIP // to slant edge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Showing true length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i.e. a’- 1’</a:t>
              </a:r>
            </a:p>
          </p:txBody>
        </p:sp>
        <p:sp>
          <p:nvSpPr>
            <p:cNvPr id="35907" name="Line 71"/>
            <p:cNvSpPr>
              <a:spLocks noChangeShapeType="1"/>
            </p:cNvSpPr>
            <p:nvPr/>
          </p:nvSpPr>
          <p:spPr bwMode="auto">
            <a:xfrm flipH="1">
              <a:off x="2376" y="1158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3320" name="Text Box 72"/>
          <p:cNvSpPr txBox="1">
            <a:spLocks noChangeArrowheads="1"/>
          </p:cNvSpPr>
          <p:nvPr/>
        </p:nvSpPr>
        <p:spPr bwMode="auto">
          <a:xfrm>
            <a:off x="898525" y="3208338"/>
            <a:ext cx="2152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Times New Roman" panose="02020603050405020304" pitchFamily="18" charset="0"/>
              </a:rPr>
              <a:t> a’            b’  e’                   c’ d’</a:t>
            </a:r>
          </a:p>
        </p:txBody>
      </p:sp>
      <p:sp>
        <p:nvSpPr>
          <p:cNvPr id="53321" name="Text Box 73"/>
          <p:cNvSpPr txBox="1">
            <a:spLocks noChangeArrowheads="1"/>
          </p:cNvSpPr>
          <p:nvPr/>
        </p:nvSpPr>
        <p:spPr bwMode="auto">
          <a:xfrm>
            <a:off x="1327150" y="1770063"/>
            <a:ext cx="1390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Times New Roman" panose="02020603050405020304" pitchFamily="18" charset="0"/>
              </a:rPr>
              <a:t>1’      2’5’         3’4’</a:t>
            </a:r>
          </a:p>
        </p:txBody>
      </p:sp>
      <p:sp>
        <p:nvSpPr>
          <p:cNvPr id="53322" name="Text Box 74"/>
          <p:cNvSpPr txBox="1">
            <a:spLocks noChangeArrowheads="1"/>
          </p:cNvSpPr>
          <p:nvPr/>
        </p:nvSpPr>
        <p:spPr bwMode="auto">
          <a:xfrm>
            <a:off x="1812925" y="1281113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Fv</a:t>
            </a:r>
          </a:p>
        </p:txBody>
      </p:sp>
      <p:sp>
        <p:nvSpPr>
          <p:cNvPr id="53323" name="Text Box 75"/>
          <p:cNvSpPr txBox="1">
            <a:spLocks noChangeArrowheads="1"/>
          </p:cNvSpPr>
          <p:nvPr/>
        </p:nvSpPr>
        <p:spPr bwMode="auto">
          <a:xfrm>
            <a:off x="822325" y="3948113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Tv</a:t>
            </a:r>
          </a:p>
        </p:txBody>
      </p:sp>
      <p:sp>
        <p:nvSpPr>
          <p:cNvPr id="53324" name="Text Box 76"/>
          <p:cNvSpPr txBox="1">
            <a:spLocks noChangeArrowheads="1"/>
          </p:cNvSpPr>
          <p:nvPr/>
        </p:nvSpPr>
        <p:spPr bwMode="auto">
          <a:xfrm>
            <a:off x="5156200" y="3186113"/>
            <a:ext cx="831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Aux.Tv</a:t>
            </a:r>
          </a:p>
        </p:txBody>
      </p:sp>
      <p:grpSp>
        <p:nvGrpSpPr>
          <p:cNvPr id="53325" name="Group 77"/>
          <p:cNvGrpSpPr>
            <a:grpSpLocks/>
          </p:cNvGrpSpPr>
          <p:nvPr/>
        </p:nvGrpSpPr>
        <p:grpSpPr bwMode="auto">
          <a:xfrm>
            <a:off x="2057400" y="1752600"/>
            <a:ext cx="0" cy="2819400"/>
            <a:chOff x="1296" y="1104"/>
            <a:chExt cx="0" cy="1776"/>
          </a:xfrm>
        </p:grpSpPr>
        <p:sp>
          <p:nvSpPr>
            <p:cNvPr id="35904" name="Line 78"/>
            <p:cNvSpPr>
              <a:spLocks noChangeShapeType="1"/>
            </p:cNvSpPr>
            <p:nvPr/>
          </p:nvSpPr>
          <p:spPr bwMode="auto">
            <a:xfrm flipV="1">
              <a:off x="1296" y="110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905" name="Line 79"/>
            <p:cNvSpPr>
              <a:spLocks noChangeShapeType="1"/>
            </p:cNvSpPr>
            <p:nvPr/>
          </p:nvSpPr>
          <p:spPr bwMode="auto">
            <a:xfrm>
              <a:off x="1296" y="2208"/>
              <a:ext cx="0" cy="67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328" name="Group 80"/>
          <p:cNvGrpSpPr>
            <a:grpSpLocks/>
          </p:cNvGrpSpPr>
          <p:nvPr/>
        </p:nvGrpSpPr>
        <p:grpSpPr bwMode="auto">
          <a:xfrm>
            <a:off x="1536700" y="4038600"/>
            <a:ext cx="1022350" cy="1011238"/>
            <a:chOff x="968" y="2544"/>
            <a:chExt cx="644" cy="637"/>
          </a:xfrm>
        </p:grpSpPr>
        <p:sp>
          <p:nvSpPr>
            <p:cNvPr id="35899" name="Text Box 81"/>
            <p:cNvSpPr txBox="1">
              <a:spLocks noChangeArrowheads="1"/>
            </p:cNvSpPr>
            <p:nvPr/>
          </p:nvSpPr>
          <p:spPr bwMode="auto">
            <a:xfrm>
              <a:off x="968" y="2768"/>
              <a:ext cx="1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5900" name="Text Box 82"/>
            <p:cNvSpPr txBox="1">
              <a:spLocks noChangeArrowheads="1"/>
            </p:cNvSpPr>
            <p:nvPr/>
          </p:nvSpPr>
          <p:spPr bwMode="auto">
            <a:xfrm>
              <a:off x="1160" y="3008"/>
              <a:ext cx="1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5901" name="Text Box 83"/>
            <p:cNvSpPr txBox="1">
              <a:spLocks noChangeArrowheads="1"/>
            </p:cNvSpPr>
            <p:nvPr/>
          </p:nvSpPr>
          <p:spPr bwMode="auto">
            <a:xfrm>
              <a:off x="1448" y="2912"/>
              <a:ext cx="1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5902" name="Text Box 84"/>
            <p:cNvSpPr txBox="1">
              <a:spLocks noChangeArrowheads="1"/>
            </p:cNvSpPr>
            <p:nvPr/>
          </p:nvSpPr>
          <p:spPr bwMode="auto">
            <a:xfrm>
              <a:off x="1440" y="2640"/>
              <a:ext cx="1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5903" name="Text Box 85"/>
            <p:cNvSpPr txBox="1">
              <a:spLocks noChangeArrowheads="1"/>
            </p:cNvSpPr>
            <p:nvPr/>
          </p:nvSpPr>
          <p:spPr bwMode="auto">
            <a:xfrm>
              <a:off x="1184" y="2544"/>
              <a:ext cx="1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53334" name="Group 86"/>
          <p:cNvGrpSpPr>
            <a:grpSpLocks/>
          </p:cNvGrpSpPr>
          <p:nvPr/>
        </p:nvGrpSpPr>
        <p:grpSpPr bwMode="auto">
          <a:xfrm>
            <a:off x="914400" y="3517900"/>
            <a:ext cx="2117725" cy="2095500"/>
            <a:chOff x="576" y="2216"/>
            <a:chExt cx="1334" cy="1320"/>
          </a:xfrm>
        </p:grpSpPr>
        <p:sp>
          <p:nvSpPr>
            <p:cNvPr id="35894" name="Text Box 87"/>
            <p:cNvSpPr txBox="1">
              <a:spLocks noChangeArrowheads="1"/>
            </p:cNvSpPr>
            <p:nvPr/>
          </p:nvSpPr>
          <p:spPr bwMode="auto">
            <a:xfrm>
              <a:off x="576" y="2768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5895" name="Text Box 88"/>
            <p:cNvSpPr txBox="1">
              <a:spLocks noChangeArrowheads="1"/>
            </p:cNvSpPr>
            <p:nvPr/>
          </p:nvSpPr>
          <p:spPr bwMode="auto">
            <a:xfrm>
              <a:off x="1008" y="334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5896" name="Text Box 89"/>
            <p:cNvSpPr txBox="1">
              <a:spLocks noChangeArrowheads="1"/>
            </p:cNvSpPr>
            <p:nvPr/>
          </p:nvSpPr>
          <p:spPr bwMode="auto">
            <a:xfrm>
              <a:off x="1728" y="238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5897" name="Text Box 90"/>
            <p:cNvSpPr txBox="1">
              <a:spLocks noChangeArrowheads="1"/>
            </p:cNvSpPr>
            <p:nvPr/>
          </p:nvSpPr>
          <p:spPr bwMode="auto">
            <a:xfrm>
              <a:off x="1744" y="3088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5898" name="Text Box 91"/>
            <p:cNvSpPr txBox="1">
              <a:spLocks noChangeArrowheads="1"/>
            </p:cNvSpPr>
            <p:nvPr/>
          </p:nvSpPr>
          <p:spPr bwMode="auto">
            <a:xfrm>
              <a:off x="960" y="2216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53340" name="Text Box 92"/>
          <p:cNvSpPr txBox="1">
            <a:spLocks noChangeArrowheads="1"/>
          </p:cNvSpPr>
          <p:nvPr/>
        </p:nvSpPr>
        <p:spPr bwMode="auto">
          <a:xfrm>
            <a:off x="4432300" y="28194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3341" name="Text Box 93"/>
          <p:cNvSpPr txBox="1">
            <a:spLocks noChangeArrowheads="1"/>
          </p:cNvSpPr>
          <p:nvPr/>
        </p:nvSpPr>
        <p:spPr bwMode="auto">
          <a:xfrm>
            <a:off x="5257800" y="28194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3342" name="Text Box 94"/>
          <p:cNvSpPr txBox="1">
            <a:spLocks noChangeArrowheads="1"/>
          </p:cNvSpPr>
          <p:nvPr/>
        </p:nvSpPr>
        <p:spPr bwMode="auto">
          <a:xfrm>
            <a:off x="5041900" y="24765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3343" name="Text Box 95"/>
          <p:cNvSpPr txBox="1">
            <a:spLocks noChangeArrowheads="1"/>
          </p:cNvSpPr>
          <p:nvPr/>
        </p:nvSpPr>
        <p:spPr bwMode="auto">
          <a:xfrm>
            <a:off x="4419600" y="22860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3344" name="Text Box 96"/>
          <p:cNvSpPr txBox="1">
            <a:spLocks noChangeArrowheads="1"/>
          </p:cNvSpPr>
          <p:nvPr/>
        </p:nvSpPr>
        <p:spPr bwMode="auto">
          <a:xfrm>
            <a:off x="3962400" y="24638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3345" name="Text Box 97"/>
          <p:cNvSpPr txBox="1">
            <a:spLocks noChangeArrowheads="1"/>
          </p:cNvSpPr>
          <p:nvPr/>
        </p:nvSpPr>
        <p:spPr bwMode="auto">
          <a:xfrm>
            <a:off x="5181600" y="4267200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b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3346" name="Text Box 98"/>
          <p:cNvSpPr txBox="1">
            <a:spLocks noChangeArrowheads="1"/>
          </p:cNvSpPr>
          <p:nvPr/>
        </p:nvSpPr>
        <p:spPr bwMode="auto">
          <a:xfrm>
            <a:off x="4572000" y="3657600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c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3347" name="Text Box 99"/>
          <p:cNvSpPr txBox="1">
            <a:spLocks noChangeArrowheads="1"/>
          </p:cNvSpPr>
          <p:nvPr/>
        </p:nvSpPr>
        <p:spPr bwMode="auto">
          <a:xfrm>
            <a:off x="4025900" y="3517900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d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3348" name="Text Box 100"/>
          <p:cNvSpPr txBox="1">
            <a:spLocks noChangeArrowheads="1"/>
          </p:cNvSpPr>
          <p:nvPr/>
        </p:nvSpPr>
        <p:spPr bwMode="auto">
          <a:xfrm>
            <a:off x="3276600" y="3810000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e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3349" name="Text Box 101"/>
          <p:cNvSpPr txBox="1">
            <a:spLocks noChangeArrowheads="1"/>
          </p:cNvSpPr>
          <p:nvPr/>
        </p:nvSpPr>
        <p:spPr bwMode="auto">
          <a:xfrm>
            <a:off x="4102100" y="4267200"/>
            <a:ext cx="320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893" name="Text Box 102"/>
          <p:cNvSpPr txBox="1">
            <a:spLocks noChangeArrowheads="1"/>
          </p:cNvSpPr>
          <p:nvPr/>
        </p:nvSpPr>
        <p:spPr bwMode="auto">
          <a:xfrm>
            <a:off x="288925" y="11113"/>
            <a:ext cx="6075363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Problem 6:</a:t>
            </a:r>
            <a:r>
              <a:rPr lang="en-US" altLang="en-US" sz="1400">
                <a:latin typeface="Times New Roman" panose="02020603050405020304" pitchFamily="18" charset="0"/>
              </a:rPr>
              <a:t> A frustum of regular hexagonal pyramid is standing on it’s larger base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On Hp with one base side perpendicular to Vp.Draw it’s Fv &amp; Tv.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Project it’s Aux.Tv on an AIP parallel to one of the slant edges showing TL.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Base side is 50 mm long , top side is 30 mm long and 50 mm is height of frustum.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3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3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3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8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9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4" dur="500"/>
                                        <p:tgtEl>
                                          <p:spTgt spid="5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3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3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5" dur="500"/>
                                        <p:tgtEl>
                                          <p:spTgt spid="5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0" dur="500"/>
                                        <p:tgtEl>
                                          <p:spTgt spid="5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3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3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3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3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3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3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3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3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3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3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3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3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3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3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3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3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3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5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53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3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6" dur="500"/>
                                        <p:tgtEl>
                                          <p:spTgt spid="5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1" dur="500"/>
                                        <p:tgtEl>
                                          <p:spTgt spid="5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6" dur="500"/>
                                        <p:tgtEl>
                                          <p:spTgt spid="5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1" dur="500"/>
                                        <p:tgtEl>
                                          <p:spTgt spid="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6" dur="500"/>
                                        <p:tgtEl>
                                          <p:spTgt spid="5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1" dur="500"/>
                                        <p:tgtEl>
                                          <p:spTgt spid="5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6" dur="500"/>
                                        <p:tgtEl>
                                          <p:spTgt spid="5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53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53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53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53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Par">
                      <p:stCondLst>
                        <p:cond delay="indefinite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 nodeType="clickPar">
                      <p:stCondLst>
                        <p:cond delay="indefinite"/>
                      </p:stCondLst>
                      <p:childTnLst>
                        <p:par>
                          <p:cTn id="2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5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5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 nodeType="clickPar">
                      <p:stCondLst>
                        <p:cond delay="indefinite"/>
                      </p:stCondLst>
                      <p:childTnLst>
                        <p:par>
                          <p:cTn id="3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53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53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53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53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53251" grpId="0" animBg="1"/>
      <p:bldP spid="53316" grpId="0" autoUpdateAnimBg="0"/>
      <p:bldP spid="53320" grpId="0" autoUpdateAnimBg="0"/>
      <p:bldP spid="53321" grpId="0" autoUpdateAnimBg="0"/>
      <p:bldP spid="53322" grpId="0" autoUpdateAnimBg="0"/>
      <p:bldP spid="53323" grpId="0" autoUpdateAnimBg="0"/>
      <p:bldP spid="53324" grpId="0" autoUpdateAnimBg="0"/>
      <p:bldP spid="53340" grpId="0" autoUpdateAnimBg="0"/>
      <p:bldP spid="53341" grpId="0" autoUpdateAnimBg="0"/>
      <p:bldP spid="53342" grpId="0" autoUpdateAnimBg="0"/>
      <p:bldP spid="53343" grpId="0" autoUpdateAnimBg="0"/>
      <p:bldP spid="53344" grpId="0" autoUpdateAnimBg="0"/>
      <p:bldP spid="53345" grpId="0" autoUpdateAnimBg="0"/>
      <p:bldP spid="53346" grpId="0" autoUpdateAnimBg="0"/>
      <p:bldP spid="53347" grpId="0" autoUpdateAnimBg="0"/>
      <p:bldP spid="53348" grpId="0" autoUpdateAnimBg="0"/>
      <p:bldP spid="5334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477838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8161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458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00200"/>
            <a:ext cx="6172200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05200" y="3810000"/>
            <a:ext cx="5867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i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Thank You for Patient Hearing</a:t>
            </a:r>
          </a:p>
        </p:txBody>
      </p:sp>
    </p:spTree>
    <p:extLst>
      <p:ext uri="{BB962C8B-B14F-4D97-AF65-F5344CB8AC3E}">
        <p14:creationId xmlns:p14="http://schemas.microsoft.com/office/powerpoint/2010/main" val="96458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85185E-6 C 0.06511 -0.05139 0.13038 -0.10278 0.10365 -0.14514 C 0.07708 -0.1875 -0.11232 -0.20741 -0.15972 -0.25324 C -0.20712 -0.29908 -0.19444 -0.35972 -0.18177 -0.42037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0" y="-21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1729</Words>
  <Application>Microsoft Office PowerPoint</Application>
  <PresentationFormat>On-screen Show (4:3)</PresentationFormat>
  <Paragraphs>451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Times New Roman</vt:lpstr>
      <vt:lpstr>Wingdings</vt:lpstr>
      <vt:lpstr>Default Design</vt:lpstr>
      <vt:lpstr>CE101  Engineering Drawing  Lec6: Projection of Solids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IITG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Bimlesh Kumar</dc:creator>
  <cp:lastModifiedBy>Sparsh Johari</cp:lastModifiedBy>
  <cp:revision>15</cp:revision>
  <dcterms:created xsi:type="dcterms:W3CDTF">2016-09-01T10:35:50Z</dcterms:created>
  <dcterms:modified xsi:type="dcterms:W3CDTF">2023-09-08T03:25:50Z</dcterms:modified>
</cp:coreProperties>
</file>