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527" r:id="rId1"/>
    <p:sldMasterId id="2147484539" r:id="rId2"/>
    <p:sldMasterId id="2147484563" r:id="rId3"/>
    <p:sldMasterId id="2147484575" r:id="rId4"/>
    <p:sldMasterId id="2147484587" r:id="rId5"/>
    <p:sldMasterId id="2147484599" r:id="rId6"/>
    <p:sldMasterId id="2147484611" r:id="rId7"/>
    <p:sldMasterId id="2147484623" r:id="rId8"/>
    <p:sldMasterId id="2147484635" r:id="rId9"/>
    <p:sldMasterId id="2147484647" r:id="rId10"/>
    <p:sldMasterId id="2147484659" r:id="rId11"/>
    <p:sldMasterId id="2147484671" r:id="rId12"/>
  </p:sldMasterIdLst>
  <p:notesMasterIdLst>
    <p:notesMasterId r:id="rId76"/>
  </p:notesMasterIdLst>
  <p:handoutMasterIdLst>
    <p:handoutMasterId r:id="rId77"/>
  </p:handoutMasterIdLst>
  <p:sldIdLst>
    <p:sldId id="792" r:id="rId13"/>
    <p:sldId id="793" r:id="rId14"/>
    <p:sldId id="794" r:id="rId15"/>
    <p:sldId id="795" r:id="rId16"/>
    <p:sldId id="796" r:id="rId17"/>
    <p:sldId id="797" r:id="rId18"/>
    <p:sldId id="798" r:id="rId19"/>
    <p:sldId id="799" r:id="rId20"/>
    <p:sldId id="805" r:id="rId21"/>
    <p:sldId id="806" r:id="rId22"/>
    <p:sldId id="807" r:id="rId23"/>
    <p:sldId id="808" r:id="rId24"/>
    <p:sldId id="800" r:id="rId25"/>
    <p:sldId id="801" r:id="rId26"/>
    <p:sldId id="802" r:id="rId27"/>
    <p:sldId id="803" r:id="rId28"/>
    <p:sldId id="804" r:id="rId29"/>
    <p:sldId id="699" r:id="rId30"/>
    <p:sldId id="754" r:id="rId31"/>
    <p:sldId id="700" r:id="rId32"/>
    <p:sldId id="701" r:id="rId33"/>
    <p:sldId id="702" r:id="rId34"/>
    <p:sldId id="703" r:id="rId35"/>
    <p:sldId id="756" r:id="rId36"/>
    <p:sldId id="704" r:id="rId37"/>
    <p:sldId id="705" r:id="rId38"/>
    <p:sldId id="706" r:id="rId39"/>
    <p:sldId id="707" r:id="rId40"/>
    <p:sldId id="708" r:id="rId41"/>
    <p:sldId id="709" r:id="rId42"/>
    <p:sldId id="710" r:id="rId43"/>
    <p:sldId id="766" r:id="rId44"/>
    <p:sldId id="711" r:id="rId45"/>
    <p:sldId id="712" r:id="rId46"/>
    <p:sldId id="757" r:id="rId47"/>
    <p:sldId id="809" r:id="rId48"/>
    <p:sldId id="811" r:id="rId49"/>
    <p:sldId id="715" r:id="rId50"/>
    <p:sldId id="761" r:id="rId51"/>
    <p:sldId id="764" r:id="rId52"/>
    <p:sldId id="760" r:id="rId53"/>
    <p:sldId id="762" r:id="rId54"/>
    <p:sldId id="763" r:id="rId55"/>
    <p:sldId id="765" r:id="rId56"/>
    <p:sldId id="717" r:id="rId57"/>
    <p:sldId id="767" r:id="rId58"/>
    <p:sldId id="768" r:id="rId59"/>
    <p:sldId id="769" r:id="rId60"/>
    <p:sldId id="788" r:id="rId61"/>
    <p:sldId id="770" r:id="rId62"/>
    <p:sldId id="787" r:id="rId63"/>
    <p:sldId id="791" r:id="rId64"/>
    <p:sldId id="786" r:id="rId65"/>
    <p:sldId id="789" r:id="rId66"/>
    <p:sldId id="790" r:id="rId67"/>
    <p:sldId id="771" r:id="rId68"/>
    <p:sldId id="777" r:id="rId69"/>
    <p:sldId id="775" r:id="rId70"/>
    <p:sldId id="776" r:id="rId71"/>
    <p:sldId id="721" r:id="rId72"/>
    <p:sldId id="783" r:id="rId73"/>
    <p:sldId id="784" r:id="rId74"/>
    <p:sldId id="782" r:id="rId75"/>
  </p:sldIdLst>
  <p:sldSz cx="9144000" cy="6858000" type="screen4x3"/>
  <p:notesSz cx="7315200" cy="9601200"/>
  <p:custDataLst>
    <p:tags r:id="rId78"/>
  </p:custDataLst>
  <p:defaultTextStyle>
    <a:defPPr>
      <a:defRPr lang="en-US"/>
    </a:defPPr>
    <a:lvl1pPr algn="ctr" rtl="0" fontAlgn="base">
      <a:spcBef>
        <a:spcPct val="50000"/>
      </a:spcBef>
      <a:spcAft>
        <a:spcPct val="0"/>
      </a:spcAft>
      <a:defRPr kern="1200">
        <a:solidFill>
          <a:schemeClr val="tx1"/>
        </a:solidFill>
        <a:latin typeface="Arial" charset="0"/>
        <a:ea typeface="+mn-ea"/>
        <a:cs typeface="+mn-cs"/>
      </a:defRPr>
    </a:lvl1pPr>
    <a:lvl2pPr marL="457200" algn="ctr" rtl="0" fontAlgn="base">
      <a:spcBef>
        <a:spcPct val="50000"/>
      </a:spcBef>
      <a:spcAft>
        <a:spcPct val="0"/>
      </a:spcAft>
      <a:defRPr kern="1200">
        <a:solidFill>
          <a:schemeClr val="tx1"/>
        </a:solidFill>
        <a:latin typeface="Arial" charset="0"/>
        <a:ea typeface="+mn-ea"/>
        <a:cs typeface="+mn-cs"/>
      </a:defRPr>
    </a:lvl2pPr>
    <a:lvl3pPr marL="914400" algn="ctr" rtl="0" fontAlgn="base">
      <a:spcBef>
        <a:spcPct val="50000"/>
      </a:spcBef>
      <a:spcAft>
        <a:spcPct val="0"/>
      </a:spcAft>
      <a:defRPr kern="1200">
        <a:solidFill>
          <a:schemeClr val="tx1"/>
        </a:solidFill>
        <a:latin typeface="Arial" charset="0"/>
        <a:ea typeface="+mn-ea"/>
        <a:cs typeface="+mn-cs"/>
      </a:defRPr>
    </a:lvl3pPr>
    <a:lvl4pPr marL="1371600" algn="ctr" rtl="0" fontAlgn="base">
      <a:spcBef>
        <a:spcPct val="50000"/>
      </a:spcBef>
      <a:spcAft>
        <a:spcPct val="0"/>
      </a:spcAft>
      <a:defRPr kern="1200">
        <a:solidFill>
          <a:schemeClr val="tx1"/>
        </a:solidFill>
        <a:latin typeface="Arial" charset="0"/>
        <a:ea typeface="+mn-ea"/>
        <a:cs typeface="+mn-cs"/>
      </a:defRPr>
    </a:lvl4pPr>
    <a:lvl5pPr marL="1828800" algn="ctr" rtl="0" fontAlgn="base">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FFCC"/>
    <a:srgbClr val="99FF33"/>
    <a:srgbClr val="0033CC"/>
    <a:srgbClr val="FFFF00"/>
    <a:srgbClr val="FF00FF"/>
    <a:srgbClr val="FF6600"/>
    <a:srgbClr val="008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198" autoAdjust="0"/>
    <p:restoredTop sz="79018" autoAdjust="0"/>
  </p:normalViewPr>
  <p:slideViewPr>
    <p:cSldViewPr>
      <p:cViewPr varScale="1">
        <p:scale>
          <a:sx n="88" d="100"/>
          <a:sy n="88" d="100"/>
        </p:scale>
        <p:origin x="912" y="72"/>
      </p:cViewPr>
      <p:guideLst>
        <p:guide orient="horz" pos="2160"/>
        <p:guide pos="2880"/>
      </p:guideLst>
    </p:cSldViewPr>
  </p:slideViewPr>
  <p:outlineViewPr>
    <p:cViewPr>
      <p:scale>
        <a:sx n="33" d="100"/>
        <a:sy n="33" d="100"/>
      </p:scale>
      <p:origin x="0" y="3042"/>
    </p:cViewPr>
  </p:outlineViewPr>
  <p:notesTextViewPr>
    <p:cViewPr>
      <p:scale>
        <a:sx n="100" d="100"/>
        <a:sy n="100" d="100"/>
      </p:scale>
      <p:origin x="0" y="0"/>
    </p:cViewPr>
  </p:notesTextViewPr>
  <p:sorterViewPr>
    <p:cViewPr>
      <p:scale>
        <a:sx n="25" d="100"/>
        <a:sy n="25" d="100"/>
      </p:scale>
      <p:origin x="0" y="0"/>
    </p:cViewPr>
  </p:sorterViewPr>
  <p:notesViewPr>
    <p:cSldViewPr>
      <p:cViewPr varScale="1">
        <p:scale>
          <a:sx n="53" d="100"/>
          <a:sy n="53" d="100"/>
        </p:scale>
        <p:origin x="-1842" y="-10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slide" Target="slides/slide51.xml"/><Relationship Id="rId68" Type="http://schemas.openxmlformats.org/officeDocument/2006/relationships/slide" Target="slides/slide56.xml"/><Relationship Id="rId16" Type="http://schemas.openxmlformats.org/officeDocument/2006/relationships/slide" Target="slides/slide4.xml"/><Relationship Id="rId11" Type="http://schemas.openxmlformats.org/officeDocument/2006/relationships/slideMaster" Target="slideMasters/slideMaster11.xml"/><Relationship Id="rId32" Type="http://schemas.openxmlformats.org/officeDocument/2006/relationships/slide" Target="slides/slide20.xml"/><Relationship Id="rId37" Type="http://schemas.openxmlformats.org/officeDocument/2006/relationships/slide" Target="slides/slide25.xml"/><Relationship Id="rId53" Type="http://schemas.openxmlformats.org/officeDocument/2006/relationships/slide" Target="slides/slide41.xml"/><Relationship Id="rId58" Type="http://schemas.openxmlformats.org/officeDocument/2006/relationships/slide" Target="slides/slide46.xml"/><Relationship Id="rId74" Type="http://schemas.openxmlformats.org/officeDocument/2006/relationships/slide" Target="slides/slide62.xml"/><Relationship Id="rId79"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49.xml"/><Relationship Id="rId82" Type="http://schemas.openxmlformats.org/officeDocument/2006/relationships/tableStyles" Target="tableStyles.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slide" Target="slides/slide52.xml"/><Relationship Id="rId69" Type="http://schemas.openxmlformats.org/officeDocument/2006/relationships/slide" Target="slides/slide57.xml"/><Relationship Id="rId77" Type="http://schemas.openxmlformats.org/officeDocument/2006/relationships/handoutMaster" Target="handoutMasters/handoutMaster1.xml"/><Relationship Id="rId8" Type="http://schemas.openxmlformats.org/officeDocument/2006/relationships/slideMaster" Target="slideMasters/slideMaster8.xml"/><Relationship Id="rId51" Type="http://schemas.openxmlformats.org/officeDocument/2006/relationships/slide" Target="slides/slide39.xml"/><Relationship Id="rId72" Type="http://schemas.openxmlformats.org/officeDocument/2006/relationships/slide" Target="slides/slide60.xml"/><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slide" Target="slides/slide55.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70" Type="http://schemas.openxmlformats.org/officeDocument/2006/relationships/slide" Target="slides/slide58.xml"/><Relationship Id="rId75" Type="http://schemas.openxmlformats.org/officeDocument/2006/relationships/slide" Target="slides/slide63.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slide" Target="slides/slide53.xml"/><Relationship Id="rId73" Type="http://schemas.openxmlformats.org/officeDocument/2006/relationships/slide" Target="slides/slide61.xml"/><Relationship Id="rId78" Type="http://schemas.openxmlformats.org/officeDocument/2006/relationships/tags" Target="tags/tag1.xml"/><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notesMaster" Target="notesMasters/notesMaster1.xml"/><Relationship Id="rId7" Type="http://schemas.openxmlformats.org/officeDocument/2006/relationships/slideMaster" Target="slideMasters/slideMaster7.xml"/><Relationship Id="rId71" Type="http://schemas.openxmlformats.org/officeDocument/2006/relationships/slide" Target="slides/slide59.xml"/><Relationship Id="rId2" Type="http://schemas.openxmlformats.org/officeDocument/2006/relationships/slideMaster" Target="slideMasters/slideMaster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3.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6661" tIns="48331" rIns="96661" bIns="48331" rtlCol="0"/>
          <a:lstStyle>
            <a:lvl1pPr algn="l">
              <a:spcBef>
                <a:spcPct val="0"/>
              </a:spcBef>
              <a:defRPr sz="1300" u="none"/>
            </a:lvl1pPr>
          </a:lstStyle>
          <a:p>
            <a:pPr>
              <a:defRPr/>
            </a:pPr>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6661" tIns="48331" rIns="96661" bIns="48331" rtlCol="0"/>
          <a:lstStyle>
            <a:lvl1pPr algn="r">
              <a:spcBef>
                <a:spcPct val="0"/>
              </a:spcBef>
              <a:defRPr sz="1300" u="none"/>
            </a:lvl1pPr>
          </a:lstStyle>
          <a:p>
            <a:pPr>
              <a:defRPr/>
            </a:pPr>
            <a:fld id="{B1469242-60D0-45FC-A4F0-B502C084C2AB}" type="datetimeFigureOut">
              <a:rPr lang="en-US"/>
              <a:pPr>
                <a:defRPr/>
              </a:pPr>
              <a:t>8/3/2023</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6661" tIns="48331" rIns="96661" bIns="48331" rtlCol="0" anchor="b"/>
          <a:lstStyle>
            <a:lvl1pPr algn="l">
              <a:spcBef>
                <a:spcPct val="0"/>
              </a:spcBef>
              <a:defRPr sz="1300" u="none"/>
            </a:lvl1pPr>
          </a:lstStyle>
          <a:p>
            <a:pPr>
              <a:defRPr/>
            </a:pPr>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6661" tIns="48331" rIns="96661" bIns="48331" rtlCol="0" anchor="b"/>
          <a:lstStyle>
            <a:lvl1pPr algn="r">
              <a:spcBef>
                <a:spcPct val="0"/>
              </a:spcBef>
              <a:defRPr sz="1300" u="none"/>
            </a:lvl1pPr>
          </a:lstStyle>
          <a:p>
            <a:pPr>
              <a:defRPr/>
            </a:pPr>
            <a:fld id="{DCF5617A-24BB-4951-85C1-068A64967FCA}" type="slidenum">
              <a:rPr lang="en-US"/>
              <a:pPr>
                <a:defRPr/>
              </a:pPr>
              <a:t>‹#›</a:t>
            </a:fld>
            <a:endParaRPr lang="en-US"/>
          </a:p>
        </p:txBody>
      </p:sp>
    </p:spTree>
    <p:extLst>
      <p:ext uri="{BB962C8B-B14F-4D97-AF65-F5344CB8AC3E}">
        <p14:creationId xmlns:p14="http://schemas.microsoft.com/office/powerpoint/2010/main" val="36215279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6661" tIns="48331" rIns="96661" bIns="48331" rtlCol="0"/>
          <a:lstStyle>
            <a:lvl1pPr algn="l" fontAlgn="auto">
              <a:spcBef>
                <a:spcPts val="0"/>
              </a:spcBef>
              <a:spcAft>
                <a:spcPts val="0"/>
              </a:spcAft>
              <a:defRPr sz="1300" u="none">
                <a:latin typeface="+mn-lt"/>
              </a:defRPr>
            </a:lvl1pPr>
          </a:lstStyle>
          <a:p>
            <a:pPr>
              <a:defRPr/>
            </a:pPr>
            <a:endParaRPr lang="en-US"/>
          </a:p>
        </p:txBody>
      </p:sp>
      <p:sp>
        <p:nvSpPr>
          <p:cNvPr id="3" name="Date Placeholder 2"/>
          <p:cNvSpPr>
            <a:spLocks noGrp="1"/>
          </p:cNvSpPr>
          <p:nvPr>
            <p:ph type="dt" idx="1"/>
          </p:nvPr>
        </p:nvSpPr>
        <p:spPr>
          <a:xfrm>
            <a:off x="4143375" y="0"/>
            <a:ext cx="3170238" cy="479425"/>
          </a:xfrm>
          <a:prstGeom prst="rect">
            <a:avLst/>
          </a:prstGeom>
        </p:spPr>
        <p:txBody>
          <a:bodyPr vert="horz" lIns="96661" tIns="48331" rIns="96661" bIns="48331" rtlCol="0"/>
          <a:lstStyle>
            <a:lvl1pPr algn="r" fontAlgn="auto">
              <a:spcBef>
                <a:spcPts val="0"/>
              </a:spcBef>
              <a:spcAft>
                <a:spcPts val="0"/>
              </a:spcAft>
              <a:defRPr sz="1300" u="none">
                <a:latin typeface="+mn-lt"/>
              </a:defRPr>
            </a:lvl1pPr>
          </a:lstStyle>
          <a:p>
            <a:pPr>
              <a:defRPr/>
            </a:pPr>
            <a:fld id="{95F0D6DF-BE3A-4483-B297-B439420B0534}" type="datetimeFigureOut">
              <a:rPr lang="en-US"/>
              <a:pPr>
                <a:defRPr/>
              </a:pPr>
              <a:t>8/3/2023</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lIns="96661" tIns="48331" rIns="96661" bIns="48331" rtlCol="0" anchor="b"/>
          <a:lstStyle>
            <a:lvl1pPr algn="l" fontAlgn="auto">
              <a:spcBef>
                <a:spcPts val="0"/>
              </a:spcBef>
              <a:spcAft>
                <a:spcPts val="0"/>
              </a:spcAft>
              <a:defRPr sz="1300" u="none">
                <a:latin typeface="+mn-lt"/>
              </a:defRPr>
            </a:lvl1pPr>
          </a:lstStyle>
          <a:p>
            <a:pPr>
              <a:defRPr/>
            </a:pPr>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6661" tIns="48331" rIns="96661" bIns="48331" rtlCol="0" anchor="b"/>
          <a:lstStyle>
            <a:lvl1pPr algn="r" fontAlgn="auto">
              <a:spcBef>
                <a:spcPts val="0"/>
              </a:spcBef>
              <a:spcAft>
                <a:spcPts val="0"/>
              </a:spcAft>
              <a:defRPr sz="1300" u="none">
                <a:latin typeface="+mn-lt"/>
              </a:defRPr>
            </a:lvl1pPr>
          </a:lstStyle>
          <a:p>
            <a:pPr>
              <a:defRPr/>
            </a:pPr>
            <a:fld id="{38151EFC-56AD-492B-9EC6-88861517374B}" type="slidenum">
              <a:rPr lang="en-US"/>
              <a:pPr>
                <a:defRPr/>
              </a:pPr>
              <a:t>‹#›</a:t>
            </a:fld>
            <a:endParaRPr lang="en-US"/>
          </a:p>
        </p:txBody>
      </p:sp>
    </p:spTree>
    <p:extLst>
      <p:ext uri="{BB962C8B-B14F-4D97-AF65-F5344CB8AC3E}">
        <p14:creationId xmlns:p14="http://schemas.microsoft.com/office/powerpoint/2010/main" val="160512735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681735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5060" name="Header Placeholder 3"/>
          <p:cNvSpPr>
            <a:spLocks noGrp="1"/>
          </p:cNvSpPr>
          <p:nvPr>
            <p:ph type="hdr" sz="quarter"/>
          </p:nvPr>
        </p:nvSpPr>
        <p:spPr bwMode="auto">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ME 111 Lecture1 Introduction</a:t>
            </a:r>
          </a:p>
        </p:txBody>
      </p:sp>
      <p:sp>
        <p:nvSpPr>
          <p:cNvPr id="45061" name="Date Placeholder 4"/>
          <p:cNvSpPr>
            <a:spLocks noGrp="1"/>
          </p:cNvSpPr>
          <p:nvPr>
            <p:ph type="dt" sz="quarter" idx="1"/>
          </p:nvPr>
        </p:nvSpPr>
        <p:spPr bwMode="auto">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C4D50A7-9E2E-4B8B-8A43-F2B926DEEB28}" type="datetime1">
              <a:rPr kumimoji="0" lang="en-US" sz="1200" b="0" i="0" u="none" strike="noStrike" kern="1200" cap="none" spc="0" normalizeH="0" baseline="0" noProof="0" smtClean="0">
                <a:ln>
                  <a:noFill/>
                </a:ln>
                <a:solidFill>
                  <a:prstClr val="black"/>
                </a:solidFill>
                <a:effectLst/>
                <a:uLnTx/>
                <a:uFillTx/>
                <a:latin typeface="Calibri"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8/3/2023</a:t>
            </a:fld>
            <a:endParaRPr kumimoji="0" lang="en-US" sz="1200" b="0" i="0" u="none" strike="noStrike" kern="1200" cap="none" spc="0" normalizeH="0" baseline="0" noProof="0">
              <a:ln>
                <a:noFill/>
              </a:ln>
              <a:solidFill>
                <a:prstClr val="black"/>
              </a:solidFill>
              <a:effectLst/>
              <a:uLnTx/>
              <a:uFillTx/>
              <a:latin typeface="Calibri" pitchFamily="34" charset="0"/>
              <a:ea typeface="+mn-ea"/>
              <a:cs typeface="+mn-cs"/>
            </a:endParaRPr>
          </a:p>
        </p:txBody>
      </p:sp>
      <p:sp>
        <p:nvSpPr>
          <p:cNvPr id="45062" name="Footer Placeholder 5"/>
          <p:cNvSpPr>
            <a:spLocks noGrp="1"/>
          </p:cNvSpPr>
          <p:nvPr>
            <p:ph type="ftr" sz="quarter" idx="4"/>
          </p:nvPr>
        </p:nvSpPr>
        <p:spPr bwMode="auto">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itchFamily="34" charset="0"/>
                <a:ea typeface="+mn-ea"/>
                <a:cs typeface="+mn-cs"/>
              </a:rPr>
              <a:t>S Senthilvelan</a:t>
            </a:r>
          </a:p>
        </p:txBody>
      </p:sp>
      <p:sp>
        <p:nvSpPr>
          <p:cNvPr id="45063" name="Slide Number Placeholder 6"/>
          <p:cNvSpPr>
            <a:spLocks noGrp="1"/>
          </p:cNvSpPr>
          <p:nvPr>
            <p:ph type="sldNum" sz="quarter" idx="5"/>
          </p:nvPr>
        </p:nvSpPr>
        <p:spPr bwMode="auto">
          <a:extLst/>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98178AF-5882-4A5F-9E72-27D02D2D8920}"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63244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1778351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0388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1773383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81064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86C3283-5ECA-45EE-8B1D-C00FE6D212D0}"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0534721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4C8B49-ABF9-43E7-99E1-659F7B32F33A}"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3744841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B78D597-75F3-44A6-B1FF-18718A4007CF}"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515770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2379B1C-931F-4F09-80D6-97DAD42C039F}"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4020236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3291A43-F38B-43CC-BB82-ABE06769B3DD}"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2811255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F36D1-1970-4BB8-98DB-BBF28DE5CF5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2251196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26B38FC-6BB3-4F06-9A93-6CB62D2E64C1}"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3426737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
        <p:nvSpPr>
          <p:cNvPr id="2" name="Date Placeholder 1"/>
          <p:cNvSpPr>
            <a:spLocks noGrp="1"/>
          </p:cNvSpPr>
          <p:nvPr>
            <p:ph type="dt" sz="half" idx="10"/>
          </p:nvPr>
        </p:nvSpPr>
        <p:spPr>
          <a:xfrm>
            <a:off x="457200" y="6569075"/>
            <a:ext cx="2133600" cy="365125"/>
          </a:xfrm>
        </p:spPr>
        <p:txBody>
          <a:bodyPr/>
          <a:lstStyle>
            <a:lvl1pPr>
              <a:defRPr sz="1200" b="1">
                <a:solidFill>
                  <a:srgbClr val="3333CC"/>
                </a:solidFill>
                <a:latin typeface="Arial" panose="020B0604020202020204" pitchFamily="34" charset="0"/>
                <a:cs typeface="Arial" panose="020B0604020202020204" pitchFamily="34" charset="0"/>
              </a:defRPr>
            </a:lvl1pPr>
          </a:lstStyle>
          <a:p>
            <a:pPr fontAlgn="auto">
              <a:spcBef>
                <a:spcPts val="0"/>
              </a:spcBef>
              <a:spcAft>
                <a:spcPts val="0"/>
              </a:spcAft>
              <a:defRPr/>
            </a:pPr>
            <a:fld id="{B5555E0A-2688-4895-943E-0B86C89894EA}" type="datetime3">
              <a:rPr lang="en-US" smtClean="0"/>
              <a:t>3 August 2023</a:t>
            </a:fld>
            <a:endParaRPr lang="en-US"/>
          </a:p>
        </p:txBody>
      </p:sp>
      <p:sp>
        <p:nvSpPr>
          <p:cNvPr id="3" name="Footer Placeholder 2"/>
          <p:cNvSpPr>
            <a:spLocks noGrp="1"/>
          </p:cNvSpPr>
          <p:nvPr>
            <p:ph type="ftr" sz="quarter" idx="11"/>
          </p:nvPr>
        </p:nvSpPr>
        <p:spPr>
          <a:xfrm>
            <a:off x="2819400" y="6569075"/>
            <a:ext cx="3505200" cy="365125"/>
          </a:xfrm>
        </p:spPr>
        <p:txBody>
          <a:bodyPr/>
          <a:lstStyle>
            <a:lvl1pPr>
              <a:defRPr sz="1200" b="1">
                <a:solidFill>
                  <a:srgbClr val="3333CC"/>
                </a:solidFill>
                <a:latin typeface="Arial" panose="020B0604020202020204" pitchFamily="34" charset="0"/>
                <a:cs typeface="Arial" panose="020B0604020202020204" pitchFamily="34" charset="0"/>
              </a:defRPr>
            </a:lvl1pPr>
          </a:lstStyle>
          <a:p>
            <a:pPr fontAlgn="auto">
              <a:spcBef>
                <a:spcPts val="0"/>
              </a:spcBef>
              <a:spcAft>
                <a:spcPts val="0"/>
              </a:spcAft>
              <a:defRPr/>
            </a:pPr>
            <a:r>
              <a:rPr lang="en-US"/>
              <a:t>CE101 Lec1: Introduction and Basics</a:t>
            </a:r>
            <a:endParaRPr lang="en-US" dirty="0"/>
          </a:p>
        </p:txBody>
      </p:sp>
      <p:sp>
        <p:nvSpPr>
          <p:cNvPr id="4" name="Slide Number Placeholder 3"/>
          <p:cNvSpPr>
            <a:spLocks noGrp="1"/>
          </p:cNvSpPr>
          <p:nvPr>
            <p:ph type="sldNum" sz="quarter" idx="12"/>
          </p:nvPr>
        </p:nvSpPr>
        <p:spPr>
          <a:xfrm>
            <a:off x="6553200" y="6569075"/>
            <a:ext cx="2133600" cy="365125"/>
          </a:xfrm>
        </p:spPr>
        <p:txBody>
          <a:bodyPr/>
          <a:lstStyle>
            <a:lvl1pPr>
              <a:defRPr sz="1200">
                <a:solidFill>
                  <a:srgbClr val="3333CC"/>
                </a:solidFill>
              </a:defRPr>
            </a:lvl1pPr>
          </a:lstStyle>
          <a:p>
            <a:pPr fontAlgn="auto">
              <a:spcBef>
                <a:spcPts val="0"/>
              </a:spcBef>
              <a:spcAft>
                <a:spcPts val="0"/>
              </a:spcAft>
              <a:defRPr/>
            </a:pPr>
            <a:fld id="{6C5C84A4-FEF8-4FB1-9663-19AD76B6A1D4}" type="slidenum">
              <a:rPr lang="en-US" smtClean="0"/>
              <a:pPr fontAlgn="auto">
                <a:spcBef>
                  <a:spcPts val="0"/>
                </a:spcBef>
                <a:spcAft>
                  <a:spcPts val="0"/>
                </a:spcAft>
                <a:defRPr/>
              </a:pPr>
              <a:t>‹#›</a:t>
            </a:fld>
            <a:endParaRPr lang="en-US"/>
          </a:p>
        </p:txBody>
      </p:sp>
    </p:spTree>
    <p:extLst>
      <p:ext uri="{BB962C8B-B14F-4D97-AF65-F5344CB8AC3E}">
        <p14:creationId xmlns:p14="http://schemas.microsoft.com/office/powerpoint/2010/main" val="1432140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57E66D0-1498-4EC3-8374-7C70A2412AA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259344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7E43C-4F16-4F51-84D9-AF8B11C1CAC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2879015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D8F437-2748-4BB4-AD87-CF0455A06AE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2080449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3AB996E-7282-4F99-AE9D-9830406455C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16497470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9421B5F-C0DF-438B-9901-3029E4FE12ED}"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F54F06-F6FE-4E6E-96A7-A723A38DB12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7614778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708F2D1-76A7-42CB-80F0-230206E317A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0F68CA8-C94C-4BFB-A300-9345CAC1086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11367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DA000BC-DF09-4315-A2E2-E18617CCF4CC}"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3FF24-F6EF-4D06-A01F-6A4CA212C5C8}"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266178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600A915-B2A6-4BC4-B0FB-7A7E5E836D3D}"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21E1DBF-E488-4464-B1E1-BA0D46B32CC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272546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1DD88D2-F577-45E0-8B35-2FE878FEFDF6}"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1D5AD3A-18CE-4814-8CAA-BCFEFF6B62E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0343339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34429CB-7343-4897-B193-D46A295C5B7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412B7E-A3AD-4676-A432-2A0C4220328C}"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4336083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553200"/>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fld id="{E883E36B-EFB2-4945-A432-84524CF05C3B}" type="datetime3">
              <a:rPr lang="en-US" smtClean="0"/>
              <a:t>3 August 2023</a:t>
            </a:fld>
            <a:endParaRPr lang="en-US"/>
          </a:p>
        </p:txBody>
      </p:sp>
      <p:sp>
        <p:nvSpPr>
          <p:cNvPr id="3" name="Footer Placeholder 4"/>
          <p:cNvSpPr>
            <a:spLocks noGrp="1"/>
          </p:cNvSpPr>
          <p:nvPr>
            <p:ph type="ftr" sz="quarter" idx="11"/>
          </p:nvPr>
        </p:nvSpPr>
        <p:spPr>
          <a:xfrm>
            <a:off x="3124200" y="6553200"/>
            <a:ext cx="2895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r>
              <a:rPr lang="en-US"/>
              <a:t>CE101 Lec1: Introduction and Basics</a:t>
            </a:r>
          </a:p>
        </p:txBody>
      </p:sp>
      <p:sp>
        <p:nvSpPr>
          <p:cNvPr id="4" name="Slide Number Placeholder 5"/>
          <p:cNvSpPr>
            <a:spLocks noGrp="1"/>
          </p:cNvSpPr>
          <p:nvPr>
            <p:ph type="sldNum" sz="quarter" idx="12"/>
          </p:nvPr>
        </p:nvSpPr>
        <p:spPr>
          <a:xfrm>
            <a:off x="6553200" y="6553200"/>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spcBef>
                <a:spcPct val="0"/>
              </a:spcBef>
            </a:pPr>
            <a:fld id="{821E5DEB-F0EA-46E7-8C9C-42C750CE8EBF}" type="slidenum">
              <a:rPr lang="en-US" altLang="en-US" smtClean="0"/>
              <a:pPr>
                <a:spcBef>
                  <a:spcPct val="0"/>
                </a:spcBef>
              </a:pPr>
              <a:t>‹#›</a:t>
            </a:fld>
            <a:endParaRPr lang="en-US" altLang="en-US"/>
          </a:p>
        </p:txBody>
      </p:sp>
    </p:spTree>
    <p:extLst>
      <p:ext uri="{BB962C8B-B14F-4D97-AF65-F5344CB8AC3E}">
        <p14:creationId xmlns:p14="http://schemas.microsoft.com/office/powerpoint/2010/main" val="6627897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0A16AE6-415A-4DEB-8194-3DBBDC9230B8}"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76F7A3-C711-487B-8187-76B48308CD7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1407539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4246B1D-AC5A-4D21-A81D-D52EA2AF3467}"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743DDF-6F38-4511-A906-9276433580F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281416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5AFE0F6-A313-4B93-B242-395C6898AD6C}"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B10A98E-0CA4-4551-937E-527AA04E6C4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2335350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A3E42F9-19FB-4B0F-A116-F7F035196D9D}"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E4531E9-BCE6-4820-8ECF-E7E33F7F342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531564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20106FF-6469-4A50-8F90-2010386C9BEB}"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F54F06-F6FE-4E6E-96A7-A723A38DB12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5516870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fld id="{D5B94713-2FF4-408C-BBCC-58E0AFC26AC9}" type="datetime3">
              <a:rPr lang="en-US" smtClean="0"/>
              <a:t>3 August 2023</a:t>
            </a:fld>
            <a:endParaRPr lang="en-US"/>
          </a:p>
        </p:txBody>
      </p:sp>
      <p:sp>
        <p:nvSpPr>
          <p:cNvPr id="5" name="Footer Placeholder 4"/>
          <p:cNvSpPr>
            <a:spLocks noGrp="1"/>
          </p:cNvSpPr>
          <p:nvPr>
            <p:ph type="ftr" sz="quarter" idx="11"/>
          </p:nvPr>
        </p:nvSpPr>
        <p:spPr>
          <a:xfrm>
            <a:off x="3124200" y="6569075"/>
            <a:ext cx="2895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r>
              <a:rPr lang="en-US"/>
              <a:t>CE101 Lec1: Introduction and Basics</a:t>
            </a:r>
          </a:p>
        </p:txBody>
      </p:sp>
      <p:sp>
        <p:nvSpPr>
          <p:cNvPr id="6" name="Slide Number Placeholder 5"/>
          <p:cNvSpPr>
            <a:spLocks noGrp="1"/>
          </p:cNvSpPr>
          <p:nvPr>
            <p:ph type="sldNum" sz="quarter" idx="12"/>
          </p:nvPr>
        </p:nvSpPr>
        <p:spPr>
          <a:xfrm>
            <a:off x="6553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spcBef>
                <a:spcPct val="0"/>
              </a:spcBef>
              <a:defRPr/>
            </a:pPr>
            <a:fld id="{70F68CA8-C94C-4BFB-A300-9345CAC1086B}" type="slidenum">
              <a:rPr lang="en-US" altLang="en-US" smtClean="0"/>
              <a:pPr>
                <a:spcBef>
                  <a:spcPct val="0"/>
                </a:spcBef>
                <a:defRPr/>
              </a:pPr>
              <a:t>‹#›</a:t>
            </a:fld>
            <a:endParaRPr lang="en-US" altLang="en-US"/>
          </a:p>
        </p:txBody>
      </p:sp>
    </p:spTree>
    <p:extLst>
      <p:ext uri="{BB962C8B-B14F-4D97-AF65-F5344CB8AC3E}">
        <p14:creationId xmlns:p14="http://schemas.microsoft.com/office/powerpoint/2010/main" val="38152253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D664F9B-81C8-4443-831A-6007FEBF801E}"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3FF24-F6EF-4D06-A01F-6A4CA212C5C8}"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7450562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FFC034F-55F6-4A1C-ADF7-B49B63DAFC29}"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21E1DBF-E488-4464-B1E1-BA0D46B32CC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892215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1DA01F7-935D-43A6-8FC3-85E3CBFD5107}"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1D5AD3A-18CE-4814-8CAA-BCFEFF6B62E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6559019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EF13258-56D8-4F0C-8B4E-E55297D63308}"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412B7E-A3AD-4676-A432-2A0C4220328C}"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8621927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5834E8D-3853-4338-B407-46FF29A4F937}"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21E5DEB-F0EA-46E7-8C9C-42C750CE8EBF}"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7062246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A4D5EAD-0E36-4995-A2BC-67DF957C4CC6}"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76F7A3-C711-487B-8187-76B48308CD7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629745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9EA2235-3369-403C-8105-7BD710A03657}"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743DDF-6F38-4511-A906-9276433580F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84563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AADB5B2-546F-4E07-9B28-236A5EEC2FD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B10A98E-0CA4-4551-937E-527AA04E6C4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1218038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DED2AE4-C6E7-4CF8-8C8C-49B7AAEE7B70}"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E4531E9-BCE6-4820-8ECF-E7E33F7F342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693223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89A0230-E168-4A06-AF57-68568B4C03A0}"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F54F06-F6FE-4E6E-96A7-A723A38DB12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5798182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BE31AF0-7EBB-4E16-9B17-63BF0D2CB36D}"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0F68CA8-C94C-4BFB-A300-9345CAC1086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8414711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D0E0766-B9EC-4D3C-9355-CE4F5CA21936}"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3FF24-F6EF-4D06-A01F-6A4CA212C5C8}"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3190947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8D7F1FC-745E-42F7-8E2C-1BA59368E453}"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21E1DBF-E488-4464-B1E1-BA0D46B32CC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0846756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DCE2E58-C2F8-4291-ACD0-9C0899695409}"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1D5AD3A-18CE-4814-8CAA-BCFEFF6B62E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430043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EA97623-892A-4072-A4F2-0B3A95423390}"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412B7E-A3AD-4676-A432-2A0C4220328C}"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0115347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fld id="{C9C5389F-D402-4B9B-B655-58F10F2BDCAA}" type="datetime3">
              <a:rPr lang="en-US" smtClean="0"/>
              <a:t>3 August 2023</a:t>
            </a:fld>
            <a:endParaRPr lang="en-US"/>
          </a:p>
        </p:txBody>
      </p:sp>
      <p:sp>
        <p:nvSpPr>
          <p:cNvPr id="3" name="Footer Placeholder 4"/>
          <p:cNvSpPr>
            <a:spLocks noGrp="1"/>
          </p:cNvSpPr>
          <p:nvPr>
            <p:ph type="ftr" sz="quarter" idx="11"/>
          </p:nvPr>
        </p:nvSpPr>
        <p:spPr>
          <a:xfrm>
            <a:off x="3124200" y="6569075"/>
            <a:ext cx="2895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r>
              <a:rPr lang="en-US"/>
              <a:t>CE101 Lec1: Introduction and Basics</a:t>
            </a:r>
          </a:p>
        </p:txBody>
      </p:sp>
      <p:sp>
        <p:nvSpPr>
          <p:cNvPr id="4" name="Slide Number Placeholder 5"/>
          <p:cNvSpPr>
            <a:spLocks noGrp="1"/>
          </p:cNvSpPr>
          <p:nvPr>
            <p:ph type="sldNum" sz="quarter" idx="12"/>
          </p:nvPr>
        </p:nvSpPr>
        <p:spPr>
          <a:xfrm>
            <a:off x="6553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spcBef>
                <a:spcPct val="0"/>
              </a:spcBef>
              <a:defRPr/>
            </a:pPr>
            <a:fld id="{821E5DEB-F0EA-46E7-8C9C-42C750CE8EBF}" type="slidenum">
              <a:rPr lang="en-US" altLang="en-US" smtClean="0"/>
              <a:pPr>
                <a:spcBef>
                  <a:spcPct val="0"/>
                </a:spcBef>
                <a:defRPr/>
              </a:pPr>
              <a:t>‹#›</a:t>
            </a:fld>
            <a:endParaRPr lang="en-US" altLang="en-US"/>
          </a:p>
        </p:txBody>
      </p:sp>
    </p:spTree>
    <p:extLst>
      <p:ext uri="{BB962C8B-B14F-4D97-AF65-F5344CB8AC3E}">
        <p14:creationId xmlns:p14="http://schemas.microsoft.com/office/powerpoint/2010/main" val="33528181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91E2C74-6F67-488E-B90B-57C9473209F4}"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76F7A3-C711-487B-8187-76B48308CD7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2163337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1FC684-9995-47D4-AF12-7B9E4453CB6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743DDF-6F38-4511-A906-9276433580F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4044993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E613AE1-C8A9-4D2A-81CB-6A3708CF2518}"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B10A98E-0CA4-4551-937E-527AA04E6C4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1912571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53B9A0B-7DDE-44F0-B29C-5DA4391F0656}"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E4531E9-BCE6-4820-8ECF-E7E33F7F342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5758153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FA95051-0E9E-4337-9DD5-B7660B6198EC}"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F54F06-F6FE-4E6E-96A7-A723A38DB12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1512064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FA819B2-9D48-47B3-878D-6221FCE5C2BD}"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0F68CA8-C94C-4BFB-A300-9345CAC1086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3877120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FD96B26-ABDA-47F6-85C3-37D68B6BBEE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3FF24-F6EF-4D06-A01F-6A4CA212C5C8}"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300680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CF39E6B-DB2C-4B4E-8834-A1C9A1039ED4}"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21E1DBF-E488-4464-B1E1-BA0D46B32CC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0435710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9FC1335-B70B-4C8E-8604-11B6C653C8B9}"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1D5AD3A-18CE-4814-8CAA-BCFEFF6B62E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5145815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D8D9F75-4B99-433F-BC19-B099170B709B}"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412B7E-A3AD-4676-A432-2A0C4220328C}"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884141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fld id="{F21D563A-D4F1-46CB-BB63-38C3AE5ACADC}" type="datetime3">
              <a:rPr lang="en-US" smtClean="0"/>
              <a:t>3 August 2023</a:t>
            </a:fld>
            <a:endParaRPr lang="en-US"/>
          </a:p>
        </p:txBody>
      </p:sp>
      <p:sp>
        <p:nvSpPr>
          <p:cNvPr id="3" name="Footer Placeholder 4"/>
          <p:cNvSpPr>
            <a:spLocks noGrp="1"/>
          </p:cNvSpPr>
          <p:nvPr>
            <p:ph type="ftr" sz="quarter" idx="11"/>
          </p:nvPr>
        </p:nvSpPr>
        <p:spPr>
          <a:xfrm>
            <a:off x="3124200" y="6569075"/>
            <a:ext cx="2895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r>
              <a:rPr lang="en-US"/>
              <a:t>CE101 Lec1: Introduction and Basics</a:t>
            </a:r>
          </a:p>
        </p:txBody>
      </p:sp>
      <p:sp>
        <p:nvSpPr>
          <p:cNvPr id="4" name="Slide Number Placeholder 5"/>
          <p:cNvSpPr>
            <a:spLocks noGrp="1"/>
          </p:cNvSpPr>
          <p:nvPr>
            <p:ph type="sldNum" sz="quarter" idx="12"/>
          </p:nvPr>
        </p:nvSpPr>
        <p:spPr>
          <a:xfrm>
            <a:off x="6553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spcBef>
                <a:spcPct val="0"/>
              </a:spcBef>
              <a:defRPr/>
            </a:pPr>
            <a:fld id="{821E5DEB-F0EA-46E7-8C9C-42C750CE8EBF}" type="slidenum">
              <a:rPr lang="en-US" altLang="en-US" smtClean="0"/>
              <a:pPr>
                <a:spcBef>
                  <a:spcPct val="0"/>
                </a:spcBef>
                <a:defRPr/>
              </a:pPr>
              <a:t>‹#›</a:t>
            </a:fld>
            <a:endParaRPr lang="en-US" altLang="en-US"/>
          </a:p>
        </p:txBody>
      </p:sp>
    </p:spTree>
    <p:extLst>
      <p:ext uri="{BB962C8B-B14F-4D97-AF65-F5344CB8AC3E}">
        <p14:creationId xmlns:p14="http://schemas.microsoft.com/office/powerpoint/2010/main" val="5944987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473D5F4-31AE-4449-9B30-026CBAF60C70}"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76F7A3-C711-487B-8187-76B48308CD7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1360220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7EA81CB-0E70-4333-9B6E-D943364FF61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743DDF-6F38-4511-A906-9276433580F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4553670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D8C38CE-1C1C-4B0A-B8A6-42A14F20938A}"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B10A98E-0CA4-4551-937E-527AA04E6C4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47301978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3CFE5C7-8C84-41DA-BD81-5E44BF374896}"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E4531E9-BCE6-4820-8ECF-E7E33F7F342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4432627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437BB12-3CFA-4A35-83B7-CDD91BBC1800}"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F54F06-F6FE-4E6E-96A7-A723A38DB12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78004581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88CAB3C-0267-428A-9ACE-B3101969022B}"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0F68CA8-C94C-4BFB-A300-9345CAC1086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35332773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AA3B26C-D26E-4D36-A35B-726B9A984064}"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3FF24-F6EF-4D06-A01F-6A4CA212C5C8}"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260905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23FB98A-3236-405E-8DA2-B9368C92E04F}"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21E1DBF-E488-4464-B1E1-BA0D46B32CC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672841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09BD9F7-B50D-4483-A578-929638E266FB}"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1D5AD3A-18CE-4814-8CAA-BCFEFF6B62E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6325393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EC79B10-F465-4A92-848E-E50C95C8AA69}"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412B7E-A3AD-4676-A432-2A0C4220328C}"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17330922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fld id="{1D656F26-88C9-408D-8FC0-892A80028B34}" type="datetime3">
              <a:rPr lang="en-US" smtClean="0"/>
              <a:t>3 August 2023</a:t>
            </a:fld>
            <a:endParaRPr lang="en-US"/>
          </a:p>
        </p:txBody>
      </p:sp>
      <p:sp>
        <p:nvSpPr>
          <p:cNvPr id="3" name="Footer Placeholder 4"/>
          <p:cNvSpPr>
            <a:spLocks noGrp="1"/>
          </p:cNvSpPr>
          <p:nvPr>
            <p:ph type="ftr" sz="quarter" idx="11"/>
          </p:nvPr>
        </p:nvSpPr>
        <p:spPr>
          <a:xfrm>
            <a:off x="3124200" y="6569075"/>
            <a:ext cx="2895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r>
              <a:rPr lang="en-US"/>
              <a:t>CE101 Lec1: Introduction and Basics</a:t>
            </a:r>
          </a:p>
        </p:txBody>
      </p:sp>
      <p:sp>
        <p:nvSpPr>
          <p:cNvPr id="4" name="Slide Number Placeholder 5"/>
          <p:cNvSpPr>
            <a:spLocks noGrp="1"/>
          </p:cNvSpPr>
          <p:nvPr>
            <p:ph type="sldNum" sz="quarter" idx="12"/>
          </p:nvPr>
        </p:nvSpPr>
        <p:spPr>
          <a:xfrm>
            <a:off x="6553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spcBef>
                <a:spcPct val="0"/>
              </a:spcBef>
              <a:defRPr/>
            </a:pPr>
            <a:fld id="{821E5DEB-F0EA-46E7-8C9C-42C750CE8EBF}" type="slidenum">
              <a:rPr lang="en-US" altLang="en-US" smtClean="0"/>
              <a:pPr>
                <a:spcBef>
                  <a:spcPct val="0"/>
                </a:spcBef>
                <a:defRPr/>
              </a:pPr>
              <a:t>‹#›</a:t>
            </a:fld>
            <a:endParaRPr lang="en-US" altLang="en-US"/>
          </a:p>
        </p:txBody>
      </p:sp>
    </p:spTree>
    <p:extLst>
      <p:ext uri="{BB962C8B-B14F-4D97-AF65-F5344CB8AC3E}">
        <p14:creationId xmlns:p14="http://schemas.microsoft.com/office/powerpoint/2010/main" val="241387606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1D3270E-84BD-4F67-874A-094E6768CB9F}"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76F7A3-C711-487B-8187-76B48308CD7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23682945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E348C4A-58C4-471D-985F-621F2CA6C2D0}"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743DDF-6F38-4511-A906-9276433580F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51753432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37EFBFB-EE37-4D90-ABD1-2DF7C6BCA429}"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B10A98E-0CA4-4551-937E-527AA04E6C4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09015972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57CED76-7C85-40C2-994A-5E9DE586ECE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E4531E9-BCE6-4820-8ECF-E7E33F7F342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4262904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4153D9D-A528-4031-A13F-33146AE9C3B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F54F06-F6FE-4E6E-96A7-A723A38DB12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23504344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7A7EE11-486A-4204-9137-70750A2CE8B8}"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0F68CA8-C94C-4BFB-A300-9345CAC1086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85840845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3FC05F2-4CE0-42CE-8BA7-E2DD2625A310}"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3FF24-F6EF-4D06-A01F-6A4CA212C5C8}"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11610745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2FD452D-4749-4623-845B-B32D0F82AF99}"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21E1DBF-E488-4464-B1E1-BA0D46B32CC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97498782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3AC8CD3-0218-4B04-A57C-ECE9BDD853C8}"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1D5AD3A-18CE-4814-8CAA-BCFEFF6B62E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18010725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0DAFEE0-2742-4B01-ABCE-041262D43AEC}"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412B7E-A3AD-4676-A432-2A0C4220328C}"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8439256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fld id="{032F6224-CB33-4D0E-B9E0-860857AFF84A}" type="datetime3">
              <a:rPr lang="en-US" smtClean="0"/>
              <a:t>3 August 2023</a:t>
            </a:fld>
            <a:endParaRPr lang="en-US"/>
          </a:p>
        </p:txBody>
      </p:sp>
      <p:sp>
        <p:nvSpPr>
          <p:cNvPr id="3" name="Footer Placeholder 4"/>
          <p:cNvSpPr>
            <a:spLocks noGrp="1"/>
          </p:cNvSpPr>
          <p:nvPr>
            <p:ph type="ftr" sz="quarter" idx="11"/>
          </p:nvPr>
        </p:nvSpPr>
        <p:spPr>
          <a:xfrm>
            <a:off x="3124200" y="6569075"/>
            <a:ext cx="2895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r>
              <a:rPr lang="en-US"/>
              <a:t>CE101 Lec1: Introduction and Basics</a:t>
            </a:r>
          </a:p>
        </p:txBody>
      </p:sp>
      <p:sp>
        <p:nvSpPr>
          <p:cNvPr id="4" name="Slide Number Placeholder 5"/>
          <p:cNvSpPr>
            <a:spLocks noGrp="1"/>
          </p:cNvSpPr>
          <p:nvPr>
            <p:ph type="sldNum" sz="quarter" idx="12"/>
          </p:nvPr>
        </p:nvSpPr>
        <p:spPr>
          <a:xfrm>
            <a:off x="6553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spcBef>
                <a:spcPct val="0"/>
              </a:spcBef>
              <a:defRPr/>
            </a:pPr>
            <a:fld id="{821E5DEB-F0EA-46E7-8C9C-42C750CE8EBF}" type="slidenum">
              <a:rPr lang="en-US" altLang="en-US" smtClean="0"/>
              <a:pPr>
                <a:spcBef>
                  <a:spcPct val="0"/>
                </a:spcBef>
                <a:defRPr/>
              </a:pPr>
              <a:t>‹#›</a:t>
            </a:fld>
            <a:endParaRPr lang="en-US" altLang="en-US"/>
          </a:p>
        </p:txBody>
      </p:sp>
    </p:spTree>
    <p:extLst>
      <p:ext uri="{BB962C8B-B14F-4D97-AF65-F5344CB8AC3E}">
        <p14:creationId xmlns:p14="http://schemas.microsoft.com/office/powerpoint/2010/main" val="209603808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48C8F6F-4234-4491-8AF9-7E006277F3E3}"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76F7A3-C711-487B-8187-76B48308CD7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84180797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3098390-FADC-42EC-A3D4-6F3A4CE4ED13}"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743DDF-6F38-4511-A906-9276433580F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47457675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28E604A-DFA4-44E5-8E8A-431EBFCFE3DD}"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B10A98E-0CA4-4551-937E-527AA04E6C4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03111645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9D4B105-0543-444B-9914-B8182CD8A63C}"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E4531E9-BCE6-4820-8ECF-E7E33F7F342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68433261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3A7D5AB-68C7-4E1D-BA1E-4CE832C78A16}"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F54F06-F6FE-4E6E-96A7-A723A38DB12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7818889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3FDCD8C-9E43-475A-BEA1-7C47A766FDE3}"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0F68CA8-C94C-4BFB-A300-9345CAC1086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52963089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2CFF345-04EB-4392-84FF-B4D1F63D7C3A}"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3FF24-F6EF-4D06-A01F-6A4CA212C5C8}"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5653900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E1DAA23-ECF9-49A6-B63E-ACAB283DCD64}"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21E1DBF-E488-4464-B1E1-BA0D46B32CC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81100697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EA6A5FE-E1D9-4966-A515-7FDC2E16859B}"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1D5AD3A-18CE-4814-8CAA-BCFEFF6B62E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24911318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AE13316-324F-4088-A429-72A68F877988}"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412B7E-A3AD-4676-A432-2A0C4220328C}"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44953581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fld id="{EB5A42C4-9A92-49CE-BA1E-AC06532F9A1B}" type="datetime3">
              <a:rPr lang="en-US" smtClean="0"/>
              <a:t>3 August 2023</a:t>
            </a:fld>
            <a:endParaRPr lang="en-US"/>
          </a:p>
        </p:txBody>
      </p:sp>
      <p:sp>
        <p:nvSpPr>
          <p:cNvPr id="3" name="Footer Placeholder 4"/>
          <p:cNvSpPr>
            <a:spLocks noGrp="1"/>
          </p:cNvSpPr>
          <p:nvPr>
            <p:ph type="ftr" sz="quarter" idx="11"/>
          </p:nvPr>
        </p:nvSpPr>
        <p:spPr>
          <a:xfrm>
            <a:off x="3124200" y="6569075"/>
            <a:ext cx="2895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r>
              <a:rPr lang="en-US"/>
              <a:t>CE101 Lec1: Introduction and Basics</a:t>
            </a:r>
          </a:p>
        </p:txBody>
      </p:sp>
      <p:sp>
        <p:nvSpPr>
          <p:cNvPr id="4" name="Slide Number Placeholder 5"/>
          <p:cNvSpPr>
            <a:spLocks noGrp="1"/>
          </p:cNvSpPr>
          <p:nvPr>
            <p:ph type="sldNum" sz="quarter" idx="12"/>
          </p:nvPr>
        </p:nvSpPr>
        <p:spPr>
          <a:xfrm>
            <a:off x="6553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spcBef>
                <a:spcPct val="0"/>
              </a:spcBef>
              <a:defRPr/>
            </a:pPr>
            <a:fld id="{821E5DEB-F0EA-46E7-8C9C-42C750CE8EBF}" type="slidenum">
              <a:rPr lang="en-US" altLang="en-US" smtClean="0"/>
              <a:pPr>
                <a:spcBef>
                  <a:spcPct val="0"/>
                </a:spcBef>
                <a:defRPr/>
              </a:pPr>
              <a:t>‹#›</a:t>
            </a:fld>
            <a:endParaRPr lang="en-US" altLang="en-US"/>
          </a:p>
        </p:txBody>
      </p:sp>
    </p:spTree>
    <p:extLst>
      <p:ext uri="{BB962C8B-B14F-4D97-AF65-F5344CB8AC3E}">
        <p14:creationId xmlns:p14="http://schemas.microsoft.com/office/powerpoint/2010/main" val="38639791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0FAFEAD-F43D-44AB-97B2-E06F5918E60E}"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76F7A3-C711-487B-8187-76B48308CD7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02072981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632101B-9331-4B49-B725-0FE1E7995F74}"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743DDF-6F38-4511-A906-9276433580F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07594113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704E3DD-A557-4E93-80A0-2B4AD0B77EEC}"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B10A98E-0CA4-4551-937E-527AA04E6C4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4703090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4BE3B02-A517-4E84-92D4-EA547840930E}"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E4531E9-BCE6-4820-8ECF-E7E33F7F342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73583565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BA6A09E-35A0-46EA-B661-3BD1171C0E1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F54F06-F6FE-4E6E-96A7-A723A38DB12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69793455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D056633-0A60-4020-937E-87C500A139C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0F68CA8-C94C-4BFB-A300-9345CAC1086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1395305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69486F2-FB36-418C-885E-ABDE6671BC39}"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3FF24-F6EF-4D06-A01F-6A4CA212C5C8}"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73092154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EF9E328-621B-4BB1-80A4-9CC910B87B5B}"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21E1DBF-E488-4464-B1E1-BA0D46B32CC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96750497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8BF06CB-2A33-4C3A-962B-6D0CCDF8B49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1D5AD3A-18CE-4814-8CAA-BCFEFF6B62E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48246997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B8455EC-3876-4A0A-B92C-D7B4DA5DC90B}"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412B7E-A3AD-4676-A432-2A0C4220328C}"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86180302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fld id="{0C7A896D-E01C-477B-B002-ED05A7A48BD9}" type="datetime3">
              <a:rPr lang="en-US" smtClean="0"/>
              <a:t>3 August 2023</a:t>
            </a:fld>
            <a:endParaRPr lang="en-US"/>
          </a:p>
        </p:txBody>
      </p:sp>
      <p:sp>
        <p:nvSpPr>
          <p:cNvPr id="3" name="Footer Placeholder 4"/>
          <p:cNvSpPr>
            <a:spLocks noGrp="1"/>
          </p:cNvSpPr>
          <p:nvPr>
            <p:ph type="ftr" sz="quarter" idx="11"/>
          </p:nvPr>
        </p:nvSpPr>
        <p:spPr>
          <a:xfrm>
            <a:off x="3124200" y="6569075"/>
            <a:ext cx="2895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r>
              <a:rPr lang="en-US"/>
              <a:t>CE101 Lec1: Introduction and Basics</a:t>
            </a:r>
          </a:p>
        </p:txBody>
      </p:sp>
      <p:sp>
        <p:nvSpPr>
          <p:cNvPr id="4" name="Slide Number Placeholder 5"/>
          <p:cNvSpPr>
            <a:spLocks noGrp="1"/>
          </p:cNvSpPr>
          <p:nvPr>
            <p:ph type="sldNum" sz="quarter" idx="12"/>
          </p:nvPr>
        </p:nvSpPr>
        <p:spPr>
          <a:xfrm>
            <a:off x="6553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spcBef>
                <a:spcPct val="0"/>
              </a:spcBef>
              <a:defRPr/>
            </a:pPr>
            <a:fld id="{821E5DEB-F0EA-46E7-8C9C-42C750CE8EBF}" type="slidenum">
              <a:rPr lang="en-US" altLang="en-US" smtClean="0"/>
              <a:pPr>
                <a:spcBef>
                  <a:spcPct val="0"/>
                </a:spcBef>
                <a:defRPr/>
              </a:pPr>
              <a:t>‹#›</a:t>
            </a:fld>
            <a:endParaRPr lang="en-US" altLang="en-US"/>
          </a:p>
        </p:txBody>
      </p:sp>
    </p:spTree>
    <p:extLst>
      <p:ext uri="{BB962C8B-B14F-4D97-AF65-F5344CB8AC3E}">
        <p14:creationId xmlns:p14="http://schemas.microsoft.com/office/powerpoint/2010/main" val="66106704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202CC7D-6AE9-4E52-955C-DBBB28D4D9EF}"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76F7A3-C711-487B-8187-76B48308CD7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77100109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D7D9D45-CB0F-4688-9910-780BB5543D2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743DDF-6F38-4511-A906-9276433580F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39514708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4EFB136-EBE1-4151-B7C1-31925C6FFBE1}"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B10A98E-0CA4-4551-937E-527AA04E6C4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39706367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B61D4F3-40D5-4B0E-A03D-88324C29BFC4}"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E4531E9-BCE6-4820-8ECF-E7E33F7F342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2410199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24C6BE3-24BF-47E7-AA56-9D50EAF04F20}"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F54F06-F6FE-4E6E-96A7-A723A38DB12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24737887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7DE73DB-CD4D-4650-AE17-6A9662B297F1}"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0F68CA8-C94C-4BFB-A300-9345CAC1086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08606207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4B164A-1BD1-4929-8ED9-D6B1D5EC4774}"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3FF24-F6EF-4D06-A01F-6A4CA212C5C8}"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11880365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17C2A95-0E31-4AE5-929F-FD17AB5A3E7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21E1DBF-E488-4464-B1E1-BA0D46B32CC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23513580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2FF1673-F905-4EC8-9180-F359C492E5EF}"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1D5AD3A-18CE-4814-8CAA-BCFEFF6B62E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01025786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CD0E68E-26CA-4344-8989-C583306384D5}"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412B7E-A3AD-4676-A432-2A0C4220328C}"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26312586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fld id="{EBB727BD-AA56-4195-9BB5-229449C4D8B4}" type="datetime3">
              <a:rPr lang="en-US" smtClean="0"/>
              <a:t>3 August 2023</a:t>
            </a:fld>
            <a:endParaRPr lang="en-US"/>
          </a:p>
        </p:txBody>
      </p:sp>
      <p:sp>
        <p:nvSpPr>
          <p:cNvPr id="3" name="Footer Placeholder 4"/>
          <p:cNvSpPr>
            <a:spLocks noGrp="1"/>
          </p:cNvSpPr>
          <p:nvPr>
            <p:ph type="ftr" sz="quarter" idx="11"/>
          </p:nvPr>
        </p:nvSpPr>
        <p:spPr>
          <a:xfrm>
            <a:off x="2819400" y="6569075"/>
            <a:ext cx="34290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r>
              <a:rPr lang="en-US"/>
              <a:t>CE101 Lec1: Introduction and Basics</a:t>
            </a:r>
          </a:p>
        </p:txBody>
      </p:sp>
      <p:sp>
        <p:nvSpPr>
          <p:cNvPr id="4" name="Slide Number Placeholder 5"/>
          <p:cNvSpPr>
            <a:spLocks noGrp="1"/>
          </p:cNvSpPr>
          <p:nvPr>
            <p:ph type="sldNum" sz="quarter" idx="12"/>
          </p:nvPr>
        </p:nvSpPr>
        <p:spPr>
          <a:xfrm>
            <a:off x="6553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spcBef>
                <a:spcPct val="0"/>
              </a:spcBef>
              <a:defRPr/>
            </a:pPr>
            <a:fld id="{821E5DEB-F0EA-46E7-8C9C-42C750CE8EBF}" type="slidenum">
              <a:rPr lang="en-US" altLang="en-US" smtClean="0"/>
              <a:pPr>
                <a:spcBef>
                  <a:spcPct val="0"/>
                </a:spcBef>
                <a:defRPr/>
              </a:pPr>
              <a:t>‹#›</a:t>
            </a:fld>
            <a:endParaRPr lang="en-US" altLang="en-US"/>
          </a:p>
        </p:txBody>
      </p:sp>
    </p:spTree>
    <p:extLst>
      <p:ext uri="{BB962C8B-B14F-4D97-AF65-F5344CB8AC3E}">
        <p14:creationId xmlns:p14="http://schemas.microsoft.com/office/powerpoint/2010/main" val="406820181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56C1F38-66F7-4E7E-8F3F-623E485CFEBB}"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76F7A3-C711-487B-8187-76B48308CD7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52392849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DA1D553-43B9-46D7-B568-0C59785D0A01}"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743DDF-6F38-4511-A906-9276433580F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60832185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1AD9990-57A9-46C9-8DDA-EB264F3E6E48}"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B10A98E-0CA4-4551-937E-527AA04E6C4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84599964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F409BE9-8F33-4468-97FF-39238CE3A6BA}"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E4531E9-BCE6-4820-8ECF-E7E33F7F342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44036081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5252CA8-5EF2-46D9-88DD-905795CEA8D3}"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5F54F06-F6FE-4E6E-96A7-A723A38DB12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77523387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A76ECCA-E95B-48BF-8B6C-928D47BBC62C}"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0F68CA8-C94C-4BFB-A300-9345CAC1086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05962545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A0AFDFE-438D-4DAD-BA73-C4DC6B23CDAE}"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53FF24-F6EF-4D06-A01F-6A4CA212C5C8}"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85420508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3189130-F980-47FE-81A5-F2564A1409EC}"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21E1DBF-E488-4464-B1E1-BA0D46B32CC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54919693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F46D74D-8237-4A02-88A3-FA8CB03BDFD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1D5AD3A-18CE-4814-8CAA-BCFEFF6B62E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2406116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6C8FA6E-BFD2-4BFA-8F4D-087958AA7291}"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F412B7E-A3AD-4676-A432-2A0C4220328C}"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66307737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fld id="{89AC4491-0CD5-4E3C-AAB0-DAA85949EED7}" type="datetime3">
              <a:rPr lang="en-US" smtClean="0"/>
              <a:t>3 August 2023</a:t>
            </a:fld>
            <a:endParaRPr lang="en-US"/>
          </a:p>
        </p:txBody>
      </p:sp>
      <p:sp>
        <p:nvSpPr>
          <p:cNvPr id="3" name="Footer Placeholder 4"/>
          <p:cNvSpPr>
            <a:spLocks noGrp="1"/>
          </p:cNvSpPr>
          <p:nvPr>
            <p:ph type="ftr" sz="quarter" idx="11"/>
          </p:nvPr>
        </p:nvSpPr>
        <p:spPr>
          <a:xfrm>
            <a:off x="3124200" y="6569075"/>
            <a:ext cx="2895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defRPr/>
            </a:pPr>
            <a:r>
              <a:rPr lang="en-US"/>
              <a:t>CE101 Lec1: Introduction and Basics</a:t>
            </a:r>
          </a:p>
        </p:txBody>
      </p:sp>
      <p:sp>
        <p:nvSpPr>
          <p:cNvPr id="4" name="Slide Number Placeholder 5"/>
          <p:cNvSpPr>
            <a:spLocks noGrp="1"/>
          </p:cNvSpPr>
          <p:nvPr>
            <p:ph type="sldNum" sz="quarter" idx="12"/>
          </p:nvPr>
        </p:nvSpPr>
        <p:spPr>
          <a:xfrm>
            <a:off x="6553200" y="6569075"/>
            <a:ext cx="2133600" cy="365125"/>
          </a:xfrm>
        </p:spPr>
        <p:txBody>
          <a:bodyPr/>
          <a:lstStyle>
            <a:lvl1pPr>
              <a:defRPr b="1">
                <a:solidFill>
                  <a:srgbClr val="3333FF"/>
                </a:solidFill>
                <a:latin typeface="Arial" panose="020B0604020202020204" pitchFamily="34" charset="0"/>
                <a:cs typeface="Arial" panose="020B0604020202020204" pitchFamily="34" charset="0"/>
              </a:defRPr>
            </a:lvl1pPr>
          </a:lstStyle>
          <a:p>
            <a:pPr>
              <a:spcBef>
                <a:spcPct val="0"/>
              </a:spcBef>
              <a:defRPr/>
            </a:pPr>
            <a:fld id="{821E5DEB-F0EA-46E7-8C9C-42C750CE8EBF}" type="slidenum">
              <a:rPr lang="en-US" altLang="en-US" smtClean="0"/>
              <a:pPr>
                <a:spcBef>
                  <a:spcPct val="0"/>
                </a:spcBef>
                <a:defRPr/>
              </a:pPr>
              <a:t>‹#›</a:t>
            </a:fld>
            <a:endParaRPr lang="en-US" altLang="en-US"/>
          </a:p>
        </p:txBody>
      </p:sp>
    </p:spTree>
    <p:extLst>
      <p:ext uri="{BB962C8B-B14F-4D97-AF65-F5344CB8AC3E}">
        <p14:creationId xmlns:p14="http://schemas.microsoft.com/office/powerpoint/2010/main" val="134242409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E7C35A2-8F5E-4654-93FE-074A5E9C6E2B}"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76F7A3-C711-487B-8187-76B48308CD7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3158317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0D7A03A-C0E4-48FD-B188-6639948C21EE}"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8743DDF-6F38-4511-A906-9276433580FB}"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38449948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4F7EC27-968C-46C6-B45D-168B3FA2F964}"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B10A98E-0CA4-4551-937E-527AA04E6C41}"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70718390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B4212CB-5643-41D8-A616-116E1A5C1806}"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E4531E9-BCE6-4820-8ECF-E7E33F7F342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951029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5" name="Footer Placeholder 4"/>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6" name="Slide Number Placeholder 5"/>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231054160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5" name="Footer Placeholder 4"/>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6" name="Slide Number Placeholder 5"/>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267426933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5" name="Footer Placeholder 4"/>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6" name="Slide Number Placeholder 5"/>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329834853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6" name="Footer Placeholder 5"/>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7" name="Slide Number Placeholder 6"/>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327719347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8" name="Footer Placeholder 7"/>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9" name="Slide Number Placeholder 8"/>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168123433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4" name="Footer Placeholder 3"/>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5" name="Slide Number Placeholder 4"/>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281699543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3" name="Footer Placeholder 2"/>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4" name="Slide Number Placeholder 3"/>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283517759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6" name="Footer Placeholder 5"/>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7" name="Slide Number Placeholder 6"/>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407461318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6" name="Footer Placeholder 5"/>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7" name="Slide Number Placeholder 6"/>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296248372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5" name="Footer Placeholder 4"/>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6" name="Slide Number Placeholder 5"/>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347107103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5" name="Footer Placeholder 4"/>
          <p:cNvSpPr>
            <a:spLocks noGrp="1"/>
          </p:cNvSpPr>
          <p:nvPr>
            <p:ph type="ftr" sz="quarter" idx="11"/>
          </p:nvPr>
        </p:nvSpPr>
        <p:spPr/>
        <p:txBody>
          <a:body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6" name="Slide Number Placeholder 5"/>
          <p:cNvSpPr>
            <a:spLocks noGrp="1"/>
          </p:cNvSpPr>
          <p:nvPr>
            <p:ph type="sldNum" sz="quarter" idx="12"/>
          </p:nvPr>
        </p:nvSpPr>
        <p:spPr/>
        <p:txBody>
          <a:body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3581540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6200"/>
            <a:ext cx="8229600" cy="762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838200"/>
            <a:ext cx="8229600" cy="5486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FDCA297-52F3-4A27-B9ED-2528D6279989}"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600" b="1">
                <a:solidFill>
                  <a:schemeClr val="tx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5C84A4-FEF8-4FB1-9663-19AD76B6A1D4}" type="slidenum">
              <a:rPr kumimoji="0" lang="en-US" sz="16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058150" y="0"/>
            <a:ext cx="1085850" cy="1095375"/>
          </a:xfrm>
          <a:prstGeom prst="rect">
            <a:avLst/>
          </a:prstGeom>
        </p:spPr>
      </p:pic>
    </p:spTree>
    <p:extLst>
      <p:ext uri="{BB962C8B-B14F-4D97-AF65-F5344CB8AC3E}">
        <p14:creationId xmlns:p14="http://schemas.microsoft.com/office/powerpoint/2010/main" val="751540245"/>
      </p:ext>
    </p:extLst>
  </p:cSld>
  <p:clrMap bg1="lt1" tx1="dk1" bg2="lt2" tx2="dk2" accent1="accent1" accent2="accent2" accent3="accent3" accent4="accent4" accent5="accent5" accent6="accent6" hlink="hlink" folHlink="folHlink"/>
  <p:sldLayoutIdLst>
    <p:sldLayoutId id="2147484528" r:id="rId1"/>
    <p:sldLayoutId id="2147484529" r:id="rId2"/>
    <p:sldLayoutId id="2147484530" r:id="rId3"/>
    <p:sldLayoutId id="2147484531" r:id="rId4"/>
    <p:sldLayoutId id="2147484532" r:id="rId5"/>
    <p:sldLayoutId id="2147484533" r:id="rId6"/>
    <p:sldLayoutId id="2147484534" r:id="rId7"/>
    <p:sldLayoutId id="2147484535" r:id="rId8"/>
    <p:sldLayoutId id="2147484536" r:id="rId9"/>
    <p:sldLayoutId id="2147484537" r:id="rId10"/>
    <p:sldLayoutId id="2147484538" r:id="rId11"/>
  </p:sldLayoutIdLst>
  <p:hf sldNum="0" hdr="0" ftr="0" dt="0"/>
  <p:txStyles>
    <p:titleStyle>
      <a:lvl1pPr algn="ctr" defTabSz="914400" rtl="0" eaLnBrk="1" latinLnBrk="0" hangingPunct="1">
        <a:spcBef>
          <a:spcPct val="0"/>
        </a:spcBef>
        <a:buNone/>
        <a:defRPr sz="4400" kern="1200">
          <a:solidFill>
            <a:schemeClr val="tx1"/>
          </a:solidFill>
          <a:latin typeface="Adobe Garamond Pro Bold"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Rounded MT Bold" pitchFamily="34"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7D02ED-5A9B-422F-8398-46AFC19DD6B6}"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138D0A1-B5AC-4DA9-88C4-8E3C66ABFE5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05807959"/>
      </p:ext>
    </p:extLst>
  </p:cSld>
  <p:clrMap bg1="lt1" tx1="dk1" bg2="lt2" tx2="dk2" accent1="accent1" accent2="accent2" accent3="accent3" accent4="accent4" accent5="accent5" accent6="accent6" hlink="hlink" folHlink="folHlink"/>
  <p:sldLayoutIdLst>
    <p:sldLayoutId id="2147484540" r:id="rId1"/>
    <p:sldLayoutId id="2147484541" r:id="rId2"/>
    <p:sldLayoutId id="2147484542" r:id="rId3"/>
    <p:sldLayoutId id="2147484543" r:id="rId4"/>
    <p:sldLayoutId id="2147484544" r:id="rId5"/>
    <p:sldLayoutId id="2147484545" r:id="rId6"/>
    <p:sldLayoutId id="2147484546" r:id="rId7"/>
    <p:sldLayoutId id="2147484547" r:id="rId8"/>
    <p:sldLayoutId id="2147484548" r:id="rId9"/>
    <p:sldLayoutId id="2147484549" r:id="rId10"/>
    <p:sldLayoutId id="2147484550"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72AEDBC-EA4B-4B6A-A79C-EAB17B12956A}"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138D0A1-B5AC-4DA9-88C4-8E3C66ABFE5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829941507"/>
      </p:ext>
    </p:extLst>
  </p:cSld>
  <p:clrMap bg1="lt1" tx1="dk1" bg2="lt2" tx2="dk2" accent1="accent1" accent2="accent2" accent3="accent3" accent4="accent4" accent5="accent5" accent6="accent6" hlink="hlink" folHlink="folHlink"/>
  <p:sldLayoutIdLst>
    <p:sldLayoutId id="2147484564" r:id="rId1"/>
    <p:sldLayoutId id="2147484565" r:id="rId2"/>
    <p:sldLayoutId id="2147484566" r:id="rId3"/>
    <p:sldLayoutId id="2147484567" r:id="rId4"/>
    <p:sldLayoutId id="2147484568" r:id="rId5"/>
    <p:sldLayoutId id="2147484569" r:id="rId6"/>
    <p:sldLayoutId id="2147484570" r:id="rId7"/>
    <p:sldLayoutId id="2147484571" r:id="rId8"/>
    <p:sldLayoutId id="2147484572" r:id="rId9"/>
    <p:sldLayoutId id="2147484573" r:id="rId10"/>
    <p:sldLayoutId id="2147484574"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818EE7A-CB8C-4AB8-8943-4086498F834A}"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138D0A1-B5AC-4DA9-88C4-8E3C66ABFE5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610484653"/>
      </p:ext>
    </p:extLst>
  </p:cSld>
  <p:clrMap bg1="lt1" tx1="dk1" bg2="lt2" tx2="dk2" accent1="accent1" accent2="accent2" accent3="accent3" accent4="accent4" accent5="accent5" accent6="accent6" hlink="hlink" folHlink="folHlink"/>
  <p:sldLayoutIdLst>
    <p:sldLayoutId id="2147484576" r:id="rId1"/>
    <p:sldLayoutId id="2147484577" r:id="rId2"/>
    <p:sldLayoutId id="2147484578" r:id="rId3"/>
    <p:sldLayoutId id="2147484579" r:id="rId4"/>
    <p:sldLayoutId id="2147484580" r:id="rId5"/>
    <p:sldLayoutId id="2147484581" r:id="rId6"/>
    <p:sldLayoutId id="2147484582" r:id="rId7"/>
    <p:sldLayoutId id="2147484583" r:id="rId8"/>
    <p:sldLayoutId id="2147484584" r:id="rId9"/>
    <p:sldLayoutId id="2147484585" r:id="rId10"/>
    <p:sldLayoutId id="2147484586"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5971AD-1DE1-47CB-9B31-332B7C7AB617}"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138D0A1-B5AC-4DA9-88C4-8E3C66ABFE5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621914599"/>
      </p:ext>
    </p:extLst>
  </p:cSld>
  <p:clrMap bg1="lt1" tx1="dk1" bg2="lt2" tx2="dk2" accent1="accent1" accent2="accent2" accent3="accent3" accent4="accent4" accent5="accent5" accent6="accent6" hlink="hlink" folHlink="folHlink"/>
  <p:sldLayoutIdLst>
    <p:sldLayoutId id="2147484588" r:id="rId1"/>
    <p:sldLayoutId id="2147484589" r:id="rId2"/>
    <p:sldLayoutId id="2147484590" r:id="rId3"/>
    <p:sldLayoutId id="2147484591" r:id="rId4"/>
    <p:sldLayoutId id="2147484592" r:id="rId5"/>
    <p:sldLayoutId id="2147484593" r:id="rId6"/>
    <p:sldLayoutId id="2147484594" r:id="rId7"/>
    <p:sldLayoutId id="2147484595" r:id="rId8"/>
    <p:sldLayoutId id="2147484596" r:id="rId9"/>
    <p:sldLayoutId id="2147484597" r:id="rId10"/>
    <p:sldLayoutId id="21474845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E0608CB-9B5A-46B6-99EC-F1505670C6D8}"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138D0A1-B5AC-4DA9-88C4-8E3C66ABFE5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88489042"/>
      </p:ext>
    </p:extLst>
  </p:cSld>
  <p:clrMap bg1="lt1" tx1="dk1" bg2="lt2" tx2="dk2" accent1="accent1" accent2="accent2" accent3="accent3" accent4="accent4" accent5="accent5" accent6="accent6" hlink="hlink" folHlink="folHlink"/>
  <p:sldLayoutIdLst>
    <p:sldLayoutId id="2147484600" r:id="rId1"/>
    <p:sldLayoutId id="2147484601" r:id="rId2"/>
    <p:sldLayoutId id="2147484602" r:id="rId3"/>
    <p:sldLayoutId id="2147484603" r:id="rId4"/>
    <p:sldLayoutId id="2147484604" r:id="rId5"/>
    <p:sldLayoutId id="2147484605" r:id="rId6"/>
    <p:sldLayoutId id="2147484606" r:id="rId7"/>
    <p:sldLayoutId id="2147484607" r:id="rId8"/>
    <p:sldLayoutId id="2147484608" r:id="rId9"/>
    <p:sldLayoutId id="2147484609" r:id="rId10"/>
    <p:sldLayoutId id="2147484610"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B6E9D48-5848-4230-9F8C-446619FA61AC}"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138D0A1-B5AC-4DA9-88C4-8E3C66ABFE5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961421861"/>
      </p:ext>
    </p:extLst>
  </p:cSld>
  <p:clrMap bg1="lt1" tx1="dk1" bg2="lt2" tx2="dk2" accent1="accent1" accent2="accent2" accent3="accent3" accent4="accent4" accent5="accent5" accent6="accent6" hlink="hlink" folHlink="folHlink"/>
  <p:sldLayoutIdLst>
    <p:sldLayoutId id="2147484612" r:id="rId1"/>
    <p:sldLayoutId id="2147484613" r:id="rId2"/>
    <p:sldLayoutId id="2147484614" r:id="rId3"/>
    <p:sldLayoutId id="2147484615" r:id="rId4"/>
    <p:sldLayoutId id="2147484616" r:id="rId5"/>
    <p:sldLayoutId id="2147484617" r:id="rId6"/>
    <p:sldLayoutId id="2147484618" r:id="rId7"/>
    <p:sldLayoutId id="2147484619" r:id="rId8"/>
    <p:sldLayoutId id="2147484620" r:id="rId9"/>
    <p:sldLayoutId id="2147484621" r:id="rId10"/>
    <p:sldLayoutId id="2147484622"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88EF05E-C6C6-4360-8FA7-9BB9A2643B0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138D0A1-B5AC-4DA9-88C4-8E3C66ABFE5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7591880"/>
      </p:ext>
    </p:extLst>
  </p:cSld>
  <p:clrMap bg1="lt1" tx1="dk1" bg2="lt2" tx2="dk2" accent1="accent1" accent2="accent2" accent3="accent3" accent4="accent4" accent5="accent5" accent6="accent6" hlink="hlink" folHlink="folHlink"/>
  <p:sldLayoutIdLst>
    <p:sldLayoutId id="2147484624" r:id="rId1"/>
    <p:sldLayoutId id="2147484625" r:id="rId2"/>
    <p:sldLayoutId id="2147484626" r:id="rId3"/>
    <p:sldLayoutId id="2147484627" r:id="rId4"/>
    <p:sldLayoutId id="2147484628" r:id="rId5"/>
    <p:sldLayoutId id="2147484629" r:id="rId6"/>
    <p:sldLayoutId id="2147484630" r:id="rId7"/>
    <p:sldLayoutId id="2147484631" r:id="rId8"/>
    <p:sldLayoutId id="2147484632" r:id="rId9"/>
    <p:sldLayoutId id="2147484633" r:id="rId10"/>
    <p:sldLayoutId id="2147484634"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3BB29A2-B09B-4336-A507-DCF52A81D402}"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138D0A1-B5AC-4DA9-88C4-8E3C66ABFE5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726483277"/>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EFEAAD0-2D1A-4C89-9C73-78476C7D0110}"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138D0A1-B5AC-4DA9-88C4-8E3C66ABFE5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96977591"/>
      </p:ext>
    </p:extLst>
  </p:cSld>
  <p:clrMap bg1="lt1" tx1="dk1" bg2="lt2" tx2="dk2" accent1="accent1" accent2="accent2" accent3="accent3" accent4="accent4" accent5="accent5" accent6="accent6" hlink="hlink" folHlink="folHlink"/>
  <p:sldLayoutIdLst>
    <p:sldLayoutId id="2147484648" r:id="rId1"/>
    <p:sldLayoutId id="2147484649" r:id="rId2"/>
    <p:sldLayoutId id="2147484650" r:id="rId3"/>
    <p:sldLayoutId id="2147484651" r:id="rId4"/>
    <p:sldLayoutId id="2147484652" r:id="rId5"/>
    <p:sldLayoutId id="2147484653" r:id="rId6"/>
    <p:sldLayoutId id="2147484654" r:id="rId7"/>
    <p:sldLayoutId id="2147484655" r:id="rId8"/>
    <p:sldLayoutId id="2147484656" r:id="rId9"/>
    <p:sldLayoutId id="2147484657" r:id="rId10"/>
    <p:sldLayoutId id="214748465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6013077-7D5A-4628-BE01-5315B8370B74}" type="datetime3">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3 August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138D0A1-B5AC-4DA9-88C4-8E3C66ABFE59}"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09501449"/>
      </p:ext>
    </p:extLst>
  </p:cSld>
  <p:clrMap bg1="lt1" tx1="dk1" bg2="lt2" tx2="dk2" accent1="accent1" accent2="accent2" accent3="accent3" accent4="accent4" accent5="accent5" accent6="accent6" hlink="hlink" folHlink="folHlink"/>
  <p:sldLayoutIdLst>
    <p:sldLayoutId id="2147484660" r:id="rId1"/>
    <p:sldLayoutId id="2147484661" r:id="rId2"/>
    <p:sldLayoutId id="2147484662" r:id="rId3"/>
    <p:sldLayoutId id="2147484663" r:id="rId4"/>
    <p:sldLayoutId id="2147484664" r:id="rId5"/>
    <p:sldLayoutId id="2147484665" r:id="rId6"/>
    <p:sldLayoutId id="2147484666" r:id="rId7"/>
    <p:sldLayoutId id="2147484667" r:id="rId8"/>
    <p:sldLayoutId id="2147484668" r:id="rId9"/>
    <p:sldLayoutId id="2147484669" r:id="rId10"/>
    <p:sldLayoutId id="2147484670"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685800" fontAlgn="auto">
              <a:spcBef>
                <a:spcPts val="0"/>
              </a:spcBef>
              <a:spcAft>
                <a:spcPts val="0"/>
              </a:spcAft>
            </a:pPr>
            <a:fld id="{56A82F1E-DF75-4CAA-BBE1-F0021C3FD046}" type="datetimeFigureOut">
              <a:rPr lang="en-IN" smtClean="0">
                <a:solidFill>
                  <a:prstClr val="black">
                    <a:tint val="75000"/>
                  </a:prstClr>
                </a:solidFill>
                <a:latin typeface="Calibri" panose="020F0502020204030204"/>
              </a:rPr>
              <a:pPr defTabSz="685800" fontAlgn="auto">
                <a:spcBef>
                  <a:spcPts val="0"/>
                </a:spcBef>
                <a:spcAft>
                  <a:spcPts val="0"/>
                </a:spcAft>
              </a:pPr>
              <a:t>03-08-2023</a:t>
            </a:fld>
            <a:endParaRPr lang="en-IN">
              <a:solidFill>
                <a:prstClr val="black">
                  <a:tint val="75000"/>
                </a:prstClr>
              </a:solidFill>
              <a:latin typeface="Calibri" panose="020F0502020204030204"/>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685800" fontAlgn="auto">
              <a:spcBef>
                <a:spcPts val="0"/>
              </a:spcBef>
              <a:spcAft>
                <a:spcPts val="0"/>
              </a:spcAft>
            </a:pPr>
            <a:endParaRPr lang="en-IN">
              <a:solidFill>
                <a:prstClr val="black">
                  <a:tint val="75000"/>
                </a:prstClr>
              </a:solidFill>
              <a:latin typeface="Calibri" panose="020F0502020204030204"/>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685800" fontAlgn="auto">
              <a:spcBef>
                <a:spcPts val="0"/>
              </a:spcBef>
              <a:spcAft>
                <a:spcPts val="0"/>
              </a:spcAft>
            </a:pPr>
            <a:fld id="{91C7039A-6595-4325-AB96-F33838F63C87}" type="slidenum">
              <a:rPr lang="en-IN" smtClean="0">
                <a:solidFill>
                  <a:prstClr val="black">
                    <a:tint val="75000"/>
                  </a:prstClr>
                </a:solidFill>
                <a:latin typeface="Calibri" panose="020F0502020204030204"/>
              </a:rPr>
              <a:pPr defTabSz="685800" fontAlgn="auto">
                <a:spcBef>
                  <a:spcPts val="0"/>
                </a:spcBef>
                <a:spcAft>
                  <a:spcPts val="0"/>
                </a:spcAft>
              </a:pPr>
              <a:t>‹#›</a:t>
            </a:fld>
            <a:endParaRPr lang="en-IN">
              <a:solidFill>
                <a:prstClr val="black">
                  <a:tint val="75000"/>
                </a:prstClr>
              </a:solidFill>
              <a:latin typeface="Calibri" panose="020F0502020204030204"/>
            </a:endParaRPr>
          </a:p>
        </p:txBody>
      </p:sp>
    </p:spTree>
    <p:extLst>
      <p:ext uri="{BB962C8B-B14F-4D97-AF65-F5344CB8AC3E}">
        <p14:creationId xmlns:p14="http://schemas.microsoft.com/office/powerpoint/2010/main" val="194294299"/>
      </p:ext>
    </p:extLst>
  </p:cSld>
  <p:clrMap bg1="lt1" tx1="dk1" bg2="lt2" tx2="dk2" accent1="accent1" accent2="accent2" accent3="accent3" accent4="accent4" accent5="accent5" accent6="accent6" hlink="hlink" folHlink="folHlink"/>
  <p:sldLayoutIdLst>
    <p:sldLayoutId id="2147484672" r:id="rId1"/>
    <p:sldLayoutId id="2147484673" r:id="rId2"/>
    <p:sldLayoutId id="2147484674" r:id="rId3"/>
    <p:sldLayoutId id="2147484675" r:id="rId4"/>
    <p:sldLayoutId id="2147484676" r:id="rId5"/>
    <p:sldLayoutId id="2147484677" r:id="rId6"/>
    <p:sldLayoutId id="2147484678" r:id="rId7"/>
    <p:sldLayoutId id="2147484679" r:id="rId8"/>
    <p:sldLayoutId id="2147484680" r:id="rId9"/>
    <p:sldLayoutId id="2147484681" r:id="rId10"/>
    <p:sldLayoutId id="214748468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8.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23.xml"/><Relationship Id="rId5" Type="http://schemas.openxmlformats.org/officeDocument/2006/relationships/image" Target="../media/image8.pn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23.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hyperlink" Target="mailto:ce_101@iitg.ac.in" TargetMode="External"/><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10.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128.xml"/></Relationships>
</file>

<file path=ppt/slides/_rels/slide11.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128.xml"/></Relationships>
</file>

<file path=ppt/slides/_rels/slide12.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128.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1.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5.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3.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84.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95.xml"/><Relationship Id="rId1" Type="http://schemas.openxmlformats.org/officeDocument/2006/relationships/vmlDrawing" Target="../drawings/vmlDrawing1.vml"/><Relationship Id="rId4" Type="http://schemas.openxmlformats.org/officeDocument/2006/relationships/image" Target="../media/image53.png"/></Relationships>
</file>

<file path=ppt/slides/_rels/slide49.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95.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95.xml"/><Relationship Id="rId4" Type="http://schemas.openxmlformats.org/officeDocument/2006/relationships/image" Target="../media/image57.jpeg"/></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95.xml"/><Relationship Id="rId5" Type="http://schemas.openxmlformats.org/officeDocument/2006/relationships/image" Target="../media/image61.png"/><Relationship Id="rId4" Type="http://schemas.openxmlformats.org/officeDocument/2006/relationships/image" Target="../media/image60.png"/></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95.xml"/></Relationships>
</file>

<file path=ppt/slides/_rels/slide53.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95.xml"/></Relationships>
</file>

<file path=ppt/slides/_rels/slide5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95.xml"/><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95.xml"/></Relationships>
</file>

<file path=ppt/slides/_rels/slide5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06.xml"/></Relationships>
</file>

<file path=ppt/slides/_rels/slide57.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notesSlide" Target="../notesSlides/notesSlide6.xml"/><Relationship Id="rId1" Type="http://schemas.openxmlformats.org/officeDocument/2006/relationships/slideLayout" Target="../slideLayouts/slideLayout106.xml"/></Relationships>
</file>

<file path=ppt/slides/_rels/slide5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06.xml"/></Relationships>
</file>

<file path=ppt/slides/_rels/slide5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06.xml"/></Relationships>
</file>

<file path=ppt/slides/_rels/slide60.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857250"/>
            <a:ext cx="9144000" cy="5143500"/>
          </a:xfrm>
          <a:prstGeom prst="rect">
            <a:avLst/>
          </a:prstGeom>
        </p:spPr>
      </p:pic>
      <p:sp>
        <p:nvSpPr>
          <p:cNvPr id="3" name="Title 1"/>
          <p:cNvSpPr txBox="1">
            <a:spLocks/>
          </p:cNvSpPr>
          <p:nvPr/>
        </p:nvSpPr>
        <p:spPr>
          <a:xfrm>
            <a:off x="382594" y="2563411"/>
            <a:ext cx="8761406" cy="1591731"/>
          </a:xfrm>
          <a:prstGeom prst="rect">
            <a:avLst/>
          </a:prstGeom>
          <a:solidFill>
            <a:schemeClr val="bg1">
              <a:alpha val="7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lnSpc>
                <a:spcPct val="100000"/>
              </a:lnSpc>
              <a:spcAft>
                <a:spcPts val="0"/>
              </a:spcAft>
            </a:pPr>
            <a:r>
              <a:rPr lang="en-IN" sz="3600" b="1" dirty="0">
                <a:solidFill>
                  <a:prstClr val="black"/>
                </a:solidFill>
                <a:effectLst>
                  <a:outerShdw blurRad="38100" dist="38100" dir="2700000" algn="tl">
                    <a:srgbClr val="000000">
                      <a:alpha val="43137"/>
                    </a:srgbClr>
                  </a:outerShdw>
                </a:effectLst>
                <a:latin typeface="Arial Rounded MT Bold" panose="020F0704030504030204" pitchFamily="34" charset="0"/>
                <a:ea typeface="Segoe UI Black" panose="020B0A02040204020203" pitchFamily="34" charset="0"/>
                <a:cs typeface="Times New Roman" panose="02020603050405020304" pitchFamily="18" charset="0"/>
              </a:rPr>
              <a:t>CE 101 (Engineering Drawing)</a:t>
            </a:r>
          </a:p>
          <a:p>
            <a:pPr defTabSz="685800" fontAlgn="auto">
              <a:lnSpc>
                <a:spcPct val="100000"/>
              </a:lnSpc>
              <a:spcAft>
                <a:spcPts val="0"/>
              </a:spcAft>
            </a:pPr>
            <a:r>
              <a:rPr lang="en-IN" sz="3000" b="1" dirty="0">
                <a:solidFill>
                  <a:srgbClr val="0070C0"/>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Department of Civil Engineering , IIT Guwahati</a:t>
            </a:r>
          </a:p>
        </p:txBody>
      </p:sp>
      <p:grpSp>
        <p:nvGrpSpPr>
          <p:cNvPr id="6" name="Group 5"/>
          <p:cNvGrpSpPr/>
          <p:nvPr/>
        </p:nvGrpSpPr>
        <p:grpSpPr>
          <a:xfrm>
            <a:off x="7623302" y="2684276"/>
            <a:ext cx="1350000" cy="1350000"/>
            <a:chOff x="10082921" y="2452344"/>
            <a:chExt cx="1800000" cy="1800000"/>
          </a:xfrm>
        </p:grpSpPr>
        <p:sp>
          <p:nvSpPr>
            <p:cNvPr id="5" name="Flowchart: Connector 4"/>
            <p:cNvSpPr>
              <a:spLocks noChangeAspect="1"/>
            </p:cNvSpPr>
            <p:nvPr/>
          </p:nvSpPr>
          <p:spPr>
            <a:xfrm>
              <a:off x="10100440" y="2474577"/>
              <a:ext cx="1764000" cy="1764000"/>
            </a:xfrm>
            <a:prstGeom prst="flowChartConnector">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auto">
                <a:spcBef>
                  <a:spcPts val="0"/>
                </a:spcBef>
                <a:spcAft>
                  <a:spcPts val="0"/>
                </a:spcAft>
              </a:pPr>
              <a:endParaRPr lang="en-IN" sz="1350">
                <a:solidFill>
                  <a:prstClr val="white"/>
                </a:solidFill>
                <a:latin typeface="Calibri" panose="020F0502020204030204"/>
              </a:endParaRPr>
            </a:p>
          </p:txBody>
        </p:sp>
        <p:pic>
          <p:nvPicPr>
            <p:cNvPr id="4" name="Picture 3"/>
            <p:cNvPicPr>
              <a:picLocks noChangeAspect="1"/>
            </p:cNvPicPr>
            <p:nvPr/>
          </p:nvPicPr>
          <p:blipFill>
            <a:blip r:embed="rId3"/>
            <a:stretch>
              <a:fillRect/>
            </a:stretch>
          </p:blipFill>
          <p:spPr>
            <a:xfrm>
              <a:off x="10082921" y="2452344"/>
              <a:ext cx="1800000" cy="1800000"/>
            </a:xfrm>
            <a:prstGeom prst="rect">
              <a:avLst/>
            </a:prstGeom>
          </p:spPr>
        </p:pic>
      </p:grpSp>
    </p:spTree>
    <p:extLst>
      <p:ext uri="{BB962C8B-B14F-4D97-AF65-F5344CB8AC3E}">
        <p14:creationId xmlns:p14="http://schemas.microsoft.com/office/powerpoint/2010/main" val="41770534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57250"/>
            <a:ext cx="9144000" cy="5143500"/>
          </a:xfrm>
          <a:prstGeom prst="rect">
            <a:avLst/>
          </a:prstGeom>
        </p:spPr>
      </p:pic>
      <p:sp>
        <p:nvSpPr>
          <p:cNvPr id="5" name="Title 1"/>
          <p:cNvSpPr txBox="1">
            <a:spLocks/>
          </p:cNvSpPr>
          <p:nvPr/>
        </p:nvSpPr>
        <p:spPr>
          <a:xfrm>
            <a:off x="1" y="1024734"/>
            <a:ext cx="4612709"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Syllabus</a:t>
            </a:r>
          </a:p>
        </p:txBody>
      </p:sp>
      <p:sp>
        <p:nvSpPr>
          <p:cNvPr id="6" name="Rectangle 5"/>
          <p:cNvSpPr/>
          <p:nvPr/>
        </p:nvSpPr>
        <p:spPr>
          <a:xfrm>
            <a:off x="296611" y="2199931"/>
            <a:ext cx="8847389" cy="3139321"/>
          </a:xfrm>
          <a:prstGeom prst="rect">
            <a:avLst/>
          </a:prstGeom>
          <a:solidFill>
            <a:schemeClr val="bg1">
              <a:alpha val="63000"/>
            </a:schemeClr>
          </a:solidFill>
        </p:spPr>
        <p:txBody>
          <a:bodyPr wrap="square">
            <a:spAutoFit/>
          </a:bodyPr>
          <a:lstStyle/>
          <a:p>
            <a:pPr marL="342900" lvl="1" algn="l" defTabSz="685800" fontAlgn="auto">
              <a:spcBef>
                <a:spcPts val="0"/>
              </a:spcBef>
              <a:spcAft>
                <a:spcPts val="0"/>
              </a:spcAft>
            </a:pPr>
            <a:r>
              <a:rPr lang="en-US" b="1" dirty="0">
                <a:solidFill>
                  <a:prstClr val="black"/>
                </a:solidFill>
                <a:latin typeface="Calibri" panose="020F0502020204030204"/>
                <a:ea typeface="Cambria" panose="02040503050406030204" pitchFamily="18" charset="0"/>
              </a:rPr>
              <a:t>(2-0-3-7)</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Importance of engineering drawing</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Conventions and standards: ISO</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Orthographic projections: points, lines, planes and solids</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Sections of solids</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Isometric projections</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Development of surfaces</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Intersection of solids</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Introduction to Computer Aided Drafting software, basic commands of two-dimensional drafting</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Application of Intersection of Solids and Isometric Projections in the software</a:t>
            </a:r>
          </a:p>
        </p:txBody>
      </p:sp>
    </p:spTree>
    <p:extLst>
      <p:ext uri="{BB962C8B-B14F-4D97-AF65-F5344CB8AC3E}">
        <p14:creationId xmlns:p14="http://schemas.microsoft.com/office/powerpoint/2010/main" val="33015703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57250"/>
            <a:ext cx="9144000" cy="5143500"/>
          </a:xfrm>
          <a:prstGeom prst="rect">
            <a:avLst/>
          </a:prstGeom>
        </p:spPr>
      </p:pic>
      <p:sp>
        <p:nvSpPr>
          <p:cNvPr id="5" name="Title 1"/>
          <p:cNvSpPr txBox="1">
            <a:spLocks/>
          </p:cNvSpPr>
          <p:nvPr/>
        </p:nvSpPr>
        <p:spPr>
          <a:xfrm>
            <a:off x="0" y="1024734"/>
            <a:ext cx="6133012"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Text/ Reference Books</a:t>
            </a:r>
          </a:p>
        </p:txBody>
      </p:sp>
      <p:sp>
        <p:nvSpPr>
          <p:cNvPr id="6" name="Rectangle 5"/>
          <p:cNvSpPr/>
          <p:nvPr/>
        </p:nvSpPr>
        <p:spPr>
          <a:xfrm>
            <a:off x="296611" y="2199932"/>
            <a:ext cx="8847389" cy="2862322"/>
          </a:xfrm>
          <a:prstGeom prst="rect">
            <a:avLst/>
          </a:prstGeom>
          <a:solidFill>
            <a:schemeClr val="bg1">
              <a:alpha val="63000"/>
            </a:schemeClr>
          </a:solidFill>
        </p:spPr>
        <p:txBody>
          <a:bodyPr wrap="square">
            <a:spAutoFit/>
          </a:bodyPr>
          <a:lstStyle/>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N. D. Bhatt and V. M. Panchal, Engineering Drawing Plane and Solid Geometry, 53rd Edition </a:t>
            </a:r>
            <a:r>
              <a:rPr lang="en-US" dirty="0" err="1">
                <a:solidFill>
                  <a:prstClr val="black"/>
                </a:solidFill>
                <a:latin typeface="Calibri" panose="020F0502020204030204"/>
                <a:ea typeface="Cambria" panose="02040503050406030204" pitchFamily="18" charset="0"/>
              </a:rPr>
              <a:t>Charator</a:t>
            </a:r>
            <a:r>
              <a:rPr lang="en-US" dirty="0">
                <a:solidFill>
                  <a:prstClr val="black"/>
                </a:solidFill>
                <a:latin typeface="Calibri" panose="020F0502020204030204"/>
                <a:ea typeface="Cambria" panose="02040503050406030204" pitchFamily="18" charset="0"/>
              </a:rPr>
              <a:t> Publishing House, 2014</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K. </a:t>
            </a:r>
            <a:r>
              <a:rPr lang="en-US" dirty="0" err="1">
                <a:solidFill>
                  <a:prstClr val="black"/>
                </a:solidFill>
                <a:latin typeface="Calibri" panose="020F0502020204030204"/>
                <a:ea typeface="Cambria" panose="02040503050406030204" pitchFamily="18" charset="0"/>
              </a:rPr>
              <a:t>Venugopal</a:t>
            </a:r>
            <a:r>
              <a:rPr lang="en-US" dirty="0">
                <a:solidFill>
                  <a:prstClr val="black"/>
                </a:solidFill>
                <a:latin typeface="Calibri" panose="020F0502020204030204"/>
                <a:ea typeface="Cambria" panose="02040503050406030204" pitchFamily="18" charset="0"/>
              </a:rPr>
              <a:t> and V. </a:t>
            </a:r>
            <a:r>
              <a:rPr lang="en-US" dirty="0" err="1">
                <a:solidFill>
                  <a:prstClr val="black"/>
                </a:solidFill>
                <a:latin typeface="Calibri" panose="020F0502020204030204"/>
                <a:ea typeface="Cambria" panose="02040503050406030204" pitchFamily="18" charset="0"/>
              </a:rPr>
              <a:t>Prabhu</a:t>
            </a:r>
            <a:r>
              <a:rPr lang="en-US" dirty="0">
                <a:solidFill>
                  <a:prstClr val="black"/>
                </a:solidFill>
                <a:latin typeface="Calibri" panose="020F0502020204030204"/>
                <a:ea typeface="Cambria" panose="02040503050406030204" pitchFamily="18" charset="0"/>
              </a:rPr>
              <a:t> Raja, Engineering Drawing+ AutoCAD, 5th Edition, New Age International, 2011</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D. A. </a:t>
            </a:r>
            <a:r>
              <a:rPr lang="en-US" dirty="0" err="1">
                <a:solidFill>
                  <a:prstClr val="black"/>
                </a:solidFill>
                <a:latin typeface="Calibri" panose="020F0502020204030204"/>
                <a:ea typeface="Cambria" panose="02040503050406030204" pitchFamily="18" charset="0"/>
              </a:rPr>
              <a:t>Jolhe</a:t>
            </a:r>
            <a:r>
              <a:rPr lang="en-US" dirty="0">
                <a:solidFill>
                  <a:prstClr val="black"/>
                </a:solidFill>
                <a:latin typeface="Calibri" panose="020F0502020204030204"/>
                <a:ea typeface="Cambria" panose="02040503050406030204" pitchFamily="18" charset="0"/>
              </a:rPr>
              <a:t>, Engineering Drawing with an Introduction to AutoCAD, McGraw Hill Education 2017</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W. J. </a:t>
            </a:r>
            <a:r>
              <a:rPr lang="en-US" dirty="0" err="1">
                <a:solidFill>
                  <a:prstClr val="black"/>
                </a:solidFill>
                <a:latin typeface="Calibri" panose="020F0502020204030204"/>
                <a:ea typeface="Cambria" panose="02040503050406030204" pitchFamily="18" charset="0"/>
              </a:rPr>
              <a:t>Luzadder</a:t>
            </a:r>
            <a:r>
              <a:rPr lang="en-US" dirty="0">
                <a:solidFill>
                  <a:prstClr val="black"/>
                </a:solidFill>
                <a:latin typeface="Calibri" panose="020F0502020204030204"/>
                <a:ea typeface="Cambria" panose="02040503050406030204" pitchFamily="18" charset="0"/>
              </a:rPr>
              <a:t> and J. M. Duff, Fundamentals of Engineering Drawing, 11th Edition, PHI, 2012</a:t>
            </a:r>
          </a:p>
          <a:p>
            <a:pPr marL="342900" lvl="1" algn="l" defTabSz="685800" fontAlgn="auto">
              <a:spcBef>
                <a:spcPts val="0"/>
              </a:spcBef>
              <a:spcAft>
                <a:spcPts val="0"/>
              </a:spcAft>
            </a:pPr>
            <a:r>
              <a:rPr lang="en-US" dirty="0">
                <a:solidFill>
                  <a:prstClr val="black"/>
                </a:solidFill>
                <a:latin typeface="Calibri" panose="020F0502020204030204"/>
                <a:ea typeface="Cambria" panose="02040503050406030204" pitchFamily="18" charset="0"/>
              </a:rPr>
              <a:t>F. E. </a:t>
            </a:r>
            <a:r>
              <a:rPr lang="en-US" dirty="0" err="1">
                <a:solidFill>
                  <a:prstClr val="black"/>
                </a:solidFill>
                <a:latin typeface="Calibri" panose="020F0502020204030204"/>
                <a:ea typeface="Cambria" panose="02040503050406030204" pitchFamily="18" charset="0"/>
              </a:rPr>
              <a:t>Giesecke</a:t>
            </a:r>
            <a:r>
              <a:rPr lang="en-US" dirty="0">
                <a:solidFill>
                  <a:prstClr val="black"/>
                </a:solidFill>
                <a:latin typeface="Calibri" panose="020F0502020204030204"/>
                <a:ea typeface="Cambria" panose="02040503050406030204" pitchFamily="18" charset="0"/>
              </a:rPr>
              <a:t>, A. Mitchell, H. C. Spencer, I. L. Hill, R. O. Loving, J. T. </a:t>
            </a:r>
            <a:r>
              <a:rPr lang="en-US" dirty="0" err="1">
                <a:solidFill>
                  <a:prstClr val="black"/>
                </a:solidFill>
                <a:latin typeface="Calibri" panose="020F0502020204030204"/>
                <a:ea typeface="Cambria" panose="02040503050406030204" pitchFamily="18" charset="0"/>
              </a:rPr>
              <a:t>Dygdon</a:t>
            </a:r>
            <a:r>
              <a:rPr lang="en-US" dirty="0">
                <a:solidFill>
                  <a:prstClr val="black"/>
                </a:solidFill>
                <a:latin typeface="Calibri" panose="020F0502020204030204"/>
                <a:ea typeface="Cambria" panose="02040503050406030204" pitchFamily="18" charset="0"/>
              </a:rPr>
              <a:t> and J. E. Novak, Engineering Drawing, 8th Edition, Person Prentice Hall, 2000</a:t>
            </a:r>
          </a:p>
        </p:txBody>
      </p:sp>
    </p:spTree>
    <p:extLst>
      <p:ext uri="{BB962C8B-B14F-4D97-AF65-F5344CB8AC3E}">
        <p14:creationId xmlns:p14="http://schemas.microsoft.com/office/powerpoint/2010/main" val="40108249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57250"/>
            <a:ext cx="9144000" cy="5143500"/>
          </a:xfrm>
          <a:prstGeom prst="rect">
            <a:avLst/>
          </a:prstGeom>
        </p:spPr>
      </p:pic>
      <p:sp>
        <p:nvSpPr>
          <p:cNvPr id="5" name="Title 1"/>
          <p:cNvSpPr txBox="1">
            <a:spLocks/>
          </p:cNvSpPr>
          <p:nvPr/>
        </p:nvSpPr>
        <p:spPr>
          <a:xfrm>
            <a:off x="0" y="1024734"/>
            <a:ext cx="6133012"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Lecture Classes</a:t>
            </a:r>
          </a:p>
        </p:txBody>
      </p:sp>
      <p:graphicFrame>
        <p:nvGraphicFramePr>
          <p:cNvPr id="2" name="Table 1"/>
          <p:cNvGraphicFramePr>
            <a:graphicFrameLocks noGrp="1"/>
          </p:cNvGraphicFramePr>
          <p:nvPr/>
        </p:nvGraphicFramePr>
        <p:xfrm>
          <a:off x="557348" y="1965652"/>
          <a:ext cx="7933510" cy="3173217"/>
        </p:xfrm>
        <a:graphic>
          <a:graphicData uri="http://schemas.openxmlformats.org/drawingml/2006/table">
            <a:tbl>
              <a:tblPr firstRow="1" bandRow="1">
                <a:tableStyleId>{5940675A-B579-460E-94D1-54222C63F5DA}</a:tableStyleId>
              </a:tblPr>
              <a:tblGrid>
                <a:gridCol w="3966755">
                  <a:extLst>
                    <a:ext uri="{9D8B030D-6E8A-4147-A177-3AD203B41FA5}">
                      <a16:colId xmlns:a16="http://schemas.microsoft.com/office/drawing/2014/main" val="1688629832"/>
                    </a:ext>
                  </a:extLst>
                </a:gridCol>
                <a:gridCol w="3966755">
                  <a:extLst>
                    <a:ext uri="{9D8B030D-6E8A-4147-A177-3AD203B41FA5}">
                      <a16:colId xmlns:a16="http://schemas.microsoft.com/office/drawing/2014/main" val="50625074"/>
                    </a:ext>
                  </a:extLst>
                </a:gridCol>
              </a:tblGrid>
              <a:tr h="1733037">
                <a:tc>
                  <a:txBody>
                    <a:bodyPr/>
                    <a:lstStyle/>
                    <a:p>
                      <a:pPr lvl="1"/>
                      <a:r>
                        <a:rPr lang="en-US" sz="1800" dirty="0">
                          <a:ea typeface="Cambria" panose="02040503050406030204" pitchFamily="18" charset="0"/>
                        </a:rPr>
                        <a:t>Division I:</a:t>
                      </a:r>
                    </a:p>
                    <a:p>
                      <a:pPr lvl="1"/>
                      <a:r>
                        <a:rPr lang="en-US" sz="1800" dirty="0">
                          <a:ea typeface="Cambria" panose="02040503050406030204" pitchFamily="18" charset="0"/>
                        </a:rPr>
                        <a:t>Instructor: </a:t>
                      </a:r>
                      <a:r>
                        <a:rPr lang="en-US" sz="1800" dirty="0" err="1">
                          <a:ea typeface="Cambria" panose="02040503050406030204" pitchFamily="18" charset="0"/>
                        </a:rPr>
                        <a:t>Dr</a:t>
                      </a:r>
                      <a:r>
                        <a:rPr lang="en-US" sz="1800" dirty="0">
                          <a:ea typeface="Cambria" panose="02040503050406030204" pitchFamily="18" charset="0"/>
                        </a:rPr>
                        <a:t> Sparsh Johari</a:t>
                      </a:r>
                    </a:p>
                    <a:p>
                      <a:pPr lvl="1"/>
                      <a:r>
                        <a:rPr lang="en-US" sz="1800" dirty="0">
                          <a:ea typeface="Cambria" panose="02040503050406030204" pitchFamily="18" charset="0"/>
                        </a:rPr>
                        <a:t>Classes are in the afternoon (Slot A1)</a:t>
                      </a:r>
                    </a:p>
                    <a:p>
                      <a:pPr lvl="1"/>
                      <a:r>
                        <a:rPr lang="en-US" sz="1800" dirty="0">
                          <a:ea typeface="Cambria" panose="02040503050406030204" pitchFamily="18" charset="0"/>
                        </a:rPr>
                        <a:t>Venue: Lecture Hall – L2</a:t>
                      </a:r>
                    </a:p>
                    <a:p>
                      <a:pPr lvl="1"/>
                      <a:r>
                        <a:rPr lang="en-US" sz="1800" kern="1200" dirty="0">
                          <a:solidFill>
                            <a:schemeClr val="tx1"/>
                          </a:solidFill>
                          <a:latin typeface="+mn-lt"/>
                          <a:ea typeface="Cambria" panose="02040503050406030204" pitchFamily="18" charset="0"/>
                          <a:cs typeface="+mn-cs"/>
                        </a:rPr>
                        <a:t>Students (257): ME, CE, Energy</a:t>
                      </a:r>
                      <a:endParaRPr lang="en-IN" sz="1800" kern="1200" dirty="0">
                        <a:solidFill>
                          <a:schemeClr val="tx1"/>
                        </a:solidFill>
                        <a:latin typeface="+mn-lt"/>
                        <a:ea typeface="Cambria" panose="02040503050406030204" pitchFamily="18" charset="0"/>
                        <a:cs typeface="+mn-cs"/>
                      </a:endParaRPr>
                    </a:p>
                  </a:txBody>
                  <a:tcPr marL="68580" marR="68580" marT="34290" marB="34290">
                    <a:solidFill>
                      <a:schemeClr val="bg2">
                        <a:lumMod val="90000"/>
                      </a:schemeClr>
                    </a:solidFill>
                  </a:tcPr>
                </a:tc>
                <a:tc>
                  <a:txBody>
                    <a:bodyPr/>
                    <a:lstStyle/>
                    <a:p>
                      <a:r>
                        <a:rPr lang="en-US" sz="1800" kern="1200" dirty="0">
                          <a:solidFill>
                            <a:schemeClr val="tx1"/>
                          </a:solidFill>
                          <a:latin typeface="+mn-lt"/>
                          <a:ea typeface="Cambria" panose="02040503050406030204" pitchFamily="18" charset="0"/>
                          <a:cs typeface="+mn-cs"/>
                        </a:rPr>
                        <a:t>Division III:</a:t>
                      </a:r>
                    </a:p>
                    <a:p>
                      <a:r>
                        <a:rPr lang="en-US" sz="1800" kern="1200" dirty="0">
                          <a:solidFill>
                            <a:schemeClr val="tx1"/>
                          </a:solidFill>
                          <a:latin typeface="+mn-lt"/>
                          <a:ea typeface="Cambria" panose="02040503050406030204" pitchFamily="18" charset="0"/>
                          <a:cs typeface="+mn-cs"/>
                        </a:rPr>
                        <a:t>Instructor: Prof </a:t>
                      </a:r>
                      <a:r>
                        <a:rPr lang="en-US" sz="1800" kern="1200" dirty="0" err="1">
                          <a:solidFill>
                            <a:schemeClr val="tx1"/>
                          </a:solidFill>
                          <a:latin typeface="+mn-lt"/>
                          <a:ea typeface="Cambria" panose="02040503050406030204" pitchFamily="18" charset="0"/>
                          <a:cs typeface="+mn-cs"/>
                        </a:rPr>
                        <a:t>Vinayak</a:t>
                      </a:r>
                      <a:r>
                        <a:rPr lang="en-US" sz="1800" kern="1200" dirty="0">
                          <a:solidFill>
                            <a:schemeClr val="tx1"/>
                          </a:solidFill>
                          <a:latin typeface="+mn-lt"/>
                          <a:ea typeface="Cambria" panose="02040503050406030204" pitchFamily="18" charset="0"/>
                          <a:cs typeface="+mn-cs"/>
                        </a:rPr>
                        <a:t> Kulkarni</a:t>
                      </a:r>
                    </a:p>
                    <a:p>
                      <a:r>
                        <a:rPr lang="en-US" sz="1800" kern="1200" dirty="0">
                          <a:solidFill>
                            <a:schemeClr val="tx1"/>
                          </a:solidFill>
                          <a:latin typeface="+mn-lt"/>
                          <a:ea typeface="Cambria" panose="02040503050406030204" pitchFamily="18" charset="0"/>
                          <a:cs typeface="+mn-cs"/>
                        </a:rPr>
                        <a:t>Classes are in the forenoon (Slot A)</a:t>
                      </a:r>
                    </a:p>
                    <a:p>
                      <a:r>
                        <a:rPr lang="en-US" sz="1800" kern="1200" dirty="0">
                          <a:solidFill>
                            <a:schemeClr val="tx1"/>
                          </a:solidFill>
                          <a:latin typeface="+mn-lt"/>
                          <a:ea typeface="Cambria" panose="02040503050406030204" pitchFamily="18" charset="0"/>
                          <a:cs typeface="+mn-cs"/>
                        </a:rPr>
                        <a:t>Venue: Lecture Hall – L2</a:t>
                      </a:r>
                    </a:p>
                    <a:p>
                      <a:r>
                        <a:rPr lang="en-US" sz="1800" kern="1200" dirty="0">
                          <a:solidFill>
                            <a:schemeClr val="tx1"/>
                          </a:solidFill>
                          <a:latin typeface="+mn-lt"/>
                          <a:ea typeface="Cambria" panose="02040503050406030204" pitchFamily="18" charset="0"/>
                          <a:cs typeface="+mn-cs"/>
                        </a:rPr>
                        <a:t>Students (254): </a:t>
                      </a:r>
                      <a:r>
                        <a:rPr lang="en-US" sz="1800" dirty="0">
                          <a:ea typeface="Cambria" panose="02040503050406030204" pitchFamily="18" charset="0"/>
                        </a:rPr>
                        <a:t>CSE, M&amp;C, and EPH</a:t>
                      </a:r>
                      <a:endParaRPr lang="en-IN" sz="1800" kern="1200" dirty="0">
                        <a:solidFill>
                          <a:schemeClr val="tx1"/>
                        </a:solidFill>
                        <a:latin typeface="+mn-lt"/>
                        <a:ea typeface="Cambria" panose="02040503050406030204" pitchFamily="18" charset="0"/>
                        <a:cs typeface="+mn-cs"/>
                      </a:endParaRPr>
                    </a:p>
                  </a:txBody>
                  <a:tcPr marL="68580" marR="68580" marT="34290" marB="34290">
                    <a:solidFill>
                      <a:schemeClr val="bg2">
                        <a:lumMod val="90000"/>
                      </a:schemeClr>
                    </a:solidFill>
                  </a:tcPr>
                </a:tc>
                <a:extLst>
                  <a:ext uri="{0D108BD9-81ED-4DB2-BD59-A6C34878D82A}">
                    <a16:rowId xmlns:a16="http://schemas.microsoft.com/office/drawing/2014/main" val="1667063974"/>
                  </a:ext>
                </a:extLst>
              </a:tr>
              <a:tr h="1440180">
                <a:tc>
                  <a:txBody>
                    <a:bodyPr/>
                    <a:lstStyle/>
                    <a:p>
                      <a:pPr lvl="1"/>
                      <a:r>
                        <a:rPr lang="en-US" sz="1800" dirty="0">
                          <a:ea typeface="Cambria" panose="02040503050406030204" pitchFamily="18" charset="0"/>
                        </a:rPr>
                        <a:t>Division II:</a:t>
                      </a:r>
                    </a:p>
                    <a:p>
                      <a:pPr lvl="1"/>
                      <a:r>
                        <a:rPr lang="en-US" sz="1800" dirty="0">
                          <a:ea typeface="Cambria" panose="02040503050406030204" pitchFamily="18" charset="0"/>
                        </a:rPr>
                        <a:t>Instructor: </a:t>
                      </a:r>
                      <a:r>
                        <a:rPr lang="en-US" sz="1800" dirty="0" err="1">
                          <a:ea typeface="Cambria" panose="02040503050406030204" pitchFamily="18" charset="0"/>
                        </a:rPr>
                        <a:t>Dr</a:t>
                      </a:r>
                      <a:r>
                        <a:rPr lang="en-US" sz="1800" dirty="0">
                          <a:ea typeface="Cambria" panose="02040503050406030204" pitchFamily="18" charset="0"/>
                        </a:rPr>
                        <a:t> RB. </a:t>
                      </a:r>
                      <a:r>
                        <a:rPr lang="en-US" sz="1800" dirty="0" err="1">
                          <a:ea typeface="Cambria" panose="02040503050406030204" pitchFamily="18" charset="0"/>
                        </a:rPr>
                        <a:t>Sharmila</a:t>
                      </a:r>
                      <a:endParaRPr lang="en-US" sz="1800" dirty="0">
                        <a:ea typeface="Cambria" panose="02040503050406030204" pitchFamily="18" charset="0"/>
                      </a:endParaRPr>
                    </a:p>
                    <a:p>
                      <a:pPr lvl="1"/>
                      <a:r>
                        <a:rPr lang="en-US" sz="1800" dirty="0">
                          <a:ea typeface="Cambria" panose="02040503050406030204" pitchFamily="18" charset="0"/>
                        </a:rPr>
                        <a:t>Classes are in the afternoon (Slot A1)</a:t>
                      </a:r>
                    </a:p>
                    <a:p>
                      <a:pPr lvl="1"/>
                      <a:r>
                        <a:rPr lang="en-US" sz="1800" dirty="0">
                          <a:ea typeface="Cambria" panose="02040503050406030204" pitchFamily="18" charset="0"/>
                        </a:rPr>
                        <a:t>Venue: Lecture Hall – L4</a:t>
                      </a:r>
                    </a:p>
                    <a:p>
                      <a:pPr lvl="1"/>
                      <a:r>
                        <a:rPr lang="en-US" sz="1800" dirty="0">
                          <a:ea typeface="Cambria" panose="02040503050406030204" pitchFamily="18" charset="0"/>
                        </a:rPr>
                        <a:t>Students (253): BSBE, ECE, EEE</a:t>
                      </a:r>
                    </a:p>
                  </a:txBody>
                  <a:tcPr marL="68580" marR="68580" marT="34290" marB="34290">
                    <a:solidFill>
                      <a:schemeClr val="bg2">
                        <a:lumMod val="90000"/>
                      </a:schemeClr>
                    </a:solidFill>
                  </a:tcPr>
                </a:tc>
                <a:tc>
                  <a:txBody>
                    <a:bodyPr/>
                    <a:lstStyle/>
                    <a:p>
                      <a:pPr marL="0" algn="l" defTabSz="914400" rtl="0" eaLnBrk="1" latinLnBrk="0" hangingPunct="1"/>
                      <a:r>
                        <a:rPr lang="en-US" sz="1800" kern="1200" dirty="0">
                          <a:solidFill>
                            <a:schemeClr val="tx1"/>
                          </a:solidFill>
                          <a:latin typeface="+mn-lt"/>
                          <a:ea typeface="Cambria" panose="02040503050406030204" pitchFamily="18" charset="0"/>
                          <a:cs typeface="+mn-cs"/>
                        </a:rPr>
                        <a:t>Division IV:</a:t>
                      </a:r>
                    </a:p>
                    <a:p>
                      <a:pPr marL="0" algn="l" defTabSz="914400" rtl="0" eaLnBrk="1" latinLnBrk="0" hangingPunct="1"/>
                      <a:r>
                        <a:rPr lang="en-US" sz="1800" kern="1200" dirty="0">
                          <a:solidFill>
                            <a:schemeClr val="tx1"/>
                          </a:solidFill>
                          <a:latin typeface="+mn-lt"/>
                          <a:ea typeface="Cambria" panose="02040503050406030204" pitchFamily="18" charset="0"/>
                          <a:cs typeface="+mn-cs"/>
                        </a:rPr>
                        <a:t>Instructor: </a:t>
                      </a:r>
                      <a:r>
                        <a:rPr lang="en-US" sz="1800" kern="1200" dirty="0" err="1">
                          <a:solidFill>
                            <a:schemeClr val="tx1"/>
                          </a:solidFill>
                          <a:latin typeface="+mn-lt"/>
                          <a:ea typeface="Cambria" panose="02040503050406030204" pitchFamily="18" charset="0"/>
                          <a:cs typeface="+mn-cs"/>
                        </a:rPr>
                        <a:t>Dr</a:t>
                      </a:r>
                      <a:r>
                        <a:rPr lang="en-US" sz="1800" kern="1200" dirty="0">
                          <a:solidFill>
                            <a:schemeClr val="tx1"/>
                          </a:solidFill>
                          <a:latin typeface="+mn-lt"/>
                          <a:ea typeface="Cambria" panose="02040503050406030204" pitchFamily="18" charset="0"/>
                          <a:cs typeface="+mn-cs"/>
                        </a:rPr>
                        <a:t> </a:t>
                      </a:r>
                      <a:r>
                        <a:rPr lang="en-US" sz="1800" kern="1200" dirty="0" err="1">
                          <a:solidFill>
                            <a:schemeClr val="tx1"/>
                          </a:solidFill>
                          <a:latin typeface="+mn-lt"/>
                          <a:ea typeface="Cambria" panose="02040503050406030204" pitchFamily="18" charset="0"/>
                          <a:cs typeface="+mn-cs"/>
                        </a:rPr>
                        <a:t>Sayantan</a:t>
                      </a:r>
                      <a:r>
                        <a:rPr lang="en-US" sz="1800" kern="1200" dirty="0">
                          <a:solidFill>
                            <a:schemeClr val="tx1"/>
                          </a:solidFill>
                          <a:latin typeface="+mn-lt"/>
                          <a:ea typeface="Cambria" panose="02040503050406030204" pitchFamily="18" charset="0"/>
                          <a:cs typeface="+mn-cs"/>
                        </a:rPr>
                        <a:t> Chakraborty</a:t>
                      </a:r>
                    </a:p>
                    <a:p>
                      <a:pPr marL="0" algn="l" defTabSz="914400" rtl="0" eaLnBrk="1" latinLnBrk="0" hangingPunct="1"/>
                      <a:r>
                        <a:rPr lang="en-US" sz="1800" kern="1200" dirty="0">
                          <a:solidFill>
                            <a:schemeClr val="tx1"/>
                          </a:solidFill>
                          <a:latin typeface="+mn-lt"/>
                          <a:ea typeface="Cambria" panose="02040503050406030204" pitchFamily="18" charset="0"/>
                          <a:cs typeface="+mn-cs"/>
                        </a:rPr>
                        <a:t>Classes are in the forenoon (Slot A)</a:t>
                      </a:r>
                    </a:p>
                    <a:p>
                      <a:pPr marL="0" algn="l" defTabSz="914400" rtl="0" eaLnBrk="1" latinLnBrk="0" hangingPunct="1"/>
                      <a:r>
                        <a:rPr lang="en-US" sz="1800" kern="1200" dirty="0">
                          <a:solidFill>
                            <a:schemeClr val="tx1"/>
                          </a:solidFill>
                          <a:latin typeface="+mn-lt"/>
                          <a:ea typeface="Cambria" panose="02040503050406030204" pitchFamily="18" charset="0"/>
                          <a:cs typeface="+mn-cs"/>
                        </a:rPr>
                        <a:t>Venue: Lecture Hall – L4</a:t>
                      </a:r>
                    </a:p>
                    <a:p>
                      <a:pPr marL="0" algn="l" defTabSz="914400" rtl="0" eaLnBrk="1" latinLnBrk="0" hangingPunct="1"/>
                      <a:r>
                        <a:rPr lang="en-US" sz="1800" kern="1200" dirty="0">
                          <a:solidFill>
                            <a:schemeClr val="tx1"/>
                          </a:solidFill>
                          <a:latin typeface="+mn-lt"/>
                          <a:ea typeface="Cambria" panose="02040503050406030204" pitchFamily="18" charset="0"/>
                          <a:cs typeface="+mn-cs"/>
                        </a:rPr>
                        <a:t>Students (249): </a:t>
                      </a:r>
                      <a:r>
                        <a:rPr lang="en-US" sz="1800" dirty="0">
                          <a:ea typeface="Cambria" panose="02040503050406030204" pitchFamily="18" charset="0"/>
                        </a:rPr>
                        <a:t>CL, CST, DS&amp;AI, DD</a:t>
                      </a:r>
                      <a:endParaRPr lang="en-IN" sz="1800" kern="1200" dirty="0">
                        <a:solidFill>
                          <a:schemeClr val="tx1"/>
                        </a:solidFill>
                        <a:latin typeface="+mn-lt"/>
                        <a:ea typeface="Cambria" panose="02040503050406030204" pitchFamily="18" charset="0"/>
                        <a:cs typeface="+mn-cs"/>
                      </a:endParaRPr>
                    </a:p>
                  </a:txBody>
                  <a:tcPr marL="68580" marR="68580" marT="34290" marB="34290">
                    <a:solidFill>
                      <a:schemeClr val="bg2">
                        <a:lumMod val="90000"/>
                      </a:schemeClr>
                    </a:solidFill>
                  </a:tcPr>
                </a:tc>
                <a:extLst>
                  <a:ext uri="{0D108BD9-81ED-4DB2-BD59-A6C34878D82A}">
                    <a16:rowId xmlns:a16="http://schemas.microsoft.com/office/drawing/2014/main" val="234031350"/>
                  </a:ext>
                </a:extLst>
              </a:tr>
            </a:tbl>
          </a:graphicData>
        </a:graphic>
      </p:graphicFrame>
    </p:spTree>
    <p:extLst>
      <p:ext uri="{BB962C8B-B14F-4D97-AF65-F5344CB8AC3E}">
        <p14:creationId xmlns:p14="http://schemas.microsoft.com/office/powerpoint/2010/main" val="15973028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57250"/>
            <a:ext cx="9144000" cy="5143500"/>
          </a:xfrm>
          <a:prstGeom prst="rect">
            <a:avLst/>
          </a:prstGeom>
        </p:spPr>
      </p:pic>
      <p:graphicFrame>
        <p:nvGraphicFramePr>
          <p:cNvPr id="2" name="Table 1"/>
          <p:cNvGraphicFramePr>
            <a:graphicFrameLocks noGrp="1"/>
          </p:cNvGraphicFramePr>
          <p:nvPr>
            <p:extLst/>
          </p:nvPr>
        </p:nvGraphicFramePr>
        <p:xfrm>
          <a:off x="128392" y="1853683"/>
          <a:ext cx="8887216" cy="3913632"/>
        </p:xfrm>
        <a:graphic>
          <a:graphicData uri="http://schemas.openxmlformats.org/drawingml/2006/table">
            <a:tbl>
              <a:tblPr firstRow="1" firstCol="1" bandRow="1"/>
              <a:tblGrid>
                <a:gridCol w="1180483">
                  <a:extLst>
                    <a:ext uri="{9D8B030D-6E8A-4147-A177-3AD203B41FA5}">
                      <a16:colId xmlns:a16="http://schemas.microsoft.com/office/drawing/2014/main" val="1070225342"/>
                    </a:ext>
                  </a:extLst>
                </a:gridCol>
                <a:gridCol w="3831360">
                  <a:extLst>
                    <a:ext uri="{9D8B030D-6E8A-4147-A177-3AD203B41FA5}">
                      <a16:colId xmlns:a16="http://schemas.microsoft.com/office/drawing/2014/main" val="1764875879"/>
                    </a:ext>
                  </a:extLst>
                </a:gridCol>
                <a:gridCol w="3875373">
                  <a:extLst>
                    <a:ext uri="{9D8B030D-6E8A-4147-A177-3AD203B41FA5}">
                      <a16:colId xmlns:a16="http://schemas.microsoft.com/office/drawing/2014/main" val="506242786"/>
                    </a:ext>
                  </a:extLst>
                </a:gridCol>
              </a:tblGrid>
              <a:tr h="244602">
                <a:tc>
                  <a:txBody>
                    <a:bodyPr/>
                    <a:lstStyle/>
                    <a:p>
                      <a:pPr algn="ctr">
                        <a:lnSpc>
                          <a:spcPct val="107000"/>
                        </a:lnSpc>
                        <a:spcAft>
                          <a:spcPts val="0"/>
                        </a:spcAft>
                      </a:pPr>
                      <a:r>
                        <a:rPr lang="en-IN" sz="1500" b="1" dirty="0">
                          <a:solidFill>
                            <a:srgbClr val="FFFFFF"/>
                          </a:solidFill>
                          <a:effectLst/>
                          <a:latin typeface="Calibri Light" panose="020F0302020204030204" pitchFamily="34" charset="0"/>
                          <a:ea typeface="Calibri" panose="020F0502020204030204" pitchFamily="34" charset="0"/>
                          <a:cs typeface="Times New Roman" panose="02020603050405020304" pitchFamily="18" charset="0"/>
                        </a:rPr>
                        <a:t>Day/Time</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2">
                        <a:lumMod val="10000"/>
                      </a:schemeClr>
                    </a:solidFill>
                  </a:tcPr>
                </a:tc>
                <a:tc>
                  <a:txBody>
                    <a:bodyPr/>
                    <a:lstStyle/>
                    <a:p>
                      <a:pPr algn="l">
                        <a:lnSpc>
                          <a:spcPct val="107000"/>
                        </a:lnSpc>
                        <a:spcAft>
                          <a:spcPts val="0"/>
                        </a:spcAft>
                      </a:pPr>
                      <a:r>
                        <a:rPr lang="en-IN" sz="1500" b="1" dirty="0">
                          <a:solidFill>
                            <a:srgbClr val="FFFFFF"/>
                          </a:solidFill>
                          <a:effectLst/>
                          <a:latin typeface="Calibri Light" panose="020F0302020204030204" pitchFamily="34" charset="0"/>
                          <a:ea typeface="Calibri" panose="020F0502020204030204" pitchFamily="34" charset="0"/>
                          <a:cs typeface="Times New Roman" panose="02020603050405020304" pitchFamily="18" charset="0"/>
                        </a:rPr>
                        <a:t>0900 – 1155</a:t>
                      </a:r>
                      <a:r>
                        <a:rPr lang="en-IN" sz="1500" b="1" baseline="0" dirty="0">
                          <a:solidFill>
                            <a:srgbClr val="FFFFFF"/>
                          </a:solidFill>
                          <a:effectLst/>
                          <a:latin typeface="Calibri Light" panose="020F0302020204030204" pitchFamily="34" charset="0"/>
                          <a:ea typeface="Calibri" panose="020F0502020204030204" pitchFamily="34" charset="0"/>
                          <a:cs typeface="Times New Roman" panose="02020603050405020304" pitchFamily="18" charset="0"/>
                        </a:rPr>
                        <a:t> Hrs.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tx1"/>
                    </a:solidFill>
                  </a:tcPr>
                </a:tc>
                <a:tc>
                  <a:txBody>
                    <a:bodyPr/>
                    <a:lstStyle/>
                    <a:p>
                      <a:pPr algn="l">
                        <a:lnSpc>
                          <a:spcPct val="107000"/>
                        </a:lnSpc>
                        <a:spcAft>
                          <a:spcPts val="0"/>
                        </a:spcAft>
                      </a:pPr>
                      <a:r>
                        <a:rPr lang="en-IN" sz="1500" b="1" dirty="0">
                          <a:solidFill>
                            <a:srgbClr val="FFFFFF"/>
                          </a:solidFill>
                          <a:effectLst/>
                          <a:latin typeface="Calibri Light" panose="020F0302020204030204" pitchFamily="34" charset="0"/>
                          <a:ea typeface="Calibri" panose="020F0502020204030204" pitchFamily="34" charset="0"/>
                          <a:cs typeface="Times New Roman" panose="02020603050405020304" pitchFamily="18" charset="0"/>
                        </a:rPr>
                        <a:t>1400 – 1645 Hrs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2">
                        <a:lumMod val="10000"/>
                      </a:schemeClr>
                    </a:solidFill>
                  </a:tcPr>
                </a:tc>
                <a:extLst>
                  <a:ext uri="{0D108BD9-81ED-4DB2-BD59-A6C34878D82A}">
                    <a16:rowId xmlns:a16="http://schemas.microsoft.com/office/drawing/2014/main" val="2361494199"/>
                  </a:ext>
                </a:extLst>
              </a:tr>
              <a:tr h="733806">
                <a:tc>
                  <a:txBody>
                    <a:bodyPr/>
                    <a:lstStyle/>
                    <a:p>
                      <a:pPr algn="ctr">
                        <a:lnSpc>
                          <a:spcPct val="107000"/>
                        </a:lnSpc>
                        <a:spcAft>
                          <a:spcPts val="0"/>
                        </a:spcAft>
                      </a:pPr>
                      <a:r>
                        <a:rPr lang="en-IN" sz="1500" b="1" dirty="0">
                          <a:effectLst/>
                          <a:latin typeface="Calibri Light" panose="020F0302020204030204" pitchFamily="34" charset="0"/>
                          <a:ea typeface="Calibri" panose="020F0502020204030204" pitchFamily="34" charset="0"/>
                          <a:cs typeface="Times New Roman" panose="02020603050405020304" pitchFamily="18" charset="0"/>
                        </a:rPr>
                        <a:t>Monday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tc>
                  <a:txBody>
                    <a:bodyPr/>
                    <a:lstStyle/>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ML1A: Prof  Ganesh Narayanan (ME)</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ML1B: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Nayan</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Jyoti</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Sarma</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(ST1)</a:t>
                      </a:r>
                    </a:p>
                    <a:p>
                      <a:pPr algn="l">
                        <a:lnSpc>
                          <a:spcPct val="107000"/>
                        </a:lnSpc>
                        <a:spcAft>
                          <a:spcPts val="0"/>
                        </a:spcAft>
                      </a:pPr>
                      <a:r>
                        <a:rPr lang="en-IN" sz="1500" b="1" kern="12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ML1 Group </a:t>
                      </a:r>
                      <a:r>
                        <a:rPr lang="en-IN" sz="1500" b="1" kern="12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(Students group: L3)</a:t>
                      </a: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tc>
                  <a:txBody>
                    <a:bodyPr/>
                    <a:lstStyle/>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AL1A: Dr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Vinodh</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Bandaru</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(ME)</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AL1B:</a:t>
                      </a:r>
                      <a:r>
                        <a:rPr lang="en-IN" sz="1500" baseline="0" dirty="0">
                          <a:effectLst/>
                          <a:latin typeface="Calibri Light" panose="020F0302020204030204" pitchFamily="34" charset="0"/>
                          <a:ea typeface="Calibri" panose="020F0502020204030204" pitchFamily="34" charset="0"/>
                          <a:cs typeface="Times New Roman" panose="02020603050405020304" pitchFamily="18" charset="0"/>
                        </a:rPr>
                        <a:t> </a:t>
                      </a:r>
                      <a:r>
                        <a:rPr lang="en-IN" sz="1500" baseline="0" dirty="0" err="1">
                          <a:effectLst/>
                          <a:latin typeface="Calibri Light" panose="020F0302020204030204" pitchFamily="34" charset="0"/>
                          <a:ea typeface="Calibri" panose="020F0502020204030204" pitchFamily="34" charset="0"/>
                          <a:cs typeface="Times New Roman" panose="02020603050405020304" pitchFamily="18" charset="0"/>
                        </a:rPr>
                        <a:t>Alok</a:t>
                      </a:r>
                      <a:r>
                        <a:rPr lang="en-IN" sz="1500" baseline="0" dirty="0">
                          <a:effectLst/>
                          <a:latin typeface="Calibri Light" panose="020F0302020204030204" pitchFamily="34" charset="0"/>
                          <a:ea typeface="Calibri" panose="020F0502020204030204" pitchFamily="34" charset="0"/>
                          <a:cs typeface="Times New Roman" panose="02020603050405020304" pitchFamily="18" charset="0"/>
                        </a:rPr>
                        <a:t> </a:t>
                      </a:r>
                      <a:r>
                        <a:rPr lang="en-IN" sz="1500" baseline="0" dirty="0" err="1">
                          <a:effectLst/>
                          <a:latin typeface="Calibri Light" panose="020F0302020204030204" pitchFamily="34" charset="0"/>
                          <a:ea typeface="Calibri" panose="020F0502020204030204" pitchFamily="34" charset="0"/>
                          <a:cs typeface="Times New Roman" panose="02020603050405020304" pitchFamily="18" charset="0"/>
                        </a:rPr>
                        <a:t>Bijalwan</a:t>
                      </a:r>
                      <a:r>
                        <a:rPr lang="en-IN" sz="1500" baseline="0" dirty="0">
                          <a:effectLst/>
                          <a:latin typeface="Calibri Light" panose="020F0302020204030204" pitchFamily="34" charset="0"/>
                          <a:ea typeface="Calibri" panose="020F0502020204030204" pitchFamily="34" charset="0"/>
                          <a:cs typeface="Times New Roman" panose="02020603050405020304" pitchFamily="18" charset="0"/>
                        </a:rPr>
                        <a:t> (ST2)</a:t>
                      </a:r>
                      <a:endParaRPr lang="en-IN" sz="1500" dirty="0">
                        <a:effectLst/>
                        <a:latin typeface="Calibri Light" panose="020F0302020204030204" pitchFamily="34" charset="0"/>
                        <a:ea typeface="Calibri" panose="020F0502020204030204" pitchFamily="34" charset="0"/>
                        <a:cs typeface="Times New Roman" panose="02020603050405020304" pitchFamily="18" charset="0"/>
                      </a:endParaRPr>
                    </a:p>
                    <a:p>
                      <a:pPr marL="0" marR="0" indent="0" algn="l" defTabSz="914400" rtl="0" eaLnBrk="1" fontAlgn="auto" latinLnBrk="0" hangingPunct="1">
                        <a:lnSpc>
                          <a:spcPct val="107000"/>
                        </a:lnSpc>
                        <a:spcBef>
                          <a:spcPts val="0"/>
                        </a:spcBef>
                        <a:spcAft>
                          <a:spcPts val="0"/>
                        </a:spcAft>
                        <a:buClrTx/>
                        <a:buSzTx/>
                        <a:buFontTx/>
                        <a:buNone/>
                        <a:tabLst/>
                        <a:defRPr/>
                      </a:pPr>
                      <a:r>
                        <a:rPr lang="en-IN" sz="1500" b="1" i="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AL1 Group </a:t>
                      </a:r>
                      <a:r>
                        <a:rPr lang="en-IN" sz="1500" b="1" kern="12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(Students group: L8)</a:t>
                      </a: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extLst>
                  <a:ext uri="{0D108BD9-81ED-4DB2-BD59-A6C34878D82A}">
                    <a16:rowId xmlns:a16="http://schemas.microsoft.com/office/drawing/2014/main" val="4085406844"/>
                  </a:ext>
                </a:extLst>
              </a:tr>
              <a:tr h="733806">
                <a:tc>
                  <a:txBody>
                    <a:bodyPr/>
                    <a:lstStyle/>
                    <a:p>
                      <a:pPr algn="ctr">
                        <a:lnSpc>
                          <a:spcPct val="107000"/>
                        </a:lnSpc>
                        <a:spcAft>
                          <a:spcPts val="0"/>
                        </a:spcAft>
                      </a:pPr>
                      <a:r>
                        <a:rPr lang="en-IN" sz="1500" b="1" dirty="0">
                          <a:effectLst/>
                          <a:latin typeface="Calibri Light" panose="020F0302020204030204" pitchFamily="34" charset="0"/>
                          <a:ea typeface="Calibri" panose="020F0502020204030204" pitchFamily="34" charset="0"/>
                          <a:cs typeface="Times New Roman" panose="02020603050405020304" pitchFamily="18" charset="0"/>
                        </a:rPr>
                        <a:t>Tuesday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tc>
                  <a:txBody>
                    <a:bodyPr/>
                    <a:lstStyle/>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ML2A: </a:t>
                      </a:r>
                      <a:r>
                        <a:rPr lang="en-IN" sz="1500" dirty="0" err="1">
                          <a:solidFill>
                            <a:schemeClr val="tx1"/>
                          </a:solidFill>
                          <a:effectLst/>
                          <a:latin typeface="Calibri Light" panose="020F0302020204030204" pitchFamily="34" charset="0"/>
                          <a:ea typeface="Calibri" panose="020F0502020204030204" pitchFamily="34" charset="0"/>
                          <a:cs typeface="Times New Roman" panose="02020603050405020304" pitchFamily="18" charset="0"/>
                        </a:rPr>
                        <a:t>Dr.</a:t>
                      </a:r>
                      <a:r>
                        <a:rPr lang="en-IN" sz="1500" dirty="0">
                          <a:solidFill>
                            <a:schemeClr val="tx1"/>
                          </a:solidFill>
                          <a:effectLst/>
                          <a:latin typeface="Calibri Light" panose="020F0302020204030204" pitchFamily="34" charset="0"/>
                          <a:ea typeface="Calibri" panose="020F0502020204030204" pitchFamily="34" charset="0"/>
                          <a:cs typeface="Times New Roman" panose="02020603050405020304" pitchFamily="18" charset="0"/>
                        </a:rPr>
                        <a:t> </a:t>
                      </a:r>
                      <a:r>
                        <a:rPr lang="en-IN" sz="1500" dirty="0" err="1">
                          <a:solidFill>
                            <a:schemeClr val="tx1"/>
                          </a:solidFill>
                          <a:effectLst/>
                          <a:latin typeface="Calibri Light" panose="020F0302020204030204" pitchFamily="34" charset="0"/>
                          <a:ea typeface="Calibri" panose="020F0502020204030204" pitchFamily="34" charset="0"/>
                          <a:cs typeface="Times New Roman" panose="02020603050405020304" pitchFamily="18" charset="0"/>
                        </a:rPr>
                        <a:t>Rinku</a:t>
                      </a:r>
                      <a:r>
                        <a:rPr lang="en-IN" sz="1500" dirty="0">
                          <a:solidFill>
                            <a:schemeClr val="tx1"/>
                          </a:solidFill>
                          <a:effectLst/>
                          <a:latin typeface="Calibri Light" panose="020F0302020204030204" pitchFamily="34" charset="0"/>
                          <a:ea typeface="Calibri" panose="020F0502020204030204" pitchFamily="34" charset="0"/>
                          <a:cs typeface="Times New Roman" panose="02020603050405020304" pitchFamily="18" charset="0"/>
                        </a:rPr>
                        <a:t> Mittal (ME)</a:t>
                      </a:r>
                      <a:endParaRPr lang="en-IN" sz="1500" dirty="0">
                        <a:effectLst/>
                        <a:latin typeface="Calibri Light" panose="020F0302020204030204" pitchFamily="34" charset="0"/>
                        <a:ea typeface="Calibri" panose="020F0502020204030204" pitchFamily="34" charset="0"/>
                        <a:cs typeface="Times New Roman" panose="02020603050405020304" pitchFamily="18" charset="0"/>
                      </a:endParaRPr>
                    </a:p>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ML2B: Naveen Kumar (ST3)</a:t>
                      </a:r>
                    </a:p>
                    <a:p>
                      <a:pPr marL="0" marR="0" indent="0" algn="l" defTabSz="914400" rtl="0" eaLnBrk="1" fontAlgn="auto" latinLnBrk="0" hangingPunct="1">
                        <a:lnSpc>
                          <a:spcPct val="107000"/>
                        </a:lnSpc>
                        <a:spcBef>
                          <a:spcPts val="0"/>
                        </a:spcBef>
                        <a:spcAft>
                          <a:spcPts val="0"/>
                        </a:spcAft>
                        <a:buClrTx/>
                        <a:buSzTx/>
                        <a:buFontTx/>
                        <a:buNone/>
                        <a:tabLst/>
                        <a:defRPr/>
                      </a:pPr>
                      <a:r>
                        <a:rPr lang="en-IN" sz="15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ML2 Group </a:t>
                      </a:r>
                      <a:r>
                        <a:rPr lang="en-IN" sz="1500" b="1" kern="12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(Students group: L1)</a:t>
                      </a: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tc>
                  <a:txBody>
                    <a:bodyPr/>
                    <a:lstStyle/>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AL2A: Prof Mohammad Jawed (Civil)</a:t>
                      </a:r>
                    </a:p>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AL2B: Dr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Bhaskar</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Kumar (ME)</a:t>
                      </a:r>
                    </a:p>
                    <a:p>
                      <a:pPr marL="0" marR="0" indent="0" algn="l" defTabSz="914400" rtl="0" eaLnBrk="1" fontAlgn="auto" latinLnBrk="0" hangingPunct="1">
                        <a:lnSpc>
                          <a:spcPct val="107000"/>
                        </a:lnSpc>
                        <a:spcBef>
                          <a:spcPts val="0"/>
                        </a:spcBef>
                        <a:spcAft>
                          <a:spcPts val="0"/>
                        </a:spcAft>
                        <a:buClrTx/>
                        <a:buSzTx/>
                        <a:buFontTx/>
                        <a:buNone/>
                        <a:tabLst/>
                        <a:defRPr/>
                      </a:pPr>
                      <a:r>
                        <a:rPr lang="en-IN" sz="1500" b="1"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AL2 Group </a:t>
                      </a:r>
                      <a:r>
                        <a:rPr lang="en-IN" sz="1500" b="1" kern="12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(Students group: L6)</a:t>
                      </a: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extLst>
                  <a:ext uri="{0D108BD9-81ED-4DB2-BD59-A6C34878D82A}">
                    <a16:rowId xmlns:a16="http://schemas.microsoft.com/office/drawing/2014/main" val="3508858018"/>
                  </a:ext>
                </a:extLst>
              </a:tr>
              <a:tr h="733806">
                <a:tc>
                  <a:txBody>
                    <a:bodyPr/>
                    <a:lstStyle/>
                    <a:p>
                      <a:pPr algn="ctr">
                        <a:lnSpc>
                          <a:spcPct val="107000"/>
                        </a:lnSpc>
                        <a:spcAft>
                          <a:spcPts val="0"/>
                        </a:spcAft>
                      </a:pPr>
                      <a:r>
                        <a:rPr lang="en-IN" sz="1500" b="1" dirty="0">
                          <a:effectLst/>
                          <a:latin typeface="Calibri Light" panose="020F0302020204030204" pitchFamily="34" charset="0"/>
                          <a:ea typeface="Calibri" panose="020F0502020204030204" pitchFamily="34" charset="0"/>
                          <a:cs typeface="Times New Roman" panose="02020603050405020304" pitchFamily="18" charset="0"/>
                        </a:rPr>
                        <a:t>Wednesday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tc>
                  <a:txBody>
                    <a:bodyPr/>
                    <a:lstStyle/>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ML3A: Dr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Ujendra</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Kumar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Komal</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(ME)</a:t>
                      </a:r>
                      <a:endParaRPr lang="en-IN" sz="1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ML3B: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Abdur</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Rahaman</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(ST4)</a:t>
                      </a:r>
                    </a:p>
                    <a:p>
                      <a:pPr marL="0" marR="0" indent="0" algn="l" defTabSz="914400" rtl="0" eaLnBrk="1" fontAlgn="auto" latinLnBrk="0" hangingPunct="1">
                        <a:lnSpc>
                          <a:spcPct val="107000"/>
                        </a:lnSpc>
                        <a:spcBef>
                          <a:spcPts val="0"/>
                        </a:spcBef>
                        <a:spcAft>
                          <a:spcPts val="0"/>
                        </a:spcAft>
                        <a:buClrTx/>
                        <a:buSzTx/>
                        <a:buFontTx/>
                        <a:buNone/>
                        <a:tabLst/>
                        <a:defRPr/>
                      </a:pPr>
                      <a:r>
                        <a:rPr lang="en-IN" sz="15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ML3 Group </a:t>
                      </a:r>
                      <a:r>
                        <a:rPr lang="en-IN" sz="1500" b="1" kern="12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(Students group: L4)</a:t>
                      </a: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tc>
                  <a:txBody>
                    <a:bodyPr/>
                    <a:lstStyle/>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AL3A: Prof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Teiborlang</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L.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Ryntathiang</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(Civil)</a:t>
                      </a:r>
                    </a:p>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AL3B: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Charakho</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N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Chah</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(ST5)</a:t>
                      </a:r>
                    </a:p>
                    <a:p>
                      <a:pPr marL="0" marR="0" indent="0" algn="l" defTabSz="914400" rtl="0" eaLnBrk="1" fontAlgn="auto" latinLnBrk="0" hangingPunct="1">
                        <a:lnSpc>
                          <a:spcPct val="107000"/>
                        </a:lnSpc>
                        <a:spcBef>
                          <a:spcPts val="0"/>
                        </a:spcBef>
                        <a:spcAft>
                          <a:spcPts val="0"/>
                        </a:spcAft>
                        <a:buClrTx/>
                        <a:buSzTx/>
                        <a:buFontTx/>
                        <a:buNone/>
                        <a:tabLst/>
                        <a:defRPr/>
                      </a:pPr>
                      <a:r>
                        <a:rPr lang="en-IN" sz="1500" b="1" i="0" kern="12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AL3 Group </a:t>
                      </a:r>
                      <a:r>
                        <a:rPr lang="en-IN" sz="1500" b="1" kern="12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(Students group: L9)</a:t>
                      </a: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extLst>
                  <a:ext uri="{0D108BD9-81ED-4DB2-BD59-A6C34878D82A}">
                    <a16:rowId xmlns:a16="http://schemas.microsoft.com/office/drawing/2014/main" val="493952838"/>
                  </a:ext>
                </a:extLst>
              </a:tr>
              <a:tr h="733806">
                <a:tc>
                  <a:txBody>
                    <a:bodyPr/>
                    <a:lstStyle/>
                    <a:p>
                      <a:pPr algn="ctr">
                        <a:lnSpc>
                          <a:spcPct val="107000"/>
                        </a:lnSpc>
                        <a:spcAft>
                          <a:spcPts val="0"/>
                        </a:spcAft>
                      </a:pPr>
                      <a:r>
                        <a:rPr lang="en-IN" sz="1500" b="1" dirty="0">
                          <a:effectLst/>
                          <a:latin typeface="Calibri Light" panose="020F0302020204030204" pitchFamily="34" charset="0"/>
                          <a:ea typeface="Calibri" panose="020F0502020204030204" pitchFamily="34" charset="0"/>
                          <a:cs typeface="Times New Roman" panose="02020603050405020304" pitchFamily="18" charset="0"/>
                        </a:rPr>
                        <a:t>Thursday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tc>
                  <a:txBody>
                    <a:bodyPr/>
                    <a:lstStyle/>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ML4A: Dr Ravi K. (Civil)</a:t>
                      </a:r>
                      <a:endParaRPr lang="en-IN" sz="1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0"/>
                        </a:spcAft>
                      </a:pPr>
                      <a:r>
                        <a:rPr lang="en-IN" sz="1500" dirty="0">
                          <a:solidFill>
                            <a:schemeClr val="tx1"/>
                          </a:solidFill>
                          <a:effectLst/>
                          <a:latin typeface="Calibri Light" panose="020F0302020204030204" pitchFamily="34" charset="0"/>
                          <a:ea typeface="Calibri" panose="020F0502020204030204" pitchFamily="34" charset="0"/>
                          <a:cs typeface="Times New Roman" panose="02020603050405020304" pitchFamily="18" charset="0"/>
                        </a:rPr>
                        <a:t>ML4B: </a:t>
                      </a:r>
                      <a:r>
                        <a:rPr lang="en-IN" sz="1500" dirty="0" err="1">
                          <a:solidFill>
                            <a:schemeClr val="tx1"/>
                          </a:solidFill>
                          <a:effectLst/>
                          <a:latin typeface="Calibri Light" panose="020F0302020204030204" pitchFamily="34" charset="0"/>
                          <a:ea typeface="Calibri" panose="020F0502020204030204" pitchFamily="34" charset="0"/>
                          <a:cs typeface="Times New Roman" panose="02020603050405020304" pitchFamily="18" charset="0"/>
                        </a:rPr>
                        <a:t>Mrinal</a:t>
                      </a:r>
                      <a:r>
                        <a:rPr lang="en-IN" sz="1500" dirty="0">
                          <a:solidFill>
                            <a:schemeClr val="tx1"/>
                          </a:solidFill>
                          <a:effectLst/>
                          <a:latin typeface="Calibri Light" panose="020F0302020204030204" pitchFamily="34" charset="0"/>
                          <a:ea typeface="Calibri" panose="020F0502020204030204" pitchFamily="34" charset="0"/>
                          <a:cs typeface="Times New Roman" panose="02020603050405020304" pitchFamily="18" charset="0"/>
                        </a:rPr>
                        <a:t> Roy (ST6)</a:t>
                      </a:r>
                    </a:p>
                    <a:p>
                      <a:pPr marL="0" marR="0" indent="0" algn="l" defTabSz="914400" rtl="0" eaLnBrk="1" fontAlgn="auto" latinLnBrk="0" hangingPunct="1">
                        <a:lnSpc>
                          <a:spcPct val="107000"/>
                        </a:lnSpc>
                        <a:spcBef>
                          <a:spcPts val="0"/>
                        </a:spcBef>
                        <a:spcAft>
                          <a:spcPts val="0"/>
                        </a:spcAft>
                        <a:buClrTx/>
                        <a:buSzTx/>
                        <a:buFontTx/>
                        <a:buNone/>
                        <a:tabLst/>
                        <a:defRPr/>
                      </a:pPr>
                      <a:r>
                        <a:rPr lang="en-IN" sz="15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ML4 Group </a:t>
                      </a:r>
                      <a:r>
                        <a:rPr lang="en-IN" sz="1500" b="1" kern="12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(Students group: L2)</a:t>
                      </a: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tc>
                  <a:txBody>
                    <a:bodyPr/>
                    <a:lstStyle/>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AL4A: Dr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Nipjyoti</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Bharadwaj</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(Civil)</a:t>
                      </a:r>
                    </a:p>
                    <a:p>
                      <a:pPr algn="l">
                        <a:lnSpc>
                          <a:spcPct val="107000"/>
                        </a:lnSpc>
                        <a:spcAft>
                          <a:spcPts val="0"/>
                        </a:spcAft>
                      </a:pPr>
                      <a:r>
                        <a:rPr lang="en-IN" sz="1500" dirty="0">
                          <a:solidFill>
                            <a:schemeClr val="tx1"/>
                          </a:solidFill>
                          <a:effectLst/>
                          <a:latin typeface="Calibri Light" panose="020F0302020204030204" pitchFamily="34" charset="0"/>
                          <a:ea typeface="Calibri" panose="020F0502020204030204" pitchFamily="34" charset="0"/>
                          <a:cs typeface="Times New Roman" panose="02020603050405020304" pitchFamily="18" charset="0"/>
                        </a:rPr>
                        <a:t>AL4B: </a:t>
                      </a:r>
                      <a:r>
                        <a:rPr lang="en-IN" sz="1500" dirty="0" err="1">
                          <a:solidFill>
                            <a:schemeClr val="tx1"/>
                          </a:solidFill>
                          <a:effectLst/>
                          <a:latin typeface="Calibri Light" panose="020F0302020204030204" pitchFamily="34" charset="0"/>
                          <a:ea typeface="Calibri" panose="020F0502020204030204" pitchFamily="34" charset="0"/>
                          <a:cs typeface="Times New Roman" panose="02020603050405020304" pitchFamily="18" charset="0"/>
                        </a:rPr>
                        <a:t>Sumantra</a:t>
                      </a:r>
                      <a:r>
                        <a:rPr lang="en-IN" sz="1500" dirty="0">
                          <a:solidFill>
                            <a:schemeClr val="tx1"/>
                          </a:solidFill>
                          <a:effectLst/>
                          <a:latin typeface="Calibri Light" panose="020F0302020204030204" pitchFamily="34" charset="0"/>
                          <a:ea typeface="Calibri" panose="020F0502020204030204" pitchFamily="34" charset="0"/>
                          <a:cs typeface="Times New Roman" panose="02020603050405020304" pitchFamily="18" charset="0"/>
                        </a:rPr>
                        <a:t> Chaudhuri (ST7)</a:t>
                      </a:r>
                    </a:p>
                    <a:p>
                      <a:pPr marL="0" marR="0" indent="0" algn="l" defTabSz="914400" rtl="0" eaLnBrk="1" fontAlgn="auto" latinLnBrk="0" hangingPunct="1">
                        <a:lnSpc>
                          <a:spcPct val="107000"/>
                        </a:lnSpc>
                        <a:spcBef>
                          <a:spcPts val="0"/>
                        </a:spcBef>
                        <a:spcAft>
                          <a:spcPts val="0"/>
                        </a:spcAft>
                        <a:buClrTx/>
                        <a:buSzTx/>
                        <a:buFontTx/>
                        <a:buNone/>
                        <a:tabLst/>
                        <a:defRPr/>
                      </a:pPr>
                      <a:r>
                        <a:rPr lang="en-IN" sz="1500" b="1" i="0" kern="12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AL4 Group </a:t>
                      </a:r>
                      <a:r>
                        <a:rPr lang="en-IN" sz="1500" b="1" kern="12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(Students group: L7)</a:t>
                      </a: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extLst>
                  <a:ext uri="{0D108BD9-81ED-4DB2-BD59-A6C34878D82A}">
                    <a16:rowId xmlns:a16="http://schemas.microsoft.com/office/drawing/2014/main" val="19156916"/>
                  </a:ext>
                </a:extLst>
              </a:tr>
              <a:tr h="733806">
                <a:tc>
                  <a:txBody>
                    <a:bodyPr/>
                    <a:lstStyle/>
                    <a:p>
                      <a:pPr algn="ctr">
                        <a:lnSpc>
                          <a:spcPct val="107000"/>
                        </a:lnSpc>
                        <a:spcAft>
                          <a:spcPts val="0"/>
                        </a:spcAft>
                      </a:pPr>
                      <a:r>
                        <a:rPr lang="en-IN" sz="1500" b="1" dirty="0">
                          <a:effectLst/>
                          <a:latin typeface="Calibri Light" panose="020F0302020204030204" pitchFamily="34" charset="0"/>
                          <a:ea typeface="Calibri" panose="020F0502020204030204" pitchFamily="34" charset="0"/>
                          <a:cs typeface="Times New Roman" panose="02020603050405020304" pitchFamily="18" charset="0"/>
                        </a:rPr>
                        <a:t>Friday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0" marB="0" anchor="ctr">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tc>
                  <a:txBody>
                    <a:bodyPr/>
                    <a:lstStyle/>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ML5A: Dr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Sreeja</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P. (Civil)</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ML5B: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Sahil</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Kumar (ST8)</a:t>
                      </a:r>
                    </a:p>
                    <a:p>
                      <a:pPr marL="0" marR="0" indent="0" algn="l" defTabSz="914400" rtl="0" eaLnBrk="1" fontAlgn="auto" latinLnBrk="0" hangingPunct="1">
                        <a:lnSpc>
                          <a:spcPct val="107000"/>
                        </a:lnSpc>
                        <a:spcBef>
                          <a:spcPts val="0"/>
                        </a:spcBef>
                        <a:spcAft>
                          <a:spcPts val="0"/>
                        </a:spcAft>
                        <a:buClrTx/>
                        <a:buSzTx/>
                        <a:buFontTx/>
                        <a:buNone/>
                        <a:tabLst/>
                        <a:defRPr/>
                      </a:pPr>
                      <a:r>
                        <a:rPr lang="en-IN" sz="15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ML5 Group </a:t>
                      </a:r>
                      <a:r>
                        <a:rPr lang="en-IN" sz="1500" b="1" kern="12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(Students group: L5)</a:t>
                      </a: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tc>
                  <a:txBody>
                    <a:bodyPr/>
                    <a:lstStyle/>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AL5A: Dr Pranav (IPDF)</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0"/>
                        </a:spcAft>
                      </a:pPr>
                      <a:r>
                        <a:rPr lang="en-IN" sz="1500" dirty="0">
                          <a:effectLst/>
                          <a:latin typeface="Calibri Light" panose="020F0302020204030204" pitchFamily="34" charset="0"/>
                          <a:ea typeface="Calibri" panose="020F0502020204030204" pitchFamily="34" charset="0"/>
                          <a:cs typeface="Times New Roman" panose="02020603050405020304" pitchFamily="18" charset="0"/>
                        </a:rPr>
                        <a:t>AL5B: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Tholeti</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a:t>
                      </a:r>
                      <a:r>
                        <a:rPr lang="en-IN" sz="1500" dirty="0" err="1">
                          <a:effectLst/>
                          <a:latin typeface="Calibri Light" panose="020F0302020204030204" pitchFamily="34" charset="0"/>
                          <a:ea typeface="Calibri" panose="020F0502020204030204" pitchFamily="34" charset="0"/>
                          <a:cs typeface="Times New Roman" panose="02020603050405020304" pitchFamily="18" charset="0"/>
                        </a:rPr>
                        <a:t>Venkata</a:t>
                      </a:r>
                      <a:r>
                        <a:rPr lang="en-IN" sz="1500" dirty="0">
                          <a:effectLst/>
                          <a:latin typeface="Calibri Light" panose="020F0302020204030204" pitchFamily="34" charset="0"/>
                          <a:ea typeface="Calibri" panose="020F0502020204030204" pitchFamily="34" charset="0"/>
                          <a:cs typeface="Times New Roman" panose="02020603050405020304" pitchFamily="18" charset="0"/>
                        </a:rPr>
                        <a:t> Satya Aditya (ST9)</a:t>
                      </a:r>
                    </a:p>
                    <a:p>
                      <a:pPr marL="0" marR="0" indent="0" algn="l" defTabSz="914400" rtl="0" eaLnBrk="1" fontAlgn="auto" latinLnBrk="0" hangingPunct="1">
                        <a:lnSpc>
                          <a:spcPct val="107000"/>
                        </a:lnSpc>
                        <a:spcBef>
                          <a:spcPts val="0"/>
                        </a:spcBef>
                        <a:spcAft>
                          <a:spcPts val="0"/>
                        </a:spcAft>
                        <a:buClrTx/>
                        <a:buSzTx/>
                        <a:buFontTx/>
                        <a:buNone/>
                        <a:tabLst/>
                        <a:defRPr/>
                      </a:pPr>
                      <a:r>
                        <a:rPr lang="en-IN" sz="1500" b="1" i="0" kern="12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AL5 Group</a:t>
                      </a:r>
                      <a:r>
                        <a:rPr lang="en-IN" sz="1500" b="1" i="0" kern="1200" baseline="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 </a:t>
                      </a:r>
                      <a:r>
                        <a:rPr lang="en-IN" sz="1500" b="1" kern="1200" dirty="0">
                          <a:solidFill>
                            <a:schemeClr val="accent6">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(Students group: L10)</a:t>
                      </a:r>
                    </a:p>
                  </a:txBody>
                  <a:tcPr marL="51435" marR="51435"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solidFill>
                      <a:schemeClr val="bg1"/>
                    </a:solidFill>
                  </a:tcPr>
                </a:tc>
                <a:extLst>
                  <a:ext uri="{0D108BD9-81ED-4DB2-BD59-A6C34878D82A}">
                    <a16:rowId xmlns:a16="http://schemas.microsoft.com/office/drawing/2014/main" val="3506249578"/>
                  </a:ext>
                </a:extLst>
              </a:tr>
            </a:tbl>
          </a:graphicData>
        </a:graphic>
      </p:graphicFrame>
      <p:sp>
        <p:nvSpPr>
          <p:cNvPr id="5" name="Title 1"/>
          <p:cNvSpPr txBox="1">
            <a:spLocks/>
          </p:cNvSpPr>
          <p:nvPr/>
        </p:nvSpPr>
        <p:spPr>
          <a:xfrm>
            <a:off x="1" y="1024734"/>
            <a:ext cx="4612709"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Tutor Schedule</a:t>
            </a:r>
          </a:p>
        </p:txBody>
      </p:sp>
      <p:sp>
        <p:nvSpPr>
          <p:cNvPr id="6" name="Title 1">
            <a:extLst>
              <a:ext uri="{FF2B5EF4-FFF2-40B4-BE49-F238E27FC236}">
                <a16:creationId xmlns:a16="http://schemas.microsoft.com/office/drawing/2014/main" id="{49ABEC77-7171-4DFA-B8FA-CC298BC62FDC}"/>
              </a:ext>
            </a:extLst>
          </p:cNvPr>
          <p:cNvSpPr txBox="1">
            <a:spLocks/>
          </p:cNvSpPr>
          <p:nvPr/>
        </p:nvSpPr>
        <p:spPr>
          <a:xfrm>
            <a:off x="128392" y="5724723"/>
            <a:ext cx="7265186" cy="25346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1500" b="1" dirty="0">
                <a:solidFill>
                  <a:prstClr val="black"/>
                </a:solidFill>
                <a:latin typeface="Calibri Light" panose="020F0302020204030204"/>
                <a:cs typeface="Times New Roman" panose="02020603050405020304" pitchFamily="18" charset="0"/>
              </a:rPr>
              <a:t>ML: Morning Lab, AL: Afternoon Lab, ST: Student Tutor, A = 1203 room, B = 1204 room</a:t>
            </a:r>
          </a:p>
        </p:txBody>
      </p:sp>
    </p:spTree>
    <p:extLst>
      <p:ext uri="{BB962C8B-B14F-4D97-AF65-F5344CB8AC3E}">
        <p14:creationId xmlns:p14="http://schemas.microsoft.com/office/powerpoint/2010/main" val="21196376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E6988D-A151-4E41-9A61-937101EBD224}"/>
              </a:ext>
            </a:extLst>
          </p:cNvPr>
          <p:cNvSpPr/>
          <p:nvPr/>
        </p:nvSpPr>
        <p:spPr>
          <a:xfrm>
            <a:off x="4999027" y="3955104"/>
            <a:ext cx="1513074" cy="507831"/>
          </a:xfrm>
          <a:prstGeom prst="rect">
            <a:avLst/>
          </a:prstGeom>
        </p:spPr>
        <p:txBody>
          <a:bodyPr wrap="square">
            <a:spAutoFit/>
          </a:bodyPr>
          <a:lstStyle/>
          <a:p>
            <a:pPr algn="l" defTabSz="685800" fontAlgn="auto">
              <a:spcBef>
                <a:spcPts val="0"/>
              </a:spcBef>
              <a:spcAft>
                <a:spcPts val="0"/>
              </a:spcAft>
            </a:pPr>
            <a:r>
              <a:rPr lang="en-US" sz="1350"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 </a:t>
            </a:r>
            <a:r>
              <a:rPr lang="en-US" sz="1350" dirty="0" err="1">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RB.Sharmila</a:t>
            </a:r>
            <a:endParaRPr lang="en-US" sz="1350"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l" defTabSz="685800" fontAlgn="auto">
              <a:spcBef>
                <a:spcPts val="0"/>
              </a:spcBef>
              <a:spcAft>
                <a:spcPts val="0"/>
              </a:spcAft>
            </a:pPr>
            <a:endParaRPr lang="en-US" sz="1350"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10E6988D-A151-4E41-9A61-937101EBD224}"/>
              </a:ext>
            </a:extLst>
          </p:cNvPr>
          <p:cNvSpPr/>
          <p:nvPr/>
        </p:nvSpPr>
        <p:spPr>
          <a:xfrm>
            <a:off x="7108945" y="3908938"/>
            <a:ext cx="1658943" cy="507831"/>
          </a:xfrm>
          <a:prstGeom prst="rect">
            <a:avLst/>
          </a:prstGeom>
        </p:spPr>
        <p:txBody>
          <a:bodyPr wrap="square">
            <a:spAutoFit/>
          </a:bodyPr>
          <a:lstStyle/>
          <a:p>
            <a:pPr defTabSz="685800" fontAlgn="auto">
              <a:spcBef>
                <a:spcPts val="0"/>
              </a:spcBef>
              <a:spcAft>
                <a:spcPts val="0"/>
              </a:spcAft>
            </a:pPr>
            <a:r>
              <a:rPr lang="en-US" sz="1350"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 </a:t>
            </a:r>
            <a:r>
              <a:rPr lang="en-IN" sz="1350"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Sparsh Johari</a:t>
            </a:r>
          </a:p>
          <a:p>
            <a:pPr defTabSz="685800" fontAlgn="auto">
              <a:spcBef>
                <a:spcPts val="0"/>
              </a:spcBef>
              <a:spcAft>
                <a:spcPts val="0"/>
              </a:spcAft>
            </a:pPr>
            <a:r>
              <a:rPr lang="en-US" sz="1350"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Coordinator CE101</a:t>
            </a:r>
            <a:endParaRPr lang="en-IN" sz="1350"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10E6988D-A151-4E41-9A61-937101EBD224}"/>
              </a:ext>
            </a:extLst>
          </p:cNvPr>
          <p:cNvSpPr/>
          <p:nvPr/>
        </p:nvSpPr>
        <p:spPr>
          <a:xfrm>
            <a:off x="2418100" y="3908938"/>
            <a:ext cx="1984083" cy="300082"/>
          </a:xfrm>
          <a:prstGeom prst="rect">
            <a:avLst/>
          </a:prstGeom>
        </p:spPr>
        <p:txBody>
          <a:bodyPr wrap="square">
            <a:spAutoFit/>
          </a:bodyPr>
          <a:lstStyle/>
          <a:p>
            <a:pPr algn="l" defTabSz="685800" fontAlgn="auto">
              <a:spcBef>
                <a:spcPts val="0"/>
              </a:spcBef>
              <a:spcAft>
                <a:spcPts val="0"/>
              </a:spcAft>
            </a:pPr>
            <a:r>
              <a:rPr lang="en-US" sz="1350"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 </a:t>
            </a:r>
            <a:r>
              <a:rPr lang="en-IN" sz="1350" dirty="0" err="1">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Sayantan</a:t>
            </a:r>
            <a:r>
              <a:rPr lang="en-IN" sz="1350"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Chakraborty</a:t>
            </a:r>
          </a:p>
        </p:txBody>
      </p:sp>
      <p:sp>
        <p:nvSpPr>
          <p:cNvPr id="18" name="Rectangle 17">
            <a:extLst>
              <a:ext uri="{FF2B5EF4-FFF2-40B4-BE49-F238E27FC236}">
                <a16:creationId xmlns:a16="http://schemas.microsoft.com/office/drawing/2014/main" id="{10E6988D-A151-4E41-9A61-937101EBD224}"/>
              </a:ext>
            </a:extLst>
          </p:cNvPr>
          <p:cNvSpPr/>
          <p:nvPr/>
        </p:nvSpPr>
        <p:spPr>
          <a:xfrm>
            <a:off x="186198" y="3908938"/>
            <a:ext cx="1795002" cy="300082"/>
          </a:xfrm>
          <a:prstGeom prst="rect">
            <a:avLst/>
          </a:prstGeom>
        </p:spPr>
        <p:txBody>
          <a:bodyPr wrap="square">
            <a:spAutoFit/>
          </a:bodyPr>
          <a:lstStyle/>
          <a:p>
            <a:pPr defTabSz="685800" fontAlgn="auto">
              <a:spcBef>
                <a:spcPts val="0"/>
              </a:spcBef>
              <a:spcAft>
                <a:spcPts val="0"/>
              </a:spcAft>
            </a:pPr>
            <a:r>
              <a:rPr lang="en-IN" sz="1350"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Prof. </a:t>
            </a:r>
            <a:r>
              <a:rPr lang="en-IN" sz="1350" dirty="0" err="1">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Vinayak</a:t>
            </a:r>
            <a:r>
              <a:rPr lang="en-IN" sz="1350"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Kulkarni</a:t>
            </a:r>
          </a:p>
        </p:txBody>
      </p:sp>
      <p:pic>
        <p:nvPicPr>
          <p:cNvPr id="10" name="Picture 9"/>
          <p:cNvPicPr>
            <a:picLocks noChangeAspect="1"/>
          </p:cNvPicPr>
          <p:nvPr/>
        </p:nvPicPr>
        <p:blipFill rotWithShape="1">
          <a:blip r:embed="rId2"/>
          <a:srcRect l="4667" t="8000" r="2000" b="16000"/>
          <a:stretch/>
        </p:blipFill>
        <p:spPr>
          <a:xfrm>
            <a:off x="361448" y="2488746"/>
            <a:ext cx="1312069" cy="1312069"/>
          </a:xfrm>
          <a:prstGeom prst="rect">
            <a:avLst/>
          </a:prstGeom>
        </p:spPr>
      </p:pic>
      <p:pic>
        <p:nvPicPr>
          <p:cNvPr id="3076" name="Picture 4" descr="Sayantan Chakrabort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0949" y="2488746"/>
            <a:ext cx="1309204" cy="130920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Sparsh Johar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80257" y="2485881"/>
            <a:ext cx="1312069" cy="131206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5"/>
          <a:stretch>
            <a:fillRect/>
          </a:stretch>
        </p:blipFill>
        <p:spPr>
          <a:xfrm>
            <a:off x="4999027" y="2488746"/>
            <a:ext cx="1243163" cy="1312069"/>
          </a:xfrm>
          <a:prstGeom prst="rect">
            <a:avLst/>
          </a:prstGeom>
        </p:spPr>
      </p:pic>
      <p:sp>
        <p:nvSpPr>
          <p:cNvPr id="11" name="Title 1"/>
          <p:cNvSpPr txBox="1">
            <a:spLocks/>
          </p:cNvSpPr>
          <p:nvPr/>
        </p:nvSpPr>
        <p:spPr>
          <a:xfrm>
            <a:off x="0" y="1024734"/>
            <a:ext cx="7014755"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Know your Instructors</a:t>
            </a:r>
          </a:p>
        </p:txBody>
      </p:sp>
    </p:spTree>
    <p:extLst>
      <p:ext uri="{BB962C8B-B14F-4D97-AF65-F5344CB8AC3E}">
        <p14:creationId xmlns:p14="http://schemas.microsoft.com/office/powerpoint/2010/main" val="33952474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02000" y="1970197"/>
            <a:ext cx="2970000" cy="1670625"/>
          </a:xfr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8900" y="3771900"/>
            <a:ext cx="3886200" cy="2185988"/>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88100" y="1970197"/>
            <a:ext cx="2970000" cy="1670625"/>
          </a:xfrm>
          <a:prstGeom prst="rect">
            <a:avLst/>
          </a:prstGeom>
        </p:spPr>
      </p:pic>
      <p:sp>
        <p:nvSpPr>
          <p:cNvPr id="6" name="Title 1"/>
          <p:cNvSpPr txBox="1">
            <a:spLocks/>
          </p:cNvSpPr>
          <p:nvPr/>
        </p:nvSpPr>
        <p:spPr>
          <a:xfrm>
            <a:off x="0" y="1024734"/>
            <a:ext cx="7014755"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Know your Lab classrooms</a:t>
            </a:r>
          </a:p>
        </p:txBody>
      </p:sp>
    </p:spTree>
    <p:extLst>
      <p:ext uri="{BB962C8B-B14F-4D97-AF65-F5344CB8AC3E}">
        <p14:creationId xmlns:p14="http://schemas.microsoft.com/office/powerpoint/2010/main" val="42780893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57250"/>
            <a:ext cx="9144000" cy="5143500"/>
          </a:xfrm>
          <a:prstGeom prst="rect">
            <a:avLst/>
          </a:prstGeom>
        </p:spPr>
      </p:pic>
      <p:sp>
        <p:nvSpPr>
          <p:cNvPr id="5" name="Title 1"/>
          <p:cNvSpPr txBox="1">
            <a:spLocks/>
          </p:cNvSpPr>
          <p:nvPr/>
        </p:nvSpPr>
        <p:spPr>
          <a:xfrm>
            <a:off x="1" y="1024734"/>
            <a:ext cx="8995694"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Tutorials</a:t>
            </a:r>
          </a:p>
        </p:txBody>
      </p:sp>
      <p:sp>
        <p:nvSpPr>
          <p:cNvPr id="6" name="Rectangle 5"/>
          <p:cNvSpPr/>
          <p:nvPr/>
        </p:nvSpPr>
        <p:spPr>
          <a:xfrm>
            <a:off x="148306" y="1853683"/>
            <a:ext cx="8847389" cy="4524315"/>
          </a:xfrm>
          <a:prstGeom prst="rect">
            <a:avLst/>
          </a:prstGeom>
          <a:solidFill>
            <a:schemeClr val="bg1">
              <a:alpha val="63000"/>
            </a:schemeClr>
          </a:solidFill>
        </p:spPr>
        <p:txBody>
          <a:bodyPr wrap="square">
            <a:spAutoFit/>
          </a:bodyPr>
          <a:lstStyle/>
          <a:p>
            <a:pPr marL="257175" indent="-257175" algn="just" defTabSz="685800">
              <a:spcBef>
                <a:spcPts val="0"/>
              </a:spcBef>
              <a:spcAft>
                <a:spcPts val="0"/>
              </a:spcAft>
              <a:buFont typeface="Wingdings" panose="05000000000000000000" pitchFamily="2" charset="2"/>
              <a:buChar char="q"/>
            </a:pPr>
            <a:r>
              <a:rPr lang="en-US" b="1" dirty="0">
                <a:solidFill>
                  <a:prstClr val="black"/>
                </a:solidFill>
                <a:latin typeface="Calibri Light" panose="020F0302020204030204"/>
                <a:ea typeface="Cambria" panose="02040503050406030204" pitchFamily="18" charset="0"/>
              </a:rPr>
              <a:t>Tutorial questions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tutorial sheets will be uploaded by the coordinator on MS Teams (under assignments), which will be reflected to the students on MS Teams at the time of their tutorial sessions.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Conversations/ instructions/ updates related to the course will be done through </a:t>
            </a:r>
            <a:r>
              <a:rPr lang="en-US" dirty="0">
                <a:solidFill>
                  <a:prstClr val="black"/>
                </a:solidFill>
                <a:latin typeface="Calibri Light" panose="020F0302020204030204"/>
                <a:ea typeface="Cambria" panose="02040503050406030204" pitchFamily="18" charset="0"/>
                <a:hlinkClick r:id="rId3"/>
              </a:rPr>
              <a:t>ce_101@iitg.ac.in</a:t>
            </a:r>
            <a:r>
              <a:rPr lang="en-US" dirty="0">
                <a:solidFill>
                  <a:prstClr val="black"/>
                </a:solidFill>
                <a:latin typeface="Calibri Light" panose="020F0302020204030204"/>
                <a:ea typeface="Cambria" panose="02040503050406030204" pitchFamily="18" charset="0"/>
              </a:rPr>
              <a:t> E-mail id</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tutorial sessions have been scheduled as per the academic timetable provided by Academic Section, IIT Guwahati</a:t>
            </a:r>
          </a:p>
          <a:p>
            <a:pPr marL="342900" lvl="1" algn="just" defTabSz="685800">
              <a:spcBef>
                <a:spcPts val="0"/>
              </a:spcBef>
              <a:spcAft>
                <a:spcPts val="0"/>
              </a:spcAft>
            </a:pPr>
            <a:endParaRPr lang="en-US" dirty="0">
              <a:solidFill>
                <a:prstClr val="black"/>
              </a:solidFill>
              <a:latin typeface="Calibri Light" panose="020F0302020204030204"/>
              <a:ea typeface="Cambria" panose="02040503050406030204" pitchFamily="18" charset="0"/>
            </a:endParaRPr>
          </a:p>
          <a:p>
            <a:pPr marL="257175" indent="-257175" algn="just" defTabSz="685800">
              <a:spcBef>
                <a:spcPts val="0"/>
              </a:spcBef>
              <a:spcAft>
                <a:spcPts val="0"/>
              </a:spcAft>
              <a:buFont typeface="Wingdings" panose="05000000000000000000" pitchFamily="2" charset="2"/>
              <a:buChar char="q"/>
            </a:pPr>
            <a:r>
              <a:rPr lang="en-US" b="1" dirty="0">
                <a:solidFill>
                  <a:prstClr val="black"/>
                </a:solidFill>
                <a:latin typeface="Calibri Light" panose="020F0302020204030204"/>
                <a:ea typeface="Cambria" panose="02040503050406030204" pitchFamily="18" charset="0"/>
              </a:rPr>
              <a:t>Number of tutorials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A total of 11 tutorials are included in the course</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Nine tutorials will be on drawing sheets in the 1203 and 1204 drawing halls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One makeup tutorial will be on drawing sheets in the 1203 and 1204 drawing halls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Two tutorials will be conducted on AutoCAD in computation labs 305 and 306, on the 3rd Level, New Extension Building, HSS Department</a:t>
            </a:r>
          </a:p>
          <a:p>
            <a:pPr marL="600075" lvl="1" indent="-257175" algn="just" defTabSz="685800">
              <a:spcBef>
                <a:spcPts val="0"/>
              </a:spcBef>
              <a:spcAft>
                <a:spcPts val="0"/>
              </a:spcAft>
              <a:buFont typeface="Wingdings" panose="05000000000000000000" pitchFamily="2" charset="2"/>
              <a:buChar char="q"/>
            </a:pPr>
            <a:endParaRPr lang="en-US" dirty="0">
              <a:solidFill>
                <a:prstClr val="black"/>
              </a:solidFill>
              <a:latin typeface="Calibri Light" panose="020F0302020204030204"/>
              <a:ea typeface="Cambria" panose="02040503050406030204" pitchFamily="18" charset="0"/>
            </a:endParaRPr>
          </a:p>
        </p:txBody>
      </p:sp>
    </p:spTree>
    <p:extLst>
      <p:ext uri="{BB962C8B-B14F-4D97-AF65-F5344CB8AC3E}">
        <p14:creationId xmlns:p14="http://schemas.microsoft.com/office/powerpoint/2010/main" val="25791670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3286EF-43B7-4BD7-9C73-33662CD05EF4}"/>
              </a:ext>
            </a:extLst>
          </p:cNvPr>
          <p:cNvPicPr>
            <a:picLocks noChangeAspect="1"/>
          </p:cNvPicPr>
          <p:nvPr/>
        </p:nvPicPr>
        <p:blipFill>
          <a:blip r:embed="rId2"/>
          <a:stretch>
            <a:fillRect/>
          </a:stretch>
        </p:blipFill>
        <p:spPr>
          <a:xfrm>
            <a:off x="0" y="857250"/>
            <a:ext cx="9144000" cy="5143500"/>
          </a:xfrm>
          <a:prstGeom prst="rect">
            <a:avLst/>
          </a:prstGeom>
        </p:spPr>
      </p:pic>
      <p:sp>
        <p:nvSpPr>
          <p:cNvPr id="5" name="Title 1"/>
          <p:cNvSpPr txBox="1">
            <a:spLocks/>
          </p:cNvSpPr>
          <p:nvPr/>
        </p:nvSpPr>
        <p:spPr>
          <a:xfrm>
            <a:off x="147181" y="2956844"/>
            <a:ext cx="8849639"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950" b="1" dirty="0">
                <a:solidFill>
                  <a:schemeClr val="bg1"/>
                </a:solidFill>
                <a:effectLst>
                  <a:outerShdw blurRad="38100" dist="38100" dir="2700000" algn="tl">
                    <a:srgbClr val="000000">
                      <a:alpha val="43137"/>
                    </a:srgbClr>
                  </a:outerShdw>
                </a:effectLst>
                <a:ea typeface="Segoe UI Black" panose="020B0A02040204020203" pitchFamily="34" charset="0"/>
                <a:cs typeface="Times New Roman" panose="02020603050405020304" pitchFamily="18" charset="0"/>
              </a:rPr>
              <a:t>Instruction &amp; Tutorial Schedule</a:t>
            </a:r>
          </a:p>
        </p:txBody>
      </p:sp>
    </p:spTree>
    <p:extLst>
      <p:ext uri="{BB962C8B-B14F-4D97-AF65-F5344CB8AC3E}">
        <p14:creationId xmlns:p14="http://schemas.microsoft.com/office/powerpoint/2010/main" val="32255314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3510"/>
            <a:ext cx="9144000" cy="5590980"/>
          </a:xfrm>
          <a:prstGeom prst="rect">
            <a:avLst/>
          </a:prstGeom>
        </p:spPr>
      </p:pic>
    </p:spTree>
    <p:extLst>
      <p:ext uri="{BB962C8B-B14F-4D97-AF65-F5344CB8AC3E}">
        <p14:creationId xmlns:p14="http://schemas.microsoft.com/office/powerpoint/2010/main" val="18290827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1756"/>
            <a:ext cx="9144000" cy="5654488"/>
          </a:xfrm>
          <a:prstGeom prst="rect">
            <a:avLst/>
          </a:prstGeom>
        </p:spPr>
      </p:pic>
    </p:spTree>
    <p:extLst>
      <p:ext uri="{BB962C8B-B14F-4D97-AF65-F5344CB8AC3E}">
        <p14:creationId xmlns:p14="http://schemas.microsoft.com/office/powerpoint/2010/main" val="30323394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86000"/>
            <a:ext cx="9144000" cy="2286000"/>
          </a:xfrm>
          <a:prstGeom prst="rect">
            <a:avLst/>
          </a:prstGeom>
        </p:spPr>
      </p:pic>
    </p:spTree>
    <p:extLst>
      <p:ext uri="{BB962C8B-B14F-4D97-AF65-F5344CB8AC3E}">
        <p14:creationId xmlns:p14="http://schemas.microsoft.com/office/powerpoint/2010/main" val="391156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57250"/>
            <a:ext cx="9144000" cy="5143500"/>
          </a:xfrm>
          <a:prstGeom prst="rect">
            <a:avLst/>
          </a:prstGeom>
        </p:spPr>
      </p:pic>
      <p:sp>
        <p:nvSpPr>
          <p:cNvPr id="6" name="Rectangle 5"/>
          <p:cNvSpPr/>
          <p:nvPr/>
        </p:nvSpPr>
        <p:spPr>
          <a:xfrm>
            <a:off x="148306" y="1853683"/>
            <a:ext cx="8847389" cy="3970318"/>
          </a:xfrm>
          <a:prstGeom prst="rect">
            <a:avLst/>
          </a:prstGeom>
          <a:solidFill>
            <a:schemeClr val="bg1">
              <a:alpha val="63000"/>
            </a:schemeClr>
          </a:solidFill>
        </p:spPr>
        <p:txBody>
          <a:bodyPr wrap="square">
            <a:spAutoFit/>
          </a:bodyPr>
          <a:lstStyle/>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Class notes/ PPTs in hardcopy/ digital copy (in mobile phone) the instructors provided are allowed in the tutorial sessions. One-on-one discussion is also allowed</a:t>
            </a:r>
          </a:p>
          <a:p>
            <a:pPr marL="342900" lvl="1" algn="just" defTabSz="685800">
              <a:spcBef>
                <a:spcPts val="0"/>
              </a:spcBef>
              <a:spcAft>
                <a:spcPts val="0"/>
              </a:spcAft>
            </a:pPr>
            <a:endParaRPr lang="en-US" dirty="0">
              <a:solidFill>
                <a:prstClr val="black"/>
              </a:solidFill>
              <a:latin typeface="Calibri Light" panose="020F0302020204030204"/>
              <a:ea typeface="Cambria" panose="02040503050406030204" pitchFamily="18" charset="0"/>
            </a:endParaRP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When the students start their work on their drawing sheets, the Tutor/ TAs will put their signature on each of the drawing sheets mentioning the date of the tutorial lab</a:t>
            </a:r>
          </a:p>
          <a:p>
            <a:pPr marL="600075" lvl="1" indent="-257175" algn="just" defTabSz="685800">
              <a:spcBef>
                <a:spcPts val="0"/>
              </a:spcBef>
              <a:spcAft>
                <a:spcPts val="0"/>
              </a:spcAft>
              <a:buFont typeface="Wingdings" panose="05000000000000000000" pitchFamily="2" charset="2"/>
              <a:buChar char="q"/>
            </a:pPr>
            <a:endParaRPr lang="en-US" dirty="0">
              <a:solidFill>
                <a:prstClr val="black"/>
              </a:solidFill>
              <a:latin typeface="Calibri Light" panose="020F0302020204030204"/>
              <a:ea typeface="Cambria" panose="02040503050406030204" pitchFamily="18" charset="0"/>
            </a:endParaRP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After 1</a:t>
            </a:r>
            <a:r>
              <a:rPr lang="en-US" baseline="30000" dirty="0">
                <a:solidFill>
                  <a:prstClr val="black"/>
                </a:solidFill>
                <a:latin typeface="Calibri Light" panose="020F0302020204030204"/>
                <a:ea typeface="Cambria" panose="02040503050406030204" pitchFamily="18" charset="0"/>
              </a:rPr>
              <a:t>st</a:t>
            </a:r>
            <a:r>
              <a:rPr lang="en-US" dirty="0">
                <a:solidFill>
                  <a:prstClr val="black"/>
                </a:solidFill>
                <a:latin typeface="Calibri Light" panose="020F0302020204030204"/>
                <a:ea typeface="Cambria" panose="02040503050406030204" pitchFamily="18" charset="0"/>
              </a:rPr>
              <a:t> Tutorial, students can bring their sheets with an already-prepared title box</a:t>
            </a:r>
          </a:p>
          <a:p>
            <a:pPr marL="600075" lvl="1" indent="-257175" algn="just" defTabSz="685800">
              <a:spcBef>
                <a:spcPts val="0"/>
              </a:spcBef>
              <a:spcAft>
                <a:spcPts val="0"/>
              </a:spcAft>
              <a:buFont typeface="Wingdings" panose="05000000000000000000" pitchFamily="2" charset="2"/>
              <a:buChar char="q"/>
            </a:pPr>
            <a:endParaRPr lang="en-US" dirty="0">
              <a:solidFill>
                <a:prstClr val="black"/>
              </a:solidFill>
              <a:latin typeface="Calibri Light" panose="020F0302020204030204"/>
              <a:ea typeface="Cambria" panose="02040503050406030204" pitchFamily="18" charset="0"/>
            </a:endParaRP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Students should enter the lab with the drawing kit and A2 sheets (if not, call to be taken by the tutor)</a:t>
            </a:r>
          </a:p>
          <a:p>
            <a:pPr marL="342900" lvl="1" algn="just" defTabSz="685800">
              <a:spcBef>
                <a:spcPts val="0"/>
              </a:spcBef>
              <a:spcAft>
                <a:spcPts val="0"/>
              </a:spcAft>
            </a:pPr>
            <a:endParaRPr lang="en-US" dirty="0">
              <a:solidFill>
                <a:prstClr val="black"/>
              </a:solidFill>
              <a:latin typeface="Calibri Light" panose="020F0302020204030204"/>
              <a:ea typeface="Cambria" panose="02040503050406030204" pitchFamily="18" charset="0"/>
            </a:endParaRP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After completing the tutorial session (175 minutes)/ completion of the tutorial sheet by the students, the sheets will be collected by the Tutor. The unevaluated sheet cannot be taken by the student out of the drawing hall</a:t>
            </a:r>
          </a:p>
        </p:txBody>
      </p:sp>
      <p:sp>
        <p:nvSpPr>
          <p:cNvPr id="5" name="Title 1"/>
          <p:cNvSpPr txBox="1">
            <a:spLocks/>
          </p:cNvSpPr>
          <p:nvPr/>
        </p:nvSpPr>
        <p:spPr>
          <a:xfrm>
            <a:off x="1" y="1024734"/>
            <a:ext cx="8995694"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Tutorials (Cont…)</a:t>
            </a:r>
          </a:p>
        </p:txBody>
      </p:sp>
    </p:spTree>
    <p:extLst>
      <p:ext uri="{BB962C8B-B14F-4D97-AF65-F5344CB8AC3E}">
        <p14:creationId xmlns:p14="http://schemas.microsoft.com/office/powerpoint/2010/main" val="34876725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57250"/>
            <a:ext cx="9144000" cy="5143500"/>
          </a:xfrm>
          <a:prstGeom prst="rect">
            <a:avLst/>
          </a:prstGeom>
        </p:spPr>
      </p:pic>
      <p:sp>
        <p:nvSpPr>
          <p:cNvPr id="6" name="Rectangle 5"/>
          <p:cNvSpPr/>
          <p:nvPr/>
        </p:nvSpPr>
        <p:spPr>
          <a:xfrm>
            <a:off x="148306" y="1853683"/>
            <a:ext cx="8847389" cy="3693319"/>
          </a:xfrm>
          <a:prstGeom prst="rect">
            <a:avLst/>
          </a:prstGeom>
          <a:solidFill>
            <a:schemeClr val="bg1">
              <a:alpha val="63000"/>
            </a:schemeClr>
          </a:solidFill>
        </p:spPr>
        <p:txBody>
          <a:bodyPr wrap="square">
            <a:spAutoFit/>
          </a:bodyPr>
          <a:lstStyle/>
          <a:p>
            <a:pPr marL="257175" indent="-257175" algn="just" defTabSz="685800">
              <a:spcBef>
                <a:spcPts val="0"/>
              </a:spcBef>
              <a:spcAft>
                <a:spcPts val="0"/>
              </a:spcAft>
              <a:buFont typeface="Wingdings" panose="05000000000000000000" pitchFamily="2" charset="2"/>
              <a:buChar char="q"/>
            </a:pPr>
            <a:r>
              <a:rPr lang="en-US" b="1" dirty="0">
                <a:solidFill>
                  <a:prstClr val="black"/>
                </a:solidFill>
                <a:latin typeface="Calibri Light" panose="020F0302020204030204"/>
                <a:ea typeface="Cambria" panose="02040503050406030204" pitchFamily="18" charset="0"/>
              </a:rPr>
              <a:t>Attendance</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Lecture class and tutorial session attendance are mandatory (as per the ordinance)</a:t>
            </a:r>
          </a:p>
          <a:p>
            <a:pPr marL="257175" indent="-257175" algn="just" defTabSz="685800">
              <a:spcBef>
                <a:spcPts val="0"/>
              </a:spcBef>
              <a:spcAft>
                <a:spcPts val="0"/>
              </a:spcAft>
              <a:buFont typeface="Wingdings" panose="05000000000000000000" pitchFamily="2" charset="2"/>
              <a:buChar char="q"/>
            </a:pPr>
            <a:endParaRPr lang="en-US" dirty="0">
              <a:solidFill>
                <a:prstClr val="black"/>
              </a:solidFill>
              <a:latin typeface="Calibri Light" panose="020F0302020204030204"/>
              <a:ea typeface="Cambria" panose="02040503050406030204" pitchFamily="18" charset="0"/>
            </a:endParaRPr>
          </a:p>
          <a:p>
            <a:pPr marL="257175" indent="-257175" algn="just" defTabSz="685800">
              <a:spcBef>
                <a:spcPts val="0"/>
              </a:spcBef>
              <a:spcAft>
                <a:spcPts val="0"/>
              </a:spcAft>
              <a:buFont typeface="Wingdings" panose="05000000000000000000" pitchFamily="2" charset="2"/>
              <a:buChar char="q"/>
            </a:pPr>
            <a:r>
              <a:rPr lang="en-US" b="1" dirty="0">
                <a:solidFill>
                  <a:prstClr val="black"/>
                </a:solidFill>
                <a:latin typeface="Calibri Light" panose="020F0302020204030204"/>
                <a:ea typeface="Cambria" panose="02040503050406030204" pitchFamily="18" charset="0"/>
              </a:rPr>
              <a:t>Evaluation of Tutorial sheets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marks of the evaluated sheets will be uploaded on MS Teams under Assignments</a:t>
            </a:r>
          </a:p>
          <a:p>
            <a:pPr marL="342900" lvl="1" algn="just" defTabSz="685800">
              <a:spcBef>
                <a:spcPts val="0"/>
              </a:spcBef>
              <a:spcAft>
                <a:spcPts val="0"/>
              </a:spcAft>
            </a:pPr>
            <a:endParaRPr lang="en-US" dirty="0">
              <a:solidFill>
                <a:prstClr val="black"/>
              </a:solidFill>
              <a:latin typeface="Calibri Light" panose="020F0302020204030204"/>
              <a:ea typeface="Cambria" panose="02040503050406030204" pitchFamily="18" charset="0"/>
            </a:endParaRP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evaluated tutorial drawing sheets will be returned to the students in the next tutorial session, where students can discuss/ clear doubts about the evaluated sheet with Tutor/ </a:t>
            </a:r>
            <a:r>
              <a:rPr lang="en-US" dirty="0" err="1">
                <a:solidFill>
                  <a:prstClr val="black"/>
                </a:solidFill>
                <a:latin typeface="Calibri Light" panose="020F0302020204030204"/>
                <a:ea typeface="Cambria" panose="02040503050406030204" pitchFamily="18" charset="0"/>
              </a:rPr>
              <a:t>TAs.</a:t>
            </a:r>
            <a:r>
              <a:rPr lang="en-US" dirty="0">
                <a:solidFill>
                  <a:prstClr val="black"/>
                </a:solidFill>
                <a:latin typeface="Calibri Light" panose="020F0302020204030204"/>
                <a:ea typeface="Cambria" panose="02040503050406030204" pitchFamily="18" charset="0"/>
              </a:rPr>
              <a:t> Students must check their marks on MS Teams on/ before the day the evaluation sheets are handover to them</a:t>
            </a:r>
          </a:p>
          <a:p>
            <a:pPr marL="257175" indent="-257175" algn="just" defTabSz="685800">
              <a:spcBef>
                <a:spcPts val="0"/>
              </a:spcBef>
              <a:spcAft>
                <a:spcPts val="0"/>
              </a:spcAft>
              <a:buFont typeface="Wingdings" panose="05000000000000000000" pitchFamily="2" charset="2"/>
              <a:buChar char="q"/>
            </a:pPr>
            <a:endParaRPr lang="en-US" dirty="0">
              <a:solidFill>
                <a:prstClr val="black"/>
              </a:solidFill>
              <a:latin typeface="Calibri Light" panose="020F0302020204030204"/>
              <a:ea typeface="Cambria" panose="02040503050406030204" pitchFamily="18" charset="0"/>
            </a:endParaRPr>
          </a:p>
          <a:p>
            <a:pPr marL="342900" lvl="1" algn="just" defTabSz="685800">
              <a:spcBef>
                <a:spcPts val="0"/>
              </a:spcBef>
              <a:spcAft>
                <a:spcPts val="0"/>
              </a:spcAft>
            </a:pPr>
            <a:endParaRPr lang="en-US" dirty="0">
              <a:solidFill>
                <a:prstClr val="black"/>
              </a:solidFill>
              <a:latin typeface="Calibri Light" panose="020F0302020204030204"/>
              <a:ea typeface="Cambria" panose="02040503050406030204" pitchFamily="18" charset="0"/>
            </a:endParaRPr>
          </a:p>
          <a:p>
            <a:pPr marL="342900" lvl="1" algn="just" defTabSz="685800">
              <a:spcBef>
                <a:spcPts val="0"/>
              </a:spcBef>
              <a:spcAft>
                <a:spcPts val="0"/>
              </a:spcAft>
            </a:pPr>
            <a:endParaRPr lang="en-US" dirty="0">
              <a:solidFill>
                <a:prstClr val="black"/>
              </a:solidFill>
              <a:latin typeface="Calibri Light" panose="020F0302020204030204"/>
              <a:ea typeface="Cambria" panose="02040503050406030204" pitchFamily="18" charset="0"/>
            </a:endParaRPr>
          </a:p>
        </p:txBody>
      </p:sp>
      <p:sp>
        <p:nvSpPr>
          <p:cNvPr id="5" name="Title 1"/>
          <p:cNvSpPr txBox="1">
            <a:spLocks/>
          </p:cNvSpPr>
          <p:nvPr/>
        </p:nvSpPr>
        <p:spPr>
          <a:xfrm>
            <a:off x="1" y="1024734"/>
            <a:ext cx="8995694"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Tutorials (Cont…)</a:t>
            </a:r>
          </a:p>
        </p:txBody>
      </p:sp>
    </p:spTree>
    <p:extLst>
      <p:ext uri="{BB962C8B-B14F-4D97-AF65-F5344CB8AC3E}">
        <p14:creationId xmlns:p14="http://schemas.microsoft.com/office/powerpoint/2010/main" val="2151824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57250"/>
            <a:ext cx="9144000" cy="5143500"/>
          </a:xfrm>
          <a:prstGeom prst="rect">
            <a:avLst/>
          </a:prstGeom>
        </p:spPr>
      </p:pic>
      <p:sp>
        <p:nvSpPr>
          <p:cNvPr id="6" name="Rectangle 5"/>
          <p:cNvSpPr/>
          <p:nvPr/>
        </p:nvSpPr>
        <p:spPr>
          <a:xfrm>
            <a:off x="148306" y="1853683"/>
            <a:ext cx="8847389" cy="3970318"/>
          </a:xfrm>
          <a:prstGeom prst="rect">
            <a:avLst/>
          </a:prstGeom>
          <a:solidFill>
            <a:schemeClr val="bg1">
              <a:alpha val="63000"/>
            </a:schemeClr>
          </a:solidFill>
        </p:spPr>
        <p:txBody>
          <a:bodyPr wrap="square">
            <a:spAutoFit/>
          </a:bodyPr>
          <a:lstStyle/>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student is allowed for makeup tutorial IF AND ONLY IF regular tutorial session (on drawing sheet) is missed for GENUINE MEDICAL REASON</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Student can make up only ONE tutorial in the Makeup tutorial, even if he/she has missed more than one</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schedule of the makeup tutorials is provided in the grand schedule of the course </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Students are not allowed to sit in a makeup tutorial for the completion of the incomplete assignments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makeup tutorial is only for those tutorials which are scheduled to perform on drawing sheets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There is no makeup tutorial for AutoCAD sessions</a:t>
            </a:r>
          </a:p>
          <a:p>
            <a:pPr marL="600075" lvl="1" indent="-257175" algn="just" defTabSz="685800">
              <a:spcBef>
                <a:spcPts val="0"/>
              </a:spcBef>
              <a:spcAft>
                <a:spcPts val="0"/>
              </a:spcAft>
              <a:buFont typeface="Wingdings" panose="05000000000000000000" pitchFamily="2" charset="2"/>
              <a:buChar char="q"/>
            </a:pPr>
            <a:endParaRPr lang="en-US" dirty="0">
              <a:solidFill>
                <a:prstClr val="black"/>
              </a:solidFill>
              <a:latin typeface="Calibri Light" panose="020F0302020204030204"/>
              <a:ea typeface="Cambria" panose="02040503050406030204" pitchFamily="18" charset="0"/>
            </a:endParaRPr>
          </a:p>
          <a:p>
            <a:pPr marL="600075" lvl="1" indent="-257175" algn="just" defTabSz="685800">
              <a:spcBef>
                <a:spcPts val="0"/>
              </a:spcBef>
              <a:spcAft>
                <a:spcPts val="0"/>
              </a:spcAft>
              <a:buFont typeface="Wingdings" panose="05000000000000000000" pitchFamily="2" charset="2"/>
              <a:buChar char="q"/>
            </a:pPr>
            <a:endParaRPr lang="en-US" dirty="0">
              <a:solidFill>
                <a:prstClr val="black"/>
              </a:solidFill>
              <a:latin typeface="Calibri Light" panose="020F0302020204030204"/>
              <a:ea typeface="Cambria" panose="02040503050406030204" pitchFamily="18" charset="0"/>
            </a:endParaRPr>
          </a:p>
          <a:p>
            <a:pPr marL="600075" lvl="1" indent="-257175" algn="just" defTabSz="685800">
              <a:spcBef>
                <a:spcPts val="0"/>
              </a:spcBef>
              <a:spcAft>
                <a:spcPts val="0"/>
              </a:spcAft>
              <a:buFont typeface="Wingdings" panose="05000000000000000000" pitchFamily="2" charset="2"/>
              <a:buChar char="q"/>
            </a:pPr>
            <a:endParaRPr lang="en-US" dirty="0">
              <a:solidFill>
                <a:prstClr val="black"/>
              </a:solidFill>
              <a:latin typeface="Calibri Light" panose="020F0302020204030204"/>
              <a:ea typeface="Cambria" panose="02040503050406030204" pitchFamily="18" charset="0"/>
            </a:endParaRPr>
          </a:p>
          <a:p>
            <a:pPr marL="342900" lvl="1" algn="just" defTabSz="685800">
              <a:spcBef>
                <a:spcPts val="0"/>
              </a:spcBef>
              <a:spcAft>
                <a:spcPts val="0"/>
              </a:spcAft>
            </a:pPr>
            <a:endParaRPr lang="en-US" dirty="0">
              <a:solidFill>
                <a:prstClr val="black"/>
              </a:solidFill>
              <a:latin typeface="Calibri Light" panose="020F0302020204030204"/>
              <a:ea typeface="Cambria" panose="02040503050406030204" pitchFamily="18" charset="0"/>
            </a:endParaRPr>
          </a:p>
        </p:txBody>
      </p:sp>
      <p:sp>
        <p:nvSpPr>
          <p:cNvPr id="5" name="Title 1"/>
          <p:cNvSpPr txBox="1">
            <a:spLocks/>
          </p:cNvSpPr>
          <p:nvPr/>
        </p:nvSpPr>
        <p:spPr>
          <a:xfrm>
            <a:off x="1" y="1024734"/>
            <a:ext cx="8995694"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Make-up Tutorial</a:t>
            </a:r>
          </a:p>
        </p:txBody>
      </p:sp>
    </p:spTree>
    <p:extLst>
      <p:ext uri="{BB962C8B-B14F-4D97-AF65-F5344CB8AC3E}">
        <p14:creationId xmlns:p14="http://schemas.microsoft.com/office/powerpoint/2010/main" val="5864856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57250"/>
            <a:ext cx="9144000" cy="5143500"/>
          </a:xfrm>
          <a:prstGeom prst="rect">
            <a:avLst/>
          </a:prstGeom>
        </p:spPr>
      </p:pic>
      <p:sp>
        <p:nvSpPr>
          <p:cNvPr id="6" name="Rectangle 5"/>
          <p:cNvSpPr/>
          <p:nvPr/>
        </p:nvSpPr>
        <p:spPr>
          <a:xfrm>
            <a:off x="74152" y="1853683"/>
            <a:ext cx="8847389" cy="2862322"/>
          </a:xfrm>
          <a:prstGeom prst="rect">
            <a:avLst/>
          </a:prstGeom>
          <a:solidFill>
            <a:schemeClr val="bg1">
              <a:alpha val="63000"/>
            </a:schemeClr>
          </a:solidFill>
        </p:spPr>
        <p:txBody>
          <a:bodyPr wrap="square">
            <a:spAutoFit/>
          </a:bodyPr>
          <a:lstStyle/>
          <a:p>
            <a:pPr marL="257175" indent="-257175" algn="just" defTabSz="685800">
              <a:spcBef>
                <a:spcPts val="0"/>
              </a:spcBef>
              <a:spcAft>
                <a:spcPts val="0"/>
              </a:spcAft>
              <a:buFont typeface="Wingdings" panose="05000000000000000000" pitchFamily="2" charset="2"/>
              <a:buChar char="q"/>
            </a:pPr>
            <a:r>
              <a:rPr lang="en-US" b="1" dirty="0">
                <a:solidFill>
                  <a:prstClr val="black"/>
                </a:solidFill>
                <a:latin typeface="Calibri Light" panose="020F0302020204030204"/>
                <a:ea typeface="Cambria" panose="02040503050406030204" pitchFamily="18" charset="0"/>
              </a:rPr>
              <a:t>Quiz</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quiz will be conducted by the instructors on 2nd September 2023 (the date may change based on the availability of the computer lab)</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quiz will be an objective type</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 The topics till ‘Projection of Planes’ will be considered as the syllabus of the quiz</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evaluated marks of the quiz will be uploaded on the MS Teams</a:t>
            </a:r>
          </a:p>
          <a:p>
            <a:pPr marL="600075" lvl="1" indent="-257175" algn="just" defTabSz="685800">
              <a:spcBef>
                <a:spcPts val="0"/>
              </a:spcBef>
              <a:spcAft>
                <a:spcPts val="0"/>
              </a:spcAft>
              <a:buFont typeface="Wingdings" panose="05000000000000000000" pitchFamily="2" charset="2"/>
              <a:buChar char="q"/>
            </a:pPr>
            <a:endParaRPr lang="en-US" b="1" dirty="0">
              <a:solidFill>
                <a:prstClr val="black"/>
              </a:solidFill>
              <a:latin typeface="Calibri Light" panose="020F0302020204030204"/>
              <a:ea typeface="Cambria" panose="02040503050406030204" pitchFamily="18" charset="0"/>
            </a:endParaRPr>
          </a:p>
          <a:p>
            <a:pPr marL="257175" indent="-257175" algn="just" defTabSz="685800">
              <a:spcBef>
                <a:spcPts val="0"/>
              </a:spcBef>
              <a:spcAft>
                <a:spcPts val="0"/>
              </a:spcAft>
              <a:buFont typeface="Wingdings" panose="05000000000000000000" pitchFamily="2" charset="2"/>
              <a:buChar char="q"/>
            </a:pPr>
            <a:r>
              <a:rPr lang="en-US" b="1" dirty="0">
                <a:solidFill>
                  <a:prstClr val="black"/>
                </a:solidFill>
                <a:latin typeface="Calibri Light" panose="020F0302020204030204"/>
                <a:ea typeface="Cambria" panose="02040503050406030204" pitchFamily="18" charset="0"/>
              </a:rPr>
              <a:t>End-SEM examination</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End-SEM examination will be conducted on drawing sheets in the 1203 and 1204 rooms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The schedule of the End-SEM is provided in the grand schedule of the course</a:t>
            </a:r>
          </a:p>
        </p:txBody>
      </p:sp>
      <p:sp>
        <p:nvSpPr>
          <p:cNvPr id="5" name="Title 1"/>
          <p:cNvSpPr txBox="1">
            <a:spLocks/>
          </p:cNvSpPr>
          <p:nvPr/>
        </p:nvSpPr>
        <p:spPr>
          <a:xfrm>
            <a:off x="1" y="1024734"/>
            <a:ext cx="8995694"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Evaluation</a:t>
            </a:r>
          </a:p>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 </a:t>
            </a:r>
          </a:p>
        </p:txBody>
      </p:sp>
    </p:spTree>
    <p:extLst>
      <p:ext uri="{BB962C8B-B14F-4D97-AF65-F5344CB8AC3E}">
        <p14:creationId xmlns:p14="http://schemas.microsoft.com/office/powerpoint/2010/main" val="8758118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57250"/>
            <a:ext cx="9144000" cy="5143500"/>
          </a:xfrm>
          <a:prstGeom prst="rect">
            <a:avLst/>
          </a:prstGeom>
        </p:spPr>
      </p:pic>
      <p:sp>
        <p:nvSpPr>
          <p:cNvPr id="6" name="Rectangle 5"/>
          <p:cNvSpPr/>
          <p:nvPr/>
        </p:nvSpPr>
        <p:spPr>
          <a:xfrm>
            <a:off x="74152" y="1853683"/>
            <a:ext cx="8847389" cy="2031325"/>
          </a:xfrm>
          <a:prstGeom prst="rect">
            <a:avLst/>
          </a:prstGeom>
          <a:solidFill>
            <a:schemeClr val="bg1">
              <a:alpha val="63000"/>
            </a:schemeClr>
          </a:solidFill>
        </p:spPr>
        <p:txBody>
          <a:bodyPr wrap="square">
            <a:spAutoFit/>
          </a:bodyPr>
          <a:lstStyle/>
          <a:p>
            <a:pPr marL="257175" indent="-257175" algn="just" defTabSz="685800">
              <a:spcBef>
                <a:spcPts val="0"/>
              </a:spcBef>
              <a:spcAft>
                <a:spcPts val="0"/>
              </a:spcAft>
              <a:buFont typeface="Wingdings" panose="05000000000000000000" pitchFamily="2" charset="2"/>
              <a:buChar char="q"/>
            </a:pPr>
            <a:r>
              <a:rPr lang="en-US" b="1" dirty="0">
                <a:solidFill>
                  <a:prstClr val="black"/>
                </a:solidFill>
                <a:latin typeface="Calibri Light" panose="020F0302020204030204"/>
                <a:ea typeface="Cambria" panose="02040503050406030204" pitchFamily="18" charset="0"/>
              </a:rPr>
              <a:t>Distribution of marks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Tutorial (On drawing sheets)= 45% (Nine tutorials, one Makeup tutorial)</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Tutorial (On AutoCAD) = 5% (One out of two drawings)</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Attendance (Instruction class) = 10%</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Quiz = 15%</a:t>
            </a:r>
          </a:p>
          <a:p>
            <a:pPr marL="600075" lvl="1" indent="-257175" algn="just" defTabSz="685800">
              <a:spcBef>
                <a:spcPts val="0"/>
              </a:spcBef>
              <a:spcAft>
                <a:spcPts val="0"/>
              </a:spcAft>
              <a:buFont typeface="Wingdings" panose="05000000000000000000" pitchFamily="2" charset="2"/>
              <a:buChar char="q"/>
            </a:pPr>
            <a:r>
              <a:rPr lang="en-US" dirty="0">
                <a:solidFill>
                  <a:prstClr val="black"/>
                </a:solidFill>
                <a:latin typeface="Calibri Light" panose="020F0302020204030204"/>
                <a:ea typeface="Cambria" panose="02040503050406030204" pitchFamily="18" charset="0"/>
              </a:rPr>
              <a:t>End-SEM = 25%</a:t>
            </a:r>
          </a:p>
          <a:p>
            <a:pPr marL="600075" lvl="1" indent="-257175" algn="just" defTabSz="685800">
              <a:spcBef>
                <a:spcPts val="0"/>
              </a:spcBef>
              <a:spcAft>
                <a:spcPts val="0"/>
              </a:spcAft>
              <a:buFont typeface="Wingdings" panose="05000000000000000000" pitchFamily="2" charset="2"/>
              <a:buChar char="q"/>
            </a:pPr>
            <a:endParaRPr lang="en-US" b="1" dirty="0">
              <a:solidFill>
                <a:prstClr val="black"/>
              </a:solidFill>
              <a:latin typeface="Calibri Light" panose="020F0302020204030204"/>
              <a:ea typeface="Cambria" panose="02040503050406030204" pitchFamily="18" charset="0"/>
            </a:endParaRPr>
          </a:p>
        </p:txBody>
      </p:sp>
      <p:sp>
        <p:nvSpPr>
          <p:cNvPr id="5" name="Title 1"/>
          <p:cNvSpPr txBox="1">
            <a:spLocks/>
          </p:cNvSpPr>
          <p:nvPr/>
        </p:nvSpPr>
        <p:spPr>
          <a:xfrm>
            <a:off x="1" y="1024734"/>
            <a:ext cx="8995694" cy="661465"/>
          </a:xfrm>
          <a:prstGeom prst="rect">
            <a:avLst/>
          </a:prstGeom>
          <a:solidFill>
            <a:schemeClr val="bg1">
              <a:lumMod val="65000"/>
              <a:alpha val="85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fontAlgn="auto">
              <a:spcAft>
                <a:spcPts val="0"/>
              </a:spcAft>
            </a:pPr>
            <a:r>
              <a:rPr lang="en-US" sz="4950" b="1" dirty="0">
                <a:solidFill>
                  <a:prstClr val="white"/>
                </a:solidFill>
                <a:effectLst>
                  <a:outerShdw blurRad="38100" dist="38100" dir="2700000" algn="tl">
                    <a:srgbClr val="000000">
                      <a:alpha val="43137"/>
                    </a:srgbClr>
                  </a:outerShdw>
                </a:effectLst>
                <a:latin typeface="Calibri Light" panose="020F0302020204030204"/>
                <a:ea typeface="Segoe UI Black" panose="020B0A02040204020203" pitchFamily="34" charset="0"/>
                <a:cs typeface="Times New Roman" panose="02020603050405020304" pitchFamily="18" charset="0"/>
              </a:rPr>
              <a:t>Marking scheme</a:t>
            </a:r>
          </a:p>
        </p:txBody>
      </p:sp>
    </p:spTree>
    <p:extLst>
      <p:ext uri="{BB962C8B-B14F-4D97-AF65-F5344CB8AC3E}">
        <p14:creationId xmlns:p14="http://schemas.microsoft.com/office/powerpoint/2010/main" val="19596906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7700" y="1257429"/>
            <a:ext cx="7848600" cy="483209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Drawing</a:t>
            </a:r>
            <a:r>
              <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 is a graphic representation of:</a:t>
            </a:r>
          </a:p>
          <a:p>
            <a:pPr marL="722313" marR="0" lvl="0" indent="-493713"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a real thing </a:t>
            </a:r>
          </a:p>
          <a:p>
            <a:pPr marL="722313" marR="0" lvl="0" indent="-493713"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an idea</a:t>
            </a:r>
          </a:p>
          <a:p>
            <a:pPr marL="722313" marR="0" lvl="0" indent="-493713"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a proposed design for later manufacture or construction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Graphic representation:</a:t>
            </a:r>
          </a:p>
          <a:p>
            <a:pPr marL="74295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Artistic: to express aesthetic, philosophic or other abstract ideas</a:t>
            </a:r>
          </a:p>
          <a:p>
            <a:pPr marL="74295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Technical: to represent the design of objects to be built or constructed</a:t>
            </a:r>
          </a:p>
        </p:txBody>
      </p:sp>
      <p:sp>
        <p:nvSpPr>
          <p:cNvPr id="5" name="Title 5"/>
          <p:cNvSpPr txBox="1">
            <a:spLocks/>
          </p:cNvSpPr>
          <p:nvPr/>
        </p:nvSpPr>
        <p:spPr>
          <a:xfrm>
            <a:off x="234745" y="228600"/>
            <a:ext cx="8229600" cy="762000"/>
          </a:xfrm>
          <a:prstGeom prst="rect">
            <a:avLst/>
          </a:prstGeom>
        </p:spPr>
        <p:txBody>
          <a:bodyPr/>
          <a:lstStyle>
            <a:lvl1pPr algn="ctr" defTabSz="914400" rtl="0" eaLnBrk="1" latinLnBrk="0" hangingPunct="1">
              <a:spcBef>
                <a:spcPct val="0"/>
              </a:spcBef>
              <a:buNone/>
              <a:defRPr sz="4400" kern="1200">
                <a:solidFill>
                  <a:schemeClr val="tx1"/>
                </a:solidFill>
                <a:latin typeface="Adobe Garamond Pro Bold" pitchFamily="18"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4400" b="1" i="0" u="none" strike="noStrike" kern="1200" cap="none" spc="0" normalizeH="0" baseline="0" noProof="0" dirty="0">
                <a:ln>
                  <a:noFill/>
                </a:ln>
                <a:solidFill>
                  <a:srgbClr val="6600CC"/>
                </a:solidFill>
                <a:effectLst/>
                <a:uLnTx/>
                <a:uFillTx/>
                <a:latin typeface="Adobe Garamond Pro Bold" pitchFamily="18" charset="0"/>
                <a:ea typeface="+mj-ea"/>
                <a:cs typeface="+mj-cs"/>
              </a:rPr>
              <a:t>What is Engineering Drawing? </a:t>
            </a:r>
          </a:p>
        </p:txBody>
      </p:sp>
    </p:spTree>
    <p:extLst>
      <p:ext uri="{BB962C8B-B14F-4D97-AF65-F5344CB8AC3E}">
        <p14:creationId xmlns:p14="http://schemas.microsoft.com/office/powerpoint/2010/main" val="8286037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1"/>
          <p:cNvSpPr txBox="1">
            <a:spLocks noChangeArrowheads="1"/>
          </p:cNvSpPr>
          <p:nvPr/>
        </p:nvSpPr>
        <p:spPr bwMode="auto">
          <a:xfrm>
            <a:off x="152400" y="236538"/>
            <a:ext cx="91440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B050"/>
                </a:solidFill>
                <a:effectLst/>
                <a:uLnTx/>
                <a:uFillTx/>
                <a:latin typeface="Calibri" panose="020F0502020204030204" pitchFamily="34" charset="0"/>
                <a:ea typeface="+mn-ea"/>
                <a:cs typeface="Arial" panose="020B0604020202020204" pitchFamily="34" charset="0"/>
              </a:rPr>
              <a:t>Why Drawing for Engineers? </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To detail the maximum possible information than the normal vision</a:t>
            </a:r>
          </a:p>
        </p:txBody>
      </p:sp>
      <p:sp>
        <p:nvSpPr>
          <p:cNvPr id="7" name="Rectangle 6"/>
          <p:cNvSpPr/>
          <p:nvPr/>
        </p:nvSpPr>
        <p:spPr>
          <a:xfrm>
            <a:off x="0" y="990600"/>
            <a:ext cx="8991600" cy="1784350"/>
          </a:xfrm>
          <a:prstGeom prst="rect">
            <a:avLst/>
          </a:prstGeom>
        </p:spPr>
        <p:txBody>
          <a:bodyPr>
            <a:spAutoFit/>
          </a:bodyPr>
          <a:lstStyle/>
          <a:p>
            <a:pPr marL="228600" marR="0" lvl="0" indent="0" algn="just"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00000"/>
                </a:solidFill>
                <a:effectLst/>
                <a:uLnTx/>
                <a:uFillTx/>
                <a:latin typeface="Garamond" pitchFamily="18" charset="0"/>
                <a:ea typeface="+mn-ea"/>
                <a:cs typeface="Arial" panose="020B0604020202020204" pitchFamily="34" charset="0"/>
              </a:rPr>
              <a:t>In the process of product development, two steps are involved:</a:t>
            </a:r>
          </a:p>
          <a:p>
            <a:pPr marL="857250" marR="0" lvl="1" indent="-171450" algn="just"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sz="2200" b="1" i="0" u="none" strike="noStrike" kern="1200" cap="none" spc="0" normalizeH="0" baseline="0" noProof="0" dirty="0">
                <a:ln>
                  <a:noFill/>
                </a:ln>
                <a:solidFill>
                  <a:srgbClr val="C00000"/>
                </a:solidFill>
                <a:effectLst/>
                <a:uLnTx/>
                <a:uFillTx/>
                <a:latin typeface="Garamond" pitchFamily="18" charset="0"/>
                <a:ea typeface="+mn-ea"/>
                <a:cs typeface="Arial" panose="020B0604020202020204" pitchFamily="34" charset="0"/>
              </a:rPr>
              <a:t>Product specification</a:t>
            </a:r>
          </a:p>
          <a:p>
            <a:pPr marL="857250" marR="0" lvl="1" indent="-171450" algn="just" defTabSz="914400" rtl="0" eaLnBrk="1" fontAlgn="auto" latinLnBrk="0" hangingPunct="1">
              <a:lnSpc>
                <a:spcPct val="100000"/>
              </a:lnSpc>
              <a:spcBef>
                <a:spcPts val="0"/>
              </a:spcBef>
              <a:spcAft>
                <a:spcPts val="0"/>
              </a:spcAft>
              <a:buClrTx/>
              <a:buSzTx/>
              <a:buFont typeface="Wingdings" pitchFamily="2" charset="2"/>
              <a:buChar char="Ø"/>
              <a:tabLst/>
              <a:defRPr/>
            </a:pPr>
            <a:r>
              <a:rPr kumimoji="0" lang="en-US" sz="2200" b="1" i="0" u="none" strike="noStrike" kern="1200" cap="none" spc="0" normalizeH="0" baseline="0" noProof="0" dirty="0">
                <a:ln>
                  <a:noFill/>
                </a:ln>
                <a:solidFill>
                  <a:srgbClr val="C00000"/>
                </a:solidFill>
                <a:effectLst/>
                <a:uLnTx/>
                <a:uFillTx/>
                <a:latin typeface="Garamond" pitchFamily="18" charset="0"/>
                <a:ea typeface="+mn-ea"/>
                <a:cs typeface="Arial" panose="020B0604020202020204" pitchFamily="34" charset="0"/>
              </a:rPr>
              <a:t>Product drawing</a:t>
            </a:r>
          </a:p>
          <a:p>
            <a:pPr marL="265113" marR="0" lvl="1" algn="just"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FF"/>
                </a:solidFill>
                <a:effectLst/>
                <a:uLnTx/>
                <a:uFillTx/>
                <a:latin typeface="Garamond" pitchFamily="18" charset="0"/>
                <a:ea typeface="+mn-ea"/>
                <a:cs typeface="Arial" panose="020B0604020202020204" pitchFamily="34" charset="0"/>
              </a:rPr>
              <a:t>Irrespective of engineering discipline, any engineer should have a bare minimal understanding of engineering drawing</a:t>
            </a:r>
          </a:p>
        </p:txBody>
      </p:sp>
      <p:sp>
        <p:nvSpPr>
          <p:cNvPr id="14342" name="TextBox 5"/>
          <p:cNvSpPr txBox="1">
            <a:spLocks noChangeArrowheads="1"/>
          </p:cNvSpPr>
          <p:nvPr/>
        </p:nvSpPr>
        <p:spPr bwMode="auto">
          <a:xfrm>
            <a:off x="152400" y="2862263"/>
            <a:ext cx="5443538" cy="1476375"/>
          </a:xfrm>
          <a:prstGeom prst="rect">
            <a:avLst/>
          </a:prstGeom>
          <a:noFill/>
          <a:ln w="2857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0000FF"/>
                </a:solidFill>
                <a:effectLst/>
                <a:uLnTx/>
                <a:uFillTx/>
                <a:latin typeface="Calibri" panose="020F0502020204030204" pitchFamily="34" charset="0"/>
                <a:ea typeface="+mn-ea"/>
                <a:cs typeface="Arial" panose="020B0604020202020204" pitchFamily="34" charset="0"/>
              </a:rPr>
              <a:t>A simple example: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C00000"/>
                </a:solidFill>
                <a:effectLst/>
                <a:uLnTx/>
                <a:uFillTx/>
                <a:latin typeface="Calibri" panose="020F0502020204030204" pitchFamily="34" charset="0"/>
                <a:ea typeface="+mn-ea"/>
                <a:cs typeface="Arial" panose="020B0604020202020204" pitchFamily="34" charset="0"/>
              </a:rPr>
              <a:t>What do you see from different angles?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These are categorized as different views in engineering drawing. These are vital information when you consider “a product to be developed” in place of a dice</a:t>
            </a:r>
          </a:p>
        </p:txBody>
      </p:sp>
      <p:grpSp>
        <p:nvGrpSpPr>
          <p:cNvPr id="14343" name="Group 32"/>
          <p:cNvGrpSpPr>
            <a:grpSpLocks/>
          </p:cNvGrpSpPr>
          <p:nvPr/>
        </p:nvGrpSpPr>
        <p:grpSpPr bwMode="auto">
          <a:xfrm>
            <a:off x="5583238" y="2306638"/>
            <a:ext cx="3460750" cy="3336925"/>
            <a:chOff x="5530020" y="3368840"/>
            <a:chExt cx="3461580" cy="3336760"/>
          </a:xfrm>
        </p:grpSpPr>
        <p:sp>
          <p:nvSpPr>
            <p:cNvPr id="14346" name="TextBox 25"/>
            <p:cNvSpPr txBox="1">
              <a:spLocks noChangeArrowheads="1"/>
            </p:cNvSpPr>
            <p:nvPr/>
          </p:nvSpPr>
          <p:spPr bwMode="auto">
            <a:xfrm>
              <a:off x="7463492" y="3368840"/>
              <a:ext cx="2968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T</a:t>
              </a:r>
            </a:p>
          </p:txBody>
        </p:sp>
        <p:grpSp>
          <p:nvGrpSpPr>
            <p:cNvPr id="14347" name="Group 26"/>
            <p:cNvGrpSpPr>
              <a:grpSpLocks/>
            </p:cNvGrpSpPr>
            <p:nvPr/>
          </p:nvGrpSpPr>
          <p:grpSpPr bwMode="auto">
            <a:xfrm>
              <a:off x="5530020" y="3489325"/>
              <a:ext cx="3461580" cy="3216275"/>
              <a:chOff x="5530020" y="3505200"/>
              <a:chExt cx="3461580" cy="3216275"/>
            </a:xfrm>
          </p:grpSpPr>
          <p:pic>
            <p:nvPicPr>
              <p:cNvPr id="14348" name="Picture 2"/>
              <p:cNvPicPr>
                <a:picLocks noChangeAspect="1"/>
              </p:cNvPicPr>
              <p:nvPr/>
            </p:nvPicPr>
            <p:blipFill>
              <a:blip r:embed="rId3">
                <a:extLst>
                  <a:ext uri="{28A0092B-C50C-407E-A947-70E740481C1C}">
                    <a14:useLocalDpi xmlns:a14="http://schemas.microsoft.com/office/drawing/2010/main" val="0"/>
                  </a:ext>
                </a:extLst>
              </a:blip>
              <a:srcRect l="49731" r="-2" b="30223"/>
              <a:stretch>
                <a:fillRect/>
              </a:stretch>
            </p:blipFill>
            <p:spPr bwMode="auto">
              <a:xfrm>
                <a:off x="6629400" y="4343400"/>
                <a:ext cx="1676400" cy="16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Straight Arrow Connector 14"/>
              <p:cNvCxnSpPr/>
              <p:nvPr/>
            </p:nvCxnSpPr>
            <p:spPr>
              <a:xfrm flipV="1">
                <a:off x="5530020" y="5175326"/>
                <a:ext cx="914619" cy="4571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8381854" y="4191125"/>
                <a:ext cx="609746" cy="4571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714214" y="4343518"/>
                <a:ext cx="730425" cy="3047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8381854" y="5562657"/>
                <a:ext cx="609746" cy="3381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7467234" y="3505359"/>
                <a:ext cx="0" cy="6857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7519634" y="6172227"/>
                <a:ext cx="0" cy="5492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355" name="TextBox 27"/>
              <p:cNvSpPr txBox="1">
                <a:spLocks noChangeArrowheads="1"/>
              </p:cNvSpPr>
              <p:nvPr/>
            </p:nvSpPr>
            <p:spPr bwMode="auto">
              <a:xfrm>
                <a:off x="5562600" y="4022195"/>
                <a:ext cx="4235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BS</a:t>
                </a:r>
              </a:p>
            </p:txBody>
          </p:sp>
          <p:sp>
            <p:nvSpPr>
              <p:cNvPr id="14356" name="TextBox 28"/>
              <p:cNvSpPr txBox="1">
                <a:spLocks noChangeArrowheads="1"/>
              </p:cNvSpPr>
              <p:nvPr/>
            </p:nvSpPr>
            <p:spPr bwMode="auto">
              <a:xfrm>
                <a:off x="5715000" y="5121076"/>
                <a:ext cx="3914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LS</a:t>
                </a:r>
              </a:p>
            </p:txBody>
          </p:sp>
          <p:sp>
            <p:nvSpPr>
              <p:cNvPr id="14357" name="TextBox 29"/>
              <p:cNvSpPr txBox="1">
                <a:spLocks noChangeArrowheads="1"/>
              </p:cNvSpPr>
              <p:nvPr/>
            </p:nvSpPr>
            <p:spPr bwMode="auto">
              <a:xfrm>
                <a:off x="8534400" y="4038600"/>
                <a:ext cx="4212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RS</a:t>
                </a:r>
              </a:p>
            </p:txBody>
          </p:sp>
          <p:sp>
            <p:nvSpPr>
              <p:cNvPr id="14358" name="TextBox 30"/>
              <p:cNvSpPr txBox="1">
                <a:spLocks noChangeArrowheads="1"/>
              </p:cNvSpPr>
              <p:nvPr/>
            </p:nvSpPr>
            <p:spPr bwMode="auto">
              <a:xfrm>
                <a:off x="8523946" y="5345668"/>
                <a:ext cx="3964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FS</a:t>
                </a:r>
              </a:p>
            </p:txBody>
          </p:sp>
          <p:sp>
            <p:nvSpPr>
              <p:cNvPr id="14359" name="TextBox 31"/>
              <p:cNvSpPr txBox="1">
                <a:spLocks noChangeArrowheads="1"/>
              </p:cNvSpPr>
              <p:nvPr/>
            </p:nvSpPr>
            <p:spPr bwMode="auto">
              <a:xfrm>
                <a:off x="7533346" y="6107668"/>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B</a:t>
                </a:r>
              </a:p>
            </p:txBody>
          </p:sp>
        </p:grpSp>
      </p:grpSp>
      <p:sp>
        <p:nvSpPr>
          <p:cNvPr id="14344" name="TextBox 33"/>
          <p:cNvSpPr txBox="1">
            <a:spLocks noChangeArrowheads="1"/>
          </p:cNvSpPr>
          <p:nvPr/>
        </p:nvSpPr>
        <p:spPr bwMode="auto">
          <a:xfrm>
            <a:off x="169863" y="4398963"/>
            <a:ext cx="3727450" cy="1200150"/>
          </a:xfrm>
          <a:prstGeom prst="rect">
            <a:avLst/>
          </a:prstGeom>
          <a:noFill/>
          <a:ln w="2857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T: Top view or plan; B: Bottom view</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FS: Front side view or elevation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BS: Back side view</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LS: Left side view; RS: Right side view</a:t>
            </a:r>
          </a:p>
        </p:txBody>
      </p:sp>
      <p:sp>
        <p:nvSpPr>
          <p:cNvPr id="14345" name="TextBox 34"/>
          <p:cNvSpPr txBox="1">
            <a:spLocks noChangeArrowheads="1"/>
          </p:cNvSpPr>
          <p:nvPr/>
        </p:nvSpPr>
        <p:spPr bwMode="auto">
          <a:xfrm>
            <a:off x="179388" y="5710238"/>
            <a:ext cx="8407400" cy="6461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33CC33"/>
                </a:solidFill>
                <a:effectLst/>
                <a:uLnTx/>
                <a:uFillTx/>
                <a:latin typeface="Calibri" panose="020F0502020204030204" pitchFamily="34" charset="0"/>
                <a:ea typeface="+mn-ea"/>
                <a:cs typeface="Arial" panose="020B0604020202020204" pitchFamily="34" charset="0"/>
              </a:rPr>
              <a:t>All the views have to be successfully perceived and sketched before it can be developed, be it a nano, micro or macro product</a:t>
            </a:r>
          </a:p>
        </p:txBody>
      </p:sp>
    </p:spTree>
    <p:extLst>
      <p:ext uri="{BB962C8B-B14F-4D97-AF65-F5344CB8AC3E}">
        <p14:creationId xmlns:p14="http://schemas.microsoft.com/office/powerpoint/2010/main" val="3665865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609600" y="1912013"/>
            <a:ext cx="7772400" cy="3108543"/>
          </a:xfrm>
          <a:prstGeom prst="rect">
            <a:avLst/>
          </a:prstGeom>
          <a:noFill/>
        </p:spPr>
        <p:txBody>
          <a:bodyPr wrap="square" rtlCol="0">
            <a:spAutoFit/>
          </a:bodyPr>
          <a:lstStyle/>
          <a:p>
            <a:pPr marL="4572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To make and read correct graphics representations of engineering objects, structures and designs</a:t>
            </a:r>
          </a:p>
          <a:p>
            <a:pPr marL="457200" marR="0" lvl="0" indent="-342900" algn="just"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endParaRPr>
          </a:p>
          <a:p>
            <a:pPr marL="457200" marR="0" lvl="0" indent="-28575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To be able to execute the work with neatness, speed, and accuracy</a:t>
            </a:r>
          </a:p>
          <a:p>
            <a:pPr marL="457200" marR="0" lvl="0" indent="-285750" algn="just"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endParaRPr>
          </a:p>
          <a:p>
            <a:pPr marL="457200" marR="0" lvl="0" indent="-28575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To visualize the objects in three-dimension space</a:t>
            </a:r>
          </a:p>
        </p:txBody>
      </p:sp>
      <p:sp>
        <p:nvSpPr>
          <p:cNvPr id="5" name="Title 5"/>
          <p:cNvSpPr txBox="1">
            <a:spLocks/>
          </p:cNvSpPr>
          <p:nvPr/>
        </p:nvSpPr>
        <p:spPr>
          <a:xfrm>
            <a:off x="266700" y="609600"/>
            <a:ext cx="8229600" cy="762000"/>
          </a:xfrm>
          <a:prstGeom prst="rect">
            <a:avLst/>
          </a:prstGeom>
        </p:spPr>
        <p:txBody>
          <a:bodyPr/>
          <a:lstStyle>
            <a:lvl1pPr algn="ctr" defTabSz="914400" rtl="0" eaLnBrk="1" latinLnBrk="0" hangingPunct="1">
              <a:spcBef>
                <a:spcPct val="0"/>
              </a:spcBef>
              <a:buNone/>
              <a:defRPr sz="4400" kern="1200">
                <a:solidFill>
                  <a:schemeClr val="tx1"/>
                </a:solidFill>
                <a:latin typeface="Adobe Garamond Pro Bold" pitchFamily="18"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4400" b="1" i="0" u="none" strike="noStrike" kern="1200" cap="none" spc="0" normalizeH="0" baseline="0" noProof="0" dirty="0">
                <a:ln>
                  <a:noFill/>
                </a:ln>
                <a:solidFill>
                  <a:srgbClr val="6600CC"/>
                </a:solidFill>
                <a:effectLst/>
                <a:uLnTx/>
                <a:uFillTx/>
                <a:latin typeface="Adobe Garamond Pro Bold" pitchFamily="18" charset="0"/>
                <a:ea typeface="+mj-ea"/>
                <a:cs typeface="+mj-cs"/>
              </a:rPr>
              <a:t>Objectives</a:t>
            </a:r>
          </a:p>
        </p:txBody>
      </p:sp>
    </p:spTree>
    <p:extLst>
      <p:ext uri="{BB962C8B-B14F-4D97-AF65-F5344CB8AC3E}">
        <p14:creationId xmlns:p14="http://schemas.microsoft.com/office/powerpoint/2010/main" val="112637121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srcRect/>
          <a:stretch>
            <a:fillRect/>
          </a:stretch>
        </p:blipFill>
        <p:spPr bwMode="auto">
          <a:xfrm>
            <a:off x="280035" y="77152"/>
            <a:ext cx="8863965" cy="6780848"/>
          </a:xfrm>
          <a:prstGeom prst="rect">
            <a:avLst/>
          </a:prstGeom>
          <a:noFill/>
          <a:ln w="9525">
            <a:noFill/>
            <a:miter lim="800000"/>
            <a:headEnd/>
            <a:tailEnd/>
          </a:ln>
          <a:effectLst/>
        </p:spPr>
      </p:pic>
    </p:spTree>
    <p:extLst>
      <p:ext uri="{BB962C8B-B14F-4D97-AF65-F5344CB8AC3E}">
        <p14:creationId xmlns:p14="http://schemas.microsoft.com/office/powerpoint/2010/main" val="14233881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0" y="0"/>
            <a:ext cx="6167628" cy="4343400"/>
          </a:xfrm>
          <a:prstGeom prst="rect">
            <a:avLst/>
          </a:prstGeom>
          <a:noFill/>
          <a:ln w="9525">
            <a:noFill/>
            <a:miter lim="800000"/>
            <a:headEnd/>
            <a:tailEnd/>
          </a:ln>
          <a:effectLst/>
        </p:spPr>
      </p:pic>
      <p:pic>
        <p:nvPicPr>
          <p:cNvPr id="3" name="Picture 2"/>
          <p:cNvPicPr>
            <a:picLocks noChangeAspect="1" noChangeArrowheads="1"/>
          </p:cNvPicPr>
          <p:nvPr/>
        </p:nvPicPr>
        <p:blipFill>
          <a:blip r:embed="rId4" cstate="print"/>
          <a:srcRect b="12950"/>
          <a:stretch>
            <a:fillRect/>
          </a:stretch>
        </p:blipFill>
        <p:spPr bwMode="auto">
          <a:xfrm>
            <a:off x="3143250" y="3474234"/>
            <a:ext cx="6000750" cy="3383766"/>
          </a:xfrm>
          <a:prstGeom prst="rect">
            <a:avLst/>
          </a:prstGeom>
          <a:noFill/>
          <a:ln w="9525">
            <a:noFill/>
            <a:miter lim="800000"/>
            <a:headEnd/>
            <a:tailEnd/>
          </a:ln>
          <a:effectLst/>
        </p:spPr>
      </p:pic>
    </p:spTree>
    <p:extLst>
      <p:ext uri="{BB962C8B-B14F-4D97-AF65-F5344CB8AC3E}">
        <p14:creationId xmlns:p14="http://schemas.microsoft.com/office/powerpoint/2010/main" val="5459049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3" cstate="print"/>
          <a:srcRect t="14060" r="5941" b="6319"/>
          <a:stretch>
            <a:fillRect/>
          </a:stretch>
        </p:blipFill>
        <p:spPr bwMode="auto">
          <a:xfrm>
            <a:off x="2340680" y="2057400"/>
            <a:ext cx="6803319" cy="4511675"/>
          </a:xfrm>
          <a:prstGeom prst="rect">
            <a:avLst/>
          </a:prstGeom>
          <a:noFill/>
          <a:ln w="9525">
            <a:noFill/>
            <a:miter lim="800000"/>
            <a:headEnd/>
            <a:tailEnd/>
          </a:ln>
          <a:effectLst/>
        </p:spPr>
      </p:pic>
      <p:pic>
        <p:nvPicPr>
          <p:cNvPr id="7170" name="Picture 2"/>
          <p:cNvPicPr>
            <a:picLocks noChangeAspect="1" noChangeArrowheads="1"/>
          </p:cNvPicPr>
          <p:nvPr/>
        </p:nvPicPr>
        <p:blipFill>
          <a:blip r:embed="rId4" cstate="print"/>
          <a:srcRect/>
          <a:stretch>
            <a:fillRect/>
          </a:stretch>
        </p:blipFill>
        <p:spPr bwMode="auto">
          <a:xfrm>
            <a:off x="0" y="1"/>
            <a:ext cx="4511040" cy="2819400"/>
          </a:xfrm>
          <a:prstGeom prst="rect">
            <a:avLst/>
          </a:prstGeom>
          <a:noFill/>
          <a:ln w="9525">
            <a:noFill/>
            <a:miter lim="800000"/>
            <a:headEnd/>
            <a:tailEnd/>
          </a:ln>
          <a:effectLst/>
        </p:spPr>
      </p:pic>
    </p:spTree>
    <p:extLst>
      <p:ext uri="{BB962C8B-B14F-4D97-AF65-F5344CB8AC3E}">
        <p14:creationId xmlns:p14="http://schemas.microsoft.com/office/powerpoint/2010/main" val="39602183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sz="3600" b="1" dirty="0">
                <a:solidFill>
                  <a:srgbClr val="3333FF"/>
                </a:solidFill>
                <a:latin typeface="Arial" panose="020B0604020202020204" pitchFamily="34" charset="0"/>
                <a:cs typeface="Arial" panose="020B0604020202020204" pitchFamily="34" charset="0"/>
              </a:rPr>
              <a:t>Lab Pre-requisites</a:t>
            </a:r>
          </a:p>
        </p:txBody>
      </p:sp>
      <p:sp>
        <p:nvSpPr>
          <p:cNvPr id="3" name="Content Placeholder 2"/>
          <p:cNvSpPr>
            <a:spLocks noGrp="1"/>
          </p:cNvSpPr>
          <p:nvPr>
            <p:ph idx="1"/>
          </p:nvPr>
        </p:nvSpPr>
        <p:spPr>
          <a:xfrm>
            <a:off x="457200" y="1646237"/>
            <a:ext cx="8229600" cy="4525963"/>
          </a:xfrm>
        </p:spPr>
        <p:txBody>
          <a:bodyPr rtlCol="0">
            <a:normAutofit fontScale="85000" lnSpcReduction="20000"/>
          </a:bodyPr>
          <a:lstStyle/>
          <a:p>
            <a:pPr eaLnBrk="1" fontAlgn="auto" hangingPunct="1">
              <a:spcAft>
                <a:spcPts val="0"/>
              </a:spcAft>
              <a:defRPr/>
            </a:pPr>
            <a:r>
              <a:rPr lang="en-US"/>
              <a:t>Mini Drafter</a:t>
            </a:r>
          </a:p>
          <a:p>
            <a:pPr eaLnBrk="1" fontAlgn="auto" hangingPunct="1">
              <a:spcAft>
                <a:spcPts val="0"/>
              </a:spcAft>
              <a:defRPr/>
            </a:pPr>
            <a:r>
              <a:rPr lang="en-US"/>
              <a:t>Drawing sheet</a:t>
            </a:r>
          </a:p>
          <a:p>
            <a:pPr eaLnBrk="1" fontAlgn="auto" hangingPunct="1">
              <a:spcAft>
                <a:spcPts val="0"/>
              </a:spcAft>
              <a:defRPr/>
            </a:pPr>
            <a:r>
              <a:rPr lang="en-US"/>
              <a:t>Instrument box </a:t>
            </a:r>
          </a:p>
          <a:p>
            <a:pPr lvl="1" eaLnBrk="1" fontAlgn="auto" hangingPunct="1">
              <a:spcAft>
                <a:spcPts val="0"/>
              </a:spcAft>
              <a:defRPr/>
            </a:pPr>
            <a:r>
              <a:rPr lang="en-US"/>
              <a:t>compasses </a:t>
            </a:r>
          </a:p>
          <a:p>
            <a:pPr lvl="1" eaLnBrk="1" fontAlgn="auto" hangingPunct="1">
              <a:spcAft>
                <a:spcPts val="0"/>
              </a:spcAft>
              <a:defRPr/>
            </a:pPr>
            <a:r>
              <a:rPr lang="en-US"/>
              <a:t>dividers </a:t>
            </a:r>
          </a:p>
          <a:p>
            <a:pPr lvl="1" eaLnBrk="1" fontAlgn="auto" hangingPunct="1">
              <a:spcAft>
                <a:spcPts val="0"/>
              </a:spcAft>
              <a:defRPr/>
            </a:pPr>
            <a:r>
              <a:rPr lang="en-US"/>
              <a:t>Set-squares</a:t>
            </a:r>
          </a:p>
          <a:p>
            <a:pPr lvl="1" eaLnBrk="1" fontAlgn="auto" hangingPunct="1">
              <a:spcAft>
                <a:spcPts val="0"/>
              </a:spcAft>
              <a:defRPr/>
            </a:pPr>
            <a:r>
              <a:rPr lang="en-US"/>
              <a:t>eraser </a:t>
            </a:r>
          </a:p>
          <a:p>
            <a:pPr lvl="1" eaLnBrk="1" fontAlgn="auto" hangingPunct="1">
              <a:spcAft>
                <a:spcPts val="0"/>
              </a:spcAft>
              <a:defRPr/>
            </a:pPr>
            <a:r>
              <a:rPr lang="en-US"/>
              <a:t>French curves</a:t>
            </a:r>
          </a:p>
          <a:p>
            <a:pPr eaLnBrk="1" fontAlgn="auto" hangingPunct="1">
              <a:spcAft>
                <a:spcPts val="0"/>
              </a:spcAft>
              <a:defRPr/>
            </a:pPr>
            <a:r>
              <a:rPr lang="en-US"/>
              <a:t>Drawing clips, pins or adhesive tape</a:t>
            </a:r>
          </a:p>
          <a:p>
            <a:pPr eaLnBrk="1" fontAlgn="auto" hangingPunct="1">
              <a:spcAft>
                <a:spcPts val="0"/>
              </a:spcAft>
              <a:defRPr/>
            </a:pPr>
            <a:r>
              <a:rPr lang="en-US"/>
              <a:t>Pencils: Grades: H, 2H, HB and B</a:t>
            </a:r>
          </a:p>
          <a:p>
            <a:pPr eaLnBrk="1" fontAlgn="auto" hangingPunct="1">
              <a:spcAft>
                <a:spcPts val="0"/>
              </a:spcAft>
              <a:defRPr/>
            </a:pPr>
            <a:r>
              <a:rPr lang="en-US"/>
              <a:t>Pencil sharpener</a:t>
            </a:r>
            <a:endParaRPr lang="en-US" dirty="0"/>
          </a:p>
        </p:txBody>
      </p:sp>
    </p:spTree>
    <p:extLst>
      <p:ext uri="{BB962C8B-B14F-4D97-AF65-F5344CB8AC3E}">
        <p14:creationId xmlns:p14="http://schemas.microsoft.com/office/powerpoint/2010/main" val="34205392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28600" y="685800"/>
            <a:ext cx="8839200" cy="2362200"/>
          </a:xfrm>
          <a:prstGeom prst="rect">
            <a:avLst/>
          </a:prstGeom>
          <a:noFill/>
          <a:ln w="9525">
            <a:noFill/>
            <a:miter lim="800000"/>
            <a:headEnd/>
            <a:tailEnd/>
          </a:ln>
          <a:effectLst/>
        </p:spPr>
      </p:pic>
      <p:sp>
        <p:nvSpPr>
          <p:cNvPr id="3" name="Oval 2"/>
          <p:cNvSpPr/>
          <p:nvPr/>
        </p:nvSpPr>
        <p:spPr>
          <a:xfrm>
            <a:off x="1143000" y="2286000"/>
            <a:ext cx="3429000" cy="228600"/>
          </a:xfrm>
          <a:prstGeom prst="ellipse">
            <a:avLst/>
          </a:prstGeom>
          <a:solidFill>
            <a:srgbClr val="FFFF00">
              <a:alpha val="29000"/>
            </a:srgb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Oval 3"/>
          <p:cNvSpPr/>
          <p:nvPr/>
        </p:nvSpPr>
        <p:spPr>
          <a:xfrm>
            <a:off x="5181600" y="2286000"/>
            <a:ext cx="3429000" cy="228600"/>
          </a:xfrm>
          <a:prstGeom prst="ellipse">
            <a:avLst/>
          </a:prstGeom>
          <a:solidFill>
            <a:srgbClr val="FFFF00">
              <a:alpha val="29000"/>
            </a:srgb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5" name="Picture 8"/>
          <p:cNvPicPr>
            <a:picLocks noChangeAspect="1" noChangeArrowheads="1"/>
          </p:cNvPicPr>
          <p:nvPr/>
        </p:nvPicPr>
        <p:blipFill>
          <a:blip r:embed="rId3" cstate="print"/>
          <a:srcRect/>
          <a:stretch>
            <a:fillRect/>
          </a:stretch>
        </p:blipFill>
        <p:spPr bwMode="auto">
          <a:xfrm>
            <a:off x="76200" y="3149025"/>
            <a:ext cx="7620000" cy="2849563"/>
          </a:xfrm>
          <a:prstGeom prst="rect">
            <a:avLst/>
          </a:prstGeom>
          <a:noFill/>
          <a:ln w="9525">
            <a:noFill/>
            <a:miter lim="800000"/>
            <a:headEnd/>
            <a:tailEnd/>
          </a:ln>
          <a:effectLst/>
        </p:spPr>
      </p:pic>
      <p:sp>
        <p:nvSpPr>
          <p:cNvPr id="8" name="TextBox 7"/>
          <p:cNvSpPr txBox="1"/>
          <p:nvPr/>
        </p:nvSpPr>
        <p:spPr>
          <a:xfrm>
            <a:off x="0" y="0"/>
            <a:ext cx="8915400" cy="584775"/>
          </a:xfrm>
          <a:prstGeom prst="rect">
            <a:avLst/>
          </a:prstGeom>
          <a:noFill/>
        </p:spPr>
        <p:txBody>
          <a:bodyPr wrap="square" rtlCol="0">
            <a:spAutoFit/>
          </a:bodyPr>
          <a:lstStyle/>
          <a:p>
            <a:pPr lvl="0" fontAlgn="auto">
              <a:spcBef>
                <a:spcPts val="0"/>
              </a:spcBef>
              <a:spcAft>
                <a:spcPts val="0"/>
              </a:spcAft>
              <a:defRPr/>
            </a:pPr>
            <a:r>
              <a:rPr lang="en-US" sz="3200" b="1" dirty="0">
                <a:solidFill>
                  <a:srgbClr val="6600CC"/>
                </a:solidFill>
                <a:latin typeface="Garamond" pitchFamily="18" charset="0"/>
              </a:rPr>
              <a:t>Prerequisite For Engineering Drawing</a:t>
            </a:r>
          </a:p>
        </p:txBody>
      </p:sp>
      <p:sp>
        <p:nvSpPr>
          <p:cNvPr id="7" name="Rectangle 6"/>
          <p:cNvSpPr/>
          <p:nvPr/>
        </p:nvSpPr>
        <p:spPr>
          <a:xfrm>
            <a:off x="228600" y="685800"/>
            <a:ext cx="10668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4"/>
          <a:stretch>
            <a:fillRect/>
          </a:stretch>
        </p:blipFill>
        <p:spPr>
          <a:xfrm>
            <a:off x="6466593" y="3962400"/>
            <a:ext cx="2601207" cy="2523874"/>
          </a:xfrm>
          <a:prstGeom prst="rect">
            <a:avLst/>
          </a:prstGeom>
        </p:spPr>
      </p:pic>
    </p:spTree>
    <p:extLst>
      <p:ext uri="{BB962C8B-B14F-4D97-AF65-F5344CB8AC3E}">
        <p14:creationId xmlns:p14="http://schemas.microsoft.com/office/powerpoint/2010/main" val="30454586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762000" y="2895600"/>
            <a:ext cx="7543800" cy="3733800"/>
            <a:chOff x="533400" y="2819400"/>
            <a:chExt cx="8172450" cy="3886200"/>
          </a:xfrm>
        </p:grpSpPr>
        <p:pic>
          <p:nvPicPr>
            <p:cNvPr id="3" name="Picture 2"/>
            <p:cNvPicPr>
              <a:picLocks noChangeAspect="1" noChangeArrowheads="1"/>
            </p:cNvPicPr>
            <p:nvPr/>
          </p:nvPicPr>
          <p:blipFill>
            <a:blip r:embed="rId2" cstate="print"/>
            <a:srcRect t="7901"/>
            <a:stretch>
              <a:fillRect/>
            </a:stretch>
          </p:blipFill>
          <p:spPr bwMode="auto">
            <a:xfrm>
              <a:off x="533400" y="2819400"/>
              <a:ext cx="8172450" cy="3886200"/>
            </a:xfrm>
            <a:prstGeom prst="rect">
              <a:avLst/>
            </a:prstGeom>
            <a:noFill/>
            <a:ln w="38100">
              <a:solidFill>
                <a:srgbClr val="00B050"/>
              </a:solidFill>
              <a:miter lim="800000"/>
              <a:headEnd/>
              <a:tailEnd/>
            </a:ln>
            <a:effectLst/>
          </p:spPr>
        </p:pic>
        <p:sp>
          <p:nvSpPr>
            <p:cNvPr id="5" name="Oval 4"/>
            <p:cNvSpPr>
              <a:spLocks noChangeAspect="1"/>
            </p:cNvSpPr>
            <p:nvPr/>
          </p:nvSpPr>
          <p:spPr>
            <a:xfrm>
              <a:off x="4847082" y="3657600"/>
              <a:ext cx="304800" cy="335280"/>
            </a:xfrm>
            <a:prstGeom prst="ellipse">
              <a:avLst/>
            </a:prstGeom>
            <a:noFill/>
            <a:ln w="3810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Oval 5"/>
            <p:cNvSpPr>
              <a:spLocks noChangeAspect="1"/>
            </p:cNvSpPr>
            <p:nvPr/>
          </p:nvSpPr>
          <p:spPr>
            <a:xfrm>
              <a:off x="3667506" y="3657600"/>
              <a:ext cx="312927" cy="335280"/>
            </a:xfrm>
            <a:prstGeom prst="ellipse">
              <a:avLst/>
            </a:prstGeom>
            <a:noFill/>
            <a:ln w="3810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a:spLocks noChangeAspect="1"/>
            </p:cNvSpPr>
            <p:nvPr/>
          </p:nvSpPr>
          <p:spPr>
            <a:xfrm>
              <a:off x="4080510" y="3657600"/>
              <a:ext cx="304800" cy="335280"/>
            </a:xfrm>
            <a:prstGeom prst="ellipse">
              <a:avLst/>
            </a:prstGeom>
            <a:noFill/>
            <a:ln w="3810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Oval 12"/>
            <p:cNvSpPr>
              <a:spLocks noChangeAspect="1"/>
            </p:cNvSpPr>
            <p:nvPr/>
          </p:nvSpPr>
          <p:spPr>
            <a:xfrm>
              <a:off x="5261864" y="3657600"/>
              <a:ext cx="304800" cy="335280"/>
            </a:xfrm>
            <a:prstGeom prst="ellipse">
              <a:avLst/>
            </a:prstGeom>
            <a:noFill/>
            <a:ln w="3810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32770"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66000"/>
                    </a14:imgEffect>
                    <a14:imgEffect>
                      <a14:brightnessContrast contrast="20000"/>
                    </a14:imgEffect>
                  </a14:imgLayer>
                </a14:imgProps>
              </a:ext>
            </a:extLst>
          </a:blip>
          <a:srcRect/>
          <a:stretch>
            <a:fillRect/>
          </a:stretch>
        </p:blipFill>
        <p:spPr bwMode="auto">
          <a:xfrm>
            <a:off x="2164080" y="533400"/>
            <a:ext cx="4389120" cy="2143125"/>
          </a:xfrm>
          <a:prstGeom prst="rect">
            <a:avLst/>
          </a:prstGeom>
          <a:noFill/>
          <a:ln w="9525">
            <a:noFill/>
            <a:miter lim="800000"/>
            <a:headEnd/>
            <a:tailEnd/>
          </a:ln>
          <a:effectLst/>
        </p:spPr>
      </p:pic>
      <p:sp>
        <p:nvSpPr>
          <p:cNvPr id="4" name="TextBox 3"/>
          <p:cNvSpPr txBox="1"/>
          <p:nvPr/>
        </p:nvSpPr>
        <p:spPr>
          <a:xfrm>
            <a:off x="3645877" y="2826563"/>
            <a:ext cx="2819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Lead Grade Sheet</a:t>
            </a:r>
          </a:p>
        </p:txBody>
      </p:sp>
      <p:sp>
        <p:nvSpPr>
          <p:cNvPr id="10" name="TextBox 9"/>
          <p:cNvSpPr txBox="1"/>
          <p:nvPr/>
        </p:nvSpPr>
        <p:spPr>
          <a:xfrm>
            <a:off x="0" y="0"/>
            <a:ext cx="891540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6600CC"/>
                </a:solidFill>
                <a:effectLst/>
                <a:uLnTx/>
                <a:uFillTx/>
                <a:latin typeface="Garamond" pitchFamily="18" charset="0"/>
                <a:ea typeface="+mn-ea"/>
                <a:cs typeface="+mn-cs"/>
              </a:rPr>
              <a:t>Prerequisite For Engineering Drawing</a:t>
            </a:r>
          </a:p>
        </p:txBody>
      </p:sp>
    </p:spTree>
    <p:extLst>
      <p:ext uri="{BB962C8B-B14F-4D97-AF65-F5344CB8AC3E}">
        <p14:creationId xmlns:p14="http://schemas.microsoft.com/office/powerpoint/2010/main" val="11187307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p:cNvPicPr>
            <a:picLocks noChangeAspect="1" noChangeArrowheads="1"/>
          </p:cNvPicPr>
          <p:nvPr/>
        </p:nvPicPr>
        <p:blipFill>
          <a:blip r:embed="rId2" cstate="print"/>
          <a:srcRect l="5299" r="5381" b="8996"/>
          <a:stretch>
            <a:fillRect/>
          </a:stretch>
        </p:blipFill>
        <p:spPr bwMode="auto">
          <a:xfrm>
            <a:off x="76200" y="932360"/>
            <a:ext cx="8991600" cy="5316040"/>
          </a:xfrm>
          <a:prstGeom prst="rect">
            <a:avLst/>
          </a:prstGeom>
          <a:noFill/>
          <a:ln w="9525">
            <a:noFill/>
            <a:miter lim="800000"/>
            <a:headEnd/>
            <a:tailEnd/>
          </a:ln>
          <a:effectLst/>
        </p:spPr>
      </p:pic>
      <p:sp>
        <p:nvSpPr>
          <p:cNvPr id="5" name="TextBox 4"/>
          <p:cNvSpPr txBox="1"/>
          <p:nvPr/>
        </p:nvSpPr>
        <p:spPr>
          <a:xfrm>
            <a:off x="0" y="0"/>
            <a:ext cx="891540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6600CC"/>
                </a:solidFill>
                <a:effectLst/>
                <a:uLnTx/>
                <a:uFillTx/>
                <a:latin typeface="Garamond" pitchFamily="18" charset="0"/>
                <a:ea typeface="+mn-ea"/>
                <a:cs typeface="+mn-cs"/>
              </a:rPr>
              <a:t>Prerequisite For Engineering Drawing</a:t>
            </a:r>
          </a:p>
        </p:txBody>
      </p:sp>
    </p:spTree>
    <p:extLst>
      <p:ext uri="{BB962C8B-B14F-4D97-AF65-F5344CB8AC3E}">
        <p14:creationId xmlns:p14="http://schemas.microsoft.com/office/powerpoint/2010/main" val="12559821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cstate="print">
            <a:clrChange>
              <a:clrFrom>
                <a:srgbClr val="FFFFFF"/>
              </a:clrFrom>
              <a:clrTo>
                <a:srgbClr val="FFFFFF">
                  <a:alpha val="0"/>
                </a:srgbClr>
              </a:clrTo>
            </a:clrChange>
          </a:blip>
          <a:srcRect b="4333"/>
          <a:stretch>
            <a:fillRect/>
          </a:stretch>
        </p:blipFill>
        <p:spPr bwMode="auto">
          <a:xfrm>
            <a:off x="457199" y="396811"/>
            <a:ext cx="8610601" cy="6369749"/>
          </a:xfrm>
          <a:prstGeom prst="rect">
            <a:avLst/>
          </a:prstGeom>
          <a:noFill/>
          <a:ln w="9525">
            <a:noFill/>
            <a:miter lim="800000"/>
            <a:headEnd/>
            <a:tailEnd/>
          </a:ln>
          <a:effectLst/>
        </p:spPr>
      </p:pic>
      <p:sp>
        <p:nvSpPr>
          <p:cNvPr id="5" name="TextBox 4"/>
          <p:cNvSpPr txBox="1"/>
          <p:nvPr/>
        </p:nvSpPr>
        <p:spPr>
          <a:xfrm>
            <a:off x="0" y="0"/>
            <a:ext cx="891540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6600CC"/>
                </a:solidFill>
                <a:effectLst/>
                <a:uLnTx/>
                <a:uFillTx/>
                <a:latin typeface="Garamond" pitchFamily="18" charset="0"/>
                <a:ea typeface="+mn-ea"/>
                <a:cs typeface="+mn-cs"/>
              </a:rPr>
              <a:t>Prerequisite For Engineering Drawing</a:t>
            </a:r>
          </a:p>
        </p:txBody>
      </p:sp>
    </p:spTree>
    <p:extLst>
      <p:ext uri="{BB962C8B-B14F-4D97-AF65-F5344CB8AC3E}">
        <p14:creationId xmlns:p14="http://schemas.microsoft.com/office/powerpoint/2010/main" val="30827474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srcRect b="18248"/>
          <a:stretch>
            <a:fillRect/>
          </a:stretch>
        </p:blipFill>
        <p:spPr bwMode="auto">
          <a:xfrm>
            <a:off x="0" y="0"/>
            <a:ext cx="4067175" cy="2133600"/>
          </a:xfrm>
          <a:prstGeom prst="rect">
            <a:avLst/>
          </a:prstGeom>
          <a:noFill/>
          <a:ln w="9525">
            <a:noFill/>
            <a:miter lim="800000"/>
            <a:headEnd/>
            <a:tailEnd/>
          </a:ln>
          <a:effectLst/>
        </p:spPr>
      </p:pic>
      <p:pic>
        <p:nvPicPr>
          <p:cNvPr id="6" name="Picture 4"/>
          <p:cNvPicPr>
            <a:picLocks noChangeAspect="1" noChangeArrowheads="1"/>
          </p:cNvPicPr>
          <p:nvPr/>
        </p:nvPicPr>
        <p:blipFill>
          <a:blip r:embed="rId3" cstate="print"/>
          <a:srcRect l="66071" t="7940" b="10670"/>
          <a:stretch>
            <a:fillRect/>
          </a:stretch>
        </p:blipFill>
        <p:spPr bwMode="auto">
          <a:xfrm>
            <a:off x="7696200" y="0"/>
            <a:ext cx="1447800" cy="3124200"/>
          </a:xfrm>
          <a:prstGeom prst="rect">
            <a:avLst/>
          </a:prstGeom>
          <a:noFill/>
          <a:ln w="9525">
            <a:noFill/>
            <a:miter lim="800000"/>
            <a:headEnd/>
            <a:tailEnd/>
          </a:ln>
          <a:effectLst/>
        </p:spPr>
      </p:pic>
      <p:pic>
        <p:nvPicPr>
          <p:cNvPr id="7" name="Picture 2"/>
          <p:cNvPicPr>
            <a:picLocks noChangeAspect="1" noChangeArrowheads="1"/>
          </p:cNvPicPr>
          <p:nvPr/>
        </p:nvPicPr>
        <p:blipFill>
          <a:blip r:embed="rId4" cstate="print"/>
          <a:srcRect l="21834" b="15138"/>
          <a:stretch>
            <a:fillRect/>
          </a:stretch>
        </p:blipFill>
        <p:spPr bwMode="auto">
          <a:xfrm>
            <a:off x="4648200" y="228600"/>
            <a:ext cx="2727960" cy="2819400"/>
          </a:xfrm>
          <a:prstGeom prst="rect">
            <a:avLst/>
          </a:prstGeom>
          <a:noFill/>
          <a:ln w="9525">
            <a:noFill/>
            <a:miter lim="800000"/>
            <a:headEnd/>
            <a:tailEnd/>
          </a:ln>
          <a:effectLst/>
        </p:spPr>
      </p:pic>
      <p:pic>
        <p:nvPicPr>
          <p:cNvPr id="8" name="Picture 3"/>
          <p:cNvPicPr>
            <a:picLocks noChangeAspect="1" noChangeArrowheads="1"/>
          </p:cNvPicPr>
          <p:nvPr/>
        </p:nvPicPr>
        <p:blipFill>
          <a:blip r:embed="rId5" cstate="print"/>
          <a:srcRect b="12308"/>
          <a:stretch>
            <a:fillRect/>
          </a:stretch>
        </p:blipFill>
        <p:spPr bwMode="auto">
          <a:xfrm>
            <a:off x="53349" y="4161222"/>
            <a:ext cx="3116580" cy="2171692"/>
          </a:xfrm>
          <a:prstGeom prst="rect">
            <a:avLst/>
          </a:prstGeom>
          <a:noFill/>
          <a:ln w="9525">
            <a:noFill/>
            <a:miter lim="800000"/>
            <a:headEnd/>
            <a:tailEnd/>
          </a:ln>
          <a:effectLst/>
        </p:spPr>
      </p:pic>
      <p:pic>
        <p:nvPicPr>
          <p:cNvPr id="10" name="Picture 3"/>
          <p:cNvPicPr>
            <a:picLocks noChangeAspect="1" noChangeArrowheads="1"/>
          </p:cNvPicPr>
          <p:nvPr/>
        </p:nvPicPr>
        <p:blipFill>
          <a:blip r:embed="rId6" cstate="print"/>
          <a:srcRect t="19403" r="8808"/>
          <a:stretch>
            <a:fillRect/>
          </a:stretch>
        </p:blipFill>
        <p:spPr bwMode="auto">
          <a:xfrm>
            <a:off x="3358887" y="4732020"/>
            <a:ext cx="2682249" cy="1645920"/>
          </a:xfrm>
          <a:prstGeom prst="rect">
            <a:avLst/>
          </a:prstGeom>
          <a:noFill/>
          <a:ln w="9525">
            <a:noFill/>
            <a:miter lim="800000"/>
            <a:headEnd/>
            <a:tailEnd/>
          </a:ln>
          <a:effectLst/>
        </p:spPr>
      </p:pic>
      <p:pic>
        <p:nvPicPr>
          <p:cNvPr id="35846" name="Picture 6"/>
          <p:cNvPicPr>
            <a:picLocks noChangeAspect="1" noChangeArrowheads="1"/>
          </p:cNvPicPr>
          <p:nvPr/>
        </p:nvPicPr>
        <p:blipFill>
          <a:blip r:embed="rId7" cstate="print"/>
          <a:srcRect/>
          <a:stretch>
            <a:fillRect/>
          </a:stretch>
        </p:blipFill>
        <p:spPr bwMode="auto">
          <a:xfrm>
            <a:off x="3288039" y="2955354"/>
            <a:ext cx="3509010" cy="1531620"/>
          </a:xfrm>
          <a:prstGeom prst="rect">
            <a:avLst/>
          </a:prstGeom>
          <a:noFill/>
          <a:ln w="9525">
            <a:noFill/>
            <a:miter lim="800000"/>
            <a:headEnd/>
            <a:tailEnd/>
          </a:ln>
          <a:effectLst/>
        </p:spPr>
      </p:pic>
      <p:pic>
        <p:nvPicPr>
          <p:cNvPr id="35847" name="Picture 7"/>
          <p:cNvPicPr>
            <a:picLocks noChangeAspect="1" noChangeArrowheads="1"/>
          </p:cNvPicPr>
          <p:nvPr/>
        </p:nvPicPr>
        <p:blipFill>
          <a:blip r:embed="rId8" cstate="print"/>
          <a:srcRect/>
          <a:stretch>
            <a:fillRect/>
          </a:stretch>
        </p:blipFill>
        <p:spPr bwMode="auto">
          <a:xfrm>
            <a:off x="76200" y="2209800"/>
            <a:ext cx="3381375" cy="1733550"/>
          </a:xfrm>
          <a:prstGeom prst="rect">
            <a:avLst/>
          </a:prstGeom>
          <a:noFill/>
          <a:ln w="9525">
            <a:noFill/>
            <a:miter lim="800000"/>
            <a:headEnd/>
            <a:tailEnd/>
          </a:ln>
          <a:effectLst/>
        </p:spPr>
      </p:pic>
      <p:pic>
        <p:nvPicPr>
          <p:cNvPr id="15" name="Picture 2"/>
          <p:cNvPicPr>
            <a:picLocks noChangeAspect="1" noChangeArrowheads="1"/>
          </p:cNvPicPr>
          <p:nvPr/>
        </p:nvPicPr>
        <p:blipFill>
          <a:blip r:embed="rId9" cstate="print"/>
          <a:srcRect/>
          <a:stretch>
            <a:fillRect/>
          </a:stretch>
        </p:blipFill>
        <p:spPr bwMode="auto">
          <a:xfrm>
            <a:off x="6217920" y="4182873"/>
            <a:ext cx="2926080" cy="2251710"/>
          </a:xfrm>
          <a:prstGeom prst="rect">
            <a:avLst/>
          </a:prstGeom>
          <a:noFill/>
          <a:ln w="9525">
            <a:noFill/>
            <a:miter lim="800000"/>
            <a:headEnd/>
            <a:tailEnd/>
          </a:ln>
          <a:effectLst/>
        </p:spPr>
      </p:pic>
    </p:spTree>
    <p:extLst>
      <p:ext uri="{BB962C8B-B14F-4D97-AF65-F5344CB8AC3E}">
        <p14:creationId xmlns:p14="http://schemas.microsoft.com/office/powerpoint/2010/main" val="14426077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8" name="Picture 4"/>
          <p:cNvPicPr>
            <a:picLocks noChangeAspect="1" noChangeArrowheads="1"/>
          </p:cNvPicPr>
          <p:nvPr/>
        </p:nvPicPr>
        <p:blipFill>
          <a:blip r:embed="rId2" cstate="print"/>
          <a:srcRect/>
          <a:stretch>
            <a:fillRect/>
          </a:stretch>
        </p:blipFill>
        <p:spPr bwMode="auto">
          <a:xfrm>
            <a:off x="533400" y="584775"/>
            <a:ext cx="7467600" cy="6144767"/>
          </a:xfrm>
          <a:prstGeom prst="rect">
            <a:avLst/>
          </a:prstGeom>
          <a:noFill/>
          <a:ln w="9525">
            <a:noFill/>
            <a:miter lim="800000"/>
            <a:headEnd/>
            <a:tailEnd/>
          </a:ln>
          <a:effectLst/>
        </p:spPr>
      </p:pic>
      <p:sp>
        <p:nvSpPr>
          <p:cNvPr id="6" name="TextBox 5"/>
          <p:cNvSpPr txBox="1"/>
          <p:nvPr/>
        </p:nvSpPr>
        <p:spPr>
          <a:xfrm>
            <a:off x="0" y="0"/>
            <a:ext cx="891540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6600CC"/>
                </a:solidFill>
                <a:effectLst/>
                <a:uLnTx/>
                <a:uFillTx/>
                <a:latin typeface="Garamond" pitchFamily="18" charset="0"/>
                <a:ea typeface="+mn-ea"/>
                <a:cs typeface="+mn-cs"/>
              </a:rPr>
              <a:t>Prerequisite For Engineering Drawing</a:t>
            </a:r>
          </a:p>
        </p:txBody>
      </p:sp>
    </p:spTree>
    <p:extLst>
      <p:ext uri="{BB962C8B-B14F-4D97-AF65-F5344CB8AC3E}">
        <p14:creationId xmlns:p14="http://schemas.microsoft.com/office/powerpoint/2010/main" val="27717132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9" name="Picture 1"/>
          <p:cNvPicPr>
            <a:picLocks noChangeAspect="1" noChangeArrowheads="1"/>
          </p:cNvPicPr>
          <p:nvPr/>
        </p:nvPicPr>
        <p:blipFill>
          <a:blip r:embed="rId2" cstate="print"/>
          <a:srcRect/>
          <a:stretch>
            <a:fillRect/>
          </a:stretch>
        </p:blipFill>
        <p:spPr bwMode="auto">
          <a:xfrm rot="16200000">
            <a:off x="2249175" y="-984295"/>
            <a:ext cx="4606638" cy="9096751"/>
          </a:xfrm>
          <a:prstGeom prst="rect">
            <a:avLst/>
          </a:prstGeom>
          <a:noFill/>
          <a:ln w="9525">
            <a:noFill/>
            <a:miter lim="800000"/>
            <a:headEnd/>
            <a:tailEnd/>
          </a:ln>
          <a:effectLst/>
        </p:spPr>
      </p:pic>
      <p:sp>
        <p:nvSpPr>
          <p:cNvPr id="6" name="TextBox 5"/>
          <p:cNvSpPr txBox="1"/>
          <p:nvPr/>
        </p:nvSpPr>
        <p:spPr>
          <a:xfrm>
            <a:off x="0" y="0"/>
            <a:ext cx="891540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6600CC"/>
                </a:solidFill>
                <a:effectLst/>
                <a:uLnTx/>
                <a:uFillTx/>
                <a:latin typeface="Garamond" pitchFamily="18" charset="0"/>
                <a:ea typeface="+mn-ea"/>
                <a:cs typeface="+mn-cs"/>
              </a:rPr>
              <a:t>Prerequisite For Engineering Drawing</a:t>
            </a:r>
          </a:p>
        </p:txBody>
      </p:sp>
    </p:spTree>
    <p:extLst>
      <p:ext uri="{BB962C8B-B14F-4D97-AF65-F5344CB8AC3E}">
        <p14:creationId xmlns:p14="http://schemas.microsoft.com/office/powerpoint/2010/main" val="37715484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0"/>
          <p:cNvSpPr>
            <a:spLocks noChangeArrowheads="1"/>
          </p:cNvSpPr>
          <p:nvPr/>
        </p:nvSpPr>
        <p:spPr bwMode="auto">
          <a:xfrm>
            <a:off x="2019300" y="301625"/>
            <a:ext cx="52609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000" b="1" i="0" u="none" strike="noStrike" kern="1200" cap="none" spc="0" normalizeH="0" baseline="0" noProof="0">
                <a:ln>
                  <a:noFill/>
                </a:ln>
                <a:solidFill>
                  <a:srgbClr val="C0504D"/>
                </a:solidFill>
                <a:effectLst/>
                <a:uLnTx/>
                <a:uFillTx/>
                <a:latin typeface="Arial" panose="020B0604020202020204" pitchFamily="34" charset="0"/>
                <a:ea typeface="+mn-ea"/>
                <a:cs typeface="Arial" panose="020B0604020202020204" pitchFamily="34" charset="0"/>
              </a:rPr>
              <a:t>Graphic Language in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000" b="1" i="0" u="none" strike="noStrike" kern="1200" cap="none" spc="0" normalizeH="0" baseline="0" noProof="0">
                <a:ln>
                  <a:noFill/>
                </a:ln>
                <a:solidFill>
                  <a:srgbClr val="C0504D"/>
                </a:solidFill>
                <a:effectLst/>
                <a:uLnTx/>
                <a:uFillTx/>
                <a:latin typeface="Arial" panose="020B0604020202020204" pitchFamily="34" charset="0"/>
                <a:ea typeface="+mn-ea"/>
                <a:cs typeface="Arial" panose="020B0604020202020204" pitchFamily="34" charset="0"/>
              </a:rPr>
              <a:t>Engineering Drawing</a:t>
            </a:r>
          </a:p>
        </p:txBody>
      </p:sp>
      <p:grpSp>
        <p:nvGrpSpPr>
          <p:cNvPr id="28675" name="Group 48"/>
          <p:cNvGrpSpPr>
            <a:grpSpLocks/>
          </p:cNvGrpSpPr>
          <p:nvPr/>
        </p:nvGrpSpPr>
        <p:grpSpPr bwMode="auto">
          <a:xfrm>
            <a:off x="527050" y="1806575"/>
            <a:ext cx="7780338" cy="1041400"/>
            <a:chOff x="332" y="1138"/>
            <a:chExt cx="4901" cy="656"/>
          </a:xfrm>
        </p:grpSpPr>
        <p:sp>
          <p:nvSpPr>
            <p:cNvPr id="42005" name="Rectangle 21"/>
            <p:cNvSpPr>
              <a:spLocks noChangeArrowheads="1"/>
            </p:cNvSpPr>
            <p:nvPr/>
          </p:nvSpPr>
          <p:spPr bwMode="auto">
            <a:xfrm>
              <a:off x="525" y="1138"/>
              <a:ext cx="4708" cy="656"/>
            </a:xfrm>
            <a:prstGeom prst="rect">
              <a:avLst/>
            </a:prstGeom>
            <a:noFill/>
            <a:ln w="9525">
              <a:noFill/>
              <a:miter lim="800000"/>
              <a:headEnd/>
              <a:tailEnd/>
            </a:ln>
            <a:effectLst/>
          </p:spPr>
          <p:txBody>
            <a:bodyPr wrap="non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rial" charset="0"/>
                  <a:ea typeface="+mn-ea"/>
                  <a:cs typeface="Arial" charset="0"/>
                </a:rPr>
                <a:t>“Engineering drawing” </a:t>
              </a:r>
              <a:r>
                <a:rPr kumimoji="0" lang="en-US" sz="2400" b="0" i="0" u="none" strike="noStrike" kern="1200" cap="none" spc="0" normalizeH="0" baseline="0" noProof="0">
                  <a:ln>
                    <a:noFill/>
                  </a:ln>
                  <a:solidFill>
                    <a:prstClr val="black"/>
                  </a:solidFill>
                  <a:effectLst/>
                  <a:uLnTx/>
                  <a:uFillTx/>
                  <a:latin typeface="Arial" charset="0"/>
                  <a:ea typeface="+mn-ea"/>
                  <a:cs typeface="Arial" charset="0"/>
                </a:rPr>
                <a:t>or</a:t>
              </a:r>
              <a:r>
                <a:rPr kumimoji="0" lang="en-US" sz="2400" b="1" i="0" u="none" strike="noStrike" kern="1200" cap="none" spc="0" normalizeH="0" baseline="0" noProof="0">
                  <a:ln>
                    <a:noFill/>
                  </a:ln>
                  <a:solidFill>
                    <a:prstClr val="black"/>
                  </a:solidFill>
                  <a:effectLst/>
                  <a:uLnTx/>
                  <a:uFillTx/>
                  <a:latin typeface="Arial" charset="0"/>
                  <a:ea typeface="+mn-ea"/>
                  <a:cs typeface="Arial" charset="0"/>
                </a:rPr>
                <a:t> “blueprint” </a:t>
              </a:r>
              <a:r>
                <a:rPr kumimoji="0" lang="en-US" sz="2400" b="0" i="0" u="none" strike="noStrike" kern="1200" cap="none" spc="0" normalizeH="0" baseline="0" noProof="0">
                  <a:ln>
                    <a:noFill/>
                  </a:ln>
                  <a:solidFill>
                    <a:prstClr val="black"/>
                  </a:solidFill>
                  <a:effectLst/>
                  <a:uLnTx/>
                  <a:uFillTx/>
                  <a:latin typeface="Arial" charset="0"/>
                  <a:ea typeface="+mn-ea"/>
                  <a:cs typeface="Arial" charset="0"/>
                </a:rPr>
                <a:t>uses </a:t>
              </a:r>
              <a:r>
                <a:rPr kumimoji="0" lang="en-US" sz="2400" b="1" i="1" u="none" strike="noStrike" kern="1200" cap="none" spc="0" normalizeH="0" baseline="0" noProof="0">
                  <a:ln>
                    <a:noFill/>
                  </a:ln>
                  <a:solidFill>
                    <a:srgbClr val="CC3300"/>
                  </a:solidFill>
                  <a:effectLst>
                    <a:outerShdw blurRad="38100" dist="38100" dir="2700000" algn="tl">
                      <a:srgbClr val="C0C0C0"/>
                    </a:outerShdw>
                  </a:effectLst>
                  <a:uLnTx/>
                  <a:uFillTx/>
                  <a:latin typeface="Arial" charset="0"/>
                  <a:ea typeface="+mn-ea"/>
                  <a:cs typeface="Arial" panose="020B0604020202020204" pitchFamily="34" charset="0"/>
                </a:rPr>
                <a:t>l</a:t>
              </a:r>
              <a:r>
                <a:rPr kumimoji="0" lang="en-US" sz="2400" b="1" i="1" u="none" strike="noStrike" kern="1200" cap="none" spc="0" normalizeH="0" baseline="0" noProof="0">
                  <a:ln>
                    <a:noFill/>
                  </a:ln>
                  <a:solidFill>
                    <a:srgbClr val="CC3300"/>
                  </a:solidFill>
                  <a:effectLst>
                    <a:outerShdw blurRad="38100" dist="38100" dir="2700000" algn="tl">
                      <a:srgbClr val="C0C0C0"/>
                    </a:outerShdw>
                  </a:effectLst>
                  <a:uLnTx/>
                  <a:uFillTx/>
                  <a:latin typeface="Arial" charset="0"/>
                  <a:ea typeface="+mn-ea"/>
                  <a:cs typeface="Arial" charset="0"/>
                </a:rPr>
                <a:t>ines</a:t>
              </a:r>
              <a:r>
                <a:rPr kumimoji="0" lang="en-US" sz="2400" b="1" i="1" u="none" strike="noStrike" kern="1200" cap="none" spc="0" normalizeH="0" baseline="0" noProof="0">
                  <a:ln>
                    <a:noFill/>
                  </a:ln>
                  <a:solidFill>
                    <a:srgbClr val="FF9900"/>
                  </a:solidFill>
                  <a:effectLst>
                    <a:outerShdw blurRad="38100" dist="38100" dir="2700000" algn="tl">
                      <a:srgbClr val="C0C0C0"/>
                    </a:outerShdw>
                  </a:effectLst>
                  <a:uLnTx/>
                  <a:uFillTx/>
                  <a:latin typeface="Arial" charset="0"/>
                  <a:ea typeface="+mn-ea"/>
                  <a:cs typeface="Arial" charset="0"/>
                </a:rPr>
                <a:t>  </a:t>
              </a:r>
              <a:r>
                <a:rPr kumimoji="0" lang="en-US" sz="2400" b="0" i="0" u="none" strike="noStrike" kern="1200" cap="none" spc="0" normalizeH="0" baseline="0" noProof="0">
                  <a:ln>
                    <a:noFill/>
                  </a:ln>
                  <a:solidFill>
                    <a:prstClr val="black"/>
                  </a:solidFill>
                  <a:effectLst/>
                  <a:uLnTx/>
                  <a:uFillTx/>
                  <a:latin typeface="Arial" charset="0"/>
                  <a:ea typeface="+mn-ea"/>
                  <a:cs typeface="Arial" charset="0"/>
                </a:rPr>
                <a:t>to</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charset="0"/>
                  <a:ea typeface="+mn-ea"/>
                  <a:cs typeface="Arial" charset="0"/>
                </a:rPr>
                <a:t>represent the </a:t>
              </a:r>
              <a:r>
                <a:rPr kumimoji="0" lang="en-US" sz="2400" b="1" i="1" u="none" strike="noStrike" kern="1200" cap="none" spc="0" normalizeH="0" baseline="0" noProof="0">
                  <a:ln>
                    <a:noFill/>
                  </a:ln>
                  <a:solidFill>
                    <a:srgbClr val="CC00CC"/>
                  </a:solidFill>
                  <a:effectLst>
                    <a:outerShdw blurRad="38100" dist="38100" dir="2700000" algn="tl">
                      <a:srgbClr val="C0C0C0"/>
                    </a:outerShdw>
                  </a:effectLst>
                  <a:uLnTx/>
                  <a:uFillTx/>
                  <a:latin typeface="Arial" charset="0"/>
                  <a:ea typeface="+mn-ea"/>
                  <a:cs typeface="Arial" charset="0"/>
                </a:rPr>
                <a:t>features </a:t>
              </a:r>
              <a:r>
                <a:rPr kumimoji="0" lang="en-US" sz="2400" b="0" i="0" u="none" strike="noStrike" kern="1200" cap="none" spc="0" normalizeH="0" baseline="0" noProof="0">
                  <a:ln>
                    <a:noFill/>
                  </a:ln>
                  <a:solidFill>
                    <a:prstClr val="black"/>
                  </a:solidFill>
                  <a:effectLst/>
                  <a:uLnTx/>
                  <a:uFillTx/>
                  <a:latin typeface="Arial" charset="0"/>
                  <a:ea typeface="+mn-ea"/>
                  <a:cs typeface="Arial" charset="0"/>
                </a:rPr>
                <a:t>of an object.</a:t>
              </a:r>
            </a:p>
          </p:txBody>
        </p:sp>
        <p:sp>
          <p:nvSpPr>
            <p:cNvPr id="28690" name="Rectangle 22"/>
            <p:cNvSpPr>
              <a:spLocks noChangeArrowheads="1"/>
            </p:cNvSpPr>
            <p:nvPr/>
          </p:nvSpPr>
          <p:spPr bwMode="auto">
            <a:xfrm>
              <a:off x="332" y="1258"/>
              <a:ext cx="135" cy="135"/>
            </a:xfrm>
            <a:prstGeom prst="rect">
              <a:avLst/>
            </a:prstGeom>
            <a:solidFill>
              <a:srgbClr val="00CC00"/>
            </a:solidFill>
            <a:ln>
              <a:noFill/>
            </a:ln>
            <a:effectLst>
              <a:prstShdw prst="shdw17" dist="17961" dir="2700000">
                <a:srgbClr val="007A0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grpSp>
      <p:grpSp>
        <p:nvGrpSpPr>
          <p:cNvPr id="28676" name="Group 49"/>
          <p:cNvGrpSpPr>
            <a:grpSpLocks/>
          </p:cNvGrpSpPr>
          <p:nvPr/>
        </p:nvGrpSpPr>
        <p:grpSpPr bwMode="auto">
          <a:xfrm>
            <a:off x="514350" y="2974975"/>
            <a:ext cx="7778750" cy="1041400"/>
            <a:chOff x="324" y="1874"/>
            <a:chExt cx="4900" cy="656"/>
          </a:xfrm>
        </p:grpSpPr>
        <p:sp>
          <p:nvSpPr>
            <p:cNvPr id="42019" name="Rectangle 35"/>
            <p:cNvSpPr>
              <a:spLocks noChangeArrowheads="1"/>
            </p:cNvSpPr>
            <p:nvPr/>
          </p:nvSpPr>
          <p:spPr bwMode="auto">
            <a:xfrm>
              <a:off x="517" y="1874"/>
              <a:ext cx="4707" cy="656"/>
            </a:xfrm>
            <a:prstGeom prst="rect">
              <a:avLst/>
            </a:prstGeom>
            <a:noFill/>
            <a:ln w="9525">
              <a:noFill/>
              <a:miter lim="800000"/>
              <a:headEnd/>
              <a:tailEnd/>
            </a:ln>
            <a:effectLst/>
          </p:spPr>
          <p:txBody>
            <a:bodyPr wrap="non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charset="0"/>
                  <a:ea typeface="+mn-ea"/>
                  <a:cs typeface="Arial" charset="0"/>
                </a:rPr>
                <a:t>Features</a:t>
              </a:r>
              <a:r>
                <a:rPr kumimoji="0" lang="en-US" sz="2400" b="1" i="1" u="none" strike="noStrike" kern="1200" cap="none" spc="0" normalizeH="0" baseline="0" noProof="0">
                  <a:ln>
                    <a:noFill/>
                  </a:ln>
                  <a:solidFill>
                    <a:srgbClr val="CC00CC"/>
                  </a:solidFill>
                  <a:effectLst>
                    <a:outerShdw blurRad="38100" dist="38100" dir="2700000" algn="tl">
                      <a:srgbClr val="C0C0C0"/>
                    </a:outerShdw>
                  </a:effectLst>
                  <a:uLnTx/>
                  <a:uFillTx/>
                  <a:latin typeface="Arial" charset="0"/>
                  <a:ea typeface="+mn-ea"/>
                  <a:cs typeface="Arial" charset="0"/>
                </a:rPr>
                <a:t> </a:t>
              </a:r>
              <a:r>
                <a:rPr kumimoji="0" lang="en-US" sz="2400" b="0" i="0" u="none" strike="noStrike" kern="1200" cap="none" spc="0" normalizeH="0" baseline="0" noProof="0">
                  <a:ln>
                    <a:noFill/>
                  </a:ln>
                  <a:solidFill>
                    <a:prstClr val="black"/>
                  </a:solidFill>
                  <a:effectLst/>
                  <a:uLnTx/>
                  <a:uFillTx/>
                  <a:latin typeface="Arial" charset="0"/>
                  <a:ea typeface="+mn-ea"/>
                  <a:cs typeface="Arial" charset="0"/>
                </a:rPr>
                <a:t>of an object are </a:t>
              </a:r>
              <a:r>
                <a:rPr kumimoji="0" lang="en-US" sz="2400" b="1" i="1" u="none" strike="noStrike" kern="1200" cap="none" spc="0" normalizeH="0" baseline="0" noProof="0">
                  <a:ln>
                    <a:noFill/>
                  </a:ln>
                  <a:solidFill>
                    <a:srgbClr val="CC3300"/>
                  </a:solidFill>
                  <a:effectLst>
                    <a:outerShdw blurRad="38100" dist="38100" dir="2700000" algn="tl">
                      <a:srgbClr val="C0C0C0"/>
                    </a:outerShdw>
                  </a:effectLst>
                  <a:uLnTx/>
                  <a:uFillTx/>
                  <a:latin typeface="Arial" charset="0"/>
                  <a:ea typeface="+mn-ea"/>
                  <a:cs typeface="Arial" charset="0"/>
                </a:rPr>
                <a:t>surface </a:t>
              </a:r>
              <a:r>
                <a:rPr kumimoji="0" lang="en-US" sz="2400" b="0" i="0" u="none" strike="noStrike" kern="1200" cap="none" spc="0" normalizeH="0" baseline="0" noProof="0">
                  <a:ln>
                    <a:noFill/>
                  </a:ln>
                  <a:solidFill>
                    <a:prstClr val="black"/>
                  </a:solidFill>
                  <a:effectLst/>
                  <a:uLnTx/>
                  <a:uFillTx/>
                  <a:latin typeface="Arial" charset="0"/>
                  <a:ea typeface="+mn-ea"/>
                  <a:cs typeface="Arial" charset="0"/>
                </a:rPr>
                <a:t>(include </a:t>
              </a:r>
              <a:r>
                <a:rPr kumimoji="0" lang="en-US" sz="2400" b="1" i="1" u="none" strike="noStrike" kern="1200" cap="none" spc="0" normalizeH="0" baseline="0" noProof="0">
                  <a:ln>
                    <a:noFill/>
                  </a:ln>
                  <a:solidFill>
                    <a:srgbClr val="CC3300"/>
                  </a:solidFill>
                  <a:effectLst>
                    <a:outerShdw blurRad="38100" dist="38100" dir="2700000" algn="tl">
                      <a:srgbClr val="C0C0C0"/>
                    </a:outerShdw>
                  </a:effectLst>
                  <a:uLnTx/>
                  <a:uFillTx/>
                  <a:latin typeface="Arial" charset="0"/>
                  <a:ea typeface="+mn-ea"/>
                  <a:cs typeface="Arial" charset="0"/>
                </a:rPr>
                <a:t>plane</a:t>
              </a:r>
              <a:r>
                <a:rPr kumimoji="0" lang="en-US" sz="2400" b="0" i="0" u="none" strike="noStrike" kern="1200" cap="none" spc="0" normalizeH="0" baseline="0" noProof="0">
                  <a:ln>
                    <a:noFill/>
                  </a:ln>
                  <a:solidFill>
                    <a:prstClr val="black"/>
                  </a:solidFill>
                  <a:effectLst/>
                  <a:uLnTx/>
                  <a:uFillTx/>
                  <a:latin typeface="Arial" charset="0"/>
                  <a:ea typeface="+mn-ea"/>
                  <a:cs typeface="Arial" charset="0"/>
                </a:rPr>
                <a:t>) and</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2400" b="1" i="1" u="none" strike="noStrike" kern="1200" cap="none" spc="0" normalizeH="0" baseline="0" noProof="0">
                  <a:ln>
                    <a:noFill/>
                  </a:ln>
                  <a:solidFill>
                    <a:srgbClr val="CC3300"/>
                  </a:solidFill>
                  <a:effectLst>
                    <a:outerShdw blurRad="38100" dist="38100" dir="2700000" algn="tl">
                      <a:srgbClr val="C0C0C0"/>
                    </a:outerShdw>
                  </a:effectLst>
                  <a:uLnTx/>
                  <a:uFillTx/>
                  <a:latin typeface="Arial" charset="0"/>
                  <a:ea typeface="+mn-ea"/>
                  <a:cs typeface="Arial" charset="0"/>
                </a:rPr>
                <a:t>edge</a:t>
              </a:r>
              <a:r>
                <a:rPr kumimoji="0" lang="en-US" sz="2400" b="0" i="0" u="none" strike="noStrike" kern="1200" cap="none" spc="0" normalizeH="0" baseline="0" noProof="0">
                  <a:ln>
                    <a:noFill/>
                  </a:ln>
                  <a:solidFill>
                    <a:prstClr val="black"/>
                  </a:solidFill>
                  <a:effectLst/>
                  <a:uLnTx/>
                  <a:uFillTx/>
                  <a:latin typeface="Arial" charset="0"/>
                  <a:ea typeface="+mn-ea"/>
                  <a:cs typeface="Arial" charset="0"/>
                </a:rPr>
                <a:t>.</a:t>
              </a:r>
            </a:p>
          </p:txBody>
        </p:sp>
        <p:sp>
          <p:nvSpPr>
            <p:cNvPr id="28688" name="Rectangle 36"/>
            <p:cNvSpPr>
              <a:spLocks noChangeArrowheads="1"/>
            </p:cNvSpPr>
            <p:nvPr/>
          </p:nvSpPr>
          <p:spPr bwMode="auto">
            <a:xfrm>
              <a:off x="324" y="1994"/>
              <a:ext cx="135" cy="135"/>
            </a:xfrm>
            <a:prstGeom prst="rect">
              <a:avLst/>
            </a:prstGeom>
            <a:solidFill>
              <a:srgbClr val="00CC00"/>
            </a:solidFill>
            <a:ln>
              <a:noFill/>
            </a:ln>
            <a:effectLst>
              <a:prstShdw prst="shdw17" dist="17961" dir="2700000">
                <a:srgbClr val="007A00"/>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grpSp>
      <p:grpSp>
        <p:nvGrpSpPr>
          <p:cNvPr id="28677" name="Group 37"/>
          <p:cNvGrpSpPr>
            <a:grpSpLocks/>
          </p:cNvGrpSpPr>
          <p:nvPr/>
        </p:nvGrpSpPr>
        <p:grpSpPr bwMode="auto">
          <a:xfrm>
            <a:off x="3619500" y="4719638"/>
            <a:ext cx="2078038" cy="1871662"/>
            <a:chOff x="272" y="2682"/>
            <a:chExt cx="1632" cy="1470"/>
          </a:xfrm>
        </p:grpSpPr>
        <p:sp>
          <p:nvSpPr>
            <p:cNvPr id="28684" name="Freeform 38"/>
            <p:cNvSpPr>
              <a:spLocks/>
            </p:cNvSpPr>
            <p:nvPr/>
          </p:nvSpPr>
          <p:spPr bwMode="auto">
            <a:xfrm>
              <a:off x="1448" y="3364"/>
              <a:ext cx="456" cy="788"/>
            </a:xfrm>
            <a:custGeom>
              <a:avLst/>
              <a:gdLst>
                <a:gd name="T0" fmla="*/ 0 w 456"/>
                <a:gd name="T1" fmla="*/ 260 h 788"/>
                <a:gd name="T2" fmla="*/ 0 w 456"/>
                <a:gd name="T3" fmla="*/ 788 h 788"/>
                <a:gd name="T4" fmla="*/ 456 w 456"/>
                <a:gd name="T5" fmla="*/ 524 h 788"/>
                <a:gd name="T6" fmla="*/ 456 w 456"/>
                <a:gd name="T7" fmla="*/ 0 h 788"/>
                <a:gd name="T8" fmla="*/ 0 w 456"/>
                <a:gd name="T9" fmla="*/ 260 h 788"/>
                <a:gd name="T10" fmla="*/ 0 60000 65536"/>
                <a:gd name="T11" fmla="*/ 0 60000 65536"/>
                <a:gd name="T12" fmla="*/ 0 60000 65536"/>
                <a:gd name="T13" fmla="*/ 0 60000 65536"/>
                <a:gd name="T14" fmla="*/ 0 60000 65536"/>
                <a:gd name="T15" fmla="*/ 0 w 456"/>
                <a:gd name="T16" fmla="*/ 0 h 788"/>
                <a:gd name="T17" fmla="*/ 456 w 456"/>
                <a:gd name="T18" fmla="*/ 788 h 788"/>
              </a:gdLst>
              <a:ahLst/>
              <a:cxnLst>
                <a:cxn ang="T10">
                  <a:pos x="T0" y="T1"/>
                </a:cxn>
                <a:cxn ang="T11">
                  <a:pos x="T2" y="T3"/>
                </a:cxn>
                <a:cxn ang="T12">
                  <a:pos x="T4" y="T5"/>
                </a:cxn>
                <a:cxn ang="T13">
                  <a:pos x="T6" y="T7"/>
                </a:cxn>
                <a:cxn ang="T14">
                  <a:pos x="T8" y="T9"/>
                </a:cxn>
              </a:cxnLst>
              <a:rect l="T15" t="T16" r="T17" b="T18"/>
              <a:pathLst>
                <a:path w="456" h="788">
                  <a:moveTo>
                    <a:pt x="0" y="260"/>
                  </a:moveTo>
                  <a:lnTo>
                    <a:pt x="0" y="788"/>
                  </a:lnTo>
                  <a:lnTo>
                    <a:pt x="456" y="524"/>
                  </a:lnTo>
                  <a:lnTo>
                    <a:pt x="456" y="0"/>
                  </a:lnTo>
                  <a:lnTo>
                    <a:pt x="0" y="260"/>
                  </a:lnTo>
                  <a:close/>
                </a:path>
              </a:pathLst>
            </a:custGeom>
            <a:gradFill rotWithShape="1">
              <a:gsLst>
                <a:gs pos="0">
                  <a:srgbClr val="009900"/>
                </a:gs>
                <a:gs pos="100000">
                  <a:srgbClr val="33CC33"/>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8685" name="Freeform 39"/>
            <p:cNvSpPr>
              <a:spLocks/>
            </p:cNvSpPr>
            <p:nvPr/>
          </p:nvSpPr>
          <p:spPr bwMode="auto">
            <a:xfrm>
              <a:off x="272" y="2945"/>
              <a:ext cx="1176" cy="1206"/>
            </a:xfrm>
            <a:custGeom>
              <a:avLst/>
              <a:gdLst>
                <a:gd name="T0" fmla="*/ 1176 w 1176"/>
                <a:gd name="T1" fmla="*/ 679 h 1206"/>
                <a:gd name="T2" fmla="*/ 0 w 1176"/>
                <a:gd name="T3" fmla="*/ 0 h 1206"/>
                <a:gd name="T4" fmla="*/ 1 w 1176"/>
                <a:gd name="T5" fmla="*/ 534 h 1206"/>
                <a:gd name="T6" fmla="*/ 1174 w 1176"/>
                <a:gd name="T7" fmla="*/ 1206 h 1206"/>
                <a:gd name="T8" fmla="*/ 1176 w 1176"/>
                <a:gd name="T9" fmla="*/ 679 h 1206"/>
                <a:gd name="T10" fmla="*/ 0 60000 65536"/>
                <a:gd name="T11" fmla="*/ 0 60000 65536"/>
                <a:gd name="T12" fmla="*/ 0 60000 65536"/>
                <a:gd name="T13" fmla="*/ 0 60000 65536"/>
                <a:gd name="T14" fmla="*/ 0 60000 65536"/>
                <a:gd name="T15" fmla="*/ 0 w 1176"/>
                <a:gd name="T16" fmla="*/ 0 h 1206"/>
                <a:gd name="T17" fmla="*/ 1176 w 1176"/>
                <a:gd name="T18" fmla="*/ 1206 h 1206"/>
              </a:gdLst>
              <a:ahLst/>
              <a:cxnLst>
                <a:cxn ang="T10">
                  <a:pos x="T0" y="T1"/>
                </a:cxn>
                <a:cxn ang="T11">
                  <a:pos x="T2" y="T3"/>
                </a:cxn>
                <a:cxn ang="T12">
                  <a:pos x="T4" y="T5"/>
                </a:cxn>
                <a:cxn ang="T13">
                  <a:pos x="T6" y="T7"/>
                </a:cxn>
                <a:cxn ang="T14">
                  <a:pos x="T8" y="T9"/>
                </a:cxn>
              </a:cxnLst>
              <a:rect l="T15" t="T16" r="T17" b="T18"/>
              <a:pathLst>
                <a:path w="1176" h="1206">
                  <a:moveTo>
                    <a:pt x="1176" y="679"/>
                  </a:moveTo>
                  <a:lnTo>
                    <a:pt x="0" y="0"/>
                  </a:lnTo>
                  <a:lnTo>
                    <a:pt x="1" y="534"/>
                  </a:lnTo>
                  <a:lnTo>
                    <a:pt x="1174" y="1206"/>
                  </a:lnTo>
                  <a:lnTo>
                    <a:pt x="1176" y="679"/>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8686" name="Freeform 40"/>
            <p:cNvSpPr>
              <a:spLocks/>
            </p:cNvSpPr>
            <p:nvPr/>
          </p:nvSpPr>
          <p:spPr bwMode="auto">
            <a:xfrm>
              <a:off x="272" y="2682"/>
              <a:ext cx="1630" cy="938"/>
            </a:xfrm>
            <a:custGeom>
              <a:avLst/>
              <a:gdLst>
                <a:gd name="T0" fmla="*/ 1174 w 1630"/>
                <a:gd name="T1" fmla="*/ 938 h 938"/>
                <a:gd name="T2" fmla="*/ 0 w 1630"/>
                <a:gd name="T3" fmla="*/ 260 h 938"/>
                <a:gd name="T4" fmla="*/ 451 w 1630"/>
                <a:gd name="T5" fmla="*/ 0 h 938"/>
                <a:gd name="T6" fmla="*/ 1630 w 1630"/>
                <a:gd name="T7" fmla="*/ 680 h 938"/>
                <a:gd name="T8" fmla="*/ 1174 w 1630"/>
                <a:gd name="T9" fmla="*/ 938 h 938"/>
                <a:gd name="T10" fmla="*/ 0 60000 65536"/>
                <a:gd name="T11" fmla="*/ 0 60000 65536"/>
                <a:gd name="T12" fmla="*/ 0 60000 65536"/>
                <a:gd name="T13" fmla="*/ 0 60000 65536"/>
                <a:gd name="T14" fmla="*/ 0 60000 65536"/>
                <a:gd name="T15" fmla="*/ 0 w 1630"/>
                <a:gd name="T16" fmla="*/ 0 h 938"/>
                <a:gd name="T17" fmla="*/ 1630 w 1630"/>
                <a:gd name="T18" fmla="*/ 938 h 938"/>
              </a:gdLst>
              <a:ahLst/>
              <a:cxnLst>
                <a:cxn ang="T10">
                  <a:pos x="T0" y="T1"/>
                </a:cxn>
                <a:cxn ang="T11">
                  <a:pos x="T2" y="T3"/>
                </a:cxn>
                <a:cxn ang="T12">
                  <a:pos x="T4" y="T5"/>
                </a:cxn>
                <a:cxn ang="T13">
                  <a:pos x="T6" y="T7"/>
                </a:cxn>
                <a:cxn ang="T14">
                  <a:pos x="T8" y="T9"/>
                </a:cxn>
              </a:cxnLst>
              <a:rect l="T15" t="T16" r="T17" b="T18"/>
              <a:pathLst>
                <a:path w="1630" h="938">
                  <a:moveTo>
                    <a:pt x="1174" y="938"/>
                  </a:moveTo>
                  <a:lnTo>
                    <a:pt x="0" y="260"/>
                  </a:lnTo>
                  <a:lnTo>
                    <a:pt x="451" y="0"/>
                  </a:lnTo>
                  <a:lnTo>
                    <a:pt x="1630" y="680"/>
                  </a:lnTo>
                  <a:lnTo>
                    <a:pt x="1174" y="938"/>
                  </a:lnTo>
                  <a:close/>
                </a:path>
              </a:pathLst>
            </a:custGeom>
            <a:solidFill>
              <a:srgbClr val="33CC33"/>
            </a:solidFill>
            <a:ln w="9525">
              <a:solidFill>
                <a:srgbClr val="33CC33"/>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grpSp>
      <p:grpSp>
        <p:nvGrpSpPr>
          <p:cNvPr id="28678" name="Group 50"/>
          <p:cNvGrpSpPr>
            <a:grpSpLocks/>
          </p:cNvGrpSpPr>
          <p:nvPr/>
        </p:nvGrpSpPr>
        <p:grpSpPr bwMode="auto">
          <a:xfrm>
            <a:off x="4586288" y="4195763"/>
            <a:ext cx="1268412" cy="939800"/>
            <a:chOff x="2889" y="2643"/>
            <a:chExt cx="799" cy="592"/>
          </a:xfrm>
        </p:grpSpPr>
        <p:sp>
          <p:nvSpPr>
            <p:cNvPr id="28682" name="Text Box 42"/>
            <p:cNvSpPr txBox="1">
              <a:spLocks noChangeArrowheads="1"/>
            </p:cNvSpPr>
            <p:nvPr/>
          </p:nvSpPr>
          <p:spPr bwMode="auto">
            <a:xfrm>
              <a:off x="2985" y="2643"/>
              <a:ext cx="7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srgbClr val="C0504D"/>
                  </a:solidFill>
                  <a:effectLst/>
                  <a:uLnTx/>
                  <a:uFillTx/>
                  <a:latin typeface="Arial" panose="020B0604020202020204" pitchFamily="34" charset="0"/>
                  <a:ea typeface="+mn-ea"/>
                  <a:cs typeface="Arial" panose="020B0604020202020204" pitchFamily="34" charset="0"/>
                </a:rPr>
                <a:t>Surface</a:t>
              </a:r>
              <a:endParaRPr kumimoji="0" lang="th-TH" altLang="en-US" sz="2000" b="1" i="0" u="none" strike="noStrike" kern="1200" cap="none" spc="0" normalizeH="0" baseline="0" noProof="0">
                <a:ln>
                  <a:noFill/>
                </a:ln>
                <a:solidFill>
                  <a:srgbClr val="C0504D"/>
                </a:solidFill>
                <a:effectLst/>
                <a:uLnTx/>
                <a:uFillTx/>
                <a:latin typeface="Arial" panose="020B0604020202020204" pitchFamily="34" charset="0"/>
                <a:ea typeface="+mn-ea"/>
                <a:cs typeface="Cordia New" pitchFamily="34" charset="-34"/>
              </a:endParaRPr>
            </a:p>
          </p:txBody>
        </p:sp>
        <p:sp>
          <p:nvSpPr>
            <p:cNvPr id="28683" name="Line 43"/>
            <p:cNvSpPr>
              <a:spLocks noChangeShapeType="1"/>
            </p:cNvSpPr>
            <p:nvPr/>
          </p:nvSpPr>
          <p:spPr bwMode="auto">
            <a:xfrm flipV="1">
              <a:off x="2889" y="2863"/>
              <a:ext cx="289" cy="372"/>
            </a:xfrm>
            <a:prstGeom prst="line">
              <a:avLst/>
            </a:prstGeom>
            <a:noFill/>
            <a:ln w="19050">
              <a:solidFill>
                <a:schemeClr val="accent2"/>
              </a:solidFill>
              <a:round/>
              <a:headEnd type="oval" w="lg"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grpSp>
      <p:grpSp>
        <p:nvGrpSpPr>
          <p:cNvPr id="28679" name="Group 51"/>
          <p:cNvGrpSpPr>
            <a:grpSpLocks/>
          </p:cNvGrpSpPr>
          <p:nvPr/>
        </p:nvGrpSpPr>
        <p:grpSpPr bwMode="auto">
          <a:xfrm>
            <a:off x="4987925" y="4706938"/>
            <a:ext cx="806450" cy="1074737"/>
            <a:chOff x="3142" y="2965"/>
            <a:chExt cx="508" cy="677"/>
          </a:xfrm>
        </p:grpSpPr>
        <p:sp>
          <p:nvSpPr>
            <p:cNvPr id="28680" name="Line 46"/>
            <p:cNvSpPr>
              <a:spLocks noChangeShapeType="1"/>
            </p:cNvSpPr>
            <p:nvPr/>
          </p:nvSpPr>
          <p:spPr bwMode="auto">
            <a:xfrm flipH="1" flipV="1">
              <a:off x="3360" y="3194"/>
              <a:ext cx="32" cy="448"/>
            </a:xfrm>
            <a:prstGeom prst="line">
              <a:avLst/>
            </a:prstGeom>
            <a:noFill/>
            <a:ln w="19050">
              <a:solidFill>
                <a:schemeClr val="accent2"/>
              </a:solidFill>
              <a:round/>
              <a:headEnd type="stealth" w="lg" len="lg"/>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8681" name="Text Box 47"/>
            <p:cNvSpPr txBox="1">
              <a:spLocks noChangeArrowheads="1"/>
            </p:cNvSpPr>
            <p:nvPr/>
          </p:nvSpPr>
          <p:spPr bwMode="auto">
            <a:xfrm>
              <a:off x="3142" y="2965"/>
              <a:ext cx="5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srgbClr val="C0504D"/>
                  </a:solidFill>
                  <a:effectLst/>
                  <a:uLnTx/>
                  <a:uFillTx/>
                  <a:latin typeface="Arial" panose="020B0604020202020204" pitchFamily="34" charset="0"/>
                  <a:ea typeface="+mn-ea"/>
                  <a:cs typeface="Arial" panose="020B0604020202020204" pitchFamily="34" charset="0"/>
                </a:rPr>
                <a:t>Edge</a:t>
              </a:r>
              <a:endParaRPr kumimoji="0" lang="th-TH" altLang="en-US" sz="2000" b="1" i="0" u="none" strike="noStrike" kern="1200" cap="none" spc="0" normalizeH="0" baseline="0" noProof="0">
                <a:ln>
                  <a:noFill/>
                </a:ln>
                <a:solidFill>
                  <a:srgbClr val="C0504D"/>
                </a:solidFill>
                <a:effectLst/>
                <a:uLnTx/>
                <a:uFillTx/>
                <a:latin typeface="Arial" panose="020B0604020202020204" pitchFamily="34" charset="0"/>
                <a:ea typeface="+mn-ea"/>
                <a:cs typeface="Cordia New" pitchFamily="34" charset="-34"/>
              </a:endParaRPr>
            </a:p>
          </p:txBody>
        </p:sp>
      </p:grpSp>
    </p:spTree>
    <p:extLst>
      <p:ext uri="{BB962C8B-B14F-4D97-AF65-F5344CB8AC3E}">
        <p14:creationId xmlns:p14="http://schemas.microsoft.com/office/powerpoint/2010/main" val="66408315"/>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clrChange>
              <a:clrFrom>
                <a:srgbClr val="FFFFD9"/>
              </a:clrFrom>
              <a:clrTo>
                <a:srgbClr val="FFFFD9">
                  <a:alpha val="0"/>
                </a:srgbClr>
              </a:clrTo>
            </a:clrChange>
          </a:blip>
          <a:stretch>
            <a:fillRect/>
          </a:stretch>
        </p:blipFill>
        <p:spPr>
          <a:xfrm>
            <a:off x="381000" y="838200"/>
            <a:ext cx="8073301" cy="4886556"/>
          </a:xfrm>
          <a:prstGeom prst="rect">
            <a:avLst/>
          </a:prstGeom>
        </p:spPr>
      </p:pic>
    </p:spTree>
    <p:extLst>
      <p:ext uri="{BB962C8B-B14F-4D97-AF65-F5344CB8AC3E}">
        <p14:creationId xmlns:p14="http://schemas.microsoft.com/office/powerpoint/2010/main" val="19959389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clrChange>
              <a:clrFrom>
                <a:srgbClr val="FFFFD9"/>
              </a:clrFrom>
              <a:clrTo>
                <a:srgbClr val="FFFFD9">
                  <a:alpha val="0"/>
                </a:srgbClr>
              </a:clrTo>
            </a:clrChange>
          </a:blip>
          <a:stretch>
            <a:fillRect/>
          </a:stretch>
        </p:blipFill>
        <p:spPr>
          <a:xfrm>
            <a:off x="152400" y="533400"/>
            <a:ext cx="7869961" cy="2128350"/>
          </a:xfrm>
          <a:prstGeom prst="rect">
            <a:avLst/>
          </a:prstGeom>
        </p:spPr>
      </p:pic>
      <p:pic>
        <p:nvPicPr>
          <p:cNvPr id="4" name="Picture 3"/>
          <p:cNvPicPr>
            <a:picLocks noChangeAspect="1"/>
          </p:cNvPicPr>
          <p:nvPr/>
        </p:nvPicPr>
        <p:blipFill>
          <a:blip r:embed="rId3">
            <a:clrChange>
              <a:clrFrom>
                <a:srgbClr val="FEFEFE"/>
              </a:clrFrom>
              <a:clrTo>
                <a:srgbClr val="FEFEFE">
                  <a:alpha val="0"/>
                </a:srgbClr>
              </a:clrTo>
            </a:clrChange>
            <a:lum contrast="20000"/>
          </a:blip>
          <a:stretch>
            <a:fillRect/>
          </a:stretch>
        </p:blipFill>
        <p:spPr>
          <a:xfrm>
            <a:off x="1828800" y="2866668"/>
            <a:ext cx="4953000" cy="3672244"/>
          </a:xfrm>
          <a:prstGeom prst="rect">
            <a:avLst/>
          </a:prstGeom>
        </p:spPr>
      </p:pic>
    </p:spTree>
    <p:extLst>
      <p:ext uri="{BB962C8B-B14F-4D97-AF65-F5344CB8AC3E}">
        <p14:creationId xmlns:p14="http://schemas.microsoft.com/office/powerpoint/2010/main" val="39663074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8"/>
          <p:cNvSpPr>
            <a:spLocks noChangeArrowheads="1"/>
          </p:cNvSpPr>
          <p:nvPr/>
        </p:nvSpPr>
        <p:spPr bwMode="auto">
          <a:xfrm>
            <a:off x="457200" y="914400"/>
            <a:ext cx="8305800" cy="18796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79" name="Rectangle 3"/>
          <p:cNvSpPr>
            <a:spLocks noGrp="1" noChangeArrowheads="1"/>
          </p:cNvSpPr>
          <p:nvPr>
            <p:ph type="title"/>
          </p:nvPr>
        </p:nvSpPr>
        <p:spPr>
          <a:xfrm>
            <a:off x="444500" y="-27019"/>
            <a:ext cx="8229600" cy="1143000"/>
          </a:xfrm>
        </p:spPr>
        <p:txBody>
          <a:bodyPr/>
          <a:lstStyle/>
          <a:p>
            <a:r>
              <a:rPr lang="en-US" altLang="en-US" b="1" dirty="0">
                <a:solidFill>
                  <a:schemeClr val="accent2"/>
                </a:solidFill>
                <a:latin typeface="Arial" panose="020B0604020202020204" pitchFamily="34" charset="0"/>
                <a:cs typeface="Arial" panose="020B0604020202020204" pitchFamily="34" charset="0"/>
              </a:rPr>
              <a:t>Basic Strokes</a:t>
            </a:r>
            <a:endParaRPr lang="en-US" altLang="en-US" dirty="0"/>
          </a:p>
        </p:txBody>
      </p:sp>
      <p:sp>
        <p:nvSpPr>
          <p:cNvPr id="24580" name="Line 4"/>
          <p:cNvSpPr>
            <a:spLocks noChangeShapeType="1"/>
          </p:cNvSpPr>
          <p:nvPr/>
        </p:nvSpPr>
        <p:spPr bwMode="auto">
          <a:xfrm>
            <a:off x="1219200" y="1525588"/>
            <a:ext cx="0" cy="1143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81" name="Text Box 5"/>
          <p:cNvSpPr txBox="1">
            <a:spLocks noChangeArrowheads="1"/>
          </p:cNvSpPr>
          <p:nvPr/>
        </p:nvSpPr>
        <p:spPr bwMode="auto">
          <a:xfrm>
            <a:off x="685800" y="939800"/>
            <a:ext cx="1335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CC3300"/>
                </a:solidFill>
                <a:effectLst/>
                <a:uLnTx/>
                <a:uFillTx/>
                <a:latin typeface="Arial" panose="020B0604020202020204" pitchFamily="34" charset="0"/>
                <a:ea typeface="+mn-ea"/>
                <a:cs typeface="Arial" panose="020B0604020202020204" pitchFamily="34" charset="0"/>
              </a:rPr>
              <a:t>Straight</a:t>
            </a:r>
          </a:p>
        </p:txBody>
      </p:sp>
      <p:sp>
        <p:nvSpPr>
          <p:cNvPr id="24582" name="Line 6"/>
          <p:cNvSpPr>
            <a:spLocks noChangeShapeType="1"/>
          </p:cNvSpPr>
          <p:nvPr/>
        </p:nvSpPr>
        <p:spPr bwMode="auto">
          <a:xfrm>
            <a:off x="2743200" y="1525588"/>
            <a:ext cx="457200" cy="1143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83" name="Line 7"/>
          <p:cNvSpPr>
            <a:spLocks noChangeShapeType="1"/>
          </p:cNvSpPr>
          <p:nvPr/>
        </p:nvSpPr>
        <p:spPr bwMode="auto">
          <a:xfrm flipH="1">
            <a:off x="3657600" y="1525588"/>
            <a:ext cx="533400" cy="1143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84" name="Text Box 8"/>
          <p:cNvSpPr txBox="1">
            <a:spLocks noChangeArrowheads="1"/>
          </p:cNvSpPr>
          <p:nvPr/>
        </p:nvSpPr>
        <p:spPr bwMode="auto">
          <a:xfrm>
            <a:off x="2819400" y="939800"/>
            <a:ext cx="1284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CC3300"/>
                </a:solidFill>
                <a:effectLst/>
                <a:uLnTx/>
                <a:uFillTx/>
                <a:latin typeface="Arial" panose="020B0604020202020204" pitchFamily="34" charset="0"/>
                <a:ea typeface="+mn-ea"/>
                <a:cs typeface="Arial" panose="020B0604020202020204" pitchFamily="34" charset="0"/>
              </a:rPr>
              <a:t>Slanted</a:t>
            </a:r>
          </a:p>
        </p:txBody>
      </p:sp>
      <p:sp>
        <p:nvSpPr>
          <p:cNvPr id="24585" name="Arc 9"/>
          <p:cNvSpPr>
            <a:spLocks/>
          </p:cNvSpPr>
          <p:nvPr/>
        </p:nvSpPr>
        <p:spPr bwMode="auto">
          <a:xfrm rot="7955034" flipV="1">
            <a:off x="7202487" y="1741488"/>
            <a:ext cx="811213" cy="890588"/>
          </a:xfrm>
          <a:custGeom>
            <a:avLst/>
            <a:gdLst>
              <a:gd name="T0" fmla="*/ 0 w 32853"/>
              <a:gd name="T1" fmla="*/ 47550061 h 36085"/>
              <a:gd name="T2" fmla="*/ 410639169 w 32853"/>
              <a:gd name="T3" fmla="*/ 542471391 h 36085"/>
              <a:gd name="T4" fmla="*/ 169413185 w 32853"/>
              <a:gd name="T5" fmla="*/ 324716068 h 36085"/>
              <a:gd name="T6" fmla="*/ 0 60000 65536"/>
              <a:gd name="T7" fmla="*/ 0 60000 65536"/>
              <a:gd name="T8" fmla="*/ 0 60000 65536"/>
              <a:gd name="T9" fmla="*/ 0 w 32853"/>
              <a:gd name="T10" fmla="*/ 0 h 36085"/>
              <a:gd name="T11" fmla="*/ 32853 w 32853"/>
              <a:gd name="T12" fmla="*/ 36085 h 36085"/>
            </a:gdLst>
            <a:ahLst/>
            <a:cxnLst>
              <a:cxn ang="T6">
                <a:pos x="T0" y="T1"/>
              </a:cxn>
              <a:cxn ang="T7">
                <a:pos x="T2" y="T3"/>
              </a:cxn>
              <a:cxn ang="T8">
                <a:pos x="T4" y="T5"/>
              </a:cxn>
            </a:cxnLst>
            <a:rect l="T9" t="T10" r="T11" b="T12"/>
            <a:pathLst>
              <a:path w="32853" h="36085" fill="none" extrusionOk="0">
                <a:moveTo>
                  <a:pt x="-1" y="3162"/>
                </a:moveTo>
                <a:cubicBezTo>
                  <a:pt x="3388" y="1094"/>
                  <a:pt x="7282" y="-1"/>
                  <a:pt x="11253" y="0"/>
                </a:cubicBezTo>
                <a:cubicBezTo>
                  <a:pt x="23182" y="0"/>
                  <a:pt x="32853" y="9670"/>
                  <a:pt x="32853" y="21600"/>
                </a:cubicBezTo>
                <a:cubicBezTo>
                  <a:pt x="32853" y="26952"/>
                  <a:pt x="30865" y="32114"/>
                  <a:pt x="27276" y="36085"/>
                </a:cubicBezTo>
              </a:path>
              <a:path w="32853" h="36085" stroke="0" extrusionOk="0">
                <a:moveTo>
                  <a:pt x="-1" y="3162"/>
                </a:moveTo>
                <a:cubicBezTo>
                  <a:pt x="3388" y="1094"/>
                  <a:pt x="7282" y="-1"/>
                  <a:pt x="11253" y="0"/>
                </a:cubicBezTo>
                <a:cubicBezTo>
                  <a:pt x="23182" y="0"/>
                  <a:pt x="32853" y="9670"/>
                  <a:pt x="32853" y="21600"/>
                </a:cubicBezTo>
                <a:cubicBezTo>
                  <a:pt x="32853" y="26952"/>
                  <a:pt x="30865" y="32114"/>
                  <a:pt x="27276" y="36085"/>
                </a:cubicBezTo>
                <a:lnTo>
                  <a:pt x="11253" y="21600"/>
                </a:lnTo>
                <a:lnTo>
                  <a:pt x="-1" y="3162"/>
                </a:lnTo>
                <a:close/>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86" name="Arc 10"/>
          <p:cNvSpPr>
            <a:spLocks/>
          </p:cNvSpPr>
          <p:nvPr/>
        </p:nvSpPr>
        <p:spPr bwMode="auto">
          <a:xfrm rot="13644966" flipH="1" flipV="1">
            <a:off x="7759700" y="1741488"/>
            <a:ext cx="811213" cy="890587"/>
          </a:xfrm>
          <a:custGeom>
            <a:avLst/>
            <a:gdLst>
              <a:gd name="T0" fmla="*/ 0 w 32853"/>
              <a:gd name="T1" fmla="*/ 47549933 h 36085"/>
              <a:gd name="T2" fmla="*/ 410639169 w 32853"/>
              <a:gd name="T3" fmla="*/ 542469597 h 36085"/>
              <a:gd name="T4" fmla="*/ 169413185 w 32853"/>
              <a:gd name="T5" fmla="*/ 324715506 h 36085"/>
              <a:gd name="T6" fmla="*/ 0 60000 65536"/>
              <a:gd name="T7" fmla="*/ 0 60000 65536"/>
              <a:gd name="T8" fmla="*/ 0 60000 65536"/>
              <a:gd name="T9" fmla="*/ 0 w 32853"/>
              <a:gd name="T10" fmla="*/ 0 h 36085"/>
              <a:gd name="T11" fmla="*/ 32853 w 32853"/>
              <a:gd name="T12" fmla="*/ 36085 h 36085"/>
            </a:gdLst>
            <a:ahLst/>
            <a:cxnLst>
              <a:cxn ang="T6">
                <a:pos x="T0" y="T1"/>
              </a:cxn>
              <a:cxn ang="T7">
                <a:pos x="T2" y="T3"/>
              </a:cxn>
              <a:cxn ang="T8">
                <a:pos x="T4" y="T5"/>
              </a:cxn>
            </a:cxnLst>
            <a:rect l="T9" t="T10" r="T11" b="T12"/>
            <a:pathLst>
              <a:path w="32853" h="36085" fill="none" extrusionOk="0">
                <a:moveTo>
                  <a:pt x="-1" y="3162"/>
                </a:moveTo>
                <a:cubicBezTo>
                  <a:pt x="3388" y="1094"/>
                  <a:pt x="7282" y="-1"/>
                  <a:pt x="11253" y="0"/>
                </a:cubicBezTo>
                <a:cubicBezTo>
                  <a:pt x="23182" y="0"/>
                  <a:pt x="32853" y="9670"/>
                  <a:pt x="32853" y="21600"/>
                </a:cubicBezTo>
                <a:cubicBezTo>
                  <a:pt x="32853" y="26952"/>
                  <a:pt x="30865" y="32114"/>
                  <a:pt x="27276" y="36085"/>
                </a:cubicBezTo>
              </a:path>
              <a:path w="32853" h="36085" stroke="0" extrusionOk="0">
                <a:moveTo>
                  <a:pt x="-1" y="3162"/>
                </a:moveTo>
                <a:cubicBezTo>
                  <a:pt x="3388" y="1094"/>
                  <a:pt x="7282" y="-1"/>
                  <a:pt x="11253" y="0"/>
                </a:cubicBezTo>
                <a:cubicBezTo>
                  <a:pt x="23182" y="0"/>
                  <a:pt x="32853" y="9670"/>
                  <a:pt x="32853" y="21600"/>
                </a:cubicBezTo>
                <a:cubicBezTo>
                  <a:pt x="32853" y="26952"/>
                  <a:pt x="30865" y="32114"/>
                  <a:pt x="27276" y="36085"/>
                </a:cubicBezTo>
                <a:lnTo>
                  <a:pt x="11253" y="21600"/>
                </a:lnTo>
                <a:lnTo>
                  <a:pt x="-1" y="3162"/>
                </a:lnTo>
                <a:close/>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87" name="Text Box 11"/>
          <p:cNvSpPr txBox="1">
            <a:spLocks noChangeArrowheads="1"/>
          </p:cNvSpPr>
          <p:nvPr/>
        </p:nvSpPr>
        <p:spPr bwMode="auto">
          <a:xfrm>
            <a:off x="7289800" y="939800"/>
            <a:ext cx="1235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CC3300"/>
                </a:solidFill>
                <a:effectLst/>
                <a:uLnTx/>
                <a:uFillTx/>
                <a:latin typeface="Arial" panose="020B0604020202020204" pitchFamily="34" charset="0"/>
                <a:ea typeface="+mn-ea"/>
                <a:cs typeface="Arial" panose="020B0604020202020204" pitchFamily="34" charset="0"/>
              </a:rPr>
              <a:t>Curved</a:t>
            </a:r>
          </a:p>
        </p:txBody>
      </p:sp>
      <p:sp>
        <p:nvSpPr>
          <p:cNvPr id="24588" name="Line 12"/>
          <p:cNvSpPr>
            <a:spLocks noChangeShapeType="1"/>
          </p:cNvSpPr>
          <p:nvPr/>
        </p:nvSpPr>
        <p:spPr bwMode="auto">
          <a:xfrm>
            <a:off x="5105400" y="1982788"/>
            <a:ext cx="1219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89" name="Text Box 13"/>
          <p:cNvSpPr txBox="1">
            <a:spLocks noChangeArrowheads="1"/>
          </p:cNvSpPr>
          <p:nvPr/>
        </p:nvSpPr>
        <p:spPr bwMode="auto">
          <a:xfrm>
            <a:off x="4849813" y="939800"/>
            <a:ext cx="167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CC3300"/>
                </a:solidFill>
                <a:effectLst/>
                <a:uLnTx/>
                <a:uFillTx/>
                <a:latin typeface="Arial" panose="020B0604020202020204" pitchFamily="34" charset="0"/>
                <a:ea typeface="+mn-ea"/>
                <a:cs typeface="Arial" panose="020B0604020202020204" pitchFamily="34" charset="0"/>
              </a:rPr>
              <a:t>Horizontal</a:t>
            </a:r>
          </a:p>
        </p:txBody>
      </p:sp>
      <p:sp>
        <p:nvSpPr>
          <p:cNvPr id="24590" name="Line 14"/>
          <p:cNvSpPr>
            <a:spLocks noChangeShapeType="1"/>
          </p:cNvSpPr>
          <p:nvPr/>
        </p:nvSpPr>
        <p:spPr bwMode="auto">
          <a:xfrm>
            <a:off x="1841500" y="4368800"/>
            <a:ext cx="1588" cy="15240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91" name="Line 15"/>
          <p:cNvSpPr>
            <a:spLocks noChangeShapeType="1"/>
          </p:cNvSpPr>
          <p:nvPr/>
        </p:nvSpPr>
        <p:spPr bwMode="auto">
          <a:xfrm flipH="1">
            <a:off x="3527425" y="4368800"/>
            <a:ext cx="749300" cy="15113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92" name="Line 16"/>
          <p:cNvSpPr>
            <a:spLocks noChangeShapeType="1"/>
          </p:cNvSpPr>
          <p:nvPr/>
        </p:nvSpPr>
        <p:spPr bwMode="auto">
          <a:xfrm>
            <a:off x="4264025" y="4381500"/>
            <a:ext cx="787400" cy="15113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93" name="Line 17"/>
          <p:cNvSpPr>
            <a:spLocks noChangeShapeType="1"/>
          </p:cNvSpPr>
          <p:nvPr/>
        </p:nvSpPr>
        <p:spPr bwMode="auto">
          <a:xfrm>
            <a:off x="3781425" y="5381625"/>
            <a:ext cx="9906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94" name="Line 18"/>
          <p:cNvSpPr>
            <a:spLocks noChangeShapeType="1"/>
          </p:cNvSpPr>
          <p:nvPr/>
        </p:nvSpPr>
        <p:spPr bwMode="auto">
          <a:xfrm>
            <a:off x="1689100" y="4762500"/>
            <a:ext cx="1588" cy="965200"/>
          </a:xfrm>
          <a:prstGeom prst="line">
            <a:avLst/>
          </a:prstGeom>
          <a:noFill/>
          <a:ln w="19050">
            <a:solidFill>
              <a:srgbClr val="FF5050"/>
            </a:solidFill>
            <a:round/>
            <a:headEnd/>
            <a:tailEnd type="stealth"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95" name="Text Box 19"/>
          <p:cNvSpPr txBox="1">
            <a:spLocks noChangeArrowheads="1"/>
          </p:cNvSpPr>
          <p:nvPr/>
        </p:nvSpPr>
        <p:spPr bwMode="auto">
          <a:xfrm>
            <a:off x="1533525" y="4379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4596" name="Line 20"/>
          <p:cNvSpPr>
            <a:spLocks noChangeShapeType="1"/>
          </p:cNvSpPr>
          <p:nvPr/>
        </p:nvSpPr>
        <p:spPr bwMode="auto">
          <a:xfrm flipH="1">
            <a:off x="3451225" y="4711700"/>
            <a:ext cx="482600" cy="977900"/>
          </a:xfrm>
          <a:prstGeom prst="line">
            <a:avLst/>
          </a:prstGeom>
          <a:noFill/>
          <a:ln w="19050">
            <a:solidFill>
              <a:srgbClr val="FF5050"/>
            </a:solidFill>
            <a:round/>
            <a:headEnd/>
            <a:tailEnd type="stealth"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97" name="Line 21"/>
          <p:cNvSpPr>
            <a:spLocks noChangeShapeType="1"/>
          </p:cNvSpPr>
          <p:nvPr/>
        </p:nvSpPr>
        <p:spPr bwMode="auto">
          <a:xfrm>
            <a:off x="4619625" y="4711700"/>
            <a:ext cx="482600" cy="977900"/>
          </a:xfrm>
          <a:prstGeom prst="line">
            <a:avLst/>
          </a:prstGeom>
          <a:noFill/>
          <a:ln w="19050">
            <a:solidFill>
              <a:srgbClr val="FF5050"/>
            </a:solidFill>
            <a:round/>
            <a:headEnd/>
            <a:tailEnd type="stealth"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98" name="Line 22"/>
          <p:cNvSpPr>
            <a:spLocks noChangeShapeType="1"/>
          </p:cNvSpPr>
          <p:nvPr/>
        </p:nvSpPr>
        <p:spPr bwMode="auto">
          <a:xfrm>
            <a:off x="3971925" y="5524500"/>
            <a:ext cx="622300" cy="0"/>
          </a:xfrm>
          <a:prstGeom prst="line">
            <a:avLst/>
          </a:prstGeom>
          <a:noFill/>
          <a:ln w="19050">
            <a:solidFill>
              <a:srgbClr val="FF5050"/>
            </a:solidFill>
            <a:round/>
            <a:headEnd/>
            <a:tailEnd type="stealth"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599" name="Text Box 23"/>
          <p:cNvSpPr txBox="1">
            <a:spLocks noChangeArrowheads="1"/>
          </p:cNvSpPr>
          <p:nvPr/>
        </p:nvSpPr>
        <p:spPr bwMode="auto">
          <a:xfrm>
            <a:off x="3841750" y="43926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4600" name="Text Box 24"/>
          <p:cNvSpPr txBox="1">
            <a:spLocks noChangeArrowheads="1"/>
          </p:cNvSpPr>
          <p:nvPr/>
        </p:nvSpPr>
        <p:spPr bwMode="auto">
          <a:xfrm>
            <a:off x="4413250" y="43799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4601" name="Text Box 25"/>
          <p:cNvSpPr txBox="1">
            <a:spLocks noChangeArrowheads="1"/>
          </p:cNvSpPr>
          <p:nvPr/>
        </p:nvSpPr>
        <p:spPr bwMode="auto">
          <a:xfrm>
            <a:off x="4083050" y="5472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4602" name="Text Box 27"/>
          <p:cNvSpPr txBox="1">
            <a:spLocks noChangeArrowheads="1"/>
          </p:cNvSpPr>
          <p:nvPr/>
        </p:nvSpPr>
        <p:spPr bwMode="auto">
          <a:xfrm>
            <a:off x="1304925" y="3554413"/>
            <a:ext cx="10556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r>
              <a:rPr kumimoji="0" lang="en-US" alt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a:t>
            </a:r>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letter</a:t>
            </a:r>
          </a:p>
        </p:txBody>
      </p:sp>
      <p:sp>
        <p:nvSpPr>
          <p:cNvPr id="24603" name="Text Box 28"/>
          <p:cNvSpPr txBox="1">
            <a:spLocks noChangeArrowheads="1"/>
          </p:cNvSpPr>
          <p:nvPr/>
        </p:nvSpPr>
        <p:spPr bwMode="auto">
          <a:xfrm>
            <a:off x="3638550" y="3567113"/>
            <a:ext cx="1169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r>
              <a:rPr kumimoji="0" lang="en-US" altLang="en-US"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letter</a:t>
            </a:r>
          </a:p>
        </p:txBody>
      </p:sp>
      <p:sp>
        <p:nvSpPr>
          <p:cNvPr id="24604" name="Line 29"/>
          <p:cNvSpPr>
            <a:spLocks noChangeShapeType="1"/>
          </p:cNvSpPr>
          <p:nvPr/>
        </p:nvSpPr>
        <p:spPr bwMode="auto">
          <a:xfrm>
            <a:off x="6797675" y="4406900"/>
            <a:ext cx="1588" cy="142557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05" name="Line 30"/>
          <p:cNvSpPr>
            <a:spLocks noChangeShapeType="1"/>
          </p:cNvSpPr>
          <p:nvPr/>
        </p:nvSpPr>
        <p:spPr bwMode="auto">
          <a:xfrm>
            <a:off x="6784975" y="5819775"/>
            <a:ext cx="8477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06" name="Line 31"/>
          <p:cNvSpPr>
            <a:spLocks noChangeShapeType="1"/>
          </p:cNvSpPr>
          <p:nvPr/>
        </p:nvSpPr>
        <p:spPr bwMode="auto">
          <a:xfrm>
            <a:off x="6784975" y="5118100"/>
            <a:ext cx="8509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07" name="Line 32"/>
          <p:cNvSpPr>
            <a:spLocks noChangeShapeType="1"/>
          </p:cNvSpPr>
          <p:nvPr/>
        </p:nvSpPr>
        <p:spPr bwMode="auto">
          <a:xfrm>
            <a:off x="6784975" y="4406900"/>
            <a:ext cx="7366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08" name="Arc 33"/>
          <p:cNvSpPr>
            <a:spLocks/>
          </p:cNvSpPr>
          <p:nvPr/>
        </p:nvSpPr>
        <p:spPr bwMode="auto">
          <a:xfrm>
            <a:off x="7496175" y="4403725"/>
            <a:ext cx="342900" cy="714375"/>
          </a:xfrm>
          <a:custGeom>
            <a:avLst/>
            <a:gdLst>
              <a:gd name="T0" fmla="*/ 0 w 21600"/>
              <a:gd name="T1" fmla="*/ 0 h 43186"/>
              <a:gd name="T2" fmla="*/ 3084671 w 21600"/>
              <a:gd name="T3" fmla="*/ 195475598 h 43186"/>
              <a:gd name="T4" fmla="*/ 0 w 21600"/>
              <a:gd name="T5" fmla="*/ 97769427 h 43186"/>
              <a:gd name="T6" fmla="*/ 0 60000 65536"/>
              <a:gd name="T7" fmla="*/ 0 60000 65536"/>
              <a:gd name="T8" fmla="*/ 0 60000 65536"/>
              <a:gd name="T9" fmla="*/ 0 w 21600"/>
              <a:gd name="T10" fmla="*/ 0 h 43186"/>
              <a:gd name="T11" fmla="*/ 21600 w 21600"/>
              <a:gd name="T12" fmla="*/ 43186 h 43186"/>
            </a:gdLst>
            <a:ahLst/>
            <a:cxnLst>
              <a:cxn ang="T6">
                <a:pos x="T0" y="T1"/>
              </a:cxn>
              <a:cxn ang="T7">
                <a:pos x="T2" y="T3"/>
              </a:cxn>
              <a:cxn ang="T8">
                <a:pos x="T4" y="T5"/>
              </a:cxn>
            </a:cxnLst>
            <a:rect l="T9" t="T10" r="T11" b="T12"/>
            <a:pathLst>
              <a:path w="21600" h="43186" fill="none" extrusionOk="0">
                <a:moveTo>
                  <a:pt x="-1" y="0"/>
                </a:moveTo>
                <a:cubicBezTo>
                  <a:pt x="11929" y="0"/>
                  <a:pt x="21600" y="9670"/>
                  <a:pt x="21600" y="21600"/>
                </a:cubicBezTo>
                <a:cubicBezTo>
                  <a:pt x="21600" y="33229"/>
                  <a:pt x="12392" y="42771"/>
                  <a:pt x="771" y="43186"/>
                </a:cubicBezTo>
              </a:path>
              <a:path w="21600" h="43186" stroke="0" extrusionOk="0">
                <a:moveTo>
                  <a:pt x="-1" y="0"/>
                </a:moveTo>
                <a:cubicBezTo>
                  <a:pt x="11929" y="0"/>
                  <a:pt x="21600" y="9670"/>
                  <a:pt x="21600" y="21600"/>
                </a:cubicBezTo>
                <a:cubicBezTo>
                  <a:pt x="21600" y="33229"/>
                  <a:pt x="12392" y="42771"/>
                  <a:pt x="771" y="43186"/>
                </a:cubicBezTo>
                <a:lnTo>
                  <a:pt x="0" y="21600"/>
                </a:lnTo>
                <a:lnTo>
                  <a:pt x="-1" y="0"/>
                </a:lnTo>
                <a:close/>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09" name="Arc 34"/>
          <p:cNvSpPr>
            <a:spLocks/>
          </p:cNvSpPr>
          <p:nvPr/>
        </p:nvSpPr>
        <p:spPr bwMode="auto">
          <a:xfrm>
            <a:off x="7620000" y="5108575"/>
            <a:ext cx="342900" cy="714375"/>
          </a:xfrm>
          <a:custGeom>
            <a:avLst/>
            <a:gdLst>
              <a:gd name="T0" fmla="*/ 0 w 21600"/>
              <a:gd name="T1" fmla="*/ 0 h 43186"/>
              <a:gd name="T2" fmla="*/ 3084671 w 21600"/>
              <a:gd name="T3" fmla="*/ 195475598 h 43186"/>
              <a:gd name="T4" fmla="*/ 0 w 21600"/>
              <a:gd name="T5" fmla="*/ 97769427 h 43186"/>
              <a:gd name="T6" fmla="*/ 0 60000 65536"/>
              <a:gd name="T7" fmla="*/ 0 60000 65536"/>
              <a:gd name="T8" fmla="*/ 0 60000 65536"/>
              <a:gd name="T9" fmla="*/ 0 w 21600"/>
              <a:gd name="T10" fmla="*/ 0 h 43186"/>
              <a:gd name="T11" fmla="*/ 21600 w 21600"/>
              <a:gd name="T12" fmla="*/ 43186 h 43186"/>
            </a:gdLst>
            <a:ahLst/>
            <a:cxnLst>
              <a:cxn ang="T6">
                <a:pos x="T0" y="T1"/>
              </a:cxn>
              <a:cxn ang="T7">
                <a:pos x="T2" y="T3"/>
              </a:cxn>
              <a:cxn ang="T8">
                <a:pos x="T4" y="T5"/>
              </a:cxn>
            </a:cxnLst>
            <a:rect l="T9" t="T10" r="T11" b="T12"/>
            <a:pathLst>
              <a:path w="21600" h="43186" fill="none" extrusionOk="0">
                <a:moveTo>
                  <a:pt x="-1" y="0"/>
                </a:moveTo>
                <a:cubicBezTo>
                  <a:pt x="11929" y="0"/>
                  <a:pt x="21600" y="9670"/>
                  <a:pt x="21600" y="21600"/>
                </a:cubicBezTo>
                <a:cubicBezTo>
                  <a:pt x="21600" y="33229"/>
                  <a:pt x="12392" y="42771"/>
                  <a:pt x="771" y="43186"/>
                </a:cubicBezTo>
              </a:path>
              <a:path w="21600" h="43186" stroke="0" extrusionOk="0">
                <a:moveTo>
                  <a:pt x="-1" y="0"/>
                </a:moveTo>
                <a:cubicBezTo>
                  <a:pt x="11929" y="0"/>
                  <a:pt x="21600" y="9670"/>
                  <a:pt x="21600" y="21600"/>
                </a:cubicBezTo>
                <a:cubicBezTo>
                  <a:pt x="21600" y="33229"/>
                  <a:pt x="12392" y="42771"/>
                  <a:pt x="771" y="43186"/>
                </a:cubicBezTo>
                <a:lnTo>
                  <a:pt x="0" y="21600"/>
                </a:lnTo>
                <a:lnTo>
                  <a:pt x="-1" y="0"/>
                </a:lnTo>
                <a:close/>
              </a:path>
            </a:pathLst>
          </a:cu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10" name="Line 35"/>
          <p:cNvSpPr>
            <a:spLocks noChangeShapeType="1"/>
          </p:cNvSpPr>
          <p:nvPr/>
        </p:nvSpPr>
        <p:spPr bwMode="auto">
          <a:xfrm>
            <a:off x="6632575" y="4610100"/>
            <a:ext cx="1588" cy="990600"/>
          </a:xfrm>
          <a:prstGeom prst="line">
            <a:avLst/>
          </a:prstGeom>
          <a:noFill/>
          <a:ln w="19050">
            <a:solidFill>
              <a:srgbClr val="FF5050"/>
            </a:solidFill>
            <a:round/>
            <a:headEnd/>
            <a:tailEnd type="stealth"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11" name="Line 36"/>
          <p:cNvSpPr>
            <a:spLocks noChangeShapeType="1"/>
          </p:cNvSpPr>
          <p:nvPr/>
        </p:nvSpPr>
        <p:spPr bwMode="auto">
          <a:xfrm>
            <a:off x="6975475" y="5962650"/>
            <a:ext cx="609600" cy="0"/>
          </a:xfrm>
          <a:prstGeom prst="line">
            <a:avLst/>
          </a:prstGeom>
          <a:noFill/>
          <a:ln w="19050">
            <a:solidFill>
              <a:srgbClr val="FF5050"/>
            </a:solidFill>
            <a:round/>
            <a:headEnd/>
            <a:tailEnd type="stealth"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12" name="Text Box 37"/>
          <p:cNvSpPr txBox="1">
            <a:spLocks noChangeArrowheads="1"/>
          </p:cNvSpPr>
          <p:nvPr/>
        </p:nvSpPr>
        <p:spPr bwMode="auto">
          <a:xfrm>
            <a:off x="6461125" y="42973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4613" name="Text Box 38"/>
          <p:cNvSpPr txBox="1">
            <a:spLocks noChangeArrowheads="1"/>
          </p:cNvSpPr>
          <p:nvPr/>
        </p:nvSpPr>
        <p:spPr bwMode="auto">
          <a:xfrm>
            <a:off x="6708775" y="57705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4614" name="Text Box 39"/>
          <p:cNvSpPr txBox="1">
            <a:spLocks noChangeArrowheads="1"/>
          </p:cNvSpPr>
          <p:nvPr/>
        </p:nvSpPr>
        <p:spPr bwMode="auto">
          <a:xfrm>
            <a:off x="6740525" y="5091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4615" name="Line 40"/>
          <p:cNvSpPr>
            <a:spLocks noChangeShapeType="1"/>
          </p:cNvSpPr>
          <p:nvPr/>
        </p:nvSpPr>
        <p:spPr bwMode="auto">
          <a:xfrm>
            <a:off x="6975475" y="5257800"/>
            <a:ext cx="609600" cy="0"/>
          </a:xfrm>
          <a:prstGeom prst="line">
            <a:avLst/>
          </a:prstGeom>
          <a:noFill/>
          <a:ln w="19050">
            <a:solidFill>
              <a:srgbClr val="FF5050"/>
            </a:solidFill>
            <a:round/>
            <a:headEnd/>
            <a:tailEnd type="stealth"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16" name="Text Box 41"/>
          <p:cNvSpPr txBox="1">
            <a:spLocks noChangeArrowheads="1"/>
          </p:cNvSpPr>
          <p:nvPr/>
        </p:nvSpPr>
        <p:spPr bwMode="auto">
          <a:xfrm>
            <a:off x="6702425" y="41005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4617" name="Line 42"/>
          <p:cNvSpPr>
            <a:spLocks noChangeShapeType="1"/>
          </p:cNvSpPr>
          <p:nvPr/>
        </p:nvSpPr>
        <p:spPr bwMode="auto">
          <a:xfrm>
            <a:off x="6937375" y="4267200"/>
            <a:ext cx="609600" cy="0"/>
          </a:xfrm>
          <a:prstGeom prst="line">
            <a:avLst/>
          </a:prstGeom>
          <a:noFill/>
          <a:ln w="19050">
            <a:solidFill>
              <a:srgbClr val="FF5050"/>
            </a:solidFill>
            <a:round/>
            <a:headEnd/>
            <a:tailEnd type="stealth"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18" name="Arc 43"/>
          <p:cNvSpPr>
            <a:spLocks/>
          </p:cNvSpPr>
          <p:nvPr/>
        </p:nvSpPr>
        <p:spPr bwMode="auto">
          <a:xfrm>
            <a:off x="7524750" y="4271963"/>
            <a:ext cx="498475" cy="812800"/>
          </a:xfrm>
          <a:custGeom>
            <a:avLst/>
            <a:gdLst>
              <a:gd name="T0" fmla="*/ 37486218 w 21600"/>
              <a:gd name="T1" fmla="*/ 0 h 35030"/>
              <a:gd name="T2" fmla="*/ 205779360 w 21600"/>
              <a:gd name="T3" fmla="*/ 437593134 h 35030"/>
              <a:gd name="T4" fmla="*/ 0 w 21600"/>
              <a:gd name="T5" fmla="*/ 267127773 h 35030"/>
              <a:gd name="T6" fmla="*/ 0 60000 65536"/>
              <a:gd name="T7" fmla="*/ 0 60000 65536"/>
              <a:gd name="T8" fmla="*/ 0 60000 65536"/>
              <a:gd name="T9" fmla="*/ 0 w 21600"/>
              <a:gd name="T10" fmla="*/ 0 h 35030"/>
              <a:gd name="T11" fmla="*/ 21600 w 21600"/>
              <a:gd name="T12" fmla="*/ 35030 h 35030"/>
            </a:gdLst>
            <a:ahLst/>
            <a:cxnLst>
              <a:cxn ang="T6">
                <a:pos x="T0" y="T1"/>
              </a:cxn>
              <a:cxn ang="T7">
                <a:pos x="T2" y="T3"/>
              </a:cxn>
              <a:cxn ang="T8">
                <a:pos x="T4" y="T5"/>
              </a:cxn>
            </a:cxnLst>
            <a:rect l="T9" t="T10" r="T11" b="T12"/>
            <a:pathLst>
              <a:path w="21600" h="35030" fill="none" extrusionOk="0">
                <a:moveTo>
                  <a:pt x="3049" y="0"/>
                </a:moveTo>
                <a:cubicBezTo>
                  <a:pt x="13693" y="1518"/>
                  <a:pt x="21600" y="10632"/>
                  <a:pt x="21600" y="21384"/>
                </a:cubicBezTo>
                <a:cubicBezTo>
                  <a:pt x="21600" y="26356"/>
                  <a:pt x="19884" y="31176"/>
                  <a:pt x="16743" y="35030"/>
                </a:cubicBezTo>
              </a:path>
              <a:path w="21600" h="35030" stroke="0" extrusionOk="0">
                <a:moveTo>
                  <a:pt x="3049" y="0"/>
                </a:moveTo>
                <a:cubicBezTo>
                  <a:pt x="13693" y="1518"/>
                  <a:pt x="21600" y="10632"/>
                  <a:pt x="21600" y="21384"/>
                </a:cubicBezTo>
                <a:cubicBezTo>
                  <a:pt x="21600" y="26356"/>
                  <a:pt x="19884" y="31176"/>
                  <a:pt x="16743" y="35030"/>
                </a:cubicBezTo>
                <a:lnTo>
                  <a:pt x="0" y="21384"/>
                </a:lnTo>
                <a:lnTo>
                  <a:pt x="3049" y="0"/>
                </a:lnTo>
                <a:close/>
              </a:path>
            </a:pathLst>
          </a:custGeom>
          <a:noFill/>
          <a:ln w="19050">
            <a:solidFill>
              <a:srgbClr val="FF5050"/>
            </a:solidFill>
            <a:round/>
            <a:headEnd/>
            <a:tailEnd type="stealth"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19" name="Arc 44"/>
          <p:cNvSpPr>
            <a:spLocks/>
          </p:cNvSpPr>
          <p:nvPr/>
        </p:nvSpPr>
        <p:spPr bwMode="auto">
          <a:xfrm flipV="1">
            <a:off x="7600950" y="5157788"/>
            <a:ext cx="498475" cy="812800"/>
          </a:xfrm>
          <a:custGeom>
            <a:avLst/>
            <a:gdLst>
              <a:gd name="T0" fmla="*/ 37486218 w 21600"/>
              <a:gd name="T1" fmla="*/ 0 h 35030"/>
              <a:gd name="T2" fmla="*/ 205779360 w 21600"/>
              <a:gd name="T3" fmla="*/ 437593134 h 35030"/>
              <a:gd name="T4" fmla="*/ 0 w 21600"/>
              <a:gd name="T5" fmla="*/ 267127773 h 35030"/>
              <a:gd name="T6" fmla="*/ 0 60000 65536"/>
              <a:gd name="T7" fmla="*/ 0 60000 65536"/>
              <a:gd name="T8" fmla="*/ 0 60000 65536"/>
              <a:gd name="T9" fmla="*/ 0 w 21600"/>
              <a:gd name="T10" fmla="*/ 0 h 35030"/>
              <a:gd name="T11" fmla="*/ 21600 w 21600"/>
              <a:gd name="T12" fmla="*/ 35030 h 35030"/>
            </a:gdLst>
            <a:ahLst/>
            <a:cxnLst>
              <a:cxn ang="T6">
                <a:pos x="T0" y="T1"/>
              </a:cxn>
              <a:cxn ang="T7">
                <a:pos x="T2" y="T3"/>
              </a:cxn>
              <a:cxn ang="T8">
                <a:pos x="T4" y="T5"/>
              </a:cxn>
            </a:cxnLst>
            <a:rect l="T9" t="T10" r="T11" b="T12"/>
            <a:pathLst>
              <a:path w="21600" h="35030" fill="none" extrusionOk="0">
                <a:moveTo>
                  <a:pt x="3049" y="0"/>
                </a:moveTo>
                <a:cubicBezTo>
                  <a:pt x="13693" y="1518"/>
                  <a:pt x="21600" y="10632"/>
                  <a:pt x="21600" y="21384"/>
                </a:cubicBezTo>
                <a:cubicBezTo>
                  <a:pt x="21600" y="26356"/>
                  <a:pt x="19884" y="31176"/>
                  <a:pt x="16743" y="35030"/>
                </a:cubicBezTo>
              </a:path>
              <a:path w="21600" h="35030" stroke="0" extrusionOk="0">
                <a:moveTo>
                  <a:pt x="3049" y="0"/>
                </a:moveTo>
                <a:cubicBezTo>
                  <a:pt x="13693" y="1518"/>
                  <a:pt x="21600" y="10632"/>
                  <a:pt x="21600" y="21384"/>
                </a:cubicBezTo>
                <a:cubicBezTo>
                  <a:pt x="21600" y="26356"/>
                  <a:pt x="19884" y="31176"/>
                  <a:pt x="16743" y="35030"/>
                </a:cubicBezTo>
                <a:lnTo>
                  <a:pt x="0" y="21384"/>
                </a:lnTo>
                <a:lnTo>
                  <a:pt x="3049" y="0"/>
                </a:lnTo>
                <a:close/>
              </a:path>
            </a:pathLst>
          </a:custGeom>
          <a:noFill/>
          <a:ln w="19050">
            <a:solidFill>
              <a:srgbClr val="FF5050"/>
            </a:solidFill>
            <a:round/>
            <a:headEnd type="stealth" w="med" len="me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20" name="Text Box 45"/>
          <p:cNvSpPr txBox="1">
            <a:spLocks noChangeArrowheads="1"/>
          </p:cNvSpPr>
          <p:nvPr/>
        </p:nvSpPr>
        <p:spPr bwMode="auto">
          <a:xfrm>
            <a:off x="7740650" y="41005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4621" name="Text Box 46"/>
          <p:cNvSpPr txBox="1">
            <a:spLocks noChangeArrowheads="1"/>
          </p:cNvSpPr>
          <p:nvPr/>
        </p:nvSpPr>
        <p:spPr bwMode="auto">
          <a:xfrm>
            <a:off x="7997825" y="49863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6</a:t>
            </a:r>
          </a:p>
        </p:txBody>
      </p:sp>
      <p:sp>
        <p:nvSpPr>
          <p:cNvPr id="24622" name="Text Box 47"/>
          <p:cNvSpPr txBox="1">
            <a:spLocks noChangeArrowheads="1"/>
          </p:cNvSpPr>
          <p:nvPr/>
        </p:nvSpPr>
        <p:spPr bwMode="auto">
          <a:xfrm>
            <a:off x="6689725" y="3576638"/>
            <a:ext cx="1169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r>
              <a:rPr kumimoji="0" lang="en-US" altLang="en-US" sz="2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a:t>
            </a:r>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letter</a:t>
            </a:r>
          </a:p>
        </p:txBody>
      </p:sp>
      <p:sp>
        <p:nvSpPr>
          <p:cNvPr id="24623" name="AutoShape 50"/>
          <p:cNvSpPr>
            <a:spLocks noChangeArrowheads="1"/>
          </p:cNvSpPr>
          <p:nvPr/>
        </p:nvSpPr>
        <p:spPr bwMode="auto">
          <a:xfrm>
            <a:off x="444500" y="3263900"/>
            <a:ext cx="8255000" cy="2946400"/>
          </a:xfrm>
          <a:prstGeom prst="roundRect">
            <a:avLst>
              <a:gd name="adj" fmla="val 10667"/>
            </a:avLst>
          </a:prstGeom>
          <a:noFill/>
          <a:ln w="9525">
            <a:solidFill>
              <a:srgbClr val="00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24624" name="Text Box 26"/>
          <p:cNvSpPr txBox="1">
            <a:spLocks noChangeArrowheads="1"/>
          </p:cNvSpPr>
          <p:nvPr/>
        </p:nvSpPr>
        <p:spPr bwMode="auto">
          <a:xfrm>
            <a:off x="720725" y="3036888"/>
            <a:ext cx="160813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33CC"/>
                </a:solidFill>
                <a:effectLst/>
                <a:uLnTx/>
                <a:uFillTx/>
                <a:latin typeface="Arial" panose="020B0604020202020204" pitchFamily="34" charset="0"/>
                <a:ea typeface="+mn-ea"/>
                <a:cs typeface="Arial" panose="020B0604020202020204" pitchFamily="34" charset="0"/>
              </a:rPr>
              <a:t>Examples</a:t>
            </a:r>
            <a:endParaRPr kumimoji="0" lang="en-US" altLang="en-US" sz="20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47046753"/>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8332" t="17778" r="18334" b="17778"/>
          <a:stretch/>
        </p:blipFill>
        <p:spPr>
          <a:xfrm>
            <a:off x="304800" y="1066800"/>
            <a:ext cx="8534400" cy="5050971"/>
          </a:xfrm>
          <a:prstGeom prst="rect">
            <a:avLst/>
          </a:prstGeom>
        </p:spPr>
      </p:pic>
      <p:sp>
        <p:nvSpPr>
          <p:cNvPr id="3" name="Rectangle 3"/>
          <p:cNvSpPr txBox="1">
            <a:spLocks noChangeArrowheads="1"/>
          </p:cNvSpPr>
          <p:nvPr/>
        </p:nvSpPr>
        <p:spPr>
          <a:xfrm>
            <a:off x="444500" y="-27019"/>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Adobe Garamond Pro Bold" pitchFamily="18" charset="0"/>
                <a:ea typeface="+mj-ea"/>
                <a:cs typeface="+mj-cs"/>
              </a:defRPr>
            </a:lvl1pPr>
          </a:lstStyle>
          <a:p>
            <a:pPr fontAlgn="auto">
              <a:spcAft>
                <a:spcPts val="0"/>
              </a:spcAft>
            </a:pPr>
            <a:r>
              <a:rPr lang="en-US" altLang="en-US" b="1" dirty="0" smtClean="0">
                <a:solidFill>
                  <a:schemeClr val="accent2"/>
                </a:solidFill>
                <a:latin typeface="Arial" panose="020B0604020202020204" pitchFamily="34" charset="0"/>
                <a:cs typeface="Arial" panose="020B0604020202020204" pitchFamily="34" charset="0"/>
              </a:rPr>
              <a:t>Line types</a:t>
            </a:r>
            <a:endParaRPr lang="en-US" altLang="en-US" dirty="0"/>
          </a:p>
        </p:txBody>
      </p:sp>
    </p:spTree>
    <p:extLst>
      <p:ext uri="{BB962C8B-B14F-4D97-AF65-F5344CB8AC3E}">
        <p14:creationId xmlns:p14="http://schemas.microsoft.com/office/powerpoint/2010/main" val="41681200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7917" t="21111" r="18333" b="21852"/>
          <a:stretch/>
        </p:blipFill>
        <p:spPr>
          <a:xfrm>
            <a:off x="76200" y="1447800"/>
            <a:ext cx="8915400" cy="4648200"/>
          </a:xfrm>
          <a:prstGeom prst="rect">
            <a:avLst/>
          </a:prstGeom>
        </p:spPr>
      </p:pic>
    </p:spTree>
    <p:extLst>
      <p:ext uri="{BB962C8B-B14F-4D97-AF65-F5344CB8AC3E}">
        <p14:creationId xmlns:p14="http://schemas.microsoft.com/office/powerpoint/2010/main" val="167817612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clrChange>
              <a:clrFrom>
                <a:srgbClr val="FFFFD9"/>
              </a:clrFrom>
              <a:clrTo>
                <a:srgbClr val="FFFFD9">
                  <a:alpha val="0"/>
                </a:srgbClr>
              </a:clrTo>
            </a:clrChange>
          </a:blip>
          <a:stretch>
            <a:fillRect/>
          </a:stretch>
        </p:blipFill>
        <p:spPr>
          <a:xfrm>
            <a:off x="304800" y="533400"/>
            <a:ext cx="8047981" cy="5585663"/>
          </a:xfrm>
          <a:prstGeom prst="rect">
            <a:avLst/>
          </a:prstGeom>
        </p:spPr>
      </p:pic>
    </p:spTree>
    <p:extLst>
      <p:ext uri="{BB962C8B-B14F-4D97-AF65-F5344CB8AC3E}">
        <p14:creationId xmlns:p14="http://schemas.microsoft.com/office/powerpoint/2010/main" val="3392402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0" y="291673"/>
            <a:ext cx="9144000" cy="4508927"/>
          </a:xfrm>
          <a:prstGeom prst="rect">
            <a:avLst/>
          </a:prstGeom>
          <a:noFill/>
          <a:ln w="9525">
            <a:noFill/>
            <a:miter lim="800000"/>
            <a:headEnd/>
            <a:tailEnd/>
          </a:ln>
          <a:effectLst/>
        </p:spPr>
        <p:txBody>
          <a:bodyPr>
            <a:spAutoFit/>
          </a:bodyPr>
          <a:lstStyle/>
          <a:p>
            <a:pPr marL="0" marR="0" lvl="0" indent="0" algn="ctr" defTabSz="914400" rtl="0" eaLnBrk="1" fontAlgn="auto" latinLnBrk="0" hangingPunct="1">
              <a:spcBef>
                <a:spcPct val="50000"/>
              </a:spcBef>
              <a:spcAft>
                <a:spcPts val="0"/>
              </a:spcAft>
              <a:buClrTx/>
              <a:buSzTx/>
              <a:buFontTx/>
              <a:buNone/>
              <a:tabLst/>
              <a:defRPr/>
            </a:pPr>
            <a:r>
              <a:rPr kumimoji="0" lang="en-US" sz="2600" b="1" i="0" u="sng" strike="noStrike" kern="1200" cap="none" spc="0" normalizeH="0" baseline="0" noProof="0" dirty="0">
                <a:ln>
                  <a:noFill/>
                </a:ln>
                <a:solidFill>
                  <a:srgbClr val="6600CC"/>
                </a:solidFill>
                <a:effectLst/>
                <a:uLnTx/>
                <a:uFillTx/>
                <a:latin typeface="Garamond" pitchFamily="18" charset="0"/>
                <a:ea typeface="+mn-ea"/>
                <a:cs typeface="Arial" panose="020B0604020202020204" pitchFamily="34" charset="0"/>
              </a:rPr>
              <a:t>LETTERING</a:t>
            </a:r>
          </a:p>
          <a:p>
            <a:pPr marL="342900" marR="0" lvl="0" indent="-342900" algn="l" defTabSz="914400" rtl="0" eaLnBrk="1" fontAlgn="auto" latinLnBrk="0" hangingPunct="1">
              <a:spcBef>
                <a:spcPct val="50000"/>
              </a:spcBef>
              <a:spcAft>
                <a:spcPts val="0"/>
              </a:spcAft>
              <a:buClrTx/>
              <a:buSzTx/>
              <a:buFont typeface="Arial"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Single stroke: Thickness in single stroke lettering is obtained by a single stroke of pencil</a:t>
            </a:r>
          </a:p>
          <a:p>
            <a:pPr marL="800100" lvl="1" indent="-342900" algn="l" fontAlgn="auto">
              <a:spcAft>
                <a:spcPts val="0"/>
              </a:spcAft>
              <a:buFont typeface="Arial" pitchFamily="34" charset="0"/>
              <a:buChar char="•"/>
              <a:defRPr/>
            </a:pPr>
            <a:r>
              <a:rPr lang="en-US" dirty="0">
                <a:solidFill>
                  <a:prstClr val="black"/>
                </a:solidFill>
                <a:latin typeface="Calibri"/>
                <a:cs typeface="Arial" panose="020B0604020202020204" pitchFamily="34" charset="0"/>
              </a:rPr>
              <a:t>The pencil or pen can be lifted while completing a particular </a:t>
            </a:r>
            <a:r>
              <a:rPr lang="en-US" dirty="0" smtClean="0">
                <a:solidFill>
                  <a:prstClr val="black"/>
                </a:solidFill>
                <a:latin typeface="Calibri"/>
                <a:cs typeface="Arial" panose="020B0604020202020204" pitchFamily="34" charset="0"/>
              </a:rPr>
              <a:t>letter</a:t>
            </a:r>
            <a:endParaRPr kumimoji="0" lang="en-US"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l" defTabSz="914400" rtl="0" eaLnBrk="1" fontAlgn="auto" latinLnBrk="0" hangingPunct="1">
              <a:spcBef>
                <a:spcPct val="50000"/>
              </a:spcBef>
              <a:spcAft>
                <a:spcPts val="0"/>
              </a:spcAft>
              <a:buClrTx/>
              <a:buSzTx/>
              <a:buFontTx/>
              <a:buNone/>
              <a:tabLst/>
              <a:defRPr/>
            </a:pPr>
            <a:r>
              <a:rPr kumimoji="0" lang="en-US" sz="1800" b="1" i="0" u="sng" strike="noStrike" kern="1200" cap="none" spc="0" normalizeH="0" baseline="0" noProof="0" dirty="0">
                <a:ln>
                  <a:noFill/>
                </a:ln>
                <a:solidFill>
                  <a:prstClr val="black"/>
                </a:solidFill>
                <a:effectLst/>
                <a:uLnTx/>
                <a:uFillTx/>
                <a:latin typeface="Garamond" pitchFamily="18" charset="0"/>
                <a:ea typeface="+mn-ea"/>
                <a:cs typeface="Arial" panose="020B0604020202020204" pitchFamily="34" charset="0"/>
              </a:rPr>
              <a:t>Height and Width of Letters</a:t>
            </a:r>
          </a:p>
          <a:p>
            <a:pPr marL="285750" marR="0" lvl="0" indent="-285750" algn="just" defTabSz="914400" rtl="0" eaLnBrk="1" fontAlgn="auto" latinLnBrk="0" hangingPunct="1">
              <a:spcBef>
                <a:spcPct val="50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Garamond" pitchFamily="18" charset="0"/>
                <a:ea typeface="+mn-ea"/>
                <a:cs typeface="Arial" panose="020B0604020202020204" pitchFamily="34" charset="0"/>
              </a:rPr>
              <a:t>BIS (SP 46: 2003) has recommended the heights of letters as: 1.8 mm, 2.5 mm, 3.5 mm, 5 mm, 7 mm, 10 mm, 14 mm and 20 mm. </a:t>
            </a:r>
          </a:p>
          <a:p>
            <a:pPr marL="285750" marR="0" lvl="0" indent="-285750" algn="just" defTabSz="914400" rtl="0" eaLnBrk="1" fontAlgn="auto" latinLnBrk="0" hangingPunct="1">
              <a:spcBef>
                <a:spcPct val="50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Garamond" pitchFamily="18" charset="0"/>
                <a:ea typeface="+mn-ea"/>
                <a:cs typeface="Arial" panose="020B0604020202020204" pitchFamily="34" charset="0"/>
              </a:rPr>
              <a:t>Large-sized letters are used for main titles and headings, medium-sized letters for subtitles and important notes and small-sized letters for dimensions and general notes. </a:t>
            </a:r>
          </a:p>
          <a:p>
            <a:pPr marL="285750" marR="0" lvl="0" indent="-285750" algn="just" defTabSz="914400" rtl="0" eaLnBrk="1" fontAlgn="auto" latinLnBrk="0" hangingPunct="1">
              <a:spcBef>
                <a:spcPct val="50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Garamond" pitchFamily="18" charset="0"/>
                <a:ea typeface="+mn-ea"/>
                <a:cs typeface="Arial" panose="020B0604020202020204" pitchFamily="34" charset="0"/>
              </a:rPr>
              <a:t>The height of letters bears direct relationship with the size of drawing, i.e., large-sized letters for larger drawings and small-sized letters for smaller drawings. </a:t>
            </a:r>
          </a:p>
          <a:p>
            <a:pPr marL="285750" marR="0" lvl="0" indent="-285750" algn="just" defTabSz="914400" rtl="0" eaLnBrk="1" fontAlgn="auto" latinLnBrk="0" hangingPunct="1">
              <a:spcBef>
                <a:spcPct val="5000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Garamond" pitchFamily="18" charset="0"/>
                <a:ea typeface="+mn-ea"/>
                <a:cs typeface="Arial" panose="020B0604020202020204" pitchFamily="34" charset="0"/>
              </a:rPr>
              <a:t>The height-to-width ratio varies from letter to letter. Most of the letters follow the ratio </a:t>
            </a:r>
            <a:br>
              <a:rPr kumimoji="0" lang="en-US" sz="1800" b="1" i="0" u="none" strike="noStrike" kern="1200" cap="none" spc="0" normalizeH="0" baseline="0" noProof="0" dirty="0">
                <a:ln>
                  <a:noFill/>
                </a:ln>
                <a:solidFill>
                  <a:prstClr val="black"/>
                </a:solidFill>
                <a:effectLst/>
                <a:uLnTx/>
                <a:uFillTx/>
                <a:latin typeface="Garamond" pitchFamily="18" charset="0"/>
                <a:ea typeface="+mn-ea"/>
                <a:cs typeface="Arial" panose="020B0604020202020204" pitchFamily="34" charset="0"/>
              </a:rPr>
            </a:br>
            <a:r>
              <a:rPr kumimoji="0" lang="en-US" sz="1800" b="1" i="0" u="none" strike="noStrike" kern="1200" cap="none" spc="0" normalizeH="0" baseline="0" noProof="0" dirty="0">
                <a:ln>
                  <a:noFill/>
                </a:ln>
                <a:solidFill>
                  <a:prstClr val="black"/>
                </a:solidFill>
                <a:effectLst/>
                <a:uLnTx/>
                <a:uFillTx/>
                <a:latin typeface="Garamond" pitchFamily="18" charset="0"/>
                <a:ea typeface="+mn-ea"/>
                <a:cs typeface="Arial" panose="020B0604020202020204" pitchFamily="34" charset="0"/>
              </a:rPr>
              <a:t>7 : 5 or 7 : 6.</a:t>
            </a:r>
          </a:p>
        </p:txBody>
      </p:sp>
      <p:pic>
        <p:nvPicPr>
          <p:cNvPr id="23555"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b="25424"/>
          <a:stretch>
            <a:fillRect/>
          </a:stretch>
        </p:blipFill>
        <p:spPr bwMode="auto">
          <a:xfrm>
            <a:off x="2019300" y="5233987"/>
            <a:ext cx="5105400" cy="151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114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clrChange>
              <a:clrFrom>
                <a:srgbClr val="FFFFD9"/>
              </a:clrFrom>
              <a:clrTo>
                <a:srgbClr val="FFFFD9">
                  <a:alpha val="0"/>
                </a:srgbClr>
              </a:clrTo>
            </a:clrChange>
          </a:blip>
          <a:srcRect t="22291"/>
          <a:stretch/>
        </p:blipFill>
        <p:spPr>
          <a:xfrm>
            <a:off x="685800" y="990600"/>
            <a:ext cx="7696200" cy="4383659"/>
          </a:xfrm>
          <a:prstGeom prst="rect">
            <a:avLst/>
          </a:prstGeom>
        </p:spPr>
      </p:pic>
      <p:sp>
        <p:nvSpPr>
          <p:cNvPr id="4" name="Rectangle 3"/>
          <p:cNvSpPr/>
          <p:nvPr/>
        </p:nvSpPr>
        <p:spPr>
          <a:xfrm>
            <a:off x="8077200" y="5867400"/>
            <a:ext cx="609600" cy="488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7696200" y="4876800"/>
            <a:ext cx="6858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40321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clrChange>
              <a:clrFrom>
                <a:srgbClr val="FFFFD9"/>
              </a:clrFrom>
              <a:clrTo>
                <a:srgbClr val="FFFFD9">
                  <a:alpha val="0"/>
                </a:srgbClr>
              </a:clrTo>
            </a:clrChange>
          </a:blip>
          <a:srcRect b="19561"/>
          <a:stretch/>
        </p:blipFill>
        <p:spPr>
          <a:xfrm>
            <a:off x="0" y="685800"/>
            <a:ext cx="9128760" cy="5078660"/>
          </a:xfrm>
          <a:prstGeom prst="rect">
            <a:avLst/>
          </a:prstGeom>
        </p:spPr>
      </p:pic>
    </p:spTree>
    <p:extLst>
      <p:ext uri="{BB962C8B-B14F-4D97-AF65-F5344CB8AC3E}">
        <p14:creationId xmlns:p14="http://schemas.microsoft.com/office/powerpoint/2010/main" val="66353726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3"/>
          <p:cNvPicPr>
            <a:picLocks noChangeAspect="1" noChangeArrowheads="1"/>
          </p:cNvPicPr>
          <p:nvPr/>
        </p:nvPicPr>
        <p:blipFill>
          <a:blip r:embed="rId2">
            <a:extLst>
              <a:ext uri="{28A0092B-C50C-407E-A947-70E740481C1C}">
                <a14:useLocalDpi xmlns:a14="http://schemas.microsoft.com/office/drawing/2010/main" val="0"/>
              </a:ext>
            </a:extLst>
          </a:blip>
          <a:srcRect b="4596"/>
          <a:stretch>
            <a:fillRect/>
          </a:stretch>
        </p:blipFill>
        <p:spPr bwMode="auto">
          <a:xfrm>
            <a:off x="990600" y="397224"/>
            <a:ext cx="7192962"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TextBox 3"/>
          <p:cNvSpPr txBox="1">
            <a:spLocks noChangeArrowheads="1"/>
          </p:cNvSpPr>
          <p:nvPr/>
        </p:nvSpPr>
        <p:spPr bwMode="auto">
          <a:xfrm>
            <a:off x="2590800" y="239712"/>
            <a:ext cx="5410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srgbClr val="3333FF"/>
                </a:solidFill>
                <a:effectLst/>
                <a:uLnTx/>
                <a:uFillTx/>
                <a:latin typeface="Calibri" panose="020F0502020204030204" pitchFamily="34" charset="0"/>
                <a:ea typeface="+mn-ea"/>
                <a:cs typeface="Arial" panose="020B0604020202020204" pitchFamily="34" charset="0"/>
              </a:rPr>
              <a:t>Vertical Capital Letters and Numeric</a:t>
            </a:r>
          </a:p>
        </p:txBody>
      </p:sp>
    </p:spTree>
    <p:extLst>
      <p:ext uri="{BB962C8B-B14F-4D97-AF65-F5344CB8AC3E}">
        <p14:creationId xmlns:p14="http://schemas.microsoft.com/office/powerpoint/2010/main" val="187006872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t="9581"/>
          <a:stretch>
            <a:fillRect/>
          </a:stretch>
        </p:blipFill>
        <p:spPr bwMode="auto">
          <a:xfrm>
            <a:off x="457200" y="990600"/>
            <a:ext cx="8315325"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Box 2"/>
          <p:cNvSpPr txBox="1">
            <a:spLocks noChangeArrowheads="1"/>
          </p:cNvSpPr>
          <p:nvPr/>
        </p:nvSpPr>
        <p:spPr bwMode="auto">
          <a:xfrm>
            <a:off x="3276600" y="457200"/>
            <a:ext cx="5410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srgbClr val="3333FF"/>
                </a:solidFill>
                <a:effectLst/>
                <a:uLnTx/>
                <a:uFillTx/>
                <a:latin typeface="Calibri" panose="020F0502020204030204" pitchFamily="34" charset="0"/>
                <a:ea typeface="+mn-ea"/>
                <a:cs typeface="Arial" panose="020B0604020202020204" pitchFamily="34" charset="0"/>
              </a:rPr>
              <a:t>Vertical Lowercase Letters</a:t>
            </a:r>
          </a:p>
        </p:txBody>
      </p:sp>
    </p:spTree>
    <p:extLst>
      <p:ext uri="{BB962C8B-B14F-4D97-AF65-F5344CB8AC3E}">
        <p14:creationId xmlns:p14="http://schemas.microsoft.com/office/powerpoint/2010/main" val="24234639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304800" y="633413"/>
            <a:ext cx="8534400" cy="512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342900" marR="0" lvl="0" indent="-342900" algn="l" defTabSz="914400" rtl="0" eaLnBrk="1" fontAlgn="base" latinLnBrk="0" hangingPunct="1">
              <a:lnSpc>
                <a:spcPct val="150000"/>
              </a:lnSpc>
              <a:spcBef>
                <a:spcPct val="50000"/>
              </a:spcBef>
              <a:spcAft>
                <a:spcPct val="0"/>
              </a:spcAft>
              <a:buClrTx/>
              <a:buSzTx/>
              <a:buFontTx/>
              <a:buNone/>
              <a:tabLst/>
              <a:defRPr/>
            </a:pPr>
            <a:r>
              <a:rPr kumimoji="0" lang="en-US" altLang="en-US" sz="2000" b="1" i="0" u="sng"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Lettering Rules</a:t>
            </a:r>
          </a:p>
          <a:p>
            <a:pPr marL="342900" marR="0" lvl="0" indent="-342900" algn="just" defTabSz="914400" rtl="0" eaLnBrk="1" fontAlgn="base" latinLnBrk="0" hangingPunct="1">
              <a:lnSpc>
                <a:spcPct val="150000"/>
              </a:lnSpc>
              <a:spcBef>
                <a:spcPct val="50000"/>
              </a:spcBef>
              <a:spcAft>
                <a:spcPct val="0"/>
              </a:spcAft>
              <a:buClrTx/>
              <a:buSzTx/>
              <a:buFontTx/>
              <a:buAutoNum type="arabicPeriod"/>
              <a:tabLst/>
              <a:defRPr/>
            </a:pPr>
            <a:r>
              <a:rPr kumimoji="0" lang="en-US" altLang="en-US" sz="2000" b="1"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Draw letters as simple as possible. Artistic or cursive lettering should be strictly avoided.</a:t>
            </a:r>
          </a:p>
          <a:p>
            <a:pPr marL="342900" marR="0" lvl="0" indent="-342900" algn="just" defTabSz="914400" rtl="0" eaLnBrk="1" fontAlgn="base" latinLnBrk="0" hangingPunct="1">
              <a:lnSpc>
                <a:spcPct val="150000"/>
              </a:lnSpc>
              <a:spcBef>
                <a:spcPct val="50000"/>
              </a:spcBef>
              <a:spcAft>
                <a:spcPct val="0"/>
              </a:spcAft>
              <a:buClrTx/>
              <a:buSzTx/>
              <a:buFontTx/>
              <a:buAutoNum type="arabicPeriod"/>
              <a:tabLst/>
              <a:defRPr/>
            </a:pPr>
            <a:r>
              <a:rPr kumimoji="0" lang="en-US" altLang="en-US" sz="2000" b="1"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Draw letters symmetrical about the vertical axis or horizontal axis. Asymmetric letters like, F, R, Z, 4, etc., may be drawn as they are.</a:t>
            </a:r>
          </a:p>
          <a:p>
            <a:pPr marL="342900" marR="0" lvl="0" indent="-342900" algn="just" defTabSz="914400" rtl="0" eaLnBrk="1" fontAlgn="base" latinLnBrk="0" hangingPunct="1">
              <a:lnSpc>
                <a:spcPct val="150000"/>
              </a:lnSpc>
              <a:spcBef>
                <a:spcPct val="50000"/>
              </a:spcBef>
              <a:spcAft>
                <a:spcPct val="0"/>
              </a:spcAft>
              <a:buClrTx/>
              <a:buSzTx/>
              <a:buFontTx/>
              <a:buAutoNum type="arabicPeriod"/>
              <a:tabLst/>
              <a:defRPr/>
            </a:pPr>
            <a:r>
              <a:rPr kumimoji="0" lang="en-US" altLang="en-US" sz="2000" b="1"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Round-off the sharp corners wherever necessary, e.g., D, P, S, etc.</a:t>
            </a:r>
          </a:p>
          <a:p>
            <a:pPr marL="342900" marR="0" lvl="0" indent="-342900" algn="just" defTabSz="914400" rtl="0" eaLnBrk="1" fontAlgn="base" latinLnBrk="0" hangingPunct="1">
              <a:lnSpc>
                <a:spcPct val="150000"/>
              </a:lnSpc>
              <a:spcBef>
                <a:spcPct val="50000"/>
              </a:spcBef>
              <a:spcAft>
                <a:spcPct val="0"/>
              </a:spcAft>
              <a:buClrTx/>
              <a:buSzTx/>
              <a:buFontTx/>
              <a:buAutoNum type="arabicPeriod"/>
              <a:tabLst/>
              <a:defRPr/>
            </a:pPr>
            <a:r>
              <a:rPr kumimoji="0" lang="en-US" altLang="en-US" sz="2000" b="1"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Draw all letters legible and uniform.</a:t>
            </a:r>
          </a:p>
          <a:p>
            <a:pPr marL="342900" marR="0" lvl="0" indent="-342900" algn="just" defTabSz="914400" rtl="0" eaLnBrk="1" fontAlgn="base" latinLnBrk="0" hangingPunct="1">
              <a:lnSpc>
                <a:spcPct val="150000"/>
              </a:lnSpc>
              <a:spcBef>
                <a:spcPct val="50000"/>
              </a:spcBef>
              <a:spcAft>
                <a:spcPct val="0"/>
              </a:spcAft>
              <a:buClrTx/>
              <a:buSzTx/>
              <a:buFontTx/>
              <a:buAutoNum type="arabicPeriod"/>
              <a:tabLst/>
              <a:defRPr/>
            </a:pPr>
            <a:r>
              <a:rPr kumimoji="0" lang="en-US" altLang="en-US" sz="2000" b="1"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The height of all the letters in one line should be the same.</a:t>
            </a:r>
          </a:p>
          <a:p>
            <a:pPr marL="342900" marR="0" lvl="0" indent="-342900" algn="just" defTabSz="914400" rtl="0" eaLnBrk="1" fontAlgn="base" latinLnBrk="0" hangingPunct="1">
              <a:lnSpc>
                <a:spcPct val="150000"/>
              </a:lnSpc>
              <a:spcBef>
                <a:spcPct val="50000"/>
              </a:spcBef>
              <a:spcAft>
                <a:spcPct val="0"/>
              </a:spcAft>
              <a:buClrTx/>
              <a:buSzTx/>
              <a:buFontTx/>
              <a:buAutoNum type="arabicPeriod"/>
              <a:tabLst/>
              <a:defRPr/>
            </a:pPr>
            <a:r>
              <a:rPr kumimoji="0" lang="en-US" altLang="en-US" sz="2000" b="1"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Use single stroke vertical CAPITAL letters as much as possible.</a:t>
            </a:r>
          </a:p>
        </p:txBody>
      </p:sp>
    </p:spTree>
    <p:extLst>
      <p:ext uri="{BB962C8B-B14F-4D97-AF65-F5344CB8AC3E}">
        <p14:creationId xmlns:p14="http://schemas.microsoft.com/office/powerpoint/2010/main" val="302694323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clrChange>
              <a:clrFrom>
                <a:srgbClr val="FFFFD9"/>
              </a:clrFrom>
              <a:clrTo>
                <a:srgbClr val="FFFFD9">
                  <a:alpha val="0"/>
                </a:srgbClr>
              </a:clrTo>
            </a:clrChange>
          </a:blip>
          <a:stretch>
            <a:fillRect/>
          </a:stretch>
        </p:blipFill>
        <p:spPr>
          <a:xfrm>
            <a:off x="228600" y="762000"/>
            <a:ext cx="8327281" cy="5259441"/>
          </a:xfrm>
          <a:prstGeom prst="rect">
            <a:avLst/>
          </a:prstGeom>
        </p:spPr>
      </p:pic>
    </p:spTree>
    <p:extLst>
      <p:ext uri="{BB962C8B-B14F-4D97-AF65-F5344CB8AC3E}">
        <p14:creationId xmlns:p14="http://schemas.microsoft.com/office/powerpoint/2010/main" val="338990063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4"/>
          <p:cNvSpPr txBox="1">
            <a:spLocks noChangeArrowheads="1"/>
          </p:cNvSpPr>
          <p:nvPr/>
        </p:nvSpPr>
        <p:spPr bwMode="auto">
          <a:xfrm>
            <a:off x="0" y="381000"/>
            <a:ext cx="914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Dimension is a </a:t>
            </a:r>
            <a:r>
              <a:rPr kumimoji="0" lang="en-US" altLang="en-US" sz="1800" b="1" i="0" u="none" strike="noStrike" kern="1200" cap="none" spc="0" normalizeH="0" baseline="0" noProof="0" dirty="0">
                <a:ln>
                  <a:noFill/>
                </a:ln>
                <a:solidFill>
                  <a:srgbClr val="6600CC"/>
                </a:solidFill>
                <a:effectLst/>
                <a:uLnTx/>
                <a:uFillTx/>
                <a:latin typeface="Garamond" panose="02020404030301010803" pitchFamily="18" charset="0"/>
                <a:ea typeface="+mn-ea"/>
                <a:cs typeface="Arial" panose="020B0604020202020204" pitchFamily="34" charset="0"/>
              </a:rPr>
              <a:t>numerical value expressed</a:t>
            </a: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 in appropriate units of measurement and indicated graphically on technical drawings with </a:t>
            </a:r>
            <a:r>
              <a:rPr kumimoji="0" lang="en-US" altLang="en-US" sz="1800" b="1" i="0" u="none" strike="noStrike" kern="1200" cap="none" spc="0" normalizeH="0" baseline="0" noProof="0" dirty="0">
                <a:ln>
                  <a:noFill/>
                </a:ln>
                <a:solidFill>
                  <a:srgbClr val="6600CC"/>
                </a:solidFill>
                <a:effectLst/>
                <a:uLnTx/>
                <a:uFillTx/>
                <a:latin typeface="Garamond" panose="02020404030301010803" pitchFamily="18" charset="0"/>
                <a:ea typeface="+mn-ea"/>
                <a:cs typeface="Arial" panose="020B0604020202020204" pitchFamily="34" charset="0"/>
              </a:rPr>
              <a:t>lines, symbols and notes (</a:t>
            </a: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BIS SP 46: 2003)</a:t>
            </a:r>
          </a:p>
        </p:txBody>
      </p:sp>
      <p:sp>
        <p:nvSpPr>
          <p:cNvPr id="31747" name="Rectangle 3"/>
          <p:cNvSpPr>
            <a:spLocks noChangeArrowheads="1"/>
          </p:cNvSpPr>
          <p:nvPr/>
        </p:nvSpPr>
        <p:spPr bwMode="auto">
          <a:xfrm>
            <a:off x="0" y="1066800"/>
            <a:ext cx="8763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Dimensioning is done by a set of </a:t>
            </a:r>
            <a:r>
              <a:rPr kumimoji="0" lang="en-US" altLang="en-US" sz="1800" b="1" i="0" u="none" strike="noStrike" kern="1200" cap="none" spc="0" normalizeH="0" baseline="0" noProof="0" dirty="0">
                <a:ln>
                  <a:noFill/>
                </a:ln>
                <a:solidFill>
                  <a:srgbClr val="6600CC"/>
                </a:solidFill>
                <a:effectLst/>
                <a:uLnTx/>
                <a:uFillTx/>
                <a:latin typeface="Garamond" panose="02020404030301010803" pitchFamily="18" charset="0"/>
                <a:ea typeface="+mn-ea"/>
                <a:cs typeface="Arial" panose="020B0604020202020204" pitchFamily="34" charset="0"/>
              </a:rPr>
              <a:t>extension lines, dimension lines, leader lines, arrow heads and dimensions</a:t>
            </a:r>
            <a:endParaRPr kumimoji="0" lang="en-US" altLang="en-US" sz="1800" b="0" i="0" u="none" strike="noStrike" kern="1200" cap="none" spc="0" normalizeH="0" baseline="0" noProof="0" dirty="0">
              <a:ln>
                <a:noFill/>
              </a:ln>
              <a:solidFill>
                <a:srgbClr val="6600CC"/>
              </a:solidFill>
              <a:effectLst/>
              <a:uLnTx/>
              <a:uFillTx/>
              <a:latin typeface="Garamond" panose="02020404030301010803" pitchFamily="18" charset="0"/>
              <a:ea typeface="+mn-ea"/>
              <a:cs typeface="Arial" panose="020B0604020202020204" pitchFamily="34" charset="0"/>
            </a:endParaRPr>
          </a:p>
        </p:txBody>
      </p:sp>
      <p:sp>
        <p:nvSpPr>
          <p:cNvPr id="31748" name="TextBox 4"/>
          <p:cNvSpPr txBox="1">
            <a:spLocks noChangeArrowheads="1"/>
          </p:cNvSpPr>
          <p:nvPr/>
        </p:nvSpPr>
        <p:spPr bwMode="auto">
          <a:xfrm>
            <a:off x="0" y="-12192"/>
            <a:ext cx="89154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600" b="1" i="0" u="none" strike="noStrike" kern="1200" cap="none" spc="0" normalizeH="0" baseline="0" noProof="0">
                <a:ln>
                  <a:noFill/>
                </a:ln>
                <a:solidFill>
                  <a:srgbClr val="6600CC"/>
                </a:solidFill>
                <a:effectLst/>
                <a:uLnTx/>
                <a:uFillTx/>
                <a:latin typeface="Garamond" panose="02020404030301010803" pitchFamily="18" charset="0"/>
                <a:ea typeface="+mn-ea"/>
                <a:cs typeface="Arial" panose="020B0604020202020204" pitchFamily="34" charset="0"/>
              </a:rPr>
              <a:t>Dimensioning</a:t>
            </a:r>
          </a:p>
        </p:txBody>
      </p:sp>
      <p:sp>
        <p:nvSpPr>
          <p:cNvPr id="31749" name="Rectangle 5"/>
          <p:cNvSpPr>
            <a:spLocks noChangeArrowheads="1"/>
          </p:cNvSpPr>
          <p:nvPr/>
        </p:nvSpPr>
        <p:spPr bwMode="auto">
          <a:xfrm>
            <a:off x="0" y="2228850"/>
            <a:ext cx="289560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Unit of length mostly in millimeter</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Angles in degrees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Symbols to indicate specific geometry</a:t>
            </a:r>
          </a:p>
        </p:txBody>
      </p:sp>
      <p:grpSp>
        <p:nvGrpSpPr>
          <p:cNvPr id="31750" name="Group 9"/>
          <p:cNvGrpSpPr>
            <a:grpSpLocks/>
          </p:cNvGrpSpPr>
          <p:nvPr/>
        </p:nvGrpSpPr>
        <p:grpSpPr bwMode="auto">
          <a:xfrm>
            <a:off x="2589213" y="1600200"/>
            <a:ext cx="6554787" cy="5029200"/>
            <a:chOff x="2588975" y="1600200"/>
            <a:chExt cx="6555025" cy="5029200"/>
          </a:xfrm>
        </p:grpSpPr>
        <p:pic>
          <p:nvPicPr>
            <p:cNvPr id="31751" name="Picture 8"/>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5637"/>
            <a:stretch>
              <a:fillRect/>
            </a:stretch>
          </p:blipFill>
          <p:spPr bwMode="auto">
            <a:xfrm>
              <a:off x="2588975" y="1713131"/>
              <a:ext cx="6555025" cy="4916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2" name="TextBox 6"/>
            <p:cNvSpPr txBox="1">
              <a:spLocks noChangeArrowheads="1"/>
            </p:cNvSpPr>
            <p:nvPr/>
          </p:nvSpPr>
          <p:spPr bwMode="auto">
            <a:xfrm>
              <a:off x="6324600" y="1600200"/>
              <a:ext cx="188660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Symbol for diameter</a:t>
              </a:r>
            </a:p>
          </p:txBody>
        </p:sp>
        <p:cxnSp>
          <p:nvCxnSpPr>
            <p:cNvPr id="9" name="Straight Arrow Connector 8"/>
            <p:cNvCxnSpPr/>
            <p:nvPr/>
          </p:nvCxnSpPr>
          <p:spPr>
            <a:xfrm>
              <a:off x="7580256" y="1927225"/>
              <a:ext cx="0" cy="4222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2408235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275263"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81000"/>
            <a:ext cx="3076575"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TextBox 3"/>
          <p:cNvSpPr txBox="1">
            <a:spLocks noChangeArrowheads="1"/>
          </p:cNvSpPr>
          <p:nvPr/>
        </p:nvSpPr>
        <p:spPr bwMode="auto">
          <a:xfrm>
            <a:off x="0" y="3200400"/>
            <a:ext cx="91440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Dimension line: </a:t>
            </a: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Dimension line is a thin continuous line. It is terminated by arrowheads touching the outlines, extension lines or </a:t>
            </a:r>
            <a:r>
              <a:rPr kumimoji="0" lang="en-US" altLang="en-US" sz="1800" b="0" i="0" u="none" strike="noStrike" kern="1200" cap="none" spc="0" normalizeH="0" baseline="0" noProof="0" dirty="0" err="1">
                <a:ln>
                  <a:noFill/>
                </a:ln>
                <a:solidFill>
                  <a:prstClr val="black"/>
                </a:solidFill>
                <a:effectLst/>
                <a:uLnTx/>
                <a:uFillTx/>
                <a:latin typeface="Garamond" panose="02020404030301010803" pitchFamily="18" charset="0"/>
                <a:ea typeface="+mn-ea"/>
                <a:cs typeface="Arial" panose="020B0604020202020204" pitchFamily="34" charset="0"/>
              </a:rPr>
              <a:t>centre</a:t>
            </a: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 lines</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Extension lines: </a:t>
            </a: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An extension line is also a thin continuous line drawn in extension of on outline. It extends by about 3 mm beyond the dimension line</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Arrowheads: </a:t>
            </a: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An arrowhead is placed at each end of a dimension line. Its pointed end touches an outline, an extension line or a center line. The size of an arrowhead should be proportional to the thickness of the outlines. The length of the arrowhead should be about three times its maximum width</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Leader: </a:t>
            </a: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 leader or a pointer is a thin continuous line connecting a note or a dimension figure with the feature to which it applies. </a:t>
            </a:r>
          </a:p>
        </p:txBody>
      </p:sp>
    </p:spTree>
    <p:extLst>
      <p:ext uri="{BB962C8B-B14F-4D97-AF65-F5344CB8AC3E}">
        <p14:creationId xmlns:p14="http://schemas.microsoft.com/office/powerpoint/2010/main" val="26828023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extLst>
              <p:ext uri="{D42A27DB-BD31-4B8C-83A1-F6EECF244321}">
                <p14:modId xmlns:p14="http://schemas.microsoft.com/office/powerpoint/2010/main" val="2245503437"/>
              </p:ext>
            </p:extLst>
          </p:nvPr>
        </p:nvGraphicFramePr>
        <p:xfrm>
          <a:off x="1447800" y="2160587"/>
          <a:ext cx="5791200" cy="4157663"/>
        </p:xfrm>
        <a:graphic>
          <a:graphicData uri="http://schemas.openxmlformats.org/presentationml/2006/ole">
            <mc:AlternateContent xmlns:mc="http://schemas.openxmlformats.org/markup-compatibility/2006">
              <mc:Choice xmlns:v="urn:schemas-microsoft-com:vml" Requires="v">
                <p:oleObj spid="_x0000_s2109" name="Photo Editor Photo" r:id="rId3" imgW="10200000" imgH="7323810" progId="">
                  <p:embed/>
                </p:oleObj>
              </mc:Choice>
              <mc:Fallback>
                <p:oleObj name="Photo Editor Photo" r:id="rId3" imgW="10200000" imgH="7323810" progId="">
                  <p:embed/>
                  <p:pic>
                    <p:nvPicPr>
                      <p:cNvPr id="1026" name="Object 2"/>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1447800" y="2160587"/>
                        <a:ext cx="5791200" cy="415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 name="TextBox 2"/>
          <p:cNvSpPr txBox="1">
            <a:spLocks noChangeArrowheads="1"/>
          </p:cNvSpPr>
          <p:nvPr/>
        </p:nvSpPr>
        <p:spPr bwMode="auto">
          <a:xfrm>
            <a:off x="0" y="304800"/>
            <a:ext cx="91440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228600" marR="0" lvl="0" indent="-228600" algn="l" defTabSz="914400" rtl="0" eaLnBrk="1" fontAlgn="base" latinLnBrk="0" hangingPunct="1">
              <a:spcBef>
                <a:spcPts val="600"/>
              </a:spcBef>
              <a:spcAft>
                <a:spcPts val="60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Dimension lines should be drawn at least 10 mm away from the outlines </a:t>
            </a:r>
          </a:p>
          <a:p>
            <a:pPr marL="228600" marR="0" lvl="0" indent="-228600" algn="l" defTabSz="914400" rtl="0" eaLnBrk="1" fontAlgn="base" latinLnBrk="0" hangingPunct="1">
              <a:spcBef>
                <a:spcPts val="600"/>
              </a:spcBef>
              <a:spcAft>
                <a:spcPts val="60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Smaller dimensions should be placed near the view and the larger away so that extension lines do not cross dimension lines</a:t>
            </a:r>
          </a:p>
          <a:p>
            <a:pPr marL="228600" marR="0" lvl="0" indent="-228600" algn="l" defTabSz="914400" rtl="0" eaLnBrk="1" fontAlgn="base" latinLnBrk="0" hangingPunct="1">
              <a:spcBef>
                <a:spcPts val="600"/>
              </a:spcBef>
              <a:spcAft>
                <a:spcPts val="60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As far as possible, all the dimensions should be placed outside the views. </a:t>
            </a:r>
          </a:p>
          <a:p>
            <a:pPr lvl="1" indent="-228600" algn="l" eaLnBrk="1" hangingPunct="1">
              <a:spcBef>
                <a:spcPts val="600"/>
              </a:spcBef>
              <a:spcAft>
                <a:spcPts val="600"/>
              </a:spcAft>
              <a:buFont typeface="Arial" panose="020B0604020202020204" pitchFamily="34" charset="0"/>
              <a:buChar char="•"/>
              <a:defRPr/>
            </a:pPr>
            <a:r>
              <a:rPr kumimoji="0" lang="en-US" altLang="en-US"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Inside dimensions are preferred only if they are clear and easily readable (Avoided)</a:t>
            </a:r>
          </a:p>
        </p:txBody>
      </p:sp>
    </p:spTree>
    <p:extLst>
      <p:ext uri="{BB962C8B-B14F-4D97-AF65-F5344CB8AC3E}">
        <p14:creationId xmlns:p14="http://schemas.microsoft.com/office/powerpoint/2010/main" val="55426774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clrChange>
              <a:clrFrom>
                <a:srgbClr val="FFFFD9"/>
              </a:clrFrom>
              <a:clrTo>
                <a:srgbClr val="FFFFD9">
                  <a:alpha val="0"/>
                </a:srgbClr>
              </a:clrTo>
            </a:clrChange>
          </a:blip>
          <a:stretch>
            <a:fillRect/>
          </a:stretch>
        </p:blipFill>
        <p:spPr>
          <a:xfrm>
            <a:off x="228600" y="-147122"/>
            <a:ext cx="8098981" cy="6503472"/>
          </a:xfrm>
          <a:prstGeom prst="rect">
            <a:avLst/>
          </a:prstGeom>
        </p:spPr>
      </p:pic>
    </p:spTree>
    <p:extLst>
      <p:ext uri="{BB962C8B-B14F-4D97-AF65-F5344CB8AC3E}">
        <p14:creationId xmlns:p14="http://schemas.microsoft.com/office/powerpoint/2010/main" val="180522437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4"/>
          <p:cNvSpPr txBox="1">
            <a:spLocks noChangeArrowheads="1"/>
          </p:cNvSpPr>
          <p:nvPr/>
        </p:nvSpPr>
        <p:spPr bwMode="auto">
          <a:xfrm>
            <a:off x="0" y="381000"/>
            <a:ext cx="3200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Arrowheads should be drawn within the limits of the dimensioned feature.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When the space is too narrow, they may be placed outside</a:t>
            </a:r>
          </a:p>
        </p:txBody>
      </p:sp>
      <p:pic>
        <p:nvPicPr>
          <p:cNvPr id="3379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4838" y="381000"/>
            <a:ext cx="5999162" cy="1752600"/>
          </a:xfrm>
          <a:prstGeom prst="rect">
            <a:avLst/>
          </a:prstGeom>
          <a:noFill/>
          <a:ln w="9525">
            <a:solidFill>
              <a:srgbClr val="6600CC"/>
            </a:solidFill>
            <a:miter lim="800000"/>
            <a:headEnd/>
            <a:tailEnd/>
          </a:ln>
          <a:extLst>
            <a:ext uri="{909E8E84-426E-40DD-AFC4-6F175D3DCCD1}">
              <a14:hiddenFill xmlns:a14="http://schemas.microsoft.com/office/drawing/2010/main">
                <a:solidFill>
                  <a:srgbClr val="FFFFFF"/>
                </a:solidFill>
              </a14:hiddenFill>
            </a:ext>
          </a:extLst>
        </p:spPr>
      </p:pic>
      <p:pic>
        <p:nvPicPr>
          <p:cNvPr id="3379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2438400"/>
            <a:ext cx="3752850" cy="1457325"/>
          </a:xfrm>
          <a:prstGeom prst="rect">
            <a:avLst/>
          </a:prstGeom>
          <a:noFill/>
          <a:ln w="9525">
            <a:solidFill>
              <a:srgbClr val="6600CC"/>
            </a:solidFill>
            <a:miter lim="800000"/>
            <a:headEnd/>
            <a:tailEnd/>
          </a:ln>
          <a:extLst>
            <a:ext uri="{909E8E84-426E-40DD-AFC4-6F175D3DCCD1}">
              <a14:hiddenFill xmlns:a14="http://schemas.microsoft.com/office/drawing/2010/main">
                <a:solidFill>
                  <a:srgbClr val="FFFFFF"/>
                </a:solidFill>
              </a14:hiddenFill>
            </a:ext>
          </a:extLst>
        </p:spPr>
      </p:pic>
      <p:sp>
        <p:nvSpPr>
          <p:cNvPr id="33797" name="TextBox 7"/>
          <p:cNvSpPr txBox="1">
            <a:spLocks noChangeArrowheads="1"/>
          </p:cNvSpPr>
          <p:nvPr/>
        </p:nvSpPr>
        <p:spPr bwMode="auto">
          <a:xfrm>
            <a:off x="0" y="2971800"/>
            <a:ext cx="4800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Dimensions should be placed outside the views</a:t>
            </a:r>
          </a:p>
        </p:txBody>
      </p:sp>
      <p:pic>
        <p:nvPicPr>
          <p:cNvPr id="33798" name="Picture 6" descr="dimensionrules2b"/>
          <p:cNvPicPr>
            <a:picLocks noChangeAspect="1" noChangeArrowheads="1"/>
          </p:cNvPicPr>
          <p:nvPr/>
        </p:nvPicPr>
        <p:blipFill>
          <a:blip r:embed="rId4">
            <a:extLst>
              <a:ext uri="{28A0092B-C50C-407E-A947-70E740481C1C}">
                <a14:useLocalDpi xmlns:a14="http://schemas.microsoft.com/office/drawing/2010/main" val="0"/>
              </a:ext>
            </a:extLst>
          </a:blip>
          <a:srcRect t="48988" r="41502"/>
          <a:stretch>
            <a:fillRect/>
          </a:stretch>
        </p:blipFill>
        <p:spPr bwMode="auto">
          <a:xfrm>
            <a:off x="5062538" y="4038600"/>
            <a:ext cx="4081462" cy="2362200"/>
          </a:xfrm>
          <a:prstGeom prst="rect">
            <a:avLst/>
          </a:prstGeom>
          <a:noFill/>
          <a:ln w="9525">
            <a:solidFill>
              <a:srgbClr val="6600CC"/>
            </a:solidFill>
            <a:miter lim="800000"/>
            <a:headEnd/>
            <a:tailEnd/>
          </a:ln>
          <a:extLst>
            <a:ext uri="{909E8E84-426E-40DD-AFC4-6F175D3DCCD1}">
              <a14:hiddenFill xmlns:a14="http://schemas.microsoft.com/office/drawing/2010/main">
                <a:solidFill>
                  <a:srgbClr val="FFFFFF"/>
                </a:solidFill>
              </a14:hiddenFill>
            </a:ext>
          </a:extLst>
        </p:spPr>
      </p:pic>
      <p:sp>
        <p:nvSpPr>
          <p:cNvPr id="33799" name="Rectangle 9"/>
          <p:cNvSpPr>
            <a:spLocks noChangeArrowheads="1"/>
          </p:cNvSpPr>
          <p:nvPr/>
        </p:nvSpPr>
        <p:spPr bwMode="auto">
          <a:xfrm>
            <a:off x="0" y="4572000"/>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342900" marR="0" lvl="0" indent="-342900" algn="just" defTabSz="914400" rtl="0" eaLnBrk="1" fontAlgn="base" latinLnBrk="0" hangingPunct="1">
              <a:lnSpc>
                <a:spcPct val="100000"/>
              </a:lnSpc>
              <a:spcBef>
                <a:spcPct val="5000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Times-Roman"/>
                <a:ea typeface="+mn-ea"/>
                <a:cs typeface="Arial" panose="020B0604020202020204" pitchFamily="34" charset="0"/>
              </a:rPr>
              <a:t>	.</a:t>
            </a:r>
          </a:p>
        </p:txBody>
      </p:sp>
      <p:sp>
        <p:nvSpPr>
          <p:cNvPr id="33800" name="Rectangle 10"/>
          <p:cNvSpPr>
            <a:spLocks noChangeArrowheads="1"/>
          </p:cNvSpPr>
          <p:nvPr/>
        </p:nvSpPr>
        <p:spPr bwMode="auto">
          <a:xfrm>
            <a:off x="0" y="4419600"/>
            <a:ext cx="457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Each dimension should be given only once. No dimension should be redundant</a:t>
            </a:r>
          </a:p>
        </p:txBody>
      </p:sp>
    </p:spTree>
    <p:extLst>
      <p:ext uri="{BB962C8B-B14F-4D97-AF65-F5344CB8AC3E}">
        <p14:creationId xmlns:p14="http://schemas.microsoft.com/office/powerpoint/2010/main" val="1368616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0" y="200025"/>
            <a:ext cx="371475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351" y="1683544"/>
            <a:ext cx="2926384"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3281363"/>
            <a:ext cx="340995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TextBox 7"/>
          <p:cNvSpPr txBox="1">
            <a:spLocks noChangeArrowheads="1"/>
          </p:cNvSpPr>
          <p:nvPr/>
        </p:nvSpPr>
        <p:spPr bwMode="auto">
          <a:xfrm>
            <a:off x="0" y="581025"/>
            <a:ext cx="548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Do not repeat the same dimension in different views</a:t>
            </a:r>
          </a:p>
        </p:txBody>
      </p:sp>
      <p:sp>
        <p:nvSpPr>
          <p:cNvPr id="36870" name="TextBox 8"/>
          <p:cNvSpPr txBox="1">
            <a:spLocks noChangeArrowheads="1"/>
          </p:cNvSpPr>
          <p:nvPr/>
        </p:nvSpPr>
        <p:spPr bwMode="auto">
          <a:xfrm>
            <a:off x="4179951" y="1988344"/>
            <a:ext cx="46958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Center line (axis) itself should not be used as a dimension line with arrowheads at its ends</a:t>
            </a:r>
          </a:p>
        </p:txBody>
      </p:sp>
      <p:sp>
        <p:nvSpPr>
          <p:cNvPr id="36871" name="TextBox 9"/>
          <p:cNvSpPr txBox="1">
            <a:spLocks noChangeArrowheads="1"/>
          </p:cNvSpPr>
          <p:nvPr/>
        </p:nvSpPr>
        <p:spPr bwMode="auto">
          <a:xfrm>
            <a:off x="-76200" y="4271963"/>
            <a:ext cx="457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Center line(axis) itself shall not be used as a dimension line with arrowheads as its ends</a:t>
            </a:r>
          </a:p>
        </p:txBody>
      </p:sp>
      <p:pic>
        <p:nvPicPr>
          <p:cNvPr id="3687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551" y="5320507"/>
            <a:ext cx="399097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3" name="TextBox 11"/>
          <p:cNvSpPr txBox="1">
            <a:spLocks noChangeArrowheads="1"/>
          </p:cNvSpPr>
          <p:nvPr/>
        </p:nvSpPr>
        <p:spPr bwMode="auto">
          <a:xfrm>
            <a:off x="4309872" y="5557838"/>
            <a:ext cx="457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Dimensions shall be given to visible lines and not to hidden lines</a:t>
            </a:r>
          </a:p>
        </p:txBody>
      </p:sp>
    </p:spTree>
    <p:extLst>
      <p:ext uri="{BB962C8B-B14F-4D97-AF65-F5344CB8AC3E}">
        <p14:creationId xmlns:p14="http://schemas.microsoft.com/office/powerpoint/2010/main" val="36432490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828800"/>
            <a:ext cx="7181850" cy="2038350"/>
          </a:xfrm>
          <a:prstGeom prst="rect">
            <a:avLst/>
          </a:prstGeom>
          <a:noFill/>
          <a:ln w="9525">
            <a:solidFill>
              <a:srgbClr val="6600CC"/>
            </a:solidFill>
            <a:miter lim="800000"/>
            <a:headEnd/>
            <a:tailEnd/>
          </a:ln>
          <a:extLst>
            <a:ext uri="{909E8E84-426E-40DD-AFC4-6F175D3DCCD1}">
              <a14:hiddenFill xmlns:a14="http://schemas.microsoft.com/office/drawing/2010/main">
                <a:solidFill>
                  <a:srgbClr val="FFFFFF"/>
                </a:solidFill>
              </a14:hiddenFill>
            </a:ext>
          </a:extLst>
        </p:spPr>
      </p:pic>
      <p:sp>
        <p:nvSpPr>
          <p:cNvPr id="37891" name="TextBox 3"/>
          <p:cNvSpPr txBox="1">
            <a:spLocks noChangeArrowheads="1"/>
          </p:cNvSpPr>
          <p:nvPr/>
        </p:nvSpPr>
        <p:spPr bwMode="auto">
          <a:xfrm>
            <a:off x="152400" y="381000"/>
            <a:ext cx="8839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Overall dimension shall be placed outside the intermediate dimensions, i.e. smaller dimensions shall be placed nearer the view and the larger farther away so that extension lines do not cross dimension lines</a:t>
            </a:r>
          </a:p>
        </p:txBody>
      </p:sp>
      <p:pic>
        <p:nvPicPr>
          <p:cNvPr id="2" name="Picture 1"/>
          <p:cNvPicPr>
            <a:picLocks noChangeAspect="1"/>
          </p:cNvPicPr>
          <p:nvPr/>
        </p:nvPicPr>
        <p:blipFill>
          <a:blip r:embed="rId3"/>
          <a:stretch>
            <a:fillRect/>
          </a:stretch>
        </p:blipFill>
        <p:spPr>
          <a:xfrm>
            <a:off x="1651763" y="4114800"/>
            <a:ext cx="5840474" cy="2719052"/>
          </a:xfrm>
          <a:prstGeom prst="rect">
            <a:avLst/>
          </a:prstGeom>
        </p:spPr>
      </p:pic>
    </p:spTree>
    <p:extLst>
      <p:ext uri="{BB962C8B-B14F-4D97-AF65-F5344CB8AC3E}">
        <p14:creationId xmlns:p14="http://schemas.microsoft.com/office/powerpoint/2010/main" val="26765237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clrChange>
              <a:clrFrom>
                <a:srgbClr val="FFFFD9"/>
              </a:clrFrom>
              <a:clrTo>
                <a:srgbClr val="FFFFD9">
                  <a:alpha val="0"/>
                </a:srgbClr>
              </a:clrTo>
            </a:clrChange>
          </a:blip>
          <a:srcRect t="10113"/>
          <a:stretch/>
        </p:blipFill>
        <p:spPr>
          <a:xfrm>
            <a:off x="914400" y="928806"/>
            <a:ext cx="8098561" cy="5418400"/>
          </a:xfrm>
          <a:prstGeom prst="rect">
            <a:avLst/>
          </a:prstGeom>
        </p:spPr>
      </p:pic>
      <p:pic>
        <p:nvPicPr>
          <p:cNvPr id="7" name="Picture 6"/>
          <p:cNvPicPr>
            <a:picLocks noChangeAspect="1"/>
          </p:cNvPicPr>
          <p:nvPr/>
        </p:nvPicPr>
        <p:blipFill rotWithShape="1">
          <a:blip r:embed="rId2">
            <a:clrChange>
              <a:clrFrom>
                <a:srgbClr val="FFFFD9"/>
              </a:clrFrom>
              <a:clrTo>
                <a:srgbClr val="FFFFD9">
                  <a:alpha val="0"/>
                </a:srgbClr>
              </a:clrTo>
            </a:clrChange>
          </a:blip>
          <a:srcRect l="36695" t="3098" r="14377" b="90581"/>
          <a:stretch/>
        </p:blipFill>
        <p:spPr>
          <a:xfrm>
            <a:off x="2743201" y="304800"/>
            <a:ext cx="3962400" cy="381000"/>
          </a:xfrm>
          <a:prstGeom prst="rect">
            <a:avLst/>
          </a:prstGeom>
        </p:spPr>
      </p:pic>
    </p:spTree>
    <p:extLst>
      <p:ext uri="{BB962C8B-B14F-4D97-AF65-F5344CB8AC3E}">
        <p14:creationId xmlns:p14="http://schemas.microsoft.com/office/powerpoint/2010/main" val="18962836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22225"/>
            <a:ext cx="2438400" cy="2111375"/>
          </a:xfrm>
          <a:prstGeom prst="rect">
            <a:avLst/>
          </a:prstGeom>
          <a:noFill/>
          <a:ln w="9525">
            <a:solidFill>
              <a:srgbClr val="6600CC"/>
            </a:solidFill>
            <a:miter lim="800000"/>
            <a:headEnd/>
            <a:tailEnd/>
          </a:ln>
          <a:extLst>
            <a:ext uri="{909E8E84-426E-40DD-AFC4-6F175D3DCCD1}">
              <a14:hiddenFill xmlns:a14="http://schemas.microsoft.com/office/drawing/2010/main">
                <a:solidFill>
                  <a:srgbClr val="FFFFFF"/>
                </a:solidFill>
              </a14:hiddenFill>
            </a:ext>
          </a:extLst>
        </p:spPr>
      </p:pic>
      <p:sp>
        <p:nvSpPr>
          <p:cNvPr id="35843" name="Rectangle 5"/>
          <p:cNvSpPr>
            <a:spLocks noChangeArrowheads="1"/>
          </p:cNvSpPr>
          <p:nvPr/>
        </p:nvSpPr>
        <p:spPr bwMode="auto">
          <a:xfrm>
            <a:off x="0" y="533400"/>
            <a:ext cx="6705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The unit should not be written after each dimension, but a note mentioning the unit should be placed below the drawing.</a:t>
            </a:r>
            <a:endParaRPr kumimoji="0" lang="en-US" altLang="en-US" sz="18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pic>
        <p:nvPicPr>
          <p:cNvPr id="35844" name="Picture 3"/>
          <p:cNvPicPr>
            <a:picLocks noChangeAspect="1" noChangeArrowheads="1"/>
          </p:cNvPicPr>
          <p:nvPr/>
        </p:nvPicPr>
        <p:blipFill>
          <a:blip r:embed="rId3">
            <a:extLst>
              <a:ext uri="{28A0092B-C50C-407E-A947-70E740481C1C}">
                <a14:useLocalDpi xmlns:a14="http://schemas.microsoft.com/office/drawing/2010/main" val="0"/>
              </a:ext>
            </a:extLst>
          </a:blip>
          <a:srcRect b="11880"/>
          <a:stretch>
            <a:fillRect/>
          </a:stretch>
        </p:blipFill>
        <p:spPr bwMode="auto">
          <a:xfrm>
            <a:off x="5114925" y="2259532"/>
            <a:ext cx="3952875" cy="1695450"/>
          </a:xfrm>
          <a:prstGeom prst="rect">
            <a:avLst/>
          </a:prstGeom>
          <a:noFill/>
          <a:ln w="9525">
            <a:solidFill>
              <a:srgbClr val="6600CC"/>
            </a:solidFill>
            <a:miter lim="800000"/>
            <a:headEnd/>
            <a:tailEnd/>
          </a:ln>
          <a:extLst>
            <a:ext uri="{909E8E84-426E-40DD-AFC4-6F175D3DCCD1}">
              <a14:hiddenFill xmlns:a14="http://schemas.microsoft.com/office/drawing/2010/main">
                <a:solidFill>
                  <a:srgbClr val="FFFFFF"/>
                </a:solidFill>
              </a14:hiddenFill>
            </a:ext>
          </a:extLst>
        </p:spPr>
      </p:pic>
      <p:sp>
        <p:nvSpPr>
          <p:cNvPr id="35845" name="TextBox 7"/>
          <p:cNvSpPr txBox="1">
            <a:spLocks noChangeArrowheads="1"/>
          </p:cNvSpPr>
          <p:nvPr/>
        </p:nvSpPr>
        <p:spPr bwMode="auto">
          <a:xfrm>
            <a:off x="76200" y="2209800"/>
            <a:ext cx="50292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Circle should</a:t>
            </a:r>
            <a:r>
              <a:rPr kumimoji="0" lang="en-US" altLang="en-US" sz="1800" b="1" i="0" u="none" strike="noStrike" kern="1200" cap="none" spc="0" normalizeH="0" noProof="0" dirty="0">
                <a:ln>
                  <a:noFill/>
                </a:ln>
                <a:solidFill>
                  <a:prstClr val="black"/>
                </a:solidFill>
                <a:effectLst/>
                <a:uLnTx/>
                <a:uFillTx/>
                <a:latin typeface="Garamond" panose="02020404030301010803" pitchFamily="18" charset="0"/>
                <a:ea typeface="+mn-ea"/>
                <a:cs typeface="Arial" panose="020B0604020202020204" pitchFamily="34" charset="0"/>
              </a:rPr>
              <a:t> be dimensioned by its diameter. The dimensioning should be preceded by the symbol </a:t>
            </a:r>
            <a:r>
              <a:rPr kumimoji="0" lang="en-US" altLang="en-US" sz="1800" b="1" i="0" u="none" strike="noStrike" kern="1200" cap="none" spc="0" normalizeH="0" noProof="0" dirty="0">
                <a:ln>
                  <a:noFill/>
                </a:ln>
                <a:solidFill>
                  <a:prstClr val="black"/>
                </a:solidFill>
                <a:effectLst/>
                <a:uLnTx/>
                <a:uFillTx/>
                <a:latin typeface="Garamond" panose="02020404030301010803" pitchFamily="18" charset="0"/>
                <a:ea typeface="+mn-ea"/>
                <a:cs typeface="Arial" panose="020B0604020202020204" pitchFamily="34" charset="0"/>
                <a:sym typeface="Symbol" panose="05050102010706020507" pitchFamily="18" charset="2"/>
              </a:rPr>
              <a:t></a:t>
            </a:r>
            <a:endPar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a:p>
            <a:pPr marL="0" marR="0" lvl="0" indent="0" algn="l" defTabSz="914400" rtl="0" eaLnBrk="1" fontAlgn="base" latinLnBrk="0" hangingPunct="1">
              <a:spcBef>
                <a:spcPct val="0"/>
              </a:spcBef>
              <a:spcAft>
                <a:spcPct val="0"/>
              </a:spcAft>
              <a:buClrTx/>
              <a:buSzTx/>
              <a:buFontTx/>
              <a:buNone/>
              <a:tabLst/>
              <a:defRPr/>
            </a:pPr>
            <a:endParaRPr lang="en-US" altLang="en-US" b="1" dirty="0">
              <a:solidFill>
                <a:prstClr val="black"/>
              </a:solidFill>
              <a:latin typeface="Garamond" panose="02020404030301010803" pitchFamily="18" charset="0"/>
            </a:endParaRPr>
          </a:p>
          <a:p>
            <a:pPr marL="0" marR="0" lvl="0" indent="0" algn="l" defTabSz="914400" rtl="0" eaLnBrk="1" fontAlgn="base" latinLnBrk="0" hangingPunct="1">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rPr>
              <a:t>Figure shows various methods of dimensioning different sizes of circles</a:t>
            </a:r>
          </a:p>
        </p:txBody>
      </p:sp>
      <p:pic>
        <p:nvPicPr>
          <p:cNvPr id="35846" name="Picture 2"/>
          <p:cNvPicPr>
            <a:picLocks noChangeAspect="1" noChangeArrowheads="1"/>
          </p:cNvPicPr>
          <p:nvPr/>
        </p:nvPicPr>
        <p:blipFill>
          <a:blip r:embed="rId4">
            <a:extLst>
              <a:ext uri="{28A0092B-C50C-407E-A947-70E740481C1C}">
                <a14:useLocalDpi xmlns:a14="http://schemas.microsoft.com/office/drawing/2010/main" val="0"/>
              </a:ext>
            </a:extLst>
          </a:blip>
          <a:srcRect b="10143"/>
          <a:stretch>
            <a:fillRect/>
          </a:stretch>
        </p:blipFill>
        <p:spPr bwMode="auto">
          <a:xfrm>
            <a:off x="3852672" y="4267200"/>
            <a:ext cx="5229225" cy="2405063"/>
          </a:xfrm>
          <a:prstGeom prst="rect">
            <a:avLst/>
          </a:prstGeom>
          <a:noFill/>
          <a:ln w="9525">
            <a:solidFill>
              <a:srgbClr val="6600CC"/>
            </a:solidFill>
            <a:miter lim="800000"/>
            <a:headEnd/>
            <a:tailEnd/>
          </a:ln>
          <a:extLst>
            <a:ext uri="{909E8E84-426E-40DD-AFC4-6F175D3DCCD1}">
              <a14:hiddenFill xmlns:a14="http://schemas.microsoft.com/office/drawing/2010/main">
                <a:solidFill>
                  <a:srgbClr val="FFFFFF"/>
                </a:solidFill>
              </a14:hiddenFill>
            </a:ext>
          </a:extLst>
        </p:spPr>
      </p:pic>
      <p:sp>
        <p:nvSpPr>
          <p:cNvPr id="35847" name="TextBox 9"/>
          <p:cNvSpPr txBox="1">
            <a:spLocks noChangeArrowheads="1"/>
          </p:cNvSpPr>
          <p:nvPr/>
        </p:nvSpPr>
        <p:spPr bwMode="auto">
          <a:xfrm>
            <a:off x="42672" y="4191000"/>
            <a:ext cx="35052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Arc Radius</a:t>
            </a:r>
            <a:r>
              <a:rPr kumimoji="0" lang="en-US" altLang="en-US" sz="1800" b="0"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 An arc is dimensioned by its radius R by any one of the ways. Only one arrowhead with its point on the arc end of the dimension line is used</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Garamond" panose="02020404030301010803" pitchFamily="18" charset="0"/>
                <a:ea typeface="+mn-ea"/>
                <a:cs typeface="Arial" panose="020B0604020202020204" pitchFamily="34" charset="0"/>
              </a:rPr>
              <a:t>Dimension line of a radius should pass thorough the center of the arc. Mark the center with a small cross</a:t>
            </a:r>
          </a:p>
        </p:txBody>
      </p:sp>
    </p:spTree>
    <p:extLst>
      <p:ext uri="{BB962C8B-B14F-4D97-AF65-F5344CB8AC3E}">
        <p14:creationId xmlns:p14="http://schemas.microsoft.com/office/powerpoint/2010/main" val="38457914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clrChange>
              <a:clrFrom>
                <a:srgbClr val="FFFFD9"/>
              </a:clrFrom>
              <a:clrTo>
                <a:srgbClr val="FFFFD9">
                  <a:alpha val="0"/>
                </a:srgbClr>
              </a:clrTo>
            </a:clrChange>
          </a:blip>
          <a:stretch>
            <a:fillRect/>
          </a:stretch>
        </p:blipFill>
        <p:spPr>
          <a:xfrm>
            <a:off x="30480" y="-1"/>
            <a:ext cx="9113520" cy="6319927"/>
          </a:xfrm>
          <a:prstGeom prst="rect">
            <a:avLst/>
          </a:prstGeom>
        </p:spPr>
      </p:pic>
      <p:sp>
        <p:nvSpPr>
          <p:cNvPr id="4" name="TextBox 3"/>
          <p:cNvSpPr txBox="1"/>
          <p:nvPr/>
        </p:nvSpPr>
        <p:spPr>
          <a:xfrm>
            <a:off x="5334000" y="4267200"/>
            <a:ext cx="2057400" cy="369332"/>
          </a:xfrm>
          <a:prstGeom prst="rect">
            <a:avLst/>
          </a:prstGeom>
          <a:noFill/>
        </p:spPr>
        <p:txBody>
          <a:bodyPr wrap="square" rtlCol="0">
            <a:spAutoFit/>
          </a:bodyPr>
          <a:lstStyle/>
          <a:p>
            <a:r>
              <a:rPr lang="en-US" b="1" dirty="0">
                <a:solidFill>
                  <a:srgbClr val="3333FF"/>
                </a:solidFill>
              </a:rPr>
              <a:t>Spherical radius</a:t>
            </a:r>
          </a:p>
        </p:txBody>
      </p:sp>
    </p:spTree>
    <p:extLst>
      <p:ext uri="{BB962C8B-B14F-4D97-AF65-F5344CB8AC3E}">
        <p14:creationId xmlns:p14="http://schemas.microsoft.com/office/powerpoint/2010/main" val="42107261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ChangeArrowheads="1"/>
          </p:cNvSpPr>
          <p:nvPr/>
        </p:nvSpPr>
        <p:spPr bwMode="auto">
          <a:xfrm>
            <a:off x="0" y="1219200"/>
            <a:ext cx="57912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just" defTabSz="914400" rtl="0" eaLnBrk="1" fontAlgn="base" latinLnBrk="0" hangingPunct="1">
              <a:lnSpc>
                <a:spcPct val="150000"/>
              </a:lnSpc>
              <a:spcBef>
                <a:spcPct val="50000"/>
              </a:spcBef>
              <a:spcAft>
                <a:spcPct val="0"/>
              </a:spcAft>
              <a:buClrTx/>
              <a:buSzTx/>
              <a:buFontTx/>
              <a:buNone/>
              <a:tabLst/>
              <a:defRPr/>
            </a:pPr>
            <a:r>
              <a:rPr kumimoji="0" lang="en-US" altLang="en-US" sz="1600" b="1" i="0" u="none" strike="noStrike" kern="1200" cap="none" spc="0" normalizeH="0" baseline="0" noProof="0" dirty="0">
                <a:ln>
                  <a:noFill/>
                </a:ln>
                <a:solidFill>
                  <a:srgbClr val="00B050"/>
                </a:solidFill>
                <a:effectLst/>
                <a:uLnTx/>
                <a:uFillTx/>
                <a:latin typeface="Times-Roman"/>
                <a:ea typeface="+mn-ea"/>
                <a:cs typeface="Arial" panose="020B0604020202020204" pitchFamily="34" charset="0"/>
              </a:rPr>
              <a:t>Aligned System: </a:t>
            </a:r>
            <a:r>
              <a:rPr kumimoji="0" lang="en-US" altLang="en-US" sz="1600" b="1" i="0" u="none" strike="noStrike" kern="1200" cap="none" spc="0" normalizeH="0" baseline="0" noProof="0" dirty="0">
                <a:ln>
                  <a:noFill/>
                </a:ln>
                <a:solidFill>
                  <a:prstClr val="black"/>
                </a:solidFill>
                <a:effectLst/>
                <a:uLnTx/>
                <a:uFillTx/>
                <a:latin typeface="Times-Roman"/>
                <a:ea typeface="+mn-ea"/>
                <a:cs typeface="Arial" panose="020B0604020202020204" pitchFamily="34" charset="0"/>
              </a:rPr>
              <a:t>Dimensions are placed perpendicular to the dimension line so that they may be read from the bottom or right-hand side of the drawing sheet. Dimensions are placed at the middle and above of the dimension lines.</a:t>
            </a:r>
          </a:p>
          <a:p>
            <a:pPr marL="0" marR="0" lvl="0" indent="0" algn="just" defTabSz="914400" rtl="0" eaLnBrk="1" fontAlgn="base" latinLnBrk="0" hangingPunct="1">
              <a:lnSpc>
                <a:spcPct val="150000"/>
              </a:lnSpc>
              <a:spcBef>
                <a:spcPct val="50000"/>
              </a:spcBef>
              <a:spcAft>
                <a:spcPct val="0"/>
              </a:spcAft>
              <a:buClrTx/>
              <a:buSzTx/>
              <a:buFontTx/>
              <a:buNone/>
              <a:tabLst/>
              <a:defRPr/>
            </a:pPr>
            <a:endParaRPr kumimoji="0" lang="en-US" altLang="en-US" sz="400" b="1" i="0" u="none" strike="noStrike" kern="1200" cap="none" spc="0" normalizeH="0" baseline="0" noProof="0" dirty="0">
              <a:ln>
                <a:noFill/>
              </a:ln>
              <a:solidFill>
                <a:prstClr val="black"/>
              </a:solidFill>
              <a:effectLst/>
              <a:uLnTx/>
              <a:uFillTx/>
              <a:latin typeface="Times-Roman"/>
              <a:ea typeface="+mn-ea"/>
              <a:cs typeface="Arial" panose="020B0604020202020204" pitchFamily="34" charset="0"/>
            </a:endParaRPr>
          </a:p>
          <a:p>
            <a:pPr marL="0" marR="0" lvl="0" indent="0" algn="just" defTabSz="914400" rtl="0" eaLnBrk="1" fontAlgn="base" latinLnBrk="0" hangingPunct="1">
              <a:lnSpc>
                <a:spcPct val="150000"/>
              </a:lnSpc>
              <a:spcBef>
                <a:spcPct val="50000"/>
              </a:spcBef>
              <a:spcAft>
                <a:spcPct val="0"/>
              </a:spcAft>
              <a:buClrTx/>
              <a:buSzTx/>
              <a:buFontTx/>
              <a:buNone/>
              <a:tabLst/>
              <a:defRPr/>
            </a:pPr>
            <a:endParaRPr kumimoji="0" lang="en-US" altLang="en-US" sz="400" b="1" i="0" u="none" strike="noStrike" kern="1200" cap="none" spc="0" normalizeH="0" baseline="0" noProof="0" dirty="0">
              <a:ln>
                <a:noFill/>
              </a:ln>
              <a:solidFill>
                <a:prstClr val="black"/>
              </a:solidFill>
              <a:effectLst/>
              <a:uLnTx/>
              <a:uFillTx/>
              <a:latin typeface="Times-Roman"/>
              <a:ea typeface="+mn-ea"/>
              <a:cs typeface="Arial" panose="020B0604020202020204" pitchFamily="34" charset="0"/>
            </a:endParaRPr>
          </a:p>
          <a:p>
            <a:pPr marL="0" marR="0" lvl="0" indent="0" algn="just" defTabSz="914400" rtl="0" eaLnBrk="1" fontAlgn="base" latinLnBrk="0" hangingPunct="1">
              <a:lnSpc>
                <a:spcPct val="150000"/>
              </a:lnSpc>
              <a:spcBef>
                <a:spcPct val="50000"/>
              </a:spcBef>
              <a:spcAft>
                <a:spcPct val="0"/>
              </a:spcAft>
              <a:buClrTx/>
              <a:buSzTx/>
              <a:buFontTx/>
              <a:buNone/>
              <a:tabLst/>
              <a:defRPr/>
            </a:pPr>
            <a:endParaRPr kumimoji="0" lang="en-US" altLang="en-US" sz="400" b="1" i="0" u="none" strike="noStrike" kern="1200" cap="none" spc="0" normalizeH="0" baseline="0" noProof="0" dirty="0">
              <a:ln>
                <a:noFill/>
              </a:ln>
              <a:solidFill>
                <a:prstClr val="black"/>
              </a:solidFill>
              <a:effectLst/>
              <a:uLnTx/>
              <a:uFillTx/>
              <a:latin typeface="Times-Roman"/>
              <a:ea typeface="+mn-ea"/>
              <a:cs typeface="Arial" panose="020B0604020202020204" pitchFamily="34" charset="0"/>
            </a:endParaRPr>
          </a:p>
          <a:p>
            <a:pPr marL="0" marR="0" lvl="0" indent="0" algn="just" defTabSz="914400" rtl="0" eaLnBrk="1" fontAlgn="base" latinLnBrk="0" hangingPunct="1">
              <a:lnSpc>
                <a:spcPct val="150000"/>
              </a:lnSpc>
              <a:spcBef>
                <a:spcPct val="50000"/>
              </a:spcBef>
              <a:spcAft>
                <a:spcPct val="0"/>
              </a:spcAft>
              <a:buClrTx/>
              <a:buSzTx/>
              <a:buFontTx/>
              <a:buNone/>
              <a:tabLst/>
              <a:defRPr/>
            </a:pPr>
            <a:endParaRPr kumimoji="0" lang="en-US" altLang="en-US" sz="400" b="1" i="0" u="none" strike="noStrike" kern="1200" cap="none" spc="0" normalizeH="0" baseline="0" noProof="0" dirty="0">
              <a:ln>
                <a:noFill/>
              </a:ln>
              <a:solidFill>
                <a:prstClr val="black"/>
              </a:solidFill>
              <a:effectLst/>
              <a:uLnTx/>
              <a:uFillTx/>
              <a:latin typeface="Times-Roman"/>
              <a:ea typeface="+mn-ea"/>
              <a:cs typeface="Arial" panose="020B0604020202020204" pitchFamily="34" charset="0"/>
            </a:endParaRPr>
          </a:p>
          <a:p>
            <a:pPr marL="0" marR="0" lvl="0" indent="0" algn="just" defTabSz="914400" rtl="0" eaLnBrk="1" fontAlgn="base" latinLnBrk="0" hangingPunct="1">
              <a:lnSpc>
                <a:spcPct val="150000"/>
              </a:lnSpc>
              <a:spcBef>
                <a:spcPct val="50000"/>
              </a:spcBef>
              <a:spcAft>
                <a:spcPct val="0"/>
              </a:spcAft>
              <a:buClrTx/>
              <a:buSzTx/>
              <a:buFontTx/>
              <a:buNone/>
              <a:tabLst/>
              <a:defRPr/>
            </a:pPr>
            <a:endParaRPr kumimoji="0" lang="en-US" altLang="en-US" sz="400" b="1" i="0" u="none" strike="noStrike" kern="1200" cap="none" spc="0" normalizeH="0" baseline="0" noProof="0" dirty="0">
              <a:ln>
                <a:noFill/>
              </a:ln>
              <a:solidFill>
                <a:prstClr val="black"/>
              </a:solidFill>
              <a:effectLst/>
              <a:uLnTx/>
              <a:uFillTx/>
              <a:latin typeface="Times-Roman"/>
              <a:ea typeface="+mn-ea"/>
              <a:cs typeface="Arial" panose="020B0604020202020204" pitchFamily="34" charset="0"/>
            </a:endParaRPr>
          </a:p>
          <a:p>
            <a:pPr marL="0" marR="0" lvl="0" indent="0" algn="just" defTabSz="914400" rtl="0" eaLnBrk="1" fontAlgn="base" latinLnBrk="0" hangingPunct="1">
              <a:lnSpc>
                <a:spcPct val="150000"/>
              </a:lnSpc>
              <a:spcBef>
                <a:spcPct val="50000"/>
              </a:spcBef>
              <a:spcAft>
                <a:spcPct val="0"/>
              </a:spcAft>
              <a:buClrTx/>
              <a:buSzTx/>
              <a:buFontTx/>
              <a:buNone/>
              <a:tabLst/>
              <a:defRPr/>
            </a:pPr>
            <a:endParaRPr kumimoji="0" lang="en-US" altLang="en-US" sz="400" b="1" i="0" u="none" strike="noStrike" kern="1200" cap="none" spc="0" normalizeH="0" baseline="0" noProof="0" dirty="0">
              <a:ln>
                <a:noFill/>
              </a:ln>
              <a:solidFill>
                <a:prstClr val="black"/>
              </a:solidFill>
              <a:effectLst/>
              <a:uLnTx/>
              <a:uFillTx/>
              <a:latin typeface="Times-Roman"/>
              <a:ea typeface="+mn-ea"/>
              <a:cs typeface="Arial" panose="020B0604020202020204" pitchFamily="34" charset="0"/>
            </a:endParaRPr>
          </a:p>
          <a:p>
            <a:pPr marL="0" marR="0" lvl="0" indent="0" algn="just" defTabSz="914400" rtl="0" eaLnBrk="1" fontAlgn="base" latinLnBrk="0" hangingPunct="1">
              <a:lnSpc>
                <a:spcPct val="150000"/>
              </a:lnSpc>
              <a:spcBef>
                <a:spcPct val="50000"/>
              </a:spcBef>
              <a:spcAft>
                <a:spcPct val="0"/>
              </a:spcAft>
              <a:buClrTx/>
              <a:buSzTx/>
              <a:buFontTx/>
              <a:buNone/>
              <a:tabLst/>
              <a:defRPr/>
            </a:pPr>
            <a:endParaRPr kumimoji="0" lang="en-US" altLang="en-US" sz="400" b="1" i="0" u="none" strike="noStrike" kern="1200" cap="none" spc="0" normalizeH="0" baseline="0" noProof="0" dirty="0">
              <a:ln>
                <a:noFill/>
              </a:ln>
              <a:solidFill>
                <a:prstClr val="black"/>
              </a:solidFill>
              <a:effectLst/>
              <a:uLnTx/>
              <a:uFillTx/>
              <a:latin typeface="Times-Roman"/>
              <a:ea typeface="+mn-ea"/>
              <a:cs typeface="Arial" panose="020B0604020202020204" pitchFamily="34" charset="0"/>
            </a:endParaRPr>
          </a:p>
          <a:p>
            <a:pPr marL="0" marR="0" lvl="0" indent="0" algn="just" defTabSz="914400" rtl="0" eaLnBrk="1" fontAlgn="base" latinLnBrk="0" hangingPunct="1">
              <a:lnSpc>
                <a:spcPct val="150000"/>
              </a:lnSpc>
              <a:spcBef>
                <a:spcPct val="50000"/>
              </a:spcBef>
              <a:spcAft>
                <a:spcPct val="0"/>
              </a:spcAft>
              <a:buClrTx/>
              <a:buSzTx/>
              <a:buFontTx/>
              <a:buNone/>
              <a:tabLst/>
              <a:defRPr/>
            </a:pPr>
            <a:r>
              <a:rPr kumimoji="0" lang="en-US" altLang="en-US" sz="1600" b="1" i="0" u="none" strike="noStrike" kern="1200" cap="none" spc="0" normalizeH="0" baseline="0" noProof="0" dirty="0">
                <a:ln>
                  <a:noFill/>
                </a:ln>
                <a:solidFill>
                  <a:srgbClr val="00B050"/>
                </a:solidFill>
                <a:effectLst/>
                <a:uLnTx/>
                <a:uFillTx/>
                <a:latin typeface="Times-Roman"/>
                <a:ea typeface="+mn-ea"/>
                <a:cs typeface="Arial" panose="020B0604020202020204" pitchFamily="34" charset="0"/>
              </a:rPr>
              <a:t>Unidirectional System</a:t>
            </a:r>
            <a:r>
              <a:rPr kumimoji="0" lang="en-US" altLang="en-US" sz="1600" b="1" i="0" u="none" strike="noStrike" kern="1200" cap="none" spc="0" normalizeH="0" baseline="0" noProof="0" dirty="0">
                <a:ln>
                  <a:noFill/>
                </a:ln>
                <a:solidFill>
                  <a:prstClr val="black"/>
                </a:solidFill>
                <a:effectLst/>
                <a:uLnTx/>
                <a:uFillTx/>
                <a:latin typeface="Times-Roman"/>
                <a:ea typeface="+mn-ea"/>
                <a:cs typeface="Arial" panose="020B0604020202020204" pitchFamily="34" charset="0"/>
              </a:rPr>
              <a:t>: Dimensions are placed in such a way that they can be read from the bottom edge of the drawing sheet. Dimension lines are broken near the middle for inserting the dimensions. </a:t>
            </a:r>
            <a:r>
              <a:rPr kumimoji="0" lang="en-US" altLang="en-US" sz="1600" b="1" i="0" u="none" strike="noStrike" kern="1200" cap="none" spc="0" normalizeH="0" baseline="0" noProof="0" dirty="0">
                <a:ln>
                  <a:noFill/>
                </a:ln>
                <a:solidFill>
                  <a:srgbClr val="3333FF"/>
                </a:solidFill>
                <a:effectLst/>
                <a:uLnTx/>
                <a:uFillTx/>
                <a:latin typeface="Times-Roman"/>
                <a:ea typeface="+mn-ea"/>
                <a:cs typeface="Arial" panose="020B0604020202020204" pitchFamily="34" charset="0"/>
              </a:rPr>
              <a:t>(PREFERRED)</a:t>
            </a:r>
            <a:endParaRPr kumimoji="0" lang="en-US" altLang="en-US" sz="1600" b="1" i="0" u="none" strike="noStrike" kern="1200" cap="none" spc="0" normalizeH="0" baseline="0" noProof="0" dirty="0">
              <a:ln>
                <a:noFill/>
              </a:ln>
              <a:solidFill>
                <a:prstClr val="black"/>
              </a:solidFill>
              <a:effectLst/>
              <a:uLnTx/>
              <a:uFillTx/>
              <a:latin typeface="Times-Roman"/>
              <a:ea typeface="+mn-ea"/>
              <a:cs typeface="Arial" panose="020B0604020202020204" pitchFamily="34" charset="0"/>
            </a:endParaRPr>
          </a:p>
        </p:txBody>
      </p:sp>
      <p:sp>
        <p:nvSpPr>
          <p:cNvPr id="8" name="Rectangle 7"/>
          <p:cNvSpPr/>
          <p:nvPr/>
        </p:nvSpPr>
        <p:spPr>
          <a:xfrm>
            <a:off x="0" y="0"/>
            <a:ext cx="9144000" cy="1219200"/>
          </a:xfrm>
          <a:prstGeom prst="rect">
            <a:avLst/>
          </a:prstGeom>
          <a:solidFill>
            <a:schemeClr val="tx2">
              <a:lumMod val="20000"/>
              <a:lumOff val="80000"/>
            </a:schemeClr>
          </a:solidFill>
        </p:spPr>
        <p:txBody>
          <a:bodyPr>
            <a:spAutoFit/>
          </a:bodyPr>
          <a:lstStyle/>
          <a:p>
            <a:pPr marL="342900" marR="0" lvl="0" indent="-342900" algn="just" defTabSz="914400" rtl="0" eaLnBrk="1" fontAlgn="auto" latinLnBrk="0" hangingPunct="1">
              <a:lnSpc>
                <a:spcPct val="150000"/>
              </a:lnSpc>
              <a:spcBef>
                <a:spcPct val="5000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Roman" charset="0"/>
                <a:ea typeface="+mn-ea"/>
                <a:cs typeface="Arial" panose="020B0604020202020204" pitchFamily="34" charset="0"/>
              </a:rPr>
              <a:t>	All the dimensions on a drawing must be shown using either Aligned System or Unidirectional System. In no case should, the two systems be mixed on the same drawing.</a:t>
            </a:r>
          </a:p>
        </p:txBody>
      </p:sp>
      <p:pic>
        <p:nvPicPr>
          <p:cNvPr id="3482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1219200"/>
            <a:ext cx="3048000" cy="247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4713" y="3962400"/>
            <a:ext cx="3189287"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43795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clrChange>
              <a:clrFrom>
                <a:srgbClr val="FFFFD9"/>
              </a:clrFrom>
              <a:clrTo>
                <a:srgbClr val="FFFFD9">
                  <a:alpha val="0"/>
                </a:srgbClr>
              </a:clrTo>
            </a:clrChange>
          </a:blip>
          <a:stretch>
            <a:fillRect/>
          </a:stretch>
        </p:blipFill>
        <p:spPr>
          <a:xfrm>
            <a:off x="228600" y="457200"/>
            <a:ext cx="8682781" cy="5802205"/>
          </a:xfrm>
          <a:prstGeom prst="rect">
            <a:avLst/>
          </a:prstGeom>
        </p:spPr>
      </p:pic>
    </p:spTree>
    <p:extLst>
      <p:ext uri="{BB962C8B-B14F-4D97-AF65-F5344CB8AC3E}">
        <p14:creationId xmlns:p14="http://schemas.microsoft.com/office/powerpoint/2010/main" val="32582677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2">
            <a:extLst>
              <a:ext uri="{28A0092B-C50C-407E-A947-70E740481C1C}">
                <a14:useLocalDpi xmlns:a14="http://schemas.microsoft.com/office/drawing/2010/main" val="0"/>
              </a:ext>
            </a:extLst>
          </a:blip>
          <a:srcRect l="34621" r="32632" b="45500"/>
          <a:stretch>
            <a:fillRect/>
          </a:stretch>
        </p:blipFill>
        <p:spPr bwMode="auto">
          <a:xfrm>
            <a:off x="3276600" y="228600"/>
            <a:ext cx="26670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r="64444" b="45500"/>
          <a:stretch>
            <a:fillRect/>
          </a:stretch>
        </p:blipFill>
        <p:spPr bwMode="auto">
          <a:xfrm>
            <a:off x="304800" y="228600"/>
            <a:ext cx="28956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l="66434" b="45500"/>
          <a:stretch>
            <a:fillRect/>
          </a:stretch>
        </p:blipFill>
        <p:spPr bwMode="auto">
          <a:xfrm>
            <a:off x="6019800" y="228600"/>
            <a:ext cx="2733675"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52186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202"/>
                                        </p:tgtEl>
                                        <p:attrNameLst>
                                          <p:attrName>style.visibility</p:attrName>
                                        </p:attrNameLst>
                                      </p:cBhvr>
                                      <p:to>
                                        <p:strVal val="visible"/>
                                      </p:to>
                                    </p:set>
                                    <p:animEffect transition="in" filter="blinds(horizontal)">
                                      <p:cBhvr>
                                        <p:cTn id="7" dur="500"/>
                                        <p:tgtEl>
                                          <p:spTgt spid="512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extLst>
              <a:ext uri="{28A0092B-C50C-407E-A947-70E740481C1C}">
                <a14:useLocalDpi xmlns:a14="http://schemas.microsoft.com/office/drawing/2010/main" val="0"/>
              </a:ext>
            </a:extLst>
          </a:blip>
          <a:srcRect l="34621" t="65938" r="32632"/>
          <a:stretch>
            <a:fillRect/>
          </a:stretch>
        </p:blipFill>
        <p:spPr bwMode="auto">
          <a:xfrm>
            <a:off x="3352800" y="1676400"/>
            <a:ext cx="2667000"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t="65938" r="64444"/>
          <a:stretch>
            <a:fillRect/>
          </a:stretch>
        </p:blipFill>
        <p:spPr bwMode="auto">
          <a:xfrm>
            <a:off x="381000" y="1676400"/>
            <a:ext cx="2895600"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l="65497" t="65938"/>
          <a:stretch>
            <a:fillRect/>
          </a:stretch>
        </p:blipFill>
        <p:spPr bwMode="auto">
          <a:xfrm>
            <a:off x="6019800" y="1676400"/>
            <a:ext cx="28098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84932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blinds(horizontal)">
                                      <p:cBhvr>
                                        <p:cTn id="7" dur="500"/>
                                        <p:tgtEl>
                                          <p:spTgt spid="501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clrChange>
              <a:clrFrom>
                <a:srgbClr val="FFFFD9"/>
              </a:clrFrom>
              <a:clrTo>
                <a:srgbClr val="FFFFD9">
                  <a:alpha val="0"/>
                </a:srgbClr>
              </a:clrTo>
            </a:clrChange>
          </a:blip>
          <a:stretch>
            <a:fillRect/>
          </a:stretch>
        </p:blipFill>
        <p:spPr>
          <a:xfrm>
            <a:off x="609600" y="397822"/>
            <a:ext cx="7870141" cy="5926778"/>
          </a:xfrm>
          <a:prstGeom prst="rect">
            <a:avLst/>
          </a:prstGeom>
        </p:spPr>
      </p:pic>
    </p:spTree>
    <p:extLst>
      <p:ext uri="{BB962C8B-B14F-4D97-AF65-F5344CB8AC3E}">
        <p14:creationId xmlns:p14="http://schemas.microsoft.com/office/powerpoint/2010/main" val="19375108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clrChange>
              <a:clrFrom>
                <a:srgbClr val="FFFFD9"/>
              </a:clrFrom>
              <a:clrTo>
                <a:srgbClr val="FFFFD9">
                  <a:alpha val="0"/>
                </a:srgbClr>
              </a:clrTo>
            </a:clrChange>
          </a:blip>
          <a:stretch>
            <a:fillRect/>
          </a:stretch>
        </p:blipFill>
        <p:spPr>
          <a:xfrm>
            <a:off x="609600" y="914400"/>
            <a:ext cx="7768441" cy="5142045"/>
          </a:xfrm>
          <a:prstGeom prst="rect">
            <a:avLst/>
          </a:prstGeom>
        </p:spPr>
      </p:pic>
    </p:spTree>
    <p:extLst>
      <p:ext uri="{BB962C8B-B14F-4D97-AF65-F5344CB8AC3E}">
        <p14:creationId xmlns:p14="http://schemas.microsoft.com/office/powerpoint/2010/main" val="41932656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5"/>
          <p:cNvSpPr txBox="1">
            <a:spLocks noChangeArrowheads="1"/>
          </p:cNvSpPr>
          <p:nvPr/>
        </p:nvSpPr>
        <p:spPr bwMode="auto">
          <a:xfrm>
            <a:off x="3446531" y="447421"/>
            <a:ext cx="2250937" cy="461665"/>
          </a:xfrm>
          <a:prstGeom prst="rect">
            <a:avLst/>
          </a:prstGeom>
          <a:solidFill>
            <a:schemeClr val="hlink"/>
          </a:solidFill>
          <a:ln w="57150">
            <a:solidFill>
              <a:schemeClr val="accent2"/>
            </a:solidFill>
            <a:miter lim="800000"/>
            <a:headEnd/>
            <a:tailEnd/>
          </a:ln>
        </p:spPr>
        <p:txBody>
          <a:bodyPr wrap="non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FF66FF"/>
                </a:solidFill>
                <a:effectLst/>
                <a:uLnTx/>
                <a:uFillTx/>
                <a:latin typeface="Arial Black" panose="020B0A04020102020204" pitchFamily="34" charset="0"/>
                <a:ea typeface="+mn-ea"/>
                <a:cs typeface="Arial" panose="020B0604020202020204" pitchFamily="34" charset="0"/>
              </a:rPr>
              <a:t>Metric Units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676400"/>
            <a:ext cx="8581937" cy="4114800"/>
          </a:xfrm>
          <a:prstGeom prst="rect">
            <a:avLst/>
          </a:prstGeom>
        </p:spPr>
      </p:pic>
    </p:spTree>
    <p:extLst>
      <p:ext uri="{BB962C8B-B14F-4D97-AF65-F5344CB8AC3E}">
        <p14:creationId xmlns:p14="http://schemas.microsoft.com/office/powerpoint/2010/main" val="4888919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TextBox 3"/>
          <p:cNvSpPr txBox="1">
            <a:spLocks noChangeArrowheads="1"/>
          </p:cNvSpPr>
          <p:nvPr/>
        </p:nvSpPr>
        <p:spPr bwMode="auto">
          <a:xfrm>
            <a:off x="3733800" y="304800"/>
            <a:ext cx="1668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Self Study</a:t>
            </a:r>
          </a:p>
        </p:txBody>
      </p:sp>
      <p:sp>
        <p:nvSpPr>
          <p:cNvPr id="40965" name="TextBox 4"/>
          <p:cNvSpPr txBox="1">
            <a:spLocks noChangeArrowheads="1"/>
          </p:cNvSpPr>
          <p:nvPr/>
        </p:nvSpPr>
        <p:spPr bwMode="auto">
          <a:xfrm>
            <a:off x="698500" y="1295400"/>
            <a:ext cx="69215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20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Dividing line into equal parts</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20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Dividing circle into equal parts</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20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Perpendicular bisection</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20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Angular bisection</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20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Construction of triangles</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20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Construction of regular polygons such as pentagon, hexagon</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20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Inscribed circles</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20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Drawing tangents and normal</a:t>
            </a:r>
          </a:p>
        </p:txBody>
      </p:sp>
      <p:sp>
        <p:nvSpPr>
          <p:cNvPr id="40966" name="TextBox 5"/>
          <p:cNvSpPr txBox="1">
            <a:spLocks noChangeArrowheads="1"/>
          </p:cNvSpPr>
          <p:nvPr/>
        </p:nvSpPr>
        <p:spPr bwMode="auto">
          <a:xfrm>
            <a:off x="685800" y="838200"/>
            <a:ext cx="5475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t>Please refer to any engineering drawing text book</a:t>
            </a:r>
          </a:p>
        </p:txBody>
      </p:sp>
    </p:spTree>
    <p:extLst>
      <p:ext uri="{BB962C8B-B14F-4D97-AF65-F5344CB8AC3E}">
        <p14:creationId xmlns:p14="http://schemas.microsoft.com/office/powerpoint/2010/main" val="37805680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TAG_VCONFIG" val="PD94bWwgdmVyc2lvbj0iMS4wIiBlbmNvZGluZz0iVVRGLTgiPz4NPGNvbmZpZ3VyYXRpb24+DQk8YnJhbmRpbmc+DQkJPHVpZm9udCBuYW1lPSJGT05UX05PVEVTX1RFWFQiIHZhbHVlPSJWZXJkYW5hLDksZmFsc2UsZmFsc2UsZmFsc2UiLz4NCTwvYnJhbmRpbmc+DQk8Y29sb3JzPg0JCTx1aWNvbG9yIG5hbWU9InByaW1hcnkiIHZhbHVlPSIweDZGODQ4OCIvPg0JCTx1aWNvbG9yIG5hbWU9Imdsb3ciIHZhbHVlPSIweDM1RDMzNCIvPg0JCTx1aWNvbG9yIG5hbWU9InRleHQiIHZhbHVlPSIweEZGRkZGRiIvPg0JCTx1aWNvbG9yIG5hbWU9ImxpZ2h0IiB2YWx1ZT0iMHg0RTVENjAiLz4NCQk8dWljb2xvciBuYW1lPSJzaGFkb3ciIHZhbHVlPSIweDAwMDAwMCIvPg0gIDx1aWNvbG9yIG5hbWU9ImJhY2tncm91bmQiIHZhbHVlPSIweDcyNzk3MSIvPg0JPC9jb2xvcnM+DTxsYXlvdXQ+DTx1aXNob3cgbmFtZT0icHJlc2VudGF0aW9udGl0bGUiIHZhbHVlPSJ0cnVlIi8+CQkNICA8dWlzaG93IG5hbWU9InByZXNlbnRlcnBob3RvIiB2YWx1ZT0idHJ1ZSIvPg0gIDx1aXNob3cgbmFtZT0icHJlc2VudGVybmFtZSIgdmFsdWU9InRydWUiLz4JCQkNICA8dWlzaG93IG5hbWU9InByZXNlbnRlcnRpdGxlIiB2YWx1ZT0idHJ1ZSIvPgkJCQ0gIDx1aXNob3cgbmFtZT0icHJlc2VudGVyZW1haWwiIHZhbHVlPSJ0cnVlIi8+CQkJDSAgPHVpc2hvdyBuYW1lPSJwcmVzZW50ZXJiaW8iIHZhbHVlPSJ0cnVlIi8+CQkJDSAgPHVpc2hvdyBuYW1lPSJjb21wYW55bG9nbyIgdmFsdWU9InRydWUiLz4JCQkJDSAgPHVpc2hvdyBuYW1lPSJzaWRlYmFyIiB2YWx1ZT0idHJ1ZSIvPgkJCQkJDSAgPHVpc2hvdyBuYW1lPSJvdXRsaW5lIiB2YWx1ZT0idHJ1ZSIvPg0gIDx1aXNob3cgbmFtZT0idGh1bWJuYWlsIiB2YWx1ZT0idHJ1ZSIvPg0gIDx1aXNob3cgbmFtZT0ibm90ZXMiIHZhbHVlPSJ0cnVlIi8+DSAgPHVpc2hvdyBuYW1lPSJzZWFyY2giIHZhbHVlPSJ0cnVlIi8+DSAgPHVpc2hvdyBuYW1lPSJxdWl6IiB2YWx1ZT0idHJ1ZSIvPg0gIDx1aXNob3cgbmFtZT0iYXR0YWNobWVudHMiIHZhbHVlPSJ0cnVlIi8+CQkJCQ0gIDx1aXNob3cgbmFtZT0idXRpbHMiIHZhbHVlPSJ0cnVlIi8+CQkJCQkNICA8dWlzaG93IG5hbWU9InZvbHVtZSIgdmFsdWU9InRydWUiLz4JCQkJCQ0gIDx1aXNob3cgbmFtZT0icGxheWJhciIgdmFsdWU9InRydWUiLz4JCQkJCQ0gIDx1aXNob3cgbmFtZT0idGFsa2luZ2hlYWQiIHZhbHVlPSJ0cnVlIi8+CQkJCQkNICA8dWlzaG93IG5hbWU9InNpZGViYXJvbnJpZ2h0IiB2YWx1ZT0idHJ1ZSIvPgkJCQ0gIDx1aXNob3cgbmFtZT0idmlld2NoYW5nZSIgdmFsdWU9InRydWUiLz4JCQkJDSAgPHVpc2hvdyBuYW1lPSJhbHdheXNTY3J1bmNoIiB2YWx1ZT0iZmFsc2UiLz4JCQkJDSAgPHVpc2hvdyBuYW1lPSJpbml0aWFsZGlzcGxheW1vZGVpc25vcm1hbCIgdmFsdWU9InRydWUiLz4JDSAgPHVpcmVwbGFjZSBuYW1lPSJsb2dvIiB2YWx1ZT0iIi8+DSAgPHVpcmVwbGFjZSBuYW1lPSJiZ2ltYWdlIiB2YWx1ZT0iIi8+DSAgPHVpcmVwbGFjZSBuYW1lPSJpbml0aWFsdGFiIiB2YWx1ZT0ib3V0bGluZSIvPg08L2xheW91dD4NDTwvY29uZmlndXJhdGlvbj4NDQ=="/>
  <p:tag name="MMPROD_UIDATA" val="&lt;database version=&quot;7.0&quot;&gt;&lt;object type=&quot;1&quot; unique_id=&quot;10001&quot;&gt;&lt;property id=&quot;20141&quot; value=&quot;CE 533 Lecture 7 Combined Foundations 3 Strap Footings&quot;/&gt;&lt;property id=&quot;20148&quot; value=&quot;5&quot;/&gt;&lt;property id=&quot;20224&quot; value=&quot;C:\Users\Arindam\Documents\My Adobe Presentations\CE 533 Lecture 7 Combined Foundations 3 Strap Footings&quot;/&gt;&lt;property id=&quot;20250&quot; value=&quot;0&quot;/&gt;&lt;property id=&quot;20251&quot; value=&quot;0&quot;/&gt;&lt;property id=&quot;20259&quot; value=&quot;0&quot;/&gt;&lt;object type=&quot;8&quot; unique_id=&quot;10002&quot;&gt;&lt;/object&gt;&lt;object type=&quot;2&quot; unique_id=&quot;10003&quot;&gt;&lt;object type=&quot;3&quot; unique_id=&quot;10004&quot;&gt;&lt;property id=&quot;20148&quot; value=&quot;5&quot;/&gt;&lt;property id=&quot;20300&quot; value=&quot;Diapositiva 1 - &amp;quot;CE648&amp;#x0D;&amp;#x0A;&amp;#x0D;&amp;#x0A;Applied Soil Mechanics&amp;#x0D;&amp;#x0A;&amp;#x0D;&amp;#x0A;Lecture 3-4: Active Earth Pressure – Static Analyses&amp;quot;&quot;/&gt;&lt;property id=&quot;20307&quot; value=&quot;349&quot;/&gt;&lt;property id=&quot;20309&quot; value=&quot;-1&quot;/&gt;&lt;/object&gt;&lt;object type=&quot;3&quot; unique_id=&quot;12540&quot;&gt;&lt;property id=&quot;20148&quot; value=&quot;5&quot;/&gt;&lt;property id=&quot;20300&quot; value=&quot;Diapositiva 28&quot;/&gt;&lt;property id=&quot;20307&quot; value=&quot;616&quot;/&gt;&lt;/object&gt;&lt;object type=&quot;3&quot; unique_id=&quot;13324&quot;&gt;&lt;property id=&quot;20148&quot; value=&quot;5&quot;/&gt;&lt;property id=&quot;20300&quot; value=&quot;Diapositiva 9 - &amp;quot;Rankine Active Pressure: Generalized Case&amp;quot;&quot;/&gt;&lt;property id=&quot;20307&quot; value=&quot;649&quot;/&gt;&lt;/object&gt;&lt;object type=&quot;3&quot; unique_id=&quot;13325&quot;&gt;&lt;property id=&quot;20148&quot; value=&quot;5&quot;/&gt;&lt;property id=&quot;20300&quot; value=&quot;Diapositiva 10 - &amp;quot;Rankine Active Pressure: Generalized Case&amp;quot;&quot;/&gt;&lt;property id=&quot;20307&quot; value=&quot;650&quot;/&gt;&lt;/object&gt;&lt;object type=&quot;3&quot; unique_id=&quot;13326&quot;&gt;&lt;property id=&quot;20148&quot; value=&quot;5&quot;/&gt;&lt;property id=&quot;20300&quot; value=&quot;Diapositiva 11 - &amp;quot;Rankine Active Pressure: Generalized Case&amp;quot;&quot;/&gt;&lt;property id=&quot;20307&quot; value=&quot;651&quot;/&gt;&lt;/object&gt;&lt;object type=&quot;3&quot; unique_id=&quot;13327&quot;&gt;&lt;property id=&quot;20148&quot; value=&quot;5&quot;/&gt;&lt;property id=&quot;20300&quot; value=&quot;Diapositiva 12 - &amp;quot;Rankine Active Pressure: Generalized Case&amp;quot;&quot;/&gt;&lt;property id=&quot;20307&quot; value=&quot;652&quot;/&gt;&lt;/object&gt;&lt;object type=&quot;3&quot; unique_id=&quot;13328&quot;&gt;&lt;property id=&quot;20148&quot; value=&quot;5&quot;/&gt;&lt;property id=&quot;20300&quot; value=&quot;Diapositiva 13 - &amp;quot;Rankine Active Pressure: Generalized Case&amp;quot;&quot;/&gt;&lt;property id=&quot;20307&quot; value=&quot;653&quot;/&gt;&lt;/object&gt;&lt;object type=&quot;3&quot; unique_id=&quot;13329&quot;&gt;&lt;property id=&quot;20148&quot; value=&quot;5&quot;/&gt;&lt;property id=&quot;20300&quot; value=&quot;Diapositiva 14 - &amp;quot;Rankine Active Pressure: Generalized Case&amp;quot;&quot;/&gt;&lt;property id=&quot;20307&quot; value=&quot;654&quot;/&gt;&lt;/object&gt;&lt;object type=&quot;3&quot; unique_id=&quot;13330&quot;&gt;&lt;property id=&quot;20148&quot; value=&quot;5&quot;/&gt;&lt;property id=&quot;20300&quot; value=&quot;Diapositiva 15 - &amp;quot;Rankine Active Pressure: Generalized Case&amp;quot;&quot;/&gt;&lt;property id=&quot;20307&quot; value=&quot;655&quot;/&gt;&lt;/object&gt;&lt;object type=&quot;3&quot; unique_id=&quot;13331&quot;&gt;&lt;property id=&quot;20148&quot; value=&quot;5&quot;/&gt;&lt;property id=&quot;20300&quot; value=&quot;Diapositiva 16 - &amp;quot;Inclined Granular Backfill with Vertical Face&amp;quot;&quot;/&gt;&lt;property id=&quot;20307&quot; value=&quot;656&quot;/&gt;&lt;/object&gt;&lt;object type=&quot;3&quot; unique_id=&quot;13332&quot;&gt;&lt;property id=&quot;20148&quot; value=&quot;5&quot;/&gt;&lt;property id=&quot;20300&quot; value=&quot;Diapositiva 17 - &amp;quot;Angle of Wall Friction: Active Case&amp;quot;&quot;/&gt;&lt;property id=&quot;20307&quot; value=&quot;657&quot;/&gt;&lt;/object&gt;&lt;object type=&quot;3&quot; unique_id=&quot;13353&quot;&gt;&lt;property id=&quot;20148&quot; value=&quot;5&quot;/&gt;&lt;property id=&quot;20300&quot; value=&quot;Diapositiva 8 - &amp;quot;Lateral Earth Pressure&amp;quot;&quot;/&gt;&lt;property id=&quot;20307&quot; value=&quot;675&quot;/&gt;&lt;/object&gt;&lt;object type=&quot;3&quot; unique_id=&quot;13357&quot;&gt;&lt;property id=&quot;20148&quot; value=&quot;5&quot;/&gt;&lt;property id=&quot;20300&quot; value=&quot;Diapositiva 2 - &amp;quot;Rankine Active Earth Pressure&amp;quot;&quot;/&gt;&lt;property id=&quot;20307&quot; value=&quot;676&quot;/&gt;&lt;/object&gt;&lt;object type=&quot;3&quot; unique_id=&quot;13358&quot;&gt;&lt;property id=&quot;20148&quot; value=&quot;5&quot;/&gt;&lt;property id=&quot;20300&quot; value=&quot;Diapositiva 3 - &amp;quot;Mohr-Circle Representation&amp;quot;&quot;/&gt;&lt;property id=&quot;20307&quot; value=&quot;677&quot;/&gt;&lt;/object&gt;&lt;object type=&quot;3&quot; unique_id=&quot;13359&quot;&gt;&lt;property id=&quot;20148&quot; value=&quot;5&quot;/&gt;&lt;property id=&quot;20300&quot; value=&quot;Diapositiva 4 - &amp;quot;Mohr-Circle Representation&amp;quot;&quot;/&gt;&lt;property id=&quot;20307&quot; value=&quot;678&quot;/&gt;&lt;/object&gt;&lt;object type=&quot;3&quot; unique_id=&quot;13360&quot;&gt;&lt;property id=&quot;20148&quot; value=&quot;5&quot;/&gt;&lt;property id=&quot;20300&quot; value=&quot;Diapositiva 5 - &amp;quot;Mohr-Circle Representation&amp;quot;&quot;/&gt;&lt;property id=&quot;20307&quot; value=&quot;679&quot;/&gt;&lt;/object&gt;&lt;object type=&quot;3&quot; unique_id=&quot;13361&quot;&gt;&lt;property id=&quot;20148&quot; value=&quot;5&quot;/&gt;&lt;property id=&quot;20300&quot; value=&quot;Diapositiva 6 - &amp;quot;Active Pressure Distribution Diagram&amp;quot;&quot;/&gt;&lt;property id=&quot;20307&quot; value=&quot;680&quot;/&gt;&lt;/object&gt;&lt;object type=&quot;3&quot; unique_id=&quot;13362&quot;&gt;&lt;property id=&quot;20148&quot; value=&quot;5&quot;/&gt;&lt;property id=&quot;20300&quot; value=&quot;Diapositiva 7 - &amp;quot;Effect of Tensile Crack&amp;quot;&quot;/&gt;&lt;property id=&quot;20307&quot; value=&quot;681&quot;/&gt;&lt;/object&gt;&lt;object type=&quot;3&quot; unique_id=&quot;13363&quot;&gt;&lt;property id=&quot;20148&quot; value=&quot;5&quot;/&gt;&lt;property id=&quot;20300&quot; value=&quot;Diapositiva 18 - &amp;quot;c- Backfill with Vertical Face&amp;quot;&quot;/&gt;&lt;property id=&quot;20307&quot; value=&quot;682&quot;/&gt;&lt;/object&gt;&lt;object type=&quot;3&quot; unique_id=&quot;13364&quot;&gt;&lt;property id=&quot;20148&quot; value=&quot;5&quot;/&gt;&lt;property id=&quot;20300&quot; value=&quot;Diapositiva 19 - &amp;quot;c- Backfill with Vertical Face&amp;quot;&quot;/&gt;&lt;property id=&quot;20307&quot; value=&quot;683&quot;/&gt;&lt;/object&gt;&lt;object type=&quot;3&quot; unique_id=&quot;13365&quot;&gt;&lt;property id=&quot;20148&quot; value=&quot;5&quot;/&gt;&lt;property id=&quot;20300&quot; value=&quot;Diapositiva 20 - &amp;quot;c- Backfill with Vertical Face&amp;quot;&quot;/&gt;&lt;property id=&quot;20307&quot; value=&quot;684&quot;/&gt;&lt;/object&gt;&lt;object type=&quot;3&quot; unique_id=&quot;13366&quot;&gt;&lt;property id=&quot;20148&quot; value=&quot;5&quot;/&gt;&lt;property id=&quot;20300&quot; value=&quot;Diapositiva 21 - &amp;quot;c- Backfill with Vertical Face&amp;quot;&quot;/&gt;&lt;property id=&quot;20307&quot; value=&quot;685&quot;/&gt;&lt;/object&gt;&lt;object type=&quot;3&quot; unique_id=&quot;13367&quot;&gt;&lt;property id=&quot;20148&quot; value=&quot;5&quot;/&gt;&lt;property id=&quot;20300&quot; value=&quot;Diapositiva 22 - &amp;quot;c- Backfill with Vertical Face&amp;quot;&quot;/&gt;&lt;property id=&quot;20307&quot; value=&quot;686&quot;/&gt;&lt;/object&gt;&lt;object type=&quot;3&quot; unique_id=&quot;13368&quot;&gt;&lt;property id=&quot;20148&quot; value=&quot;5&quot;/&gt;&lt;property id=&quot;20300&quot; value=&quot;Diapositiva 23 - &amp;quot;c- Backfill with Vertical Face&amp;quot;&quot;/&gt;&lt;property id=&quot;20307&quot; value=&quot;687&quot;/&gt;&lt;/object&gt;&lt;object type=&quot;3&quot; unique_id=&quot;13369&quot;&gt;&lt;property id=&quot;20148&quot; value=&quot;5&quot;/&gt;&lt;property id=&quot;20300&quot; value=&quot;Diapositiva 24 - &amp;quot;c- Backfill with Vertical Face&amp;quot;&quot;/&gt;&lt;property id=&quot;20307&quot; value=&quot;688&quot;/&gt;&lt;/object&gt;&lt;object type=&quot;3&quot; unique_id=&quot;13370&quot;&gt;&lt;property id=&quot;20148&quot; value=&quot;5&quot;/&gt;&lt;property id=&quot;20300&quot; value=&quot;Diapositiva 25 - &amp;quot;Coulomb’s Active Earth Pressure: Granular Backfill&amp;quot;&quot;/&gt;&lt;property id=&quot;20307&quot; value=&quot;689&quot;/&gt;&lt;/object&gt;&lt;object type=&quot;3&quot; unique_id=&quot;13371&quot;&gt;&lt;property id=&quot;20148&quot; value=&quot;5&quot;/&gt;&lt;property id=&quot;20300&quot; value=&quot;Diapositiva 26 - &amp;quot;Coulomb’s Active Earth Pressure: Granular Backfill&amp;quot;&quot;/&gt;&lt;property id=&quot;20307&quot; value=&quot;690&quot;/&gt;&lt;/object&gt;&lt;object type=&quot;3&quot; unique_id=&quot;13372&quot;&gt;&lt;property id=&quot;20148&quot; value=&quot;5&quot;/&gt;&lt;property id=&quot;20300&quot; value=&quot;Diapositiva 27 - &amp;quot;Coulomb’s Active Earth Pressure:                  Surcharge on Granular Backfill&amp;quot;&quot;/&gt;&lt;property id=&quot;20307&quot; value=&quot;691&quot;/&gt;&lt;/object&gt;&lt;/object&gt;&lt;object type=&quot;10&quot; unique_id=&quot;11369&quot;&gt;&lt;object type=&quot;11&quot; unique_id=&quot;11370&quot;&gt;&lt;/object&gt;&lt;/object&gt;&lt;object type=&quot;4&quot; unique_id=&quot;11371&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18862</TotalTime>
  <Words>2546</Words>
  <Application>Microsoft Office PowerPoint</Application>
  <PresentationFormat>On-screen Show (4:3)</PresentationFormat>
  <Paragraphs>308</Paragraphs>
  <Slides>63</Slides>
  <Notes>7</Notes>
  <HiddenSlides>0</HiddenSlides>
  <MMClips>0</MMClips>
  <ScaleCrop>false</ScaleCrop>
  <HeadingPairs>
    <vt:vector size="8" baseType="variant">
      <vt:variant>
        <vt:lpstr>Fonts Used</vt:lpstr>
      </vt:variant>
      <vt:variant>
        <vt:i4>14</vt:i4>
      </vt:variant>
      <vt:variant>
        <vt:lpstr>Theme</vt:lpstr>
      </vt:variant>
      <vt:variant>
        <vt:i4>12</vt:i4>
      </vt:variant>
      <vt:variant>
        <vt:lpstr>Embedded OLE Servers</vt:lpstr>
      </vt:variant>
      <vt:variant>
        <vt:i4>1</vt:i4>
      </vt:variant>
      <vt:variant>
        <vt:lpstr>Slide Titles</vt:lpstr>
      </vt:variant>
      <vt:variant>
        <vt:i4>63</vt:i4>
      </vt:variant>
    </vt:vector>
  </HeadingPairs>
  <TitlesOfParts>
    <vt:vector size="90" baseType="lpstr">
      <vt:lpstr>Adobe Garamond Pro Bold</vt:lpstr>
      <vt:lpstr>Arial</vt:lpstr>
      <vt:lpstr>Arial Black</vt:lpstr>
      <vt:lpstr>Arial Rounded MT Bold</vt:lpstr>
      <vt:lpstr>Calibri</vt:lpstr>
      <vt:lpstr>Calibri Light</vt:lpstr>
      <vt:lpstr>Cambria</vt:lpstr>
      <vt:lpstr>Cordia New</vt:lpstr>
      <vt:lpstr>Garamond</vt:lpstr>
      <vt:lpstr>Segoe UI Black</vt:lpstr>
      <vt:lpstr>Symbol</vt:lpstr>
      <vt:lpstr>Times New Roman</vt:lpstr>
      <vt:lpstr>Times-Roman</vt:lpstr>
      <vt:lpstr>Wingdings</vt:lpstr>
      <vt:lpstr>Office Theme</vt:lpstr>
      <vt:lpstr>1_Office Theme</vt:lpstr>
      <vt:lpstr>3_Office Theme</vt:lpstr>
      <vt:lpstr>2_Office Theme</vt:lpstr>
      <vt:lpstr>4_Office Theme</vt:lpstr>
      <vt:lpstr>5_Office Theme</vt:lpstr>
      <vt:lpstr>6_Office Theme</vt:lpstr>
      <vt:lpstr>7_Office Theme</vt:lpstr>
      <vt:lpstr>8_Office Theme</vt:lpstr>
      <vt:lpstr>9_Office Theme</vt:lpstr>
      <vt:lpstr>10_Office Theme</vt:lpstr>
      <vt:lpstr>11_Office Theme</vt:lpstr>
      <vt:lpstr>Photo Editor Photo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Lab Pre-requisites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Strokes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IIT Kanpur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Arindam</dc:creator>
  <cp:lastModifiedBy>Sparsh Johari</cp:lastModifiedBy>
  <cp:revision>1525</cp:revision>
  <dcterms:created xsi:type="dcterms:W3CDTF">2009-03-03T19:30:23Z</dcterms:created>
  <dcterms:modified xsi:type="dcterms:W3CDTF">2023-08-03T12:17:31Z</dcterms:modified>
</cp:coreProperties>
</file>