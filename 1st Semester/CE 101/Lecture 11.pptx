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4012" r:id="rId2"/>
  </p:sldMasterIdLst>
  <p:notesMasterIdLst>
    <p:notesMasterId r:id="rId23"/>
  </p:notesMasterIdLst>
  <p:sldIdLst>
    <p:sldId id="371" r:id="rId3"/>
    <p:sldId id="359" r:id="rId4"/>
    <p:sldId id="356" r:id="rId5"/>
    <p:sldId id="307" r:id="rId6"/>
    <p:sldId id="310" r:id="rId7"/>
    <p:sldId id="313" r:id="rId8"/>
    <p:sldId id="357" r:id="rId9"/>
    <p:sldId id="358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73" r:id="rId19"/>
    <p:sldId id="368" r:id="rId20"/>
    <p:sldId id="369" r:id="rId21"/>
    <p:sldId id="372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8" autoAdjust="0"/>
    <p:restoredTop sz="94624" autoAdjust="0"/>
  </p:normalViewPr>
  <p:slideViewPr>
    <p:cSldViewPr>
      <p:cViewPr varScale="1">
        <p:scale>
          <a:sx n="65" d="100"/>
          <a:sy n="65" d="100"/>
        </p:scale>
        <p:origin x="147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4E572235-80D2-4114-B5E6-F9ACD85ECA99}" type="datetimeFigureOut">
              <a:rPr lang="en-US"/>
              <a:pPr>
                <a:defRPr/>
              </a:pPr>
              <a:t>10/14/2023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256BD48-FCCE-466D-B6BF-E3102FB9AA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64130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Today we will discuss about the Modeling and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54EA00-3FE7-45BB-8861-608A115B0E7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207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61080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50549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03980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08969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3936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82763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8357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67134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18299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4179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71680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00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Times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dobe Garamond Pro Bold" pitchFamily="18" charset="0"/>
              </a:defRPr>
            </a:lvl1pPr>
            <a:lvl2pPr>
              <a:defRPr>
                <a:latin typeface="Times" pitchFamily="18" charset="0"/>
              </a:defRPr>
            </a:lvl2pPr>
            <a:lvl3pPr>
              <a:defRPr>
                <a:latin typeface="Garamond" pitchFamily="18" charset="0"/>
              </a:defRPr>
            </a:lvl3pPr>
            <a:lvl4pPr>
              <a:defRPr>
                <a:latin typeface="Times" pitchFamily="18" charset="0"/>
              </a:defRPr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765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186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9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7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3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658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6227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6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37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D115C-53C6-4F34-ADE9-D9F10006BB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5933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1CD75A-8950-46BD-83B5-4466F1264C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074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3EAB9-08FE-42A3-9DD8-55031D919C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6323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4D056C-55B6-4434-85D9-9422A1DA6D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508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428F2-BDC5-4EE5-9016-F1EAE85F94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33168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4DDE2-2D23-4F3A-9836-111B25F2DF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179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51F3D3-371A-4EE0-A2F4-4A85CEDA80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38573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1B05B3-0F17-4857-B182-84AE933418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08474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AEBD7-C72C-436A-9AEF-DBBF17E696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56841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DCD037-A8A6-418F-8963-EFCCB401DE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33053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6B9955-BBCF-4BA4-A2EA-783098F845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0705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bu_bar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9"/>
          <p:cNvSpPr>
            <a:spLocks noChangeArrowheads="1"/>
          </p:cNvSpPr>
          <p:nvPr userDrawn="1"/>
        </p:nvSpPr>
        <p:spPr bwMode="auto">
          <a:xfrm>
            <a:off x="7353300" y="203200"/>
            <a:ext cx="1828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000" b="1" smtClean="0"/>
              <a:t>@ McGraw-Hill Education                                           </a:t>
            </a: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76200" y="0"/>
            <a:ext cx="339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8CE609D4-A385-458A-B24C-87AE0E731EA1}" type="slidenum">
              <a:rPr lang="en-US" altLang="en-US" sz="10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en-US" sz="1000" b="1" smtClean="0">
              <a:solidFill>
                <a:schemeClr val="bg1"/>
              </a:solidFill>
            </a:endParaRPr>
          </a:p>
        </p:txBody>
      </p:sp>
      <p:sp>
        <p:nvSpPr>
          <p:cNvPr id="1029" name="Rectangle 11"/>
          <p:cNvSpPr>
            <a:spLocks noChangeArrowheads="1"/>
          </p:cNvSpPr>
          <p:nvPr userDrawn="1"/>
        </p:nvSpPr>
        <p:spPr bwMode="auto">
          <a:xfrm>
            <a:off x="0" y="6591300"/>
            <a:ext cx="9144000" cy="2746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FFB32B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 smtClean="0">
                <a:solidFill>
                  <a:schemeClr val="bg1"/>
                </a:solidFill>
                <a:cs typeface="Times New Roman" panose="02020603050405020304" pitchFamily="18" charset="0"/>
              </a:rPr>
              <a:t>Engineering Drawing with an Introduction to AutoCAD”, Dhananjay A Jolhe, Tata McGraw Hill, Ed. 2008</a:t>
            </a:r>
            <a:r>
              <a:rPr lang="en-US" altLang="en-US" sz="1100" smtClean="0"/>
              <a:t> </a:t>
            </a:r>
            <a:endParaRPr lang="en-US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5" r:id="rId1"/>
    <p:sldLayoutId id="2147484146" r:id="rId2"/>
    <p:sldLayoutId id="2147484147" r:id="rId3"/>
    <p:sldLayoutId id="2147484148" r:id="rId4"/>
    <p:sldLayoutId id="2147484149" r:id="rId5"/>
    <p:sldLayoutId id="2147484150" r:id="rId6"/>
    <p:sldLayoutId id="2147484151" r:id="rId7"/>
    <p:sldLayoutId id="2147484152" r:id="rId8"/>
    <p:sldLayoutId id="2147484153" r:id="rId9"/>
    <p:sldLayoutId id="2147484154" r:id="rId10"/>
    <p:sldLayoutId id="214748415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43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43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2D4917DD-8E9D-4A7C-811F-23BFEDCB22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4" r:id="rId1"/>
    <p:sldLayoutId id="2147484135" r:id="rId2"/>
    <p:sldLayoutId id="2147484136" r:id="rId3"/>
    <p:sldLayoutId id="2147484137" r:id="rId4"/>
    <p:sldLayoutId id="2147484138" r:id="rId5"/>
    <p:sldLayoutId id="2147484139" r:id="rId6"/>
    <p:sldLayoutId id="2147484140" r:id="rId7"/>
    <p:sldLayoutId id="2147484141" r:id="rId8"/>
    <p:sldLayoutId id="2147484142" r:id="rId9"/>
    <p:sldLayoutId id="2147484143" r:id="rId10"/>
    <p:sldLayoutId id="214748414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21.png"/><Relationship Id="rId18" Type="http://schemas.openxmlformats.org/officeDocument/2006/relationships/slide" Target="slide8.xml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8.png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23.png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9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5" Type="http://schemas.openxmlformats.org/officeDocument/2006/relationships/image" Target="../media/image22.png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9.png"/><Relationship Id="rId1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slide" Target="slide8.xml"/><Relationship Id="rId5" Type="http://schemas.openxmlformats.org/officeDocument/2006/relationships/image" Target="../media/image24.png"/><Relationship Id="rId4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slide" Target="slide8.xml"/><Relationship Id="rId5" Type="http://schemas.openxmlformats.org/officeDocument/2006/relationships/image" Target="../media/image25.png"/><Relationship Id="rId4" Type="http://schemas.openxmlformats.org/officeDocument/2006/relationships/oleObject" Target="../embeddings/oleObject1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slide" Target="slide8.xml"/><Relationship Id="rId5" Type="http://schemas.openxmlformats.org/officeDocument/2006/relationships/image" Target="../media/image26.png"/><Relationship Id="rId4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slide" Target="slide8.xml"/><Relationship Id="rId5" Type="http://schemas.openxmlformats.org/officeDocument/2006/relationships/image" Target="../media/image27.png"/><Relationship Id="rId4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8.png"/><Relationship Id="rId4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0.png"/><Relationship Id="rId4" Type="http://schemas.openxmlformats.org/officeDocument/2006/relationships/oleObject" Target="../embeddings/oleObject16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slide" Target="slide8.xml"/><Relationship Id="rId5" Type="http://schemas.openxmlformats.org/officeDocument/2006/relationships/image" Target="../media/image32.png"/><Relationship Id="rId4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6" Type="http://schemas.openxmlformats.org/officeDocument/2006/relationships/slide" Target="slide8.xml"/><Relationship Id="rId5" Type="http://schemas.openxmlformats.org/officeDocument/2006/relationships/image" Target="../media/image33.png"/><Relationship Id="rId4" Type="http://schemas.openxmlformats.org/officeDocument/2006/relationships/oleObject" Target="../embeddings/oleObject19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72250" y="4733925"/>
            <a:ext cx="1581150" cy="1581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449" y="834747"/>
            <a:ext cx="8763000" cy="3170099"/>
          </a:xfr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CE101</a:t>
            </a:r>
            <a:b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Engineering Drawing</a:t>
            </a:r>
            <a:b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Intersection </a:t>
            </a: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Solids</a:t>
            </a:r>
            <a:endParaRPr lang="en-US" sz="2800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5518404"/>
            <a:ext cx="594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Indian Institute of Technology Guwahati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3216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114" name="Group 2"/>
          <p:cNvGrpSpPr>
            <a:grpSpLocks/>
          </p:cNvGrpSpPr>
          <p:nvPr/>
        </p:nvGrpSpPr>
        <p:grpSpPr bwMode="auto">
          <a:xfrm>
            <a:off x="-76200" y="25400"/>
            <a:ext cx="9296400" cy="6699250"/>
            <a:chOff x="-48" y="16"/>
            <a:chExt cx="5856" cy="4220"/>
          </a:xfrm>
        </p:grpSpPr>
        <p:sp>
          <p:nvSpPr>
            <p:cNvPr id="6154" name="Rectangle 3"/>
            <p:cNvSpPr>
              <a:spLocks noChangeArrowheads="1"/>
            </p:cNvSpPr>
            <p:nvPr/>
          </p:nvSpPr>
          <p:spPr bwMode="auto">
            <a:xfrm>
              <a:off x="0" y="1624"/>
              <a:ext cx="5760" cy="920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155" name="Text Box 4"/>
            <p:cNvSpPr txBox="1">
              <a:spLocks noChangeArrowheads="1"/>
            </p:cNvSpPr>
            <p:nvPr/>
          </p:nvSpPr>
          <p:spPr bwMode="auto">
            <a:xfrm>
              <a:off x="1248" y="16"/>
              <a:ext cx="3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rgbClr val="3366FF"/>
                  </a:solidFill>
                </a:rPr>
                <a:t>INTERPENETRATION OF SOLIDS</a:t>
              </a:r>
            </a:p>
          </p:txBody>
        </p:sp>
        <p:sp>
          <p:nvSpPr>
            <p:cNvPr id="6156" name="Text Box 5"/>
            <p:cNvSpPr txBox="1">
              <a:spLocks noChangeArrowheads="1"/>
            </p:cNvSpPr>
            <p:nvPr/>
          </p:nvSpPr>
          <p:spPr bwMode="auto">
            <a:xfrm>
              <a:off x="133" y="288"/>
              <a:ext cx="5594" cy="1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WHEN ONE SOLID PENETRATES ANOTHER SOLID THEN THEIR SURFACES INTERSECT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AND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AT THE JUNCTION OF INTERSECTION A TYPICAL CURVE IS FORMED,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3366FF"/>
                  </a:solidFill>
                </a:rPr>
                <a:t>WHICH REMAINS COMMON TO BOTH SOLIDS.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3366FF"/>
                </a:solidFill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THIS CURVE IS CALLED </a:t>
              </a:r>
              <a:r>
                <a:rPr lang="en-US" altLang="en-US" sz="1600" b="1">
                  <a:solidFill>
                    <a:srgbClr val="D60093"/>
                  </a:solidFill>
                </a:rPr>
                <a:t>CURVE OF INTERSECTION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AND 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IT IS A RESULT OF INTERPENETRATION OF SOLIDS.</a:t>
              </a:r>
            </a:p>
          </p:txBody>
        </p:sp>
        <p:sp>
          <p:nvSpPr>
            <p:cNvPr id="6157" name="Text Box 6"/>
            <p:cNvSpPr txBox="1">
              <a:spLocks noChangeArrowheads="1"/>
            </p:cNvSpPr>
            <p:nvPr/>
          </p:nvSpPr>
          <p:spPr bwMode="auto">
            <a:xfrm>
              <a:off x="-48" y="1632"/>
              <a:ext cx="5856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D60093"/>
                  </a:solidFill>
                </a:rPr>
                <a:t>PURPOSE OF DRAWING THESE CURVES:-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0099"/>
                  </a:solidFill>
                </a:rPr>
                <a:t>WHEN TWO OBJECTS ARE TO BE JOINED TOGATHER, MAXIMUM SURFACE CONTACT BETWEEN BOTH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0099"/>
                  </a:solidFill>
                </a:rPr>
                <a:t>BECOMES  A  BASIC  REQUIREMENT  FOR  STRONGEST  &amp;  LEAK-PROOF  JOINT.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D60093"/>
                  </a:solidFill>
                  <a:latin typeface="Arial" panose="020B0604020202020204" pitchFamily="34" charset="0"/>
                </a:rPr>
                <a:t>Curves of Intersections being common to both Intersecting solids,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D60093"/>
                  </a:solidFill>
                  <a:latin typeface="Arial" panose="020B0604020202020204" pitchFamily="34" charset="0"/>
                </a:rPr>
                <a:t>show exact &amp; maximum surface contact of both solids.</a:t>
              </a:r>
            </a:p>
          </p:txBody>
        </p:sp>
        <p:grpSp>
          <p:nvGrpSpPr>
            <p:cNvPr id="6158" name="Group 7"/>
            <p:cNvGrpSpPr>
              <a:grpSpLocks/>
            </p:cNvGrpSpPr>
            <p:nvPr/>
          </p:nvGrpSpPr>
          <p:grpSpPr bwMode="auto">
            <a:xfrm>
              <a:off x="1344" y="2640"/>
              <a:ext cx="2832" cy="240"/>
              <a:chOff x="1299" y="2688"/>
              <a:chExt cx="2832" cy="240"/>
            </a:xfrm>
          </p:grpSpPr>
          <p:sp>
            <p:nvSpPr>
              <p:cNvPr id="6194" name="Rectangle 8"/>
              <p:cNvSpPr>
                <a:spLocks noChangeArrowheads="1"/>
              </p:cNvSpPr>
              <p:nvPr/>
            </p:nvSpPr>
            <p:spPr bwMode="auto">
              <a:xfrm>
                <a:off x="1299" y="2688"/>
                <a:ext cx="2832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b="1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30121" name="Text Box 9"/>
              <p:cNvSpPr txBox="1">
                <a:spLocks noChangeArrowheads="1"/>
              </p:cNvSpPr>
              <p:nvPr/>
            </p:nvSpPr>
            <p:spPr bwMode="auto">
              <a:xfrm>
                <a:off x="1344" y="2688"/>
                <a:ext cx="27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en-US" b="1" i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Study Following Illustrations Carefully.</a:t>
                </a: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159" name="Group 10"/>
            <p:cNvGrpSpPr>
              <a:grpSpLocks/>
            </p:cNvGrpSpPr>
            <p:nvPr/>
          </p:nvGrpSpPr>
          <p:grpSpPr bwMode="auto">
            <a:xfrm>
              <a:off x="144" y="2868"/>
              <a:ext cx="5427" cy="1368"/>
              <a:chOff x="144" y="2784"/>
              <a:chExt cx="5427" cy="1368"/>
            </a:xfrm>
          </p:grpSpPr>
          <p:sp>
            <p:nvSpPr>
              <p:cNvPr id="6160" name="Text Box 11"/>
              <p:cNvSpPr txBox="1">
                <a:spLocks noChangeArrowheads="1"/>
              </p:cNvSpPr>
              <p:nvPr/>
            </p:nvSpPr>
            <p:spPr bwMode="auto">
              <a:xfrm>
                <a:off x="144" y="3909"/>
                <a:ext cx="86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b="1">
                    <a:solidFill>
                      <a:srgbClr val="000000"/>
                    </a:solidFill>
                  </a:rPr>
                  <a:t>Square Pipes.</a:t>
                </a:r>
              </a:p>
            </p:txBody>
          </p:sp>
          <p:grpSp>
            <p:nvGrpSpPr>
              <p:cNvPr id="6161" name="Group 12"/>
              <p:cNvGrpSpPr>
                <a:grpSpLocks/>
              </p:cNvGrpSpPr>
              <p:nvPr/>
            </p:nvGrpSpPr>
            <p:grpSpPr bwMode="auto">
              <a:xfrm flipH="1">
                <a:off x="202" y="3396"/>
                <a:ext cx="1104" cy="528"/>
                <a:chOff x="4176" y="3168"/>
                <a:chExt cx="1104" cy="528"/>
              </a:xfrm>
            </p:grpSpPr>
            <p:sp>
              <p:nvSpPr>
                <p:cNvPr id="6192" name="AutoShape 13"/>
                <p:cNvSpPr>
                  <a:spLocks noChangeArrowheads="1"/>
                </p:cNvSpPr>
                <p:nvPr/>
              </p:nvSpPr>
              <p:spPr bwMode="auto">
                <a:xfrm>
                  <a:off x="4176" y="3168"/>
                  <a:ext cx="528" cy="528"/>
                </a:xfrm>
                <a:prstGeom prst="diamond">
                  <a:avLst/>
                </a:prstGeom>
                <a:solidFill>
                  <a:schemeClr val="accent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600" b="1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193" name="Rectangle 14"/>
                <p:cNvSpPr>
                  <a:spLocks noChangeArrowheads="1"/>
                </p:cNvSpPr>
                <p:nvPr/>
              </p:nvSpPr>
              <p:spPr bwMode="auto">
                <a:xfrm>
                  <a:off x="4704" y="3232"/>
                  <a:ext cx="576" cy="384"/>
                </a:xfrm>
                <a:prstGeom prst="rect">
                  <a:avLst/>
                </a:prstGeom>
                <a:solidFill>
                  <a:srgbClr val="D60093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600" b="1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6162" name="Group 15"/>
              <p:cNvGrpSpPr>
                <a:grpSpLocks/>
              </p:cNvGrpSpPr>
              <p:nvPr/>
            </p:nvGrpSpPr>
            <p:grpSpPr bwMode="auto">
              <a:xfrm>
                <a:off x="1554" y="3460"/>
                <a:ext cx="1016" cy="432"/>
                <a:chOff x="1440" y="3216"/>
                <a:chExt cx="1016" cy="432"/>
              </a:xfrm>
            </p:grpSpPr>
            <p:sp>
              <p:nvSpPr>
                <p:cNvPr id="6190" name="Oval 16"/>
                <p:cNvSpPr>
                  <a:spLocks noChangeArrowheads="1"/>
                </p:cNvSpPr>
                <p:nvPr/>
              </p:nvSpPr>
              <p:spPr bwMode="auto">
                <a:xfrm>
                  <a:off x="1440" y="3216"/>
                  <a:ext cx="432" cy="432"/>
                </a:xfrm>
                <a:prstGeom prst="ellipse">
                  <a:avLst/>
                </a:prstGeom>
                <a:solidFill>
                  <a:schemeClr val="accent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600" b="1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191" name="Rectangle 17"/>
                <p:cNvSpPr>
                  <a:spLocks noChangeArrowheads="1"/>
                </p:cNvSpPr>
                <p:nvPr/>
              </p:nvSpPr>
              <p:spPr bwMode="auto">
                <a:xfrm>
                  <a:off x="1880" y="3232"/>
                  <a:ext cx="576" cy="384"/>
                </a:xfrm>
                <a:prstGeom prst="rect">
                  <a:avLst/>
                </a:prstGeom>
                <a:solidFill>
                  <a:srgbClr val="D60093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600" b="1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6163" name="Group 18"/>
              <p:cNvGrpSpPr>
                <a:grpSpLocks/>
              </p:cNvGrpSpPr>
              <p:nvPr/>
            </p:nvGrpSpPr>
            <p:grpSpPr bwMode="auto">
              <a:xfrm>
                <a:off x="826" y="3252"/>
                <a:ext cx="1120" cy="240"/>
                <a:chOff x="864" y="3024"/>
                <a:chExt cx="1120" cy="240"/>
              </a:xfrm>
            </p:grpSpPr>
            <p:sp>
              <p:nvSpPr>
                <p:cNvPr id="6187" name="Line 19"/>
                <p:cNvSpPr>
                  <a:spLocks noChangeShapeType="1"/>
                </p:cNvSpPr>
                <p:nvPr/>
              </p:nvSpPr>
              <p:spPr bwMode="auto">
                <a:xfrm flipH="1" flipV="1">
                  <a:off x="1840" y="3024"/>
                  <a:ext cx="144" cy="24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188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1008" y="3024"/>
                  <a:ext cx="8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189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864" y="3024"/>
                  <a:ext cx="144" cy="24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6164" name="Text Box 22"/>
              <p:cNvSpPr txBox="1">
                <a:spLocks noChangeArrowheads="1"/>
              </p:cNvSpPr>
              <p:nvPr/>
            </p:nvSpPr>
            <p:spPr bwMode="auto">
              <a:xfrm>
                <a:off x="1674" y="3918"/>
                <a:ext cx="94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b="1">
                    <a:solidFill>
                      <a:srgbClr val="000000"/>
                    </a:solidFill>
                  </a:rPr>
                  <a:t>Circular Pipes.</a:t>
                </a:r>
              </a:p>
            </p:txBody>
          </p:sp>
          <p:sp>
            <p:nvSpPr>
              <p:cNvPr id="6165" name="Text Box 23"/>
              <p:cNvSpPr txBox="1">
                <a:spLocks noChangeArrowheads="1"/>
              </p:cNvSpPr>
              <p:nvPr/>
            </p:nvSpPr>
            <p:spPr bwMode="auto">
              <a:xfrm>
                <a:off x="2954" y="3940"/>
                <a:ext cx="86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b="1">
                    <a:solidFill>
                      <a:srgbClr val="000000"/>
                    </a:solidFill>
                  </a:rPr>
                  <a:t>Square Pipes.</a:t>
                </a:r>
              </a:p>
            </p:txBody>
          </p:sp>
          <p:sp>
            <p:nvSpPr>
              <p:cNvPr id="6166" name="Text Box 24"/>
              <p:cNvSpPr txBox="1">
                <a:spLocks noChangeArrowheads="1"/>
              </p:cNvSpPr>
              <p:nvPr/>
            </p:nvSpPr>
            <p:spPr bwMode="auto">
              <a:xfrm>
                <a:off x="4474" y="3916"/>
                <a:ext cx="94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b="1">
                    <a:solidFill>
                      <a:srgbClr val="000000"/>
                    </a:solidFill>
                  </a:rPr>
                  <a:t>Circular Pipes.</a:t>
                </a:r>
              </a:p>
            </p:txBody>
          </p:sp>
          <p:sp>
            <p:nvSpPr>
              <p:cNvPr id="6167" name="Text Box 25"/>
              <p:cNvSpPr txBox="1">
                <a:spLocks noChangeArrowheads="1"/>
              </p:cNvSpPr>
              <p:nvPr/>
            </p:nvSpPr>
            <p:spPr bwMode="auto">
              <a:xfrm>
                <a:off x="594" y="2908"/>
                <a:ext cx="1615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b="1">
                    <a:solidFill>
                      <a:srgbClr val="000000"/>
                    </a:solidFill>
                  </a:rPr>
                  <a:t>Minimum Surface Contact.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b="1">
                    <a:solidFill>
                      <a:srgbClr val="000000"/>
                    </a:solidFill>
                  </a:rPr>
                  <a:t>( Point Contact)</a:t>
                </a:r>
              </a:p>
            </p:txBody>
          </p:sp>
          <p:sp>
            <p:nvSpPr>
              <p:cNvPr id="6168" name="Text Box 26"/>
              <p:cNvSpPr txBox="1">
                <a:spLocks noChangeArrowheads="1"/>
              </p:cNvSpPr>
              <p:nvPr/>
            </p:nvSpPr>
            <p:spPr bwMode="auto">
              <a:xfrm>
                <a:off x="3445" y="3044"/>
                <a:ext cx="169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b="1">
                    <a:solidFill>
                      <a:srgbClr val="000000"/>
                    </a:solidFill>
                  </a:rPr>
                  <a:t>(Maximum Surface Contact)</a:t>
                </a:r>
              </a:p>
            </p:txBody>
          </p:sp>
          <p:grpSp>
            <p:nvGrpSpPr>
              <p:cNvPr id="6169" name="Group 27"/>
              <p:cNvGrpSpPr>
                <a:grpSpLocks/>
              </p:cNvGrpSpPr>
              <p:nvPr/>
            </p:nvGrpSpPr>
            <p:grpSpPr bwMode="auto">
              <a:xfrm>
                <a:off x="4346" y="3500"/>
                <a:ext cx="944" cy="432"/>
                <a:chOff x="4384" y="3272"/>
                <a:chExt cx="944" cy="432"/>
              </a:xfrm>
            </p:grpSpPr>
            <p:grpSp>
              <p:nvGrpSpPr>
                <p:cNvPr id="6182" name="Group 28"/>
                <p:cNvGrpSpPr>
                  <a:grpSpLocks/>
                </p:cNvGrpSpPr>
                <p:nvPr/>
              </p:nvGrpSpPr>
              <p:grpSpPr bwMode="auto">
                <a:xfrm>
                  <a:off x="4408" y="3272"/>
                  <a:ext cx="920" cy="432"/>
                  <a:chOff x="2496" y="3600"/>
                  <a:chExt cx="920" cy="432"/>
                </a:xfrm>
              </p:grpSpPr>
              <p:sp>
                <p:nvSpPr>
                  <p:cNvPr id="6185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2840" y="3624"/>
                    <a:ext cx="576" cy="384"/>
                  </a:xfrm>
                  <a:prstGeom prst="rect">
                    <a:avLst/>
                  </a:prstGeom>
                  <a:solidFill>
                    <a:schemeClr val="hlink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600" b="1">
                      <a:solidFill>
                        <a:srgbClr val="000000"/>
                      </a:solidFill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186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2496" y="3600"/>
                    <a:ext cx="432" cy="432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28575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600" b="1">
                      <a:solidFill>
                        <a:srgbClr val="000000"/>
                      </a:solidFill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6183" name="Oval 31"/>
                <p:cNvSpPr>
                  <a:spLocks noChangeArrowheads="1"/>
                </p:cNvSpPr>
                <p:nvPr/>
              </p:nvSpPr>
              <p:spPr bwMode="auto">
                <a:xfrm>
                  <a:off x="4384" y="3272"/>
                  <a:ext cx="432" cy="432"/>
                </a:xfrm>
                <a:prstGeom prst="ellipse">
                  <a:avLst/>
                </a:prstGeom>
                <a:solidFill>
                  <a:schemeClr val="accent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600" b="1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184" name="Arc 32"/>
                <p:cNvSpPr>
                  <a:spLocks/>
                </p:cNvSpPr>
                <p:nvPr/>
              </p:nvSpPr>
              <p:spPr bwMode="auto">
                <a:xfrm rot="2571058">
                  <a:off x="4636" y="3348"/>
                  <a:ext cx="256" cy="292"/>
                </a:xfrm>
                <a:custGeom>
                  <a:avLst/>
                  <a:gdLst>
                    <a:gd name="T0" fmla="*/ 0 w 23067"/>
                    <a:gd name="T1" fmla="*/ 0 h 26285"/>
                    <a:gd name="T2" fmla="*/ 0 w 23067"/>
                    <a:gd name="T3" fmla="*/ 0 h 26285"/>
                    <a:gd name="T4" fmla="*/ 0 w 23067"/>
                    <a:gd name="T5" fmla="*/ 0 h 2628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3067" h="26285" fill="none" extrusionOk="0">
                      <a:moveTo>
                        <a:pt x="-1" y="49"/>
                      </a:moveTo>
                      <a:cubicBezTo>
                        <a:pt x="488" y="16"/>
                        <a:pt x="977" y="0"/>
                        <a:pt x="1467" y="0"/>
                      </a:cubicBezTo>
                      <a:cubicBezTo>
                        <a:pt x="13396" y="0"/>
                        <a:pt x="23067" y="9670"/>
                        <a:pt x="23067" y="21600"/>
                      </a:cubicBezTo>
                      <a:cubicBezTo>
                        <a:pt x="23067" y="23175"/>
                        <a:pt x="22894" y="24746"/>
                        <a:pt x="22552" y="26284"/>
                      </a:cubicBezTo>
                    </a:path>
                    <a:path w="23067" h="26285" stroke="0" extrusionOk="0">
                      <a:moveTo>
                        <a:pt x="-1" y="49"/>
                      </a:moveTo>
                      <a:cubicBezTo>
                        <a:pt x="488" y="16"/>
                        <a:pt x="977" y="0"/>
                        <a:pt x="1467" y="0"/>
                      </a:cubicBezTo>
                      <a:cubicBezTo>
                        <a:pt x="13396" y="0"/>
                        <a:pt x="23067" y="9670"/>
                        <a:pt x="23067" y="21600"/>
                      </a:cubicBezTo>
                      <a:cubicBezTo>
                        <a:pt x="23067" y="23175"/>
                        <a:pt x="22894" y="24746"/>
                        <a:pt x="22552" y="26284"/>
                      </a:cubicBezTo>
                      <a:lnTo>
                        <a:pt x="1467" y="21600"/>
                      </a:lnTo>
                      <a:lnTo>
                        <a:pt x="-1" y="49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6170" name="Group 33"/>
              <p:cNvGrpSpPr>
                <a:grpSpLocks/>
              </p:cNvGrpSpPr>
              <p:nvPr/>
            </p:nvGrpSpPr>
            <p:grpSpPr bwMode="auto">
              <a:xfrm>
                <a:off x="3002" y="3448"/>
                <a:ext cx="944" cy="528"/>
                <a:chOff x="3040" y="3220"/>
                <a:chExt cx="944" cy="528"/>
              </a:xfrm>
            </p:grpSpPr>
            <p:grpSp>
              <p:nvGrpSpPr>
                <p:cNvPr id="6176" name="Group 34"/>
                <p:cNvGrpSpPr>
                  <a:grpSpLocks/>
                </p:cNvGrpSpPr>
                <p:nvPr/>
              </p:nvGrpSpPr>
              <p:grpSpPr bwMode="auto">
                <a:xfrm>
                  <a:off x="3040" y="3248"/>
                  <a:ext cx="848" cy="480"/>
                  <a:chOff x="3040" y="3248"/>
                  <a:chExt cx="848" cy="480"/>
                </a:xfrm>
              </p:grpSpPr>
              <p:sp>
                <p:nvSpPr>
                  <p:cNvPr id="6178" name="Rectangle 35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3040" y="3288"/>
                    <a:ext cx="576" cy="384"/>
                  </a:xfrm>
                  <a:prstGeom prst="rect">
                    <a:avLst/>
                  </a:prstGeom>
                  <a:solidFill>
                    <a:schemeClr val="hlink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600" b="1">
                      <a:solidFill>
                        <a:srgbClr val="000000"/>
                      </a:solidFill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179" name="AutoShape 36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3408" y="3248"/>
                    <a:ext cx="480" cy="480"/>
                  </a:xfrm>
                  <a:prstGeom prst="diamond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600" b="1">
                      <a:solidFill>
                        <a:srgbClr val="000000"/>
                      </a:solidFill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180" name="Line 3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16" y="3288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6181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3400" y="347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6177" name="AutoShape 39"/>
                <p:cNvSpPr>
                  <a:spLocks noChangeArrowheads="1"/>
                </p:cNvSpPr>
                <p:nvPr/>
              </p:nvSpPr>
              <p:spPr bwMode="auto">
                <a:xfrm flipH="1">
                  <a:off x="3456" y="3220"/>
                  <a:ext cx="528" cy="528"/>
                </a:xfrm>
                <a:prstGeom prst="diamond">
                  <a:avLst/>
                </a:prstGeom>
                <a:solidFill>
                  <a:schemeClr val="accent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600" b="1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6171" name="Line 40"/>
              <p:cNvSpPr>
                <a:spLocks noChangeShapeType="1"/>
              </p:cNvSpPr>
              <p:nvPr/>
            </p:nvSpPr>
            <p:spPr bwMode="auto">
              <a:xfrm>
                <a:off x="3278" y="3348"/>
                <a:ext cx="192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172" name="Line 41"/>
              <p:cNvSpPr>
                <a:spLocks noChangeShapeType="1"/>
              </p:cNvSpPr>
              <p:nvPr/>
            </p:nvSpPr>
            <p:spPr bwMode="auto">
              <a:xfrm flipH="1">
                <a:off x="4802" y="3356"/>
                <a:ext cx="144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173" name="Text Box 42"/>
              <p:cNvSpPr txBox="1">
                <a:spLocks noChangeArrowheads="1"/>
              </p:cNvSpPr>
              <p:nvPr/>
            </p:nvSpPr>
            <p:spPr bwMode="auto">
              <a:xfrm>
                <a:off x="2858" y="3188"/>
                <a:ext cx="114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b="1" i="1">
                    <a:solidFill>
                      <a:srgbClr val="000000"/>
                    </a:solidFill>
                  </a:rPr>
                  <a:t>Lines of Intersections.</a:t>
                </a:r>
              </a:p>
            </p:txBody>
          </p:sp>
          <p:sp>
            <p:nvSpPr>
              <p:cNvPr id="6174" name="Text Box 43"/>
              <p:cNvSpPr txBox="1">
                <a:spLocks noChangeArrowheads="1"/>
              </p:cNvSpPr>
              <p:nvPr/>
            </p:nvSpPr>
            <p:spPr bwMode="auto">
              <a:xfrm>
                <a:off x="4354" y="3188"/>
                <a:ext cx="121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b="1" i="1">
                    <a:solidFill>
                      <a:srgbClr val="000000"/>
                    </a:solidFill>
                  </a:rPr>
                  <a:t>Curves of Intersections.</a:t>
                </a:r>
              </a:p>
            </p:txBody>
          </p:sp>
          <p:sp>
            <p:nvSpPr>
              <p:cNvPr id="6175" name="AutoShape 44"/>
              <p:cNvSpPr>
                <a:spLocks noChangeArrowheads="1"/>
              </p:cNvSpPr>
              <p:nvPr/>
            </p:nvSpPr>
            <p:spPr bwMode="auto">
              <a:xfrm>
                <a:off x="2688" y="2784"/>
                <a:ext cx="192" cy="240"/>
              </a:xfrm>
              <a:prstGeom prst="downArrow">
                <a:avLst>
                  <a:gd name="adj1" fmla="val 50000"/>
                  <a:gd name="adj2" fmla="val 31250"/>
                </a:avLst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solidFill>
                    <a:srgbClr val="000099"/>
                  </a:solidFill>
                </a:endParaRPr>
              </a:p>
            </p:txBody>
          </p:sp>
        </p:grpSp>
      </p:grpSp>
      <p:grpSp>
        <p:nvGrpSpPr>
          <p:cNvPr id="6147" name="Group 52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6148" name="AutoShape 46">
              <a:hlinkClick r:id="rId3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149" name="AutoShape 47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150" name="AutoShape 48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151" name="AutoShape 49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152" name="AutoShape 50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153" name="AutoShape 51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Solids in real world in general</a:t>
            </a:r>
          </a:p>
          <a:p>
            <a:pPr lvl="1"/>
            <a:r>
              <a:rPr lang="en-US" altLang="en-US" smtClean="0"/>
              <a:t>Combination of two or more solids</a:t>
            </a:r>
          </a:p>
          <a:p>
            <a:r>
              <a:rPr lang="en-US" altLang="en-US" smtClean="0"/>
              <a:t>Definite curve can be seen at intersection of solids</a:t>
            </a:r>
          </a:p>
          <a:p>
            <a:pPr lvl="1"/>
            <a:r>
              <a:rPr lang="en-US" altLang="en-US" smtClean="0"/>
              <a:t>Curve of intersection (COI)</a:t>
            </a:r>
          </a:p>
          <a:p>
            <a:pPr lvl="1"/>
            <a:r>
              <a:rPr lang="en-US" altLang="en-US" smtClean="0"/>
              <a:t>COI is common to the intersecting solids</a:t>
            </a:r>
          </a:p>
          <a:p>
            <a:pPr lvl="1"/>
            <a:endParaRPr lang="en-US" altLang="en-US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105400"/>
            <a:ext cx="260032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75" y="3276600"/>
            <a:ext cx="2562225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76600"/>
            <a:ext cx="245745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21275"/>
            <a:ext cx="3048000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225" y="4943475"/>
            <a:ext cx="2390775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276600"/>
            <a:ext cx="2514600" cy="181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0" y="228600"/>
          <a:ext cx="4343400" cy="269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Photo Editor Photo" r:id="rId3" imgW="4315427" imgH="2676899" progId="MSPhotoEd.3">
                  <p:embed/>
                </p:oleObj>
              </mc:Choice>
              <mc:Fallback>
                <p:oleObj name="Photo Editor Photo" r:id="rId3" imgW="4315427" imgH="2676899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8600"/>
                        <a:ext cx="4343400" cy="269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0" y="3352800"/>
          <a:ext cx="30813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Photo Editor Photo" r:id="rId5" imgW="2409524" imgH="2561905" progId="MSPhotoEd.3">
                  <p:embed/>
                </p:oleObj>
              </mc:Choice>
              <mc:Fallback>
                <p:oleObj name="Photo Editor Photo" r:id="rId5" imgW="2409524" imgH="2561905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352800"/>
                        <a:ext cx="30813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11" t="16719"/>
          <a:stretch>
            <a:fillRect/>
          </a:stretch>
        </p:blipFill>
        <p:spPr bwMode="auto">
          <a:xfrm>
            <a:off x="5105400" y="3048000"/>
            <a:ext cx="3709988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0" t="29779"/>
          <a:stretch>
            <a:fillRect/>
          </a:stretch>
        </p:blipFill>
        <p:spPr bwMode="auto">
          <a:xfrm>
            <a:off x="4800600" y="228600"/>
            <a:ext cx="4214813" cy="238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23888"/>
            <a:ext cx="8839200" cy="561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612775"/>
            <a:ext cx="8310562" cy="620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Cases of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>
                <a:latin typeface="Garamond" panose="02020404030301010803" pitchFamily="18" charset="0"/>
              </a:rPr>
              <a:t>The cases of intersection depend on </a:t>
            </a:r>
          </a:p>
          <a:p>
            <a:pPr lvl="1"/>
            <a:r>
              <a:rPr lang="en-US" altLang="en-US" smtClean="0">
                <a:latin typeface="Garamond" panose="02020404030301010803" pitchFamily="18" charset="0"/>
              </a:rPr>
              <a:t>Type of intersecting solids, and </a:t>
            </a:r>
          </a:p>
          <a:p>
            <a:pPr lvl="1"/>
            <a:r>
              <a:rPr lang="en-US" altLang="en-US" smtClean="0">
                <a:latin typeface="Garamond" panose="02020404030301010803" pitchFamily="18" charset="0"/>
              </a:rPr>
              <a:t>Manner in which they intersect.</a:t>
            </a:r>
          </a:p>
          <a:p>
            <a:endParaRPr lang="en-US" altLang="en-US" smtClean="0">
              <a:latin typeface="Garamond" panose="02020404030301010803" pitchFamily="18" charset="0"/>
            </a:endParaRPr>
          </a:p>
          <a:p>
            <a:endParaRPr lang="en-US" altLang="en-US" smtClean="0">
              <a:latin typeface="Garamond" panose="02020404030301010803" pitchFamily="18" charset="0"/>
            </a:endParaRPr>
          </a:p>
          <a:p>
            <a:endParaRPr lang="en-US" altLang="en-US" smtClean="0">
              <a:latin typeface="Garamond" panose="02020404030301010803" pitchFamily="18" charset="0"/>
            </a:endParaRPr>
          </a:p>
          <a:p>
            <a:endParaRPr lang="en-US" altLang="en-US" smtClean="0">
              <a:latin typeface="Garamond" panose="02020404030301010803" pitchFamily="18" charset="0"/>
            </a:endParaRPr>
          </a:p>
          <a:p>
            <a:endParaRPr lang="en-US" altLang="en-US" smtClean="0">
              <a:latin typeface="Garamond" panose="02020404030301010803" pitchFamily="18" charset="0"/>
            </a:endParaRPr>
          </a:p>
          <a:p>
            <a:r>
              <a:rPr lang="en-US" altLang="en-US" smtClean="0">
                <a:latin typeface="Garamond" panose="02020404030301010803" pitchFamily="18" charset="0"/>
              </a:rPr>
              <a:t>When two solids bounded by plane surfaces such as prism and pyramid penetrate each other, we obtain straight lines as their line of intersection. </a:t>
            </a:r>
            <a:endParaRPr lang="en-US" altLang="en-US" smtClean="0"/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15"/>
          <a:stretch>
            <a:fillRect/>
          </a:stretch>
        </p:blipFill>
        <p:spPr bwMode="auto">
          <a:xfrm>
            <a:off x="0" y="2389188"/>
            <a:ext cx="9144000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Cases of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>
                <a:latin typeface="Garamond" panose="02020404030301010803" pitchFamily="18" charset="0"/>
              </a:rPr>
              <a:t>Line of intersection between a plane surface and a curved surface of two solids : a prism and a cylinder is a curve. </a:t>
            </a:r>
          </a:p>
          <a:p>
            <a:r>
              <a:rPr lang="en-US" altLang="en-US" smtClean="0">
                <a:latin typeface="Garamond" panose="02020404030301010803" pitchFamily="18" charset="0"/>
              </a:rPr>
              <a:t>The line of intersection between two curved surfaces of solids such as cylinder  and cone is a curve.</a:t>
            </a:r>
          </a:p>
          <a:p>
            <a:endParaRPr lang="en-US" altLang="en-US" smtClean="0">
              <a:latin typeface="Garamond" panose="02020404030301010803" pitchFamily="18" charset="0"/>
            </a:endParaRPr>
          </a:p>
          <a:p>
            <a:endParaRPr lang="en-US" altLang="en-US" smtClean="0">
              <a:latin typeface="Garamond" panose="02020404030301010803" pitchFamily="18" charset="0"/>
            </a:endParaRPr>
          </a:p>
          <a:p>
            <a:endParaRPr lang="en-US" altLang="en-US" smtClean="0">
              <a:latin typeface="Garamond" panose="02020404030301010803" pitchFamily="18" charset="0"/>
            </a:endParaRPr>
          </a:p>
          <a:p>
            <a:endParaRPr lang="en-US" altLang="en-US" smtClean="0">
              <a:latin typeface="Garamond" panose="02020404030301010803" pitchFamily="18" charset="0"/>
            </a:endParaRPr>
          </a:p>
          <a:p>
            <a:r>
              <a:rPr lang="en-US" altLang="en-US" smtClean="0">
                <a:latin typeface="Garamond" panose="02020404030301010803" pitchFamily="18" charset="0"/>
              </a:rPr>
              <a:t>Manner in which solids intersect:</a:t>
            </a:r>
            <a:endParaRPr lang="en-US" altLang="en-US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47"/>
          <a:stretch>
            <a:fillRect/>
          </a:stretch>
        </p:blipFill>
        <p:spPr bwMode="auto">
          <a:xfrm>
            <a:off x="0" y="2971800"/>
            <a:ext cx="894873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" y="5443538"/>
            <a:ext cx="8001000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>
                <a:latin typeface="Garamond" panose="02020404030301010803" pitchFamily="18" charset="0"/>
              </a:rPr>
              <a:t>(i) Axis perpendicular and intersecting 	                (ii) Axis perpendicular and offset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>
                <a:latin typeface="Garamond" panose="02020404030301010803" pitchFamily="18" charset="0"/>
              </a:rPr>
              <a:t>(iii) Axis inclined and intersecting 		(iv) Axis inclined and offset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>
                <a:latin typeface="Garamond" panose="02020404030301010803" pitchFamily="18" charset="0"/>
              </a:rPr>
              <a:t>(v) Axis parallel and coinciding 		(vi) Axis parallel and offset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2162" name="Object 2"/>
          <p:cNvGraphicFramePr>
            <a:graphicFrameLocks noChangeAspect="1"/>
          </p:cNvGraphicFramePr>
          <p:nvPr/>
        </p:nvGraphicFramePr>
        <p:xfrm>
          <a:off x="533400" y="681038"/>
          <a:ext cx="2052638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4" name="CorelPhotoPaint.Image.11" r:id="rId4" imgW="2349206" imgH="3022222" progId="CorelPhotoPaint.Image.11">
                  <p:embed/>
                </p:oleObj>
              </mc:Choice>
              <mc:Fallback>
                <p:oleObj name="CorelPhotoPaint.Image.11" r:id="rId4" imgW="2349206" imgH="3022222" progId="CorelPhotoPaint.Image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681038"/>
                        <a:ext cx="2052638" cy="264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3" name="Object 3"/>
          <p:cNvGraphicFramePr>
            <a:graphicFrameLocks noChangeAspect="1"/>
          </p:cNvGraphicFramePr>
          <p:nvPr/>
        </p:nvGraphicFramePr>
        <p:xfrm>
          <a:off x="6553200" y="685800"/>
          <a:ext cx="2009775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5" name="CorelPhotoPaint.Image.11" r:id="rId6" imgW="1879365" imgH="2565079" progId="CorelPhotoPaint.Image.11">
                  <p:embed/>
                </p:oleObj>
              </mc:Choice>
              <mc:Fallback>
                <p:oleObj name="CorelPhotoPaint.Image.11" r:id="rId6" imgW="1879365" imgH="2565079" progId="CorelPhotoPaint.Image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685800"/>
                        <a:ext cx="2009775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4" name="Object 4"/>
          <p:cNvGraphicFramePr>
            <a:graphicFrameLocks noChangeAspect="1"/>
          </p:cNvGraphicFramePr>
          <p:nvPr/>
        </p:nvGraphicFramePr>
        <p:xfrm>
          <a:off x="3124200" y="571500"/>
          <a:ext cx="26670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6" name="CorelPhotoPaint.Image.11" r:id="rId8" imgW="3250794" imgH="3530159" progId="CorelPhotoPaint.Image.11">
                  <p:embed/>
                </p:oleObj>
              </mc:Choice>
              <mc:Fallback>
                <p:oleObj name="CorelPhotoPaint.Image.11" r:id="rId8" imgW="3250794" imgH="3530159" progId="CorelPhotoPaint.Image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71500"/>
                        <a:ext cx="2667000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5" name="Object 5"/>
          <p:cNvGraphicFramePr>
            <a:graphicFrameLocks noChangeAspect="1"/>
          </p:cNvGraphicFramePr>
          <p:nvPr/>
        </p:nvGraphicFramePr>
        <p:xfrm>
          <a:off x="2209800" y="4114800"/>
          <a:ext cx="2362200" cy="168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7" name="CorelPhotoPaint.Image.11" r:id="rId10" imgW="3174603" imgH="2260317" progId="CorelPhotoPaint.Image.11">
                  <p:embed/>
                </p:oleObj>
              </mc:Choice>
              <mc:Fallback>
                <p:oleObj name="CorelPhotoPaint.Image.11" r:id="rId10" imgW="3174603" imgH="2260317" progId="CorelPhotoPaint.Image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114800"/>
                        <a:ext cx="2362200" cy="168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6" name="Object 6"/>
          <p:cNvGraphicFramePr>
            <a:graphicFrameLocks noChangeAspect="1"/>
          </p:cNvGraphicFramePr>
          <p:nvPr/>
        </p:nvGraphicFramePr>
        <p:xfrm>
          <a:off x="457200" y="4191000"/>
          <a:ext cx="1757363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8" name="CorelPhotoPaint.Image.11" r:id="rId12" imgW="1460317" imgH="1498413" progId="CorelPhotoPaint.Image.11">
                  <p:embed/>
                </p:oleObj>
              </mc:Choice>
              <mc:Fallback>
                <p:oleObj name="CorelPhotoPaint.Image.11" r:id="rId12" imgW="1460317" imgH="1498413" progId="CorelPhotoPaint.Image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91000"/>
                        <a:ext cx="1757363" cy="180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7" name="Object 7"/>
          <p:cNvGraphicFramePr>
            <a:graphicFrameLocks noChangeAspect="1"/>
          </p:cNvGraphicFramePr>
          <p:nvPr/>
        </p:nvGraphicFramePr>
        <p:xfrm>
          <a:off x="6858000" y="3648075"/>
          <a:ext cx="1905000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9" name="CorelPhotoPaint.Image.11" r:id="rId14" imgW="1942857" imgH="1828571" progId="CorelPhotoPaint.Image.11">
                  <p:embed/>
                </p:oleObj>
              </mc:Choice>
              <mc:Fallback>
                <p:oleObj name="CorelPhotoPaint.Image.11" r:id="rId14" imgW="1942857" imgH="1828571" progId="CorelPhotoPaint.Image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648075"/>
                        <a:ext cx="1905000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8" name="Object 8"/>
          <p:cNvGraphicFramePr>
            <a:graphicFrameLocks noChangeAspect="1"/>
          </p:cNvGraphicFramePr>
          <p:nvPr/>
        </p:nvGraphicFramePr>
        <p:xfrm>
          <a:off x="4419600" y="4038600"/>
          <a:ext cx="2209800" cy="168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" name="CorelPhotoPaint.Image.11" r:id="rId16" imgW="2285714" imgH="1739683" progId="CorelPhotoPaint.Image.11">
                  <p:embed/>
                </p:oleObj>
              </mc:Choice>
              <mc:Fallback>
                <p:oleObj name="CorelPhotoPaint.Image.11" r:id="rId16" imgW="2285714" imgH="1739683" progId="CorelPhotoPaint.Image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038600"/>
                        <a:ext cx="2209800" cy="168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169" name="Text Box 9"/>
          <p:cNvSpPr txBox="1">
            <a:spLocks noChangeArrowheads="1"/>
          </p:cNvSpPr>
          <p:nvPr/>
        </p:nvSpPr>
        <p:spPr bwMode="auto">
          <a:xfrm>
            <a:off x="304800" y="3124200"/>
            <a:ext cx="2682875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A machine component having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two intersecting cylindrical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surfaces with the axis 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 acute angle </a:t>
            </a:r>
            <a:r>
              <a:rPr lang="en-US" altLang="en-US" sz="1400">
                <a:solidFill>
                  <a:srgbClr val="000000"/>
                </a:solidFill>
              </a:rPr>
              <a:t>to</a:t>
            </a:r>
            <a:r>
              <a:rPr lang="en-US" altLang="en-US" sz="1600">
                <a:solidFill>
                  <a:srgbClr val="000000"/>
                </a:solidFill>
              </a:rPr>
              <a:t> each other. </a:t>
            </a:r>
          </a:p>
        </p:txBody>
      </p:sp>
      <p:sp>
        <p:nvSpPr>
          <p:cNvPr id="732170" name="Text Box 10"/>
          <p:cNvSpPr txBox="1">
            <a:spLocks noChangeArrowheads="1"/>
          </p:cNvSpPr>
          <p:nvPr/>
        </p:nvSpPr>
        <p:spPr bwMode="auto">
          <a:xfrm>
            <a:off x="6615113" y="3143250"/>
            <a:ext cx="252888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Intersection of a Cylindrical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main and Branch Pipe.</a:t>
            </a:r>
          </a:p>
        </p:txBody>
      </p:sp>
      <p:sp>
        <p:nvSpPr>
          <p:cNvPr id="732171" name="Text Box 11"/>
          <p:cNvSpPr txBox="1">
            <a:spLocks noChangeArrowheads="1"/>
          </p:cNvSpPr>
          <p:nvPr/>
        </p:nvSpPr>
        <p:spPr bwMode="auto">
          <a:xfrm>
            <a:off x="6653213" y="5643563"/>
            <a:ext cx="245745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Pump lid having shape of a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hexagonal Prism and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Hemi-sphere intersecting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each other.</a:t>
            </a:r>
          </a:p>
        </p:txBody>
      </p:sp>
      <p:sp>
        <p:nvSpPr>
          <p:cNvPr id="732172" name="Text Box 12"/>
          <p:cNvSpPr txBox="1">
            <a:spLocks noChangeArrowheads="1"/>
          </p:cNvSpPr>
          <p:nvPr/>
        </p:nvSpPr>
        <p:spPr bwMode="auto">
          <a:xfrm>
            <a:off x="2667000" y="6019800"/>
            <a:ext cx="15621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Forged End of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Connecting Rod.</a:t>
            </a:r>
          </a:p>
        </p:txBody>
      </p:sp>
      <p:sp>
        <p:nvSpPr>
          <p:cNvPr id="732173" name="Text Box 13"/>
          <p:cNvSpPr txBox="1">
            <a:spLocks noChangeArrowheads="1"/>
          </p:cNvSpPr>
          <p:nvPr/>
        </p:nvSpPr>
        <p:spPr bwMode="auto">
          <a:xfrm>
            <a:off x="457200" y="6019800"/>
            <a:ext cx="1697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A Feeding Hopper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In industry.</a:t>
            </a:r>
          </a:p>
        </p:txBody>
      </p:sp>
      <p:sp>
        <p:nvSpPr>
          <p:cNvPr id="732174" name="Text Box 14"/>
          <p:cNvSpPr txBox="1">
            <a:spLocks noChangeArrowheads="1"/>
          </p:cNvSpPr>
          <p:nvPr/>
        </p:nvSpPr>
        <p:spPr bwMode="auto">
          <a:xfrm>
            <a:off x="3505200" y="3157538"/>
            <a:ext cx="25733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An Industrial Dust collector.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Intersection of two cylinders.</a:t>
            </a:r>
          </a:p>
        </p:txBody>
      </p:sp>
      <p:sp>
        <p:nvSpPr>
          <p:cNvPr id="732175" name="Text Box 15"/>
          <p:cNvSpPr txBox="1">
            <a:spLocks noChangeArrowheads="1"/>
          </p:cNvSpPr>
          <p:nvPr/>
        </p:nvSpPr>
        <p:spPr bwMode="auto">
          <a:xfrm>
            <a:off x="4800600" y="5981700"/>
            <a:ext cx="1574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Two Cylindrical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surfaces.</a:t>
            </a:r>
          </a:p>
        </p:txBody>
      </p:sp>
      <p:grpSp>
        <p:nvGrpSpPr>
          <p:cNvPr id="732176" name="Group 16"/>
          <p:cNvGrpSpPr>
            <a:grpSpLocks/>
          </p:cNvGrpSpPr>
          <p:nvPr/>
        </p:nvGrpSpPr>
        <p:grpSpPr bwMode="auto">
          <a:xfrm>
            <a:off x="457200" y="57150"/>
            <a:ext cx="8305800" cy="685800"/>
            <a:chOff x="288" y="36"/>
            <a:chExt cx="5232" cy="432"/>
          </a:xfrm>
        </p:grpSpPr>
        <p:sp>
          <p:nvSpPr>
            <p:cNvPr id="14382" name="Rectangle 17"/>
            <p:cNvSpPr>
              <a:spLocks noChangeArrowheads="1"/>
            </p:cNvSpPr>
            <p:nvPr/>
          </p:nvSpPr>
          <p:spPr bwMode="auto">
            <a:xfrm>
              <a:off x="288" y="36"/>
              <a:ext cx="5232" cy="432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3" name="Text Box 18"/>
            <p:cNvSpPr txBox="1">
              <a:spLocks noChangeArrowheads="1"/>
            </p:cNvSpPr>
            <p:nvPr/>
          </p:nvSpPr>
          <p:spPr bwMode="auto">
            <a:xfrm>
              <a:off x="360" y="80"/>
              <a:ext cx="511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D60093"/>
                  </a:solidFill>
                  <a:latin typeface="Arial" panose="020B0604020202020204" pitchFamily="34" charset="0"/>
                </a:rPr>
                <a:t>SOME ACTUAL OBJECTS ARE SHOWN, SHOWING </a:t>
              </a:r>
              <a:r>
                <a:rPr lang="en-US" altLang="en-US" sz="1600" b="1">
                  <a:solidFill>
                    <a:srgbClr val="3333CC"/>
                  </a:solidFill>
                  <a:latin typeface="Arial" panose="020B0604020202020204" pitchFamily="34" charset="0"/>
                </a:rPr>
                <a:t>CURVES OF INTERSECTIONS</a:t>
              </a:r>
              <a:r>
                <a:rPr lang="en-US" altLang="en-US" sz="1600" b="1">
                  <a:solidFill>
                    <a:srgbClr val="D60093"/>
                  </a:solidFill>
                  <a:latin typeface="Arial" panose="020B0604020202020204" pitchFamily="34" charset="0"/>
                </a:rPr>
                <a:t>.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D60093"/>
                  </a:solidFill>
                  <a:latin typeface="Arial" panose="020B0604020202020204" pitchFamily="34" charset="0"/>
                </a:rPr>
                <a:t>BY WHITE ARROWS.</a:t>
              </a:r>
            </a:p>
          </p:txBody>
        </p:sp>
      </p:grpSp>
      <p:grpSp>
        <p:nvGrpSpPr>
          <p:cNvPr id="732179" name="Group 19"/>
          <p:cNvGrpSpPr>
            <a:grpSpLocks/>
          </p:cNvGrpSpPr>
          <p:nvPr/>
        </p:nvGrpSpPr>
        <p:grpSpPr bwMode="auto">
          <a:xfrm>
            <a:off x="533400" y="1905000"/>
            <a:ext cx="762000" cy="304800"/>
            <a:chOff x="336" y="1200"/>
            <a:chExt cx="480" cy="192"/>
          </a:xfrm>
        </p:grpSpPr>
        <p:sp>
          <p:nvSpPr>
            <p:cNvPr id="14379" name="Line 20"/>
            <p:cNvSpPr>
              <a:spLocks noChangeShapeType="1"/>
            </p:cNvSpPr>
            <p:nvPr/>
          </p:nvSpPr>
          <p:spPr bwMode="auto">
            <a:xfrm flipV="1">
              <a:off x="624" y="1200"/>
              <a:ext cx="192" cy="9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380" name="Line 21"/>
            <p:cNvSpPr>
              <a:spLocks noChangeShapeType="1"/>
            </p:cNvSpPr>
            <p:nvPr/>
          </p:nvSpPr>
          <p:spPr bwMode="auto">
            <a:xfrm flipH="1">
              <a:off x="624" y="1248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381" name="Line 22"/>
            <p:cNvSpPr>
              <a:spLocks noChangeShapeType="1"/>
            </p:cNvSpPr>
            <p:nvPr/>
          </p:nvSpPr>
          <p:spPr bwMode="auto">
            <a:xfrm flipV="1">
              <a:off x="336" y="1266"/>
              <a:ext cx="348" cy="1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2183" name="Group 23"/>
          <p:cNvGrpSpPr>
            <a:grpSpLocks/>
          </p:cNvGrpSpPr>
          <p:nvPr/>
        </p:nvGrpSpPr>
        <p:grpSpPr bwMode="auto">
          <a:xfrm>
            <a:off x="6477000" y="1966913"/>
            <a:ext cx="838200" cy="471487"/>
            <a:chOff x="4080" y="1239"/>
            <a:chExt cx="528" cy="297"/>
          </a:xfrm>
        </p:grpSpPr>
        <p:sp>
          <p:nvSpPr>
            <p:cNvPr id="14377" name="Line 24"/>
            <p:cNvSpPr>
              <a:spLocks noChangeShapeType="1"/>
            </p:cNvSpPr>
            <p:nvPr/>
          </p:nvSpPr>
          <p:spPr bwMode="auto">
            <a:xfrm>
              <a:off x="4272" y="1344"/>
              <a:ext cx="336" cy="19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378" name="Line 25"/>
            <p:cNvSpPr>
              <a:spLocks noChangeShapeType="1"/>
            </p:cNvSpPr>
            <p:nvPr/>
          </p:nvSpPr>
          <p:spPr bwMode="auto">
            <a:xfrm>
              <a:off x="4080" y="1239"/>
              <a:ext cx="288" cy="1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2186" name="Group 26"/>
          <p:cNvGrpSpPr>
            <a:grpSpLocks/>
          </p:cNvGrpSpPr>
          <p:nvPr/>
        </p:nvGrpSpPr>
        <p:grpSpPr bwMode="auto">
          <a:xfrm>
            <a:off x="2514600" y="5105400"/>
            <a:ext cx="381000" cy="381000"/>
            <a:chOff x="1584" y="3216"/>
            <a:chExt cx="240" cy="240"/>
          </a:xfrm>
        </p:grpSpPr>
        <p:sp>
          <p:nvSpPr>
            <p:cNvPr id="14375" name="Line 27"/>
            <p:cNvSpPr>
              <a:spLocks noChangeShapeType="1"/>
            </p:cNvSpPr>
            <p:nvPr/>
          </p:nvSpPr>
          <p:spPr bwMode="auto">
            <a:xfrm flipV="1">
              <a:off x="1584" y="3216"/>
              <a:ext cx="240" cy="24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376" name="Line 28"/>
            <p:cNvSpPr>
              <a:spLocks noChangeShapeType="1"/>
            </p:cNvSpPr>
            <p:nvPr/>
          </p:nvSpPr>
          <p:spPr bwMode="auto">
            <a:xfrm flipH="1">
              <a:off x="1584" y="3312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2189" name="Group 29"/>
          <p:cNvGrpSpPr>
            <a:grpSpLocks/>
          </p:cNvGrpSpPr>
          <p:nvPr/>
        </p:nvGrpSpPr>
        <p:grpSpPr bwMode="auto">
          <a:xfrm>
            <a:off x="504825" y="4953000"/>
            <a:ext cx="714375" cy="76200"/>
            <a:chOff x="318" y="3120"/>
            <a:chExt cx="450" cy="48"/>
          </a:xfrm>
        </p:grpSpPr>
        <p:sp>
          <p:nvSpPr>
            <p:cNvPr id="14373" name="Line 30"/>
            <p:cNvSpPr>
              <a:spLocks noChangeShapeType="1"/>
            </p:cNvSpPr>
            <p:nvPr/>
          </p:nvSpPr>
          <p:spPr bwMode="auto">
            <a:xfrm flipV="1">
              <a:off x="336" y="3120"/>
              <a:ext cx="432" cy="4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374" name="Line 31"/>
            <p:cNvSpPr>
              <a:spLocks noChangeShapeType="1"/>
            </p:cNvSpPr>
            <p:nvPr/>
          </p:nvSpPr>
          <p:spPr bwMode="auto">
            <a:xfrm flipH="1">
              <a:off x="318" y="315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2192" name="Group 32"/>
          <p:cNvGrpSpPr>
            <a:grpSpLocks/>
          </p:cNvGrpSpPr>
          <p:nvPr/>
        </p:nvGrpSpPr>
        <p:grpSpPr bwMode="auto">
          <a:xfrm>
            <a:off x="4648200" y="4343400"/>
            <a:ext cx="762000" cy="533400"/>
            <a:chOff x="2928" y="2736"/>
            <a:chExt cx="480" cy="336"/>
          </a:xfrm>
        </p:grpSpPr>
        <p:sp>
          <p:nvSpPr>
            <p:cNvPr id="14371" name="Line 33"/>
            <p:cNvSpPr>
              <a:spLocks noChangeShapeType="1"/>
            </p:cNvSpPr>
            <p:nvPr/>
          </p:nvSpPr>
          <p:spPr bwMode="auto">
            <a:xfrm>
              <a:off x="2928" y="2736"/>
              <a:ext cx="480" cy="33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372" name="Line 34"/>
            <p:cNvSpPr>
              <a:spLocks noChangeShapeType="1"/>
            </p:cNvSpPr>
            <p:nvPr/>
          </p:nvSpPr>
          <p:spPr bwMode="auto">
            <a:xfrm flipH="1" flipV="1">
              <a:off x="2958" y="2784"/>
              <a:ext cx="24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2195" name="Group 35"/>
          <p:cNvGrpSpPr>
            <a:grpSpLocks/>
          </p:cNvGrpSpPr>
          <p:nvPr/>
        </p:nvGrpSpPr>
        <p:grpSpPr bwMode="auto">
          <a:xfrm>
            <a:off x="7439025" y="4381500"/>
            <a:ext cx="169863" cy="1233488"/>
            <a:chOff x="4686" y="2760"/>
            <a:chExt cx="107" cy="777"/>
          </a:xfrm>
        </p:grpSpPr>
        <p:sp>
          <p:nvSpPr>
            <p:cNvPr id="14369" name="Line 36"/>
            <p:cNvSpPr>
              <a:spLocks noChangeShapeType="1"/>
            </p:cNvSpPr>
            <p:nvPr/>
          </p:nvSpPr>
          <p:spPr bwMode="auto">
            <a:xfrm rot="702786" flipV="1">
              <a:off x="4686" y="2760"/>
              <a:ext cx="1" cy="7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370" name="Line 37"/>
            <p:cNvSpPr>
              <a:spLocks noChangeShapeType="1"/>
            </p:cNvSpPr>
            <p:nvPr/>
          </p:nvSpPr>
          <p:spPr bwMode="auto">
            <a:xfrm rot="1493688" flipV="1">
              <a:off x="4762" y="2775"/>
              <a:ext cx="31" cy="76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2198" name="Group 38"/>
          <p:cNvGrpSpPr>
            <a:grpSpLocks/>
          </p:cNvGrpSpPr>
          <p:nvPr/>
        </p:nvGrpSpPr>
        <p:grpSpPr bwMode="auto">
          <a:xfrm>
            <a:off x="4419600" y="1752600"/>
            <a:ext cx="1257300" cy="200025"/>
            <a:chOff x="2784" y="1104"/>
            <a:chExt cx="792" cy="126"/>
          </a:xfrm>
        </p:grpSpPr>
        <p:sp>
          <p:nvSpPr>
            <p:cNvPr id="14367" name="Line 39"/>
            <p:cNvSpPr>
              <a:spLocks noChangeShapeType="1"/>
            </p:cNvSpPr>
            <p:nvPr/>
          </p:nvSpPr>
          <p:spPr bwMode="auto">
            <a:xfrm flipH="1" flipV="1">
              <a:off x="2784" y="1104"/>
              <a:ext cx="480" cy="69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368" name="Line 40"/>
            <p:cNvSpPr>
              <a:spLocks noChangeShapeType="1"/>
            </p:cNvSpPr>
            <p:nvPr/>
          </p:nvSpPr>
          <p:spPr bwMode="auto">
            <a:xfrm rot="-302017">
              <a:off x="3240" y="1152"/>
              <a:ext cx="336" cy="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360" name="Group 48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14361" name="AutoShape 49">
              <a:hlinkClick r:id="rId18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2" name="AutoShape 50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3" name="AutoShape 51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4" name="AutoShape 52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5" name="AutoShape 53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6" name="AutoShape 54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2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2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2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32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32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2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2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32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32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32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32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32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32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32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32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32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32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32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32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32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32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32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32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32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32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32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32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32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32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2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2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32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32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32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32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32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32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32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32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32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32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32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32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2169" grpId="0" autoUpdateAnimBg="0"/>
      <p:bldP spid="732170" grpId="0" autoUpdateAnimBg="0"/>
      <p:bldP spid="732171" grpId="0" autoUpdateAnimBg="0"/>
      <p:bldP spid="732172" grpId="0" autoUpdateAnimBg="0"/>
      <p:bldP spid="732173" grpId="0" autoUpdateAnimBg="0"/>
      <p:bldP spid="732174" grpId="0" autoUpdateAnimBg="0"/>
      <p:bldP spid="73217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210" name="Group 2"/>
          <p:cNvGrpSpPr>
            <a:grpSpLocks/>
          </p:cNvGrpSpPr>
          <p:nvPr/>
        </p:nvGrpSpPr>
        <p:grpSpPr bwMode="auto">
          <a:xfrm>
            <a:off x="76200" y="0"/>
            <a:ext cx="4038600" cy="1600200"/>
            <a:chOff x="48" y="0"/>
            <a:chExt cx="2544" cy="1008"/>
          </a:xfrm>
        </p:grpSpPr>
        <p:sp>
          <p:nvSpPr>
            <p:cNvPr id="16402" name="AutoShape 3"/>
            <p:cNvSpPr>
              <a:spLocks noChangeArrowheads="1"/>
            </p:cNvSpPr>
            <p:nvPr/>
          </p:nvSpPr>
          <p:spPr bwMode="auto">
            <a:xfrm>
              <a:off x="48" y="0"/>
              <a:ext cx="2544" cy="1008"/>
            </a:xfrm>
            <a:custGeom>
              <a:avLst/>
              <a:gdLst>
                <a:gd name="T0" fmla="*/ 3 w 21600"/>
                <a:gd name="T1" fmla="*/ 0 h 21600"/>
                <a:gd name="T2" fmla="*/ 2 w 21600"/>
                <a:gd name="T3" fmla="*/ 0 h 21600"/>
                <a:gd name="T4" fmla="*/ 1 w 21600"/>
                <a:gd name="T5" fmla="*/ 0 h 21600"/>
                <a:gd name="T6" fmla="*/ 2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875 w 21600"/>
                <a:gd name="T13" fmla="*/ 5871 h 21600"/>
                <a:gd name="T14" fmla="*/ 15725 w 21600"/>
                <a:gd name="T15" fmla="*/ 1572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8151" y="21600"/>
                  </a:lnTo>
                  <a:lnTo>
                    <a:pt x="1344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403" name="Text Box 4"/>
            <p:cNvSpPr txBox="1">
              <a:spLocks noChangeArrowheads="1"/>
            </p:cNvSpPr>
            <p:nvPr/>
          </p:nvSpPr>
          <p:spPr bwMode="auto">
            <a:xfrm>
              <a:off x="198" y="15"/>
              <a:ext cx="2267" cy="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FOLLOWING CASES ARE SOLVED.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REFFER ILLUSTRATIONS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AND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NOTE THE COMMON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CONSTRUCTION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 FOR ALL</a:t>
              </a:r>
            </a:p>
          </p:txBody>
        </p:sp>
      </p:grpSp>
      <p:sp>
        <p:nvSpPr>
          <p:cNvPr id="734213" name="Text Box 5"/>
          <p:cNvSpPr txBox="1">
            <a:spLocks noChangeArrowheads="1"/>
          </p:cNvSpPr>
          <p:nvPr/>
        </p:nvSpPr>
        <p:spPr bwMode="auto">
          <a:xfrm>
            <a:off x="685800" y="1752600"/>
            <a:ext cx="3810000" cy="375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1.CYLINDER TO CYLINDER2.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2.SQ.PRISM TO CYLINDER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3.CONE TO CYLINDER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4.TRIANGULAR PRISM TO CYLNDER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5.SQ.PRISM TO SQ.PRISM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6.SQ.PRISM TO SQ.PRISM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 ( SKEW POSITION)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7.SQARE PRISM TO CONE (</a:t>
            </a:r>
            <a:r>
              <a:rPr lang="en-US" altLang="en-US" sz="1600" i="1">
                <a:solidFill>
                  <a:srgbClr val="000000"/>
                </a:solidFill>
              </a:rPr>
              <a:t> from top </a:t>
            </a:r>
            <a:r>
              <a:rPr lang="en-US" altLang="en-US" sz="1600">
                <a:solidFill>
                  <a:srgbClr val="000000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8.CYLINDER TO CONE </a:t>
            </a:r>
          </a:p>
        </p:txBody>
      </p:sp>
      <p:grpSp>
        <p:nvGrpSpPr>
          <p:cNvPr id="734214" name="Group 6"/>
          <p:cNvGrpSpPr>
            <a:grpSpLocks/>
          </p:cNvGrpSpPr>
          <p:nvPr/>
        </p:nvGrpSpPr>
        <p:grpSpPr bwMode="auto">
          <a:xfrm>
            <a:off x="4953000" y="0"/>
            <a:ext cx="4191000" cy="6019800"/>
            <a:chOff x="3120" y="0"/>
            <a:chExt cx="2640" cy="3792"/>
          </a:xfrm>
        </p:grpSpPr>
        <p:sp>
          <p:nvSpPr>
            <p:cNvPr id="16400" name="AutoShape 7"/>
            <p:cNvSpPr>
              <a:spLocks noChangeArrowheads="1"/>
            </p:cNvSpPr>
            <p:nvPr/>
          </p:nvSpPr>
          <p:spPr bwMode="auto">
            <a:xfrm>
              <a:off x="3120" y="0"/>
              <a:ext cx="2640" cy="3792"/>
            </a:xfrm>
            <a:prstGeom prst="wedgeRectCallout">
              <a:avLst>
                <a:gd name="adj1" fmla="val -64657"/>
                <a:gd name="adj2" fmla="val -311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6401" name="Text Box 8"/>
            <p:cNvSpPr txBox="1">
              <a:spLocks noChangeArrowheads="1"/>
            </p:cNvSpPr>
            <p:nvPr/>
          </p:nvSpPr>
          <p:spPr bwMode="auto">
            <a:xfrm>
              <a:off x="3288" y="36"/>
              <a:ext cx="2472" cy="36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D60093"/>
                  </a:solidFill>
                </a:rPr>
                <a:t>COMMON  SOLUTION STEPS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One solid will be standing on HP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Other will penetrate horizontally.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Draw three views of standing solid.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Name views as per the illustrations.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Beginning with side view draw three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Views of penetrating solids also.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On it’s S.V. mark number of points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And name those(either letters or nos.)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The points which are on standard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generators or edges of standing solid,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( in S.V.) can be marked on respective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generators in Fv and Tv. And other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points from SV should be brought to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Tv first and then projecting upward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To Fv.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Dark and dotted line’s decision should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be taken by observing side view from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it’s right side as shown by arrow.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Accordingly those should be joined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99"/>
                  </a:solidFill>
                </a:rPr>
                <a:t>by curvature or straight lines.</a:t>
              </a:r>
            </a:p>
          </p:txBody>
        </p:sp>
      </p:grpSp>
      <p:grpSp>
        <p:nvGrpSpPr>
          <p:cNvPr id="734217" name="Group 9"/>
          <p:cNvGrpSpPr>
            <a:grpSpLocks/>
          </p:cNvGrpSpPr>
          <p:nvPr/>
        </p:nvGrpSpPr>
        <p:grpSpPr bwMode="auto">
          <a:xfrm>
            <a:off x="4191000" y="5943600"/>
            <a:ext cx="4953000" cy="762000"/>
            <a:chOff x="2640" y="3744"/>
            <a:chExt cx="3120" cy="480"/>
          </a:xfrm>
        </p:grpSpPr>
        <p:sp>
          <p:nvSpPr>
            <p:cNvPr id="16398" name="AutoShape 10"/>
            <p:cNvSpPr>
              <a:spLocks noChangeArrowheads="1"/>
            </p:cNvSpPr>
            <p:nvPr/>
          </p:nvSpPr>
          <p:spPr bwMode="auto">
            <a:xfrm>
              <a:off x="2640" y="3792"/>
              <a:ext cx="3120" cy="432"/>
            </a:xfrm>
            <a:prstGeom prst="wedgeRectCallout">
              <a:avLst>
                <a:gd name="adj1" fmla="val -44329"/>
                <a:gd name="adj2" fmla="val 62269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6399" name="Text Box 11"/>
            <p:cNvSpPr txBox="1">
              <a:spLocks noChangeArrowheads="1"/>
            </p:cNvSpPr>
            <p:nvPr/>
          </p:nvSpPr>
          <p:spPr bwMode="auto">
            <a:xfrm>
              <a:off x="2736" y="3744"/>
              <a:ext cx="2910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FF3300"/>
                  </a:solidFill>
                </a:rPr>
                <a:t>Note: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0000"/>
                  </a:solidFill>
                </a:rPr>
                <a:t>Incase cone is penetrating solid Side view is not necessary.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0000"/>
                  </a:solidFill>
                </a:rPr>
                <a:t>Similarly in case of penetration from top it is not required.</a:t>
              </a:r>
            </a:p>
          </p:txBody>
        </p:sp>
      </p:grpSp>
      <p:sp>
        <p:nvSpPr>
          <p:cNvPr id="734220" name="AutoShape 12"/>
          <p:cNvSpPr>
            <a:spLocks noChangeArrowheads="1"/>
          </p:cNvSpPr>
          <p:nvPr/>
        </p:nvSpPr>
        <p:spPr bwMode="auto">
          <a:xfrm>
            <a:off x="3276600" y="838200"/>
            <a:ext cx="1295400" cy="381000"/>
          </a:xfrm>
          <a:prstGeom prst="rightArrow">
            <a:avLst>
              <a:gd name="adj1" fmla="val 50000"/>
              <a:gd name="adj2" fmla="val 8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6391" name="Group 20"/>
          <p:cNvGrpSpPr>
            <a:grpSpLocks/>
          </p:cNvGrpSpPr>
          <p:nvPr/>
        </p:nvGrpSpPr>
        <p:grpSpPr bwMode="auto">
          <a:xfrm>
            <a:off x="8016875" y="0"/>
            <a:ext cx="1096963" cy="182563"/>
            <a:chOff x="5050" y="29"/>
            <a:chExt cx="691" cy="115"/>
          </a:xfrm>
        </p:grpSpPr>
        <p:sp>
          <p:nvSpPr>
            <p:cNvPr id="16392" name="AutoShape 21">
              <a:hlinkClick r:id="rId3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393" name="AutoShape 22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394" name="AutoShape 23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395" name="AutoShape 24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396" name="AutoShape 25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397" name="AutoShape 26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4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4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34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34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0" fill="hold"/>
                                        <p:tgtEl>
                                          <p:spTgt spid="734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0" fill="hold"/>
                                        <p:tgtEl>
                                          <p:spTgt spid="734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34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34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34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34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3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34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34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4213" grpId="0" autoUpdateAnimBg="0"/>
      <p:bldP spid="7342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ChangeArrowheads="1"/>
          </p:cNvSpPr>
          <p:nvPr/>
        </p:nvSpPr>
        <p:spPr bwMode="auto">
          <a:xfrm>
            <a:off x="685800" y="4981575"/>
            <a:ext cx="3048000" cy="1447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36259" name="Oval 3"/>
          <p:cNvSpPr>
            <a:spLocks noChangeArrowheads="1"/>
          </p:cNvSpPr>
          <p:nvPr/>
        </p:nvSpPr>
        <p:spPr bwMode="auto">
          <a:xfrm>
            <a:off x="1266825" y="4657725"/>
            <a:ext cx="1951038" cy="19478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36260" name="Line 4"/>
          <p:cNvSpPr>
            <a:spLocks noChangeShapeType="1"/>
          </p:cNvSpPr>
          <p:nvPr/>
        </p:nvSpPr>
        <p:spPr bwMode="auto">
          <a:xfrm>
            <a:off x="2232025" y="4740275"/>
            <a:ext cx="0" cy="194786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6261" name="Line 5"/>
          <p:cNvSpPr>
            <a:spLocks noChangeShapeType="1"/>
          </p:cNvSpPr>
          <p:nvPr/>
        </p:nvSpPr>
        <p:spPr bwMode="auto">
          <a:xfrm flipV="1">
            <a:off x="2254250" y="1293813"/>
            <a:ext cx="0" cy="3149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36262" name="Group 6"/>
          <p:cNvGrpSpPr>
            <a:grpSpLocks/>
          </p:cNvGrpSpPr>
          <p:nvPr/>
        </p:nvGrpSpPr>
        <p:grpSpPr bwMode="auto">
          <a:xfrm>
            <a:off x="4865688" y="1217613"/>
            <a:ext cx="1951037" cy="3149600"/>
            <a:chOff x="3305" y="805"/>
            <a:chExt cx="1229" cy="1984"/>
          </a:xfrm>
        </p:grpSpPr>
        <p:sp>
          <p:nvSpPr>
            <p:cNvPr id="18579" name="Rectangle 7"/>
            <p:cNvSpPr>
              <a:spLocks noChangeArrowheads="1"/>
            </p:cNvSpPr>
            <p:nvPr/>
          </p:nvSpPr>
          <p:spPr bwMode="auto">
            <a:xfrm>
              <a:off x="3305" y="947"/>
              <a:ext cx="1229" cy="17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80" name="Line 8"/>
            <p:cNvSpPr>
              <a:spLocks noChangeShapeType="1"/>
            </p:cNvSpPr>
            <p:nvPr/>
          </p:nvSpPr>
          <p:spPr bwMode="auto">
            <a:xfrm flipV="1">
              <a:off x="3927" y="805"/>
              <a:ext cx="0" cy="19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36265" name="Line 9"/>
          <p:cNvSpPr>
            <a:spLocks noChangeShapeType="1"/>
          </p:cNvSpPr>
          <p:nvPr/>
        </p:nvSpPr>
        <p:spPr bwMode="auto">
          <a:xfrm>
            <a:off x="228600" y="4141788"/>
            <a:ext cx="6899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6266" name="Text Box 10"/>
          <p:cNvSpPr txBox="1">
            <a:spLocks noChangeArrowheads="1"/>
          </p:cNvSpPr>
          <p:nvPr/>
        </p:nvSpPr>
        <p:spPr bwMode="auto">
          <a:xfrm>
            <a:off x="0" y="384810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736267" name="Text Box 11"/>
          <p:cNvSpPr txBox="1">
            <a:spLocks noChangeArrowheads="1"/>
          </p:cNvSpPr>
          <p:nvPr/>
        </p:nvSpPr>
        <p:spPr bwMode="auto">
          <a:xfrm>
            <a:off x="7018338" y="3890963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736268" name="Oval 12"/>
          <p:cNvSpPr>
            <a:spLocks noChangeArrowheads="1"/>
          </p:cNvSpPr>
          <p:nvPr/>
        </p:nvSpPr>
        <p:spPr bwMode="auto">
          <a:xfrm>
            <a:off x="5130800" y="2149475"/>
            <a:ext cx="1447800" cy="1447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736269" name="Group 13"/>
          <p:cNvGrpSpPr>
            <a:grpSpLocks/>
          </p:cNvGrpSpPr>
          <p:nvPr/>
        </p:nvGrpSpPr>
        <p:grpSpPr bwMode="auto">
          <a:xfrm>
            <a:off x="5118100" y="2149475"/>
            <a:ext cx="1447800" cy="1447800"/>
            <a:chOff x="3464" y="1344"/>
            <a:chExt cx="912" cy="912"/>
          </a:xfrm>
        </p:grpSpPr>
        <p:sp>
          <p:nvSpPr>
            <p:cNvPr id="18575" name="Line 14"/>
            <p:cNvSpPr>
              <a:spLocks noChangeShapeType="1"/>
            </p:cNvSpPr>
            <p:nvPr/>
          </p:nvSpPr>
          <p:spPr bwMode="auto">
            <a:xfrm>
              <a:off x="3464" y="1800"/>
              <a:ext cx="9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76" name="Line 15"/>
            <p:cNvSpPr>
              <a:spLocks noChangeShapeType="1"/>
            </p:cNvSpPr>
            <p:nvPr/>
          </p:nvSpPr>
          <p:spPr bwMode="auto">
            <a:xfrm>
              <a:off x="3928" y="1344"/>
              <a:ext cx="0" cy="91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77" name="Line 16"/>
            <p:cNvSpPr>
              <a:spLocks noChangeShapeType="1"/>
            </p:cNvSpPr>
            <p:nvPr/>
          </p:nvSpPr>
          <p:spPr bwMode="auto">
            <a:xfrm>
              <a:off x="3592" y="1488"/>
              <a:ext cx="672" cy="6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78" name="Line 17"/>
            <p:cNvSpPr>
              <a:spLocks noChangeShapeType="1"/>
            </p:cNvSpPr>
            <p:nvPr/>
          </p:nvSpPr>
          <p:spPr bwMode="auto">
            <a:xfrm flipH="1">
              <a:off x="3592" y="1496"/>
              <a:ext cx="672" cy="6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36274" name="Line 18"/>
          <p:cNvSpPr>
            <a:spLocks noChangeShapeType="1"/>
          </p:cNvSpPr>
          <p:nvPr/>
        </p:nvSpPr>
        <p:spPr bwMode="auto">
          <a:xfrm>
            <a:off x="4318000" y="4156075"/>
            <a:ext cx="25908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36275" name="Group 19"/>
          <p:cNvGrpSpPr>
            <a:grpSpLocks/>
          </p:cNvGrpSpPr>
          <p:nvPr/>
        </p:nvGrpSpPr>
        <p:grpSpPr bwMode="auto">
          <a:xfrm>
            <a:off x="4851400" y="3813175"/>
            <a:ext cx="1955800" cy="2819400"/>
            <a:chOff x="3296" y="2448"/>
            <a:chExt cx="1232" cy="1776"/>
          </a:xfrm>
        </p:grpSpPr>
        <p:sp>
          <p:nvSpPr>
            <p:cNvPr id="18572" name="Line 20"/>
            <p:cNvSpPr>
              <a:spLocks noChangeShapeType="1"/>
            </p:cNvSpPr>
            <p:nvPr/>
          </p:nvSpPr>
          <p:spPr bwMode="auto">
            <a:xfrm>
              <a:off x="3296" y="2448"/>
              <a:ext cx="0" cy="57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73" name="Line 21"/>
            <p:cNvSpPr>
              <a:spLocks noChangeShapeType="1"/>
            </p:cNvSpPr>
            <p:nvPr/>
          </p:nvSpPr>
          <p:spPr bwMode="auto">
            <a:xfrm>
              <a:off x="4528" y="2496"/>
              <a:ext cx="0" cy="172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74" name="Line 22"/>
            <p:cNvSpPr>
              <a:spLocks noChangeShapeType="1"/>
            </p:cNvSpPr>
            <p:nvPr/>
          </p:nvSpPr>
          <p:spPr bwMode="auto">
            <a:xfrm>
              <a:off x="3924" y="2784"/>
              <a:ext cx="0" cy="81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6279" name="Group 23"/>
          <p:cNvGrpSpPr>
            <a:grpSpLocks/>
          </p:cNvGrpSpPr>
          <p:nvPr/>
        </p:nvGrpSpPr>
        <p:grpSpPr bwMode="auto">
          <a:xfrm>
            <a:off x="1524000" y="4648200"/>
            <a:ext cx="5283200" cy="1981200"/>
            <a:chOff x="960" y="2928"/>
            <a:chExt cx="3328" cy="1248"/>
          </a:xfrm>
        </p:grpSpPr>
        <p:sp>
          <p:nvSpPr>
            <p:cNvPr id="18569" name="Line 24"/>
            <p:cNvSpPr>
              <a:spLocks noChangeShapeType="1"/>
            </p:cNvSpPr>
            <p:nvPr/>
          </p:nvSpPr>
          <p:spPr bwMode="auto">
            <a:xfrm flipH="1">
              <a:off x="960" y="2928"/>
              <a:ext cx="211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70" name="Line 25"/>
            <p:cNvSpPr>
              <a:spLocks noChangeShapeType="1"/>
            </p:cNvSpPr>
            <p:nvPr/>
          </p:nvSpPr>
          <p:spPr bwMode="auto">
            <a:xfrm flipH="1">
              <a:off x="1024" y="4176"/>
              <a:ext cx="326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71" name="Line 26"/>
            <p:cNvSpPr>
              <a:spLocks noChangeShapeType="1"/>
            </p:cNvSpPr>
            <p:nvPr/>
          </p:nvSpPr>
          <p:spPr bwMode="auto">
            <a:xfrm flipH="1">
              <a:off x="2352" y="3600"/>
              <a:ext cx="134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6283" name="Group 27"/>
          <p:cNvGrpSpPr>
            <a:grpSpLocks/>
          </p:cNvGrpSpPr>
          <p:nvPr/>
        </p:nvGrpSpPr>
        <p:grpSpPr bwMode="auto">
          <a:xfrm>
            <a:off x="5105400" y="2343150"/>
            <a:ext cx="1460500" cy="4098925"/>
            <a:chOff x="3456" y="1466"/>
            <a:chExt cx="920" cy="2582"/>
          </a:xfrm>
        </p:grpSpPr>
        <p:sp>
          <p:nvSpPr>
            <p:cNvPr id="18560" name="Line 28"/>
            <p:cNvSpPr>
              <a:spLocks noChangeShapeType="1"/>
            </p:cNvSpPr>
            <p:nvPr/>
          </p:nvSpPr>
          <p:spPr bwMode="auto">
            <a:xfrm>
              <a:off x="3456" y="1776"/>
              <a:ext cx="0" cy="134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61" name="Line 29"/>
            <p:cNvSpPr>
              <a:spLocks noChangeShapeType="1"/>
            </p:cNvSpPr>
            <p:nvPr/>
          </p:nvSpPr>
          <p:spPr bwMode="auto">
            <a:xfrm>
              <a:off x="4376" y="1792"/>
              <a:ext cx="0" cy="225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62" name="Line 30"/>
            <p:cNvSpPr>
              <a:spLocks noChangeShapeType="1"/>
            </p:cNvSpPr>
            <p:nvPr/>
          </p:nvSpPr>
          <p:spPr bwMode="auto">
            <a:xfrm>
              <a:off x="3578" y="1466"/>
              <a:ext cx="0" cy="182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63" name="Line 31"/>
            <p:cNvSpPr>
              <a:spLocks noChangeShapeType="1"/>
            </p:cNvSpPr>
            <p:nvPr/>
          </p:nvSpPr>
          <p:spPr bwMode="auto">
            <a:xfrm>
              <a:off x="4261" y="1488"/>
              <a:ext cx="0" cy="244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64" name="Line 32"/>
            <p:cNvSpPr>
              <a:spLocks noChangeShapeType="1"/>
            </p:cNvSpPr>
            <p:nvPr/>
          </p:nvSpPr>
          <p:spPr bwMode="auto">
            <a:xfrm>
              <a:off x="3456" y="297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65" name="Line 33"/>
            <p:cNvSpPr>
              <a:spLocks noChangeShapeType="1"/>
            </p:cNvSpPr>
            <p:nvPr/>
          </p:nvSpPr>
          <p:spPr bwMode="auto">
            <a:xfrm>
              <a:off x="3576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66" name="Line 34"/>
            <p:cNvSpPr>
              <a:spLocks noChangeShapeType="1"/>
            </p:cNvSpPr>
            <p:nvPr/>
          </p:nvSpPr>
          <p:spPr bwMode="auto">
            <a:xfrm>
              <a:off x="3924" y="346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67" name="Line 35"/>
            <p:cNvSpPr>
              <a:spLocks noChangeShapeType="1"/>
            </p:cNvSpPr>
            <p:nvPr/>
          </p:nvSpPr>
          <p:spPr bwMode="auto">
            <a:xfrm>
              <a:off x="4260" y="376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68" name="Line 36"/>
            <p:cNvSpPr>
              <a:spLocks noChangeShapeType="1"/>
            </p:cNvSpPr>
            <p:nvPr/>
          </p:nvSpPr>
          <p:spPr bwMode="auto">
            <a:xfrm>
              <a:off x="4368" y="383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6293" name="Group 37"/>
          <p:cNvGrpSpPr>
            <a:grpSpLocks/>
          </p:cNvGrpSpPr>
          <p:nvPr/>
        </p:nvGrpSpPr>
        <p:grpSpPr bwMode="auto">
          <a:xfrm>
            <a:off x="2857500" y="2111375"/>
            <a:ext cx="400050" cy="1514475"/>
            <a:chOff x="2040" y="1320"/>
            <a:chExt cx="252" cy="954"/>
          </a:xfrm>
        </p:grpSpPr>
        <p:sp>
          <p:nvSpPr>
            <p:cNvPr id="18555" name="Oval 38"/>
            <p:cNvSpPr>
              <a:spLocks noChangeArrowheads="1"/>
            </p:cNvSpPr>
            <p:nvPr/>
          </p:nvSpPr>
          <p:spPr bwMode="auto">
            <a:xfrm>
              <a:off x="2244" y="132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56" name="Oval 39"/>
            <p:cNvSpPr>
              <a:spLocks noChangeArrowheads="1"/>
            </p:cNvSpPr>
            <p:nvPr/>
          </p:nvSpPr>
          <p:spPr bwMode="auto">
            <a:xfrm>
              <a:off x="2148" y="14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57" name="Oval 40"/>
            <p:cNvSpPr>
              <a:spLocks noChangeArrowheads="1"/>
            </p:cNvSpPr>
            <p:nvPr/>
          </p:nvSpPr>
          <p:spPr bwMode="auto">
            <a:xfrm>
              <a:off x="2040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58" name="Oval 41"/>
            <p:cNvSpPr>
              <a:spLocks noChangeArrowheads="1"/>
            </p:cNvSpPr>
            <p:nvPr/>
          </p:nvSpPr>
          <p:spPr bwMode="auto">
            <a:xfrm>
              <a:off x="2148" y="209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59" name="Oval 42"/>
            <p:cNvSpPr>
              <a:spLocks noChangeArrowheads="1"/>
            </p:cNvSpPr>
            <p:nvPr/>
          </p:nvSpPr>
          <p:spPr bwMode="auto">
            <a:xfrm>
              <a:off x="2244" y="222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36299" name="Group 43"/>
          <p:cNvGrpSpPr>
            <a:grpSpLocks/>
          </p:cNvGrpSpPr>
          <p:nvPr/>
        </p:nvGrpSpPr>
        <p:grpSpPr bwMode="auto">
          <a:xfrm>
            <a:off x="1219200" y="2111375"/>
            <a:ext cx="409575" cy="1524000"/>
            <a:chOff x="1008" y="1320"/>
            <a:chExt cx="258" cy="960"/>
          </a:xfrm>
        </p:grpSpPr>
        <p:sp>
          <p:nvSpPr>
            <p:cNvPr id="18550" name="Oval 44"/>
            <p:cNvSpPr>
              <a:spLocks noChangeArrowheads="1"/>
            </p:cNvSpPr>
            <p:nvPr/>
          </p:nvSpPr>
          <p:spPr bwMode="auto">
            <a:xfrm>
              <a:off x="1008" y="132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51" name="Oval 45"/>
            <p:cNvSpPr>
              <a:spLocks noChangeArrowheads="1"/>
            </p:cNvSpPr>
            <p:nvPr/>
          </p:nvSpPr>
          <p:spPr bwMode="auto">
            <a:xfrm>
              <a:off x="1122" y="146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52" name="Oval 46"/>
            <p:cNvSpPr>
              <a:spLocks noChangeArrowheads="1"/>
            </p:cNvSpPr>
            <p:nvPr/>
          </p:nvSpPr>
          <p:spPr bwMode="auto">
            <a:xfrm>
              <a:off x="1218" y="175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53" name="Oval 47"/>
            <p:cNvSpPr>
              <a:spLocks noChangeArrowheads="1"/>
            </p:cNvSpPr>
            <p:nvPr/>
          </p:nvSpPr>
          <p:spPr bwMode="auto">
            <a:xfrm>
              <a:off x="1122" y="208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54" name="Oval 48"/>
            <p:cNvSpPr>
              <a:spLocks noChangeArrowheads="1"/>
            </p:cNvSpPr>
            <p:nvPr/>
          </p:nvSpPr>
          <p:spPr bwMode="auto">
            <a:xfrm>
              <a:off x="1014" y="223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736305" name="Arc 49"/>
          <p:cNvSpPr>
            <a:spLocks/>
          </p:cNvSpPr>
          <p:nvPr/>
        </p:nvSpPr>
        <p:spPr bwMode="auto">
          <a:xfrm rot="-7998521">
            <a:off x="2717006" y="2375694"/>
            <a:ext cx="981075" cy="973138"/>
          </a:xfrm>
          <a:custGeom>
            <a:avLst/>
            <a:gdLst>
              <a:gd name="T0" fmla="*/ 0 w 21600"/>
              <a:gd name="T1" fmla="*/ 0 h 23472"/>
              <a:gd name="T2" fmla="*/ 2147483646 w 21600"/>
              <a:gd name="T3" fmla="*/ 2147483646 h 23472"/>
              <a:gd name="T4" fmla="*/ 0 w 21600"/>
              <a:gd name="T5" fmla="*/ 2147483646 h 2347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3472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24"/>
                  <a:pt x="21572" y="22849"/>
                  <a:pt x="21518" y="23471"/>
                </a:cubicBezTo>
              </a:path>
              <a:path w="21600" h="23472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24"/>
                  <a:pt x="21572" y="22849"/>
                  <a:pt x="21518" y="2347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6306" name="Arc 50"/>
          <p:cNvSpPr>
            <a:spLocks/>
          </p:cNvSpPr>
          <p:nvPr/>
        </p:nvSpPr>
        <p:spPr bwMode="auto">
          <a:xfrm rot="7998521" flipH="1">
            <a:off x="705644" y="2397919"/>
            <a:ext cx="1101725" cy="973137"/>
          </a:xfrm>
          <a:custGeom>
            <a:avLst/>
            <a:gdLst>
              <a:gd name="T0" fmla="*/ 0 w 24244"/>
              <a:gd name="T1" fmla="*/ 478610850 h 23472"/>
              <a:gd name="T2" fmla="*/ 2147483646 w 24244"/>
              <a:gd name="T3" fmla="*/ 2147483646 h 23472"/>
              <a:gd name="T4" fmla="*/ 2147483646 w 24244"/>
              <a:gd name="T5" fmla="*/ 2147483646 h 2347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244" h="23472" fill="none" extrusionOk="0">
                <a:moveTo>
                  <a:pt x="0" y="162"/>
                </a:moveTo>
                <a:cubicBezTo>
                  <a:pt x="877" y="54"/>
                  <a:pt x="1760" y="0"/>
                  <a:pt x="2644" y="0"/>
                </a:cubicBezTo>
                <a:cubicBezTo>
                  <a:pt x="14573" y="0"/>
                  <a:pt x="24244" y="9670"/>
                  <a:pt x="24244" y="21600"/>
                </a:cubicBezTo>
                <a:cubicBezTo>
                  <a:pt x="24244" y="22224"/>
                  <a:pt x="24216" y="22849"/>
                  <a:pt x="24162" y="23471"/>
                </a:cubicBezTo>
              </a:path>
              <a:path w="24244" h="23472" stroke="0" extrusionOk="0">
                <a:moveTo>
                  <a:pt x="0" y="162"/>
                </a:moveTo>
                <a:cubicBezTo>
                  <a:pt x="877" y="54"/>
                  <a:pt x="1760" y="0"/>
                  <a:pt x="2644" y="0"/>
                </a:cubicBezTo>
                <a:cubicBezTo>
                  <a:pt x="14573" y="0"/>
                  <a:pt x="24244" y="9670"/>
                  <a:pt x="24244" y="21600"/>
                </a:cubicBezTo>
                <a:cubicBezTo>
                  <a:pt x="24244" y="22224"/>
                  <a:pt x="24216" y="22849"/>
                  <a:pt x="24162" y="23471"/>
                </a:cubicBezTo>
                <a:lnTo>
                  <a:pt x="2644" y="21600"/>
                </a:lnTo>
                <a:lnTo>
                  <a:pt x="0" y="162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736307" name="Group 51"/>
          <p:cNvGrpSpPr>
            <a:grpSpLocks/>
          </p:cNvGrpSpPr>
          <p:nvPr/>
        </p:nvGrpSpPr>
        <p:grpSpPr bwMode="auto">
          <a:xfrm>
            <a:off x="639763" y="2149475"/>
            <a:ext cx="5227637" cy="1447800"/>
            <a:chOff x="643" y="1344"/>
            <a:chExt cx="3293" cy="912"/>
          </a:xfrm>
        </p:grpSpPr>
        <p:grpSp>
          <p:nvGrpSpPr>
            <p:cNvPr id="18531" name="Group 52"/>
            <p:cNvGrpSpPr>
              <a:grpSpLocks/>
            </p:cNvGrpSpPr>
            <p:nvPr/>
          </p:nvGrpSpPr>
          <p:grpSpPr bwMode="auto">
            <a:xfrm>
              <a:off x="672" y="1344"/>
              <a:ext cx="1920" cy="912"/>
              <a:chOff x="672" y="1344"/>
              <a:chExt cx="1920" cy="912"/>
            </a:xfrm>
          </p:grpSpPr>
          <p:sp>
            <p:nvSpPr>
              <p:cNvPr id="18542" name="Line 53"/>
              <p:cNvSpPr>
                <a:spLocks noChangeShapeType="1"/>
              </p:cNvSpPr>
              <p:nvPr/>
            </p:nvSpPr>
            <p:spPr bwMode="auto">
              <a:xfrm flipH="1">
                <a:off x="672" y="1344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43" name="Line 54"/>
              <p:cNvSpPr>
                <a:spLocks noChangeShapeType="1"/>
              </p:cNvSpPr>
              <p:nvPr/>
            </p:nvSpPr>
            <p:spPr bwMode="auto">
              <a:xfrm>
                <a:off x="672" y="1344"/>
                <a:ext cx="0" cy="9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44" name="Line 55"/>
              <p:cNvSpPr>
                <a:spLocks noChangeShapeType="1"/>
              </p:cNvSpPr>
              <p:nvPr/>
            </p:nvSpPr>
            <p:spPr bwMode="auto">
              <a:xfrm>
                <a:off x="672" y="2256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45" name="Line 56"/>
              <p:cNvSpPr>
                <a:spLocks noChangeShapeType="1"/>
              </p:cNvSpPr>
              <p:nvPr/>
            </p:nvSpPr>
            <p:spPr bwMode="auto">
              <a:xfrm>
                <a:off x="1056" y="2256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46" name="Line 57"/>
              <p:cNvSpPr>
                <a:spLocks noChangeShapeType="1"/>
              </p:cNvSpPr>
              <p:nvPr/>
            </p:nvSpPr>
            <p:spPr bwMode="auto">
              <a:xfrm>
                <a:off x="2256" y="2256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47" name="Line 58"/>
              <p:cNvSpPr>
                <a:spLocks noChangeShapeType="1"/>
              </p:cNvSpPr>
              <p:nvPr/>
            </p:nvSpPr>
            <p:spPr bwMode="auto">
              <a:xfrm flipV="1">
                <a:off x="2592" y="1344"/>
                <a:ext cx="0" cy="9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48" name="Line 59"/>
              <p:cNvSpPr>
                <a:spLocks noChangeShapeType="1"/>
              </p:cNvSpPr>
              <p:nvPr/>
            </p:nvSpPr>
            <p:spPr bwMode="auto">
              <a:xfrm flipH="1">
                <a:off x="2256" y="1344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49" name="Line 60"/>
              <p:cNvSpPr>
                <a:spLocks noChangeShapeType="1"/>
              </p:cNvSpPr>
              <p:nvPr/>
            </p:nvSpPr>
            <p:spPr bwMode="auto">
              <a:xfrm flipH="1">
                <a:off x="1008" y="1344"/>
                <a:ext cx="12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8532" name="Group 61"/>
            <p:cNvGrpSpPr>
              <a:grpSpLocks/>
            </p:cNvGrpSpPr>
            <p:nvPr/>
          </p:nvGrpSpPr>
          <p:grpSpPr bwMode="auto">
            <a:xfrm>
              <a:off x="643" y="1344"/>
              <a:ext cx="3293" cy="912"/>
              <a:chOff x="643" y="1344"/>
              <a:chExt cx="3293" cy="912"/>
            </a:xfrm>
          </p:grpSpPr>
          <p:sp>
            <p:nvSpPr>
              <p:cNvPr id="18533" name="Line 62"/>
              <p:cNvSpPr>
                <a:spLocks noChangeShapeType="1"/>
              </p:cNvSpPr>
              <p:nvPr/>
            </p:nvSpPr>
            <p:spPr bwMode="auto">
              <a:xfrm rot="16200000" flipV="1">
                <a:off x="1635" y="791"/>
                <a:ext cx="0" cy="19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34" name="Line 63"/>
              <p:cNvSpPr>
                <a:spLocks noChangeShapeType="1"/>
              </p:cNvSpPr>
              <p:nvPr/>
            </p:nvSpPr>
            <p:spPr bwMode="auto">
              <a:xfrm flipH="1">
                <a:off x="1008" y="1344"/>
                <a:ext cx="2928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35" name="Line 64"/>
              <p:cNvSpPr>
                <a:spLocks noChangeShapeType="1"/>
              </p:cNvSpPr>
              <p:nvPr/>
            </p:nvSpPr>
            <p:spPr bwMode="auto">
              <a:xfrm flipH="1">
                <a:off x="672" y="1488"/>
                <a:ext cx="292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36" name="Line 65"/>
              <p:cNvSpPr>
                <a:spLocks noChangeShapeType="1"/>
              </p:cNvSpPr>
              <p:nvPr/>
            </p:nvSpPr>
            <p:spPr bwMode="auto">
              <a:xfrm flipH="1">
                <a:off x="672" y="2112"/>
                <a:ext cx="292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37" name="Line 66"/>
              <p:cNvSpPr>
                <a:spLocks noChangeShapeType="1"/>
              </p:cNvSpPr>
              <p:nvPr/>
            </p:nvSpPr>
            <p:spPr bwMode="auto">
              <a:xfrm flipH="1">
                <a:off x="672" y="2256"/>
                <a:ext cx="326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38" name="Line 67"/>
              <p:cNvSpPr>
                <a:spLocks noChangeShapeType="1"/>
              </p:cNvSpPr>
              <p:nvPr/>
            </p:nvSpPr>
            <p:spPr bwMode="auto">
              <a:xfrm flipH="1">
                <a:off x="3024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39" name="Line 68"/>
              <p:cNvSpPr>
                <a:spLocks noChangeShapeType="1"/>
              </p:cNvSpPr>
              <p:nvPr/>
            </p:nvSpPr>
            <p:spPr bwMode="auto">
              <a:xfrm flipH="1">
                <a:off x="3024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40" name="Line 69"/>
              <p:cNvSpPr>
                <a:spLocks noChangeShapeType="1"/>
              </p:cNvSpPr>
              <p:nvPr/>
            </p:nvSpPr>
            <p:spPr bwMode="auto">
              <a:xfrm flipH="1">
                <a:off x="3036" y="148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41" name="Line 70"/>
              <p:cNvSpPr>
                <a:spLocks noChangeShapeType="1"/>
              </p:cNvSpPr>
              <p:nvPr/>
            </p:nvSpPr>
            <p:spPr bwMode="auto">
              <a:xfrm flipH="1">
                <a:off x="3036" y="134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736327" name="Group 71"/>
          <p:cNvGrpSpPr>
            <a:grpSpLocks/>
          </p:cNvGrpSpPr>
          <p:nvPr/>
        </p:nvGrpSpPr>
        <p:grpSpPr bwMode="auto">
          <a:xfrm>
            <a:off x="609600" y="4968875"/>
            <a:ext cx="5943600" cy="1457325"/>
            <a:chOff x="624" y="3120"/>
            <a:chExt cx="3744" cy="918"/>
          </a:xfrm>
        </p:grpSpPr>
        <p:sp>
          <p:nvSpPr>
            <p:cNvPr id="18519" name="Line 72"/>
            <p:cNvSpPr>
              <a:spLocks noChangeShapeType="1"/>
            </p:cNvSpPr>
            <p:nvPr/>
          </p:nvSpPr>
          <p:spPr bwMode="auto">
            <a:xfrm>
              <a:off x="2592" y="3120"/>
              <a:ext cx="91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20" name="Line 73"/>
            <p:cNvSpPr>
              <a:spLocks noChangeShapeType="1"/>
            </p:cNvSpPr>
            <p:nvPr/>
          </p:nvSpPr>
          <p:spPr bwMode="auto">
            <a:xfrm>
              <a:off x="2544" y="4032"/>
              <a:ext cx="182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21" name="Line 74"/>
            <p:cNvSpPr>
              <a:spLocks noChangeShapeType="1"/>
            </p:cNvSpPr>
            <p:nvPr/>
          </p:nvSpPr>
          <p:spPr bwMode="auto">
            <a:xfrm flipH="1">
              <a:off x="1008" y="3264"/>
              <a:ext cx="259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22" name="Line 75"/>
            <p:cNvSpPr>
              <a:spLocks noChangeShapeType="1"/>
            </p:cNvSpPr>
            <p:nvPr/>
          </p:nvSpPr>
          <p:spPr bwMode="auto">
            <a:xfrm flipH="1">
              <a:off x="864" y="3921"/>
              <a:ext cx="331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23" name="Line 76"/>
            <p:cNvSpPr>
              <a:spLocks noChangeShapeType="1"/>
            </p:cNvSpPr>
            <p:nvPr/>
          </p:nvSpPr>
          <p:spPr bwMode="auto">
            <a:xfrm flipH="1">
              <a:off x="2070" y="403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24" name="Line 77"/>
            <p:cNvSpPr>
              <a:spLocks noChangeShapeType="1"/>
            </p:cNvSpPr>
            <p:nvPr/>
          </p:nvSpPr>
          <p:spPr bwMode="auto">
            <a:xfrm flipH="1">
              <a:off x="2172" y="391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25" name="Line 78"/>
            <p:cNvSpPr>
              <a:spLocks noChangeShapeType="1"/>
            </p:cNvSpPr>
            <p:nvPr/>
          </p:nvSpPr>
          <p:spPr bwMode="auto">
            <a:xfrm flipH="1">
              <a:off x="2268" y="360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26" name="Line 79"/>
            <p:cNvSpPr>
              <a:spLocks noChangeShapeType="1"/>
            </p:cNvSpPr>
            <p:nvPr/>
          </p:nvSpPr>
          <p:spPr bwMode="auto">
            <a:xfrm flipH="1">
              <a:off x="2184" y="32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27" name="Line 80"/>
            <p:cNvSpPr>
              <a:spLocks noChangeShapeType="1"/>
            </p:cNvSpPr>
            <p:nvPr/>
          </p:nvSpPr>
          <p:spPr bwMode="auto">
            <a:xfrm flipH="1">
              <a:off x="2082" y="312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28" name="Line 81"/>
            <p:cNvSpPr>
              <a:spLocks noChangeShapeType="1"/>
            </p:cNvSpPr>
            <p:nvPr/>
          </p:nvSpPr>
          <p:spPr bwMode="auto">
            <a:xfrm>
              <a:off x="1248" y="3120"/>
              <a:ext cx="8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29" name="Line 82"/>
            <p:cNvSpPr>
              <a:spLocks noChangeShapeType="1"/>
            </p:cNvSpPr>
            <p:nvPr/>
          </p:nvSpPr>
          <p:spPr bwMode="auto">
            <a:xfrm>
              <a:off x="1200" y="4032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30" name="Line 83"/>
            <p:cNvSpPr>
              <a:spLocks noChangeShapeType="1"/>
            </p:cNvSpPr>
            <p:nvPr/>
          </p:nvSpPr>
          <p:spPr bwMode="auto">
            <a:xfrm flipH="1">
              <a:off x="624" y="3600"/>
              <a:ext cx="19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6340" name="Group 84"/>
          <p:cNvGrpSpPr>
            <a:grpSpLocks/>
          </p:cNvGrpSpPr>
          <p:nvPr/>
        </p:nvGrpSpPr>
        <p:grpSpPr bwMode="auto">
          <a:xfrm>
            <a:off x="1266825" y="1454150"/>
            <a:ext cx="1952625" cy="2676525"/>
            <a:chOff x="1038" y="954"/>
            <a:chExt cx="1230" cy="1686"/>
          </a:xfrm>
        </p:grpSpPr>
        <p:grpSp>
          <p:nvGrpSpPr>
            <p:cNvPr id="18510" name="Group 85"/>
            <p:cNvGrpSpPr>
              <a:grpSpLocks/>
            </p:cNvGrpSpPr>
            <p:nvPr/>
          </p:nvGrpSpPr>
          <p:grpSpPr bwMode="auto">
            <a:xfrm>
              <a:off x="1038" y="954"/>
              <a:ext cx="1230" cy="1686"/>
              <a:chOff x="1038" y="954"/>
              <a:chExt cx="1230" cy="1686"/>
            </a:xfrm>
          </p:grpSpPr>
          <p:sp>
            <p:nvSpPr>
              <p:cNvPr id="18513" name="Line 86"/>
              <p:cNvSpPr>
                <a:spLocks noChangeShapeType="1"/>
              </p:cNvSpPr>
              <p:nvPr/>
            </p:nvSpPr>
            <p:spPr bwMode="auto">
              <a:xfrm>
                <a:off x="1044" y="2256"/>
                <a:ext cx="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14" name="Line 87"/>
              <p:cNvSpPr>
                <a:spLocks noChangeShapeType="1"/>
              </p:cNvSpPr>
              <p:nvPr/>
            </p:nvSpPr>
            <p:spPr bwMode="auto">
              <a:xfrm>
                <a:off x="1056" y="2640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15" name="Line 88"/>
              <p:cNvSpPr>
                <a:spLocks noChangeShapeType="1"/>
              </p:cNvSpPr>
              <p:nvPr/>
            </p:nvSpPr>
            <p:spPr bwMode="auto">
              <a:xfrm flipV="1">
                <a:off x="2268" y="2256"/>
                <a:ext cx="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16" name="Line 89"/>
              <p:cNvSpPr>
                <a:spLocks noChangeShapeType="1"/>
              </p:cNvSpPr>
              <p:nvPr/>
            </p:nvSpPr>
            <p:spPr bwMode="auto">
              <a:xfrm flipV="1">
                <a:off x="2256" y="960"/>
                <a:ext cx="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17" name="Line 90"/>
              <p:cNvSpPr>
                <a:spLocks noChangeShapeType="1"/>
              </p:cNvSpPr>
              <p:nvPr/>
            </p:nvSpPr>
            <p:spPr bwMode="auto">
              <a:xfrm flipH="1">
                <a:off x="1056" y="960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518" name="Line 91"/>
              <p:cNvSpPr>
                <a:spLocks noChangeShapeType="1"/>
              </p:cNvSpPr>
              <p:nvPr/>
            </p:nvSpPr>
            <p:spPr bwMode="auto">
              <a:xfrm>
                <a:off x="1038" y="954"/>
                <a:ext cx="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8511" name="Line 92"/>
            <p:cNvSpPr>
              <a:spLocks noChangeShapeType="1"/>
            </p:cNvSpPr>
            <p:nvPr/>
          </p:nvSpPr>
          <p:spPr bwMode="auto">
            <a:xfrm>
              <a:off x="1040" y="1344"/>
              <a:ext cx="0" cy="91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12" name="Line 93"/>
            <p:cNvSpPr>
              <a:spLocks noChangeShapeType="1"/>
            </p:cNvSpPr>
            <p:nvPr/>
          </p:nvSpPr>
          <p:spPr bwMode="auto">
            <a:xfrm>
              <a:off x="2264" y="1344"/>
              <a:ext cx="0" cy="91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36350" name="Line 94"/>
          <p:cNvSpPr>
            <a:spLocks noChangeShapeType="1"/>
          </p:cNvSpPr>
          <p:nvPr/>
        </p:nvSpPr>
        <p:spPr bwMode="auto">
          <a:xfrm>
            <a:off x="1295400" y="5730875"/>
            <a:ext cx="190500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36351" name="Group 95"/>
          <p:cNvGrpSpPr>
            <a:grpSpLocks/>
          </p:cNvGrpSpPr>
          <p:nvPr/>
        </p:nvGrpSpPr>
        <p:grpSpPr bwMode="auto">
          <a:xfrm>
            <a:off x="1066800" y="4419600"/>
            <a:ext cx="2381250" cy="2454275"/>
            <a:chOff x="1392" y="2632"/>
            <a:chExt cx="1355" cy="1343"/>
          </a:xfrm>
        </p:grpSpPr>
        <p:sp>
          <p:nvSpPr>
            <p:cNvPr id="18506" name="Text Box 96"/>
            <p:cNvSpPr txBox="1">
              <a:spLocks noChangeArrowheads="1"/>
            </p:cNvSpPr>
            <p:nvPr/>
          </p:nvSpPr>
          <p:spPr bwMode="auto">
            <a:xfrm>
              <a:off x="1392" y="3184"/>
              <a:ext cx="15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8507" name="Text Box 97"/>
            <p:cNvSpPr txBox="1">
              <a:spLocks noChangeArrowheads="1"/>
            </p:cNvSpPr>
            <p:nvPr/>
          </p:nvSpPr>
          <p:spPr bwMode="auto">
            <a:xfrm>
              <a:off x="1872" y="3808"/>
              <a:ext cx="15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8508" name="Text Box 98"/>
            <p:cNvSpPr txBox="1">
              <a:spLocks noChangeArrowheads="1"/>
            </p:cNvSpPr>
            <p:nvPr/>
          </p:nvSpPr>
          <p:spPr bwMode="auto">
            <a:xfrm>
              <a:off x="2592" y="3166"/>
              <a:ext cx="15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8509" name="Text Box 99"/>
            <p:cNvSpPr txBox="1">
              <a:spLocks noChangeArrowheads="1"/>
            </p:cNvSpPr>
            <p:nvPr/>
          </p:nvSpPr>
          <p:spPr bwMode="auto">
            <a:xfrm>
              <a:off x="1968" y="2632"/>
              <a:ext cx="15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</a:t>
              </a:r>
            </a:p>
          </p:txBody>
        </p:sp>
      </p:grpSp>
      <p:grpSp>
        <p:nvGrpSpPr>
          <p:cNvPr id="736356" name="Group 100"/>
          <p:cNvGrpSpPr>
            <a:grpSpLocks/>
          </p:cNvGrpSpPr>
          <p:nvPr/>
        </p:nvGrpSpPr>
        <p:grpSpPr bwMode="auto">
          <a:xfrm>
            <a:off x="4902200" y="1844675"/>
            <a:ext cx="1970088" cy="2009775"/>
            <a:chOff x="3328" y="1152"/>
            <a:chExt cx="1241" cy="1266"/>
          </a:xfrm>
        </p:grpSpPr>
        <p:sp>
          <p:nvSpPr>
            <p:cNvPr id="18498" name="Text Box 101"/>
            <p:cNvSpPr txBox="1">
              <a:spLocks noChangeArrowheads="1"/>
            </p:cNvSpPr>
            <p:nvPr/>
          </p:nvSpPr>
          <p:spPr bwMode="auto">
            <a:xfrm>
              <a:off x="3892" y="1152"/>
              <a:ext cx="23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a”</a:t>
              </a:r>
            </a:p>
          </p:txBody>
        </p:sp>
        <p:sp>
          <p:nvSpPr>
            <p:cNvPr id="18499" name="Text Box 102"/>
            <p:cNvSpPr txBox="1">
              <a:spLocks noChangeArrowheads="1"/>
            </p:cNvSpPr>
            <p:nvPr/>
          </p:nvSpPr>
          <p:spPr bwMode="auto">
            <a:xfrm>
              <a:off x="3328" y="165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g”</a:t>
              </a:r>
            </a:p>
          </p:txBody>
        </p:sp>
        <p:sp>
          <p:nvSpPr>
            <p:cNvPr id="18500" name="Text Box 103"/>
            <p:cNvSpPr txBox="1">
              <a:spLocks noChangeArrowheads="1"/>
            </p:cNvSpPr>
            <p:nvPr/>
          </p:nvSpPr>
          <p:spPr bwMode="auto">
            <a:xfrm>
              <a:off x="4340" y="1695"/>
              <a:ext cx="22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c”</a:t>
              </a:r>
            </a:p>
          </p:txBody>
        </p:sp>
        <p:sp>
          <p:nvSpPr>
            <p:cNvPr id="18501" name="Text Box 104"/>
            <p:cNvSpPr txBox="1">
              <a:spLocks noChangeArrowheads="1"/>
            </p:cNvSpPr>
            <p:nvPr/>
          </p:nvSpPr>
          <p:spPr bwMode="auto">
            <a:xfrm>
              <a:off x="3879" y="2206"/>
              <a:ext cx="23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e”</a:t>
              </a:r>
            </a:p>
          </p:txBody>
        </p:sp>
        <p:sp>
          <p:nvSpPr>
            <p:cNvPr id="18502" name="Text Box 105"/>
            <p:cNvSpPr txBox="1">
              <a:spLocks noChangeArrowheads="1"/>
            </p:cNvSpPr>
            <p:nvPr/>
          </p:nvSpPr>
          <p:spPr bwMode="auto">
            <a:xfrm>
              <a:off x="4224" y="1344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b”</a:t>
              </a:r>
            </a:p>
          </p:txBody>
        </p:sp>
        <p:sp>
          <p:nvSpPr>
            <p:cNvPr id="18503" name="Text Box 106"/>
            <p:cNvSpPr txBox="1">
              <a:spLocks noChangeArrowheads="1"/>
            </p:cNvSpPr>
            <p:nvPr/>
          </p:nvSpPr>
          <p:spPr bwMode="auto">
            <a:xfrm>
              <a:off x="3440" y="2064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f”</a:t>
              </a:r>
            </a:p>
          </p:txBody>
        </p:sp>
        <p:sp>
          <p:nvSpPr>
            <p:cNvPr id="18504" name="Text Box 107"/>
            <p:cNvSpPr txBox="1">
              <a:spLocks noChangeArrowheads="1"/>
            </p:cNvSpPr>
            <p:nvPr/>
          </p:nvSpPr>
          <p:spPr bwMode="auto">
            <a:xfrm>
              <a:off x="4224" y="2016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d”</a:t>
              </a:r>
            </a:p>
          </p:txBody>
        </p:sp>
        <p:sp>
          <p:nvSpPr>
            <p:cNvPr id="18505" name="Text Box 108"/>
            <p:cNvSpPr txBox="1">
              <a:spLocks noChangeArrowheads="1"/>
            </p:cNvSpPr>
            <p:nvPr/>
          </p:nvSpPr>
          <p:spPr bwMode="auto">
            <a:xfrm>
              <a:off x="3456" y="1344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h”</a:t>
              </a:r>
            </a:p>
          </p:txBody>
        </p:sp>
      </p:grpSp>
      <p:grpSp>
        <p:nvGrpSpPr>
          <p:cNvPr id="736365" name="Group 109"/>
          <p:cNvGrpSpPr>
            <a:grpSpLocks/>
          </p:cNvGrpSpPr>
          <p:nvPr/>
        </p:nvGrpSpPr>
        <p:grpSpPr bwMode="auto">
          <a:xfrm>
            <a:off x="4775200" y="1143000"/>
            <a:ext cx="2193925" cy="330200"/>
            <a:chOff x="1440" y="912"/>
            <a:chExt cx="1316" cy="208"/>
          </a:xfrm>
        </p:grpSpPr>
        <p:sp>
          <p:nvSpPr>
            <p:cNvPr id="18494" name="Text Box 110"/>
            <p:cNvSpPr txBox="1">
              <a:spLocks noChangeArrowheads="1"/>
            </p:cNvSpPr>
            <p:nvPr/>
          </p:nvSpPr>
          <p:spPr bwMode="auto">
            <a:xfrm>
              <a:off x="1440" y="928"/>
              <a:ext cx="21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4”</a:t>
              </a:r>
            </a:p>
          </p:txBody>
        </p:sp>
        <p:sp>
          <p:nvSpPr>
            <p:cNvPr id="18495" name="Text Box 111"/>
            <p:cNvSpPr txBox="1">
              <a:spLocks noChangeArrowheads="1"/>
            </p:cNvSpPr>
            <p:nvPr/>
          </p:nvSpPr>
          <p:spPr bwMode="auto">
            <a:xfrm>
              <a:off x="1968" y="912"/>
              <a:ext cx="21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1”</a:t>
              </a:r>
            </a:p>
          </p:txBody>
        </p:sp>
        <p:sp>
          <p:nvSpPr>
            <p:cNvPr id="18496" name="Text Box 112"/>
            <p:cNvSpPr txBox="1">
              <a:spLocks noChangeArrowheads="1"/>
            </p:cNvSpPr>
            <p:nvPr/>
          </p:nvSpPr>
          <p:spPr bwMode="auto">
            <a:xfrm>
              <a:off x="2064" y="912"/>
              <a:ext cx="21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3”</a:t>
              </a:r>
            </a:p>
          </p:txBody>
        </p:sp>
        <p:sp>
          <p:nvSpPr>
            <p:cNvPr id="18497" name="Text Box 113"/>
            <p:cNvSpPr txBox="1">
              <a:spLocks noChangeArrowheads="1"/>
            </p:cNvSpPr>
            <p:nvPr/>
          </p:nvSpPr>
          <p:spPr bwMode="auto">
            <a:xfrm>
              <a:off x="2544" y="912"/>
              <a:ext cx="21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2”</a:t>
              </a:r>
            </a:p>
          </p:txBody>
        </p:sp>
      </p:grpSp>
      <p:grpSp>
        <p:nvGrpSpPr>
          <p:cNvPr id="736370" name="Group 114"/>
          <p:cNvGrpSpPr>
            <a:grpSpLocks/>
          </p:cNvGrpSpPr>
          <p:nvPr/>
        </p:nvGrpSpPr>
        <p:grpSpPr bwMode="auto">
          <a:xfrm>
            <a:off x="1117600" y="1171575"/>
            <a:ext cx="2254250" cy="330200"/>
            <a:chOff x="1440" y="912"/>
            <a:chExt cx="1295" cy="208"/>
          </a:xfrm>
        </p:grpSpPr>
        <p:sp>
          <p:nvSpPr>
            <p:cNvPr id="18490" name="Text Box 115"/>
            <p:cNvSpPr txBox="1">
              <a:spLocks noChangeArrowheads="1"/>
            </p:cNvSpPr>
            <p:nvPr/>
          </p:nvSpPr>
          <p:spPr bwMode="auto">
            <a:xfrm>
              <a:off x="1440" y="928"/>
              <a:ext cx="1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1’</a:t>
              </a:r>
            </a:p>
          </p:txBody>
        </p:sp>
        <p:sp>
          <p:nvSpPr>
            <p:cNvPr id="18491" name="Text Box 116"/>
            <p:cNvSpPr txBox="1">
              <a:spLocks noChangeArrowheads="1"/>
            </p:cNvSpPr>
            <p:nvPr/>
          </p:nvSpPr>
          <p:spPr bwMode="auto">
            <a:xfrm>
              <a:off x="1968" y="912"/>
              <a:ext cx="1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2’</a:t>
              </a:r>
            </a:p>
          </p:txBody>
        </p:sp>
        <p:sp>
          <p:nvSpPr>
            <p:cNvPr id="18492" name="Text Box 117"/>
            <p:cNvSpPr txBox="1">
              <a:spLocks noChangeArrowheads="1"/>
            </p:cNvSpPr>
            <p:nvPr/>
          </p:nvSpPr>
          <p:spPr bwMode="auto">
            <a:xfrm>
              <a:off x="2064" y="912"/>
              <a:ext cx="19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4’</a:t>
              </a:r>
            </a:p>
          </p:txBody>
        </p:sp>
        <p:sp>
          <p:nvSpPr>
            <p:cNvPr id="18493" name="Text Box 118"/>
            <p:cNvSpPr txBox="1">
              <a:spLocks noChangeArrowheads="1"/>
            </p:cNvSpPr>
            <p:nvPr/>
          </p:nvSpPr>
          <p:spPr bwMode="auto">
            <a:xfrm>
              <a:off x="2544" y="912"/>
              <a:ext cx="1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3’</a:t>
              </a:r>
            </a:p>
          </p:txBody>
        </p:sp>
      </p:grpSp>
      <p:grpSp>
        <p:nvGrpSpPr>
          <p:cNvPr id="736375" name="Group 119"/>
          <p:cNvGrpSpPr>
            <a:grpSpLocks/>
          </p:cNvGrpSpPr>
          <p:nvPr/>
        </p:nvGrpSpPr>
        <p:grpSpPr bwMode="auto">
          <a:xfrm>
            <a:off x="2466975" y="1844675"/>
            <a:ext cx="1057275" cy="1993900"/>
            <a:chOff x="1794" y="1152"/>
            <a:chExt cx="666" cy="1256"/>
          </a:xfrm>
        </p:grpSpPr>
        <p:sp>
          <p:nvSpPr>
            <p:cNvPr id="18485" name="Text Box 120"/>
            <p:cNvSpPr txBox="1">
              <a:spLocks noChangeArrowheads="1"/>
            </p:cNvSpPr>
            <p:nvPr/>
          </p:nvSpPr>
          <p:spPr bwMode="auto">
            <a:xfrm>
              <a:off x="2208" y="1152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a’</a:t>
              </a:r>
            </a:p>
          </p:txBody>
        </p:sp>
        <p:sp>
          <p:nvSpPr>
            <p:cNvPr id="18486" name="Text Box 121"/>
            <p:cNvSpPr txBox="1">
              <a:spLocks noChangeArrowheads="1"/>
            </p:cNvSpPr>
            <p:nvPr/>
          </p:nvSpPr>
          <p:spPr bwMode="auto">
            <a:xfrm>
              <a:off x="1890" y="1408"/>
              <a:ext cx="33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b ’h’</a:t>
              </a:r>
            </a:p>
          </p:txBody>
        </p:sp>
        <p:sp>
          <p:nvSpPr>
            <p:cNvPr id="18487" name="Text Box 122"/>
            <p:cNvSpPr txBox="1">
              <a:spLocks noChangeArrowheads="1"/>
            </p:cNvSpPr>
            <p:nvPr/>
          </p:nvSpPr>
          <p:spPr bwMode="auto">
            <a:xfrm>
              <a:off x="1794" y="1696"/>
              <a:ext cx="29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c’g’</a:t>
              </a:r>
            </a:p>
          </p:txBody>
        </p:sp>
        <p:sp>
          <p:nvSpPr>
            <p:cNvPr id="18488" name="Text Box 123"/>
            <p:cNvSpPr txBox="1">
              <a:spLocks noChangeArrowheads="1"/>
            </p:cNvSpPr>
            <p:nvPr/>
          </p:nvSpPr>
          <p:spPr bwMode="auto">
            <a:xfrm>
              <a:off x="1926" y="2044"/>
              <a:ext cx="28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d’f’</a:t>
              </a:r>
            </a:p>
          </p:txBody>
        </p:sp>
        <p:sp>
          <p:nvSpPr>
            <p:cNvPr id="18489" name="Text Box 124"/>
            <p:cNvSpPr txBox="1">
              <a:spLocks noChangeArrowheads="1"/>
            </p:cNvSpPr>
            <p:nvPr/>
          </p:nvSpPr>
          <p:spPr bwMode="auto">
            <a:xfrm>
              <a:off x="2244" y="2196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a’</a:t>
              </a:r>
            </a:p>
          </p:txBody>
        </p:sp>
      </p:grpSp>
      <p:grpSp>
        <p:nvGrpSpPr>
          <p:cNvPr id="736381" name="Group 125"/>
          <p:cNvGrpSpPr>
            <a:grpSpLocks/>
          </p:cNvGrpSpPr>
          <p:nvPr/>
        </p:nvGrpSpPr>
        <p:grpSpPr bwMode="auto">
          <a:xfrm>
            <a:off x="1266825" y="2073275"/>
            <a:ext cx="1943100" cy="3657600"/>
            <a:chOff x="1038" y="1296"/>
            <a:chExt cx="1224" cy="2304"/>
          </a:xfrm>
        </p:grpSpPr>
        <p:grpSp>
          <p:nvGrpSpPr>
            <p:cNvPr id="18472" name="Group 126"/>
            <p:cNvGrpSpPr>
              <a:grpSpLocks/>
            </p:cNvGrpSpPr>
            <p:nvPr/>
          </p:nvGrpSpPr>
          <p:grpSpPr bwMode="auto">
            <a:xfrm>
              <a:off x="1152" y="1296"/>
              <a:ext cx="1024" cy="1968"/>
              <a:chOff x="1152" y="1296"/>
              <a:chExt cx="1024" cy="1968"/>
            </a:xfrm>
          </p:grpSpPr>
          <p:sp>
            <p:nvSpPr>
              <p:cNvPr id="18477" name="Line 127"/>
              <p:cNvSpPr>
                <a:spLocks noChangeShapeType="1"/>
              </p:cNvSpPr>
              <p:nvPr/>
            </p:nvSpPr>
            <p:spPr bwMode="auto">
              <a:xfrm flipV="1">
                <a:off x="2172" y="1296"/>
                <a:ext cx="0" cy="196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478" name="Line 128"/>
              <p:cNvSpPr>
                <a:spLocks noChangeShapeType="1"/>
              </p:cNvSpPr>
              <p:nvPr/>
            </p:nvSpPr>
            <p:spPr bwMode="auto">
              <a:xfrm flipV="1">
                <a:off x="1152" y="1296"/>
                <a:ext cx="0" cy="196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479" name="Line 129"/>
              <p:cNvSpPr>
                <a:spLocks noChangeShapeType="1"/>
              </p:cNvSpPr>
              <p:nvPr/>
            </p:nvSpPr>
            <p:spPr bwMode="auto">
              <a:xfrm flipV="1">
                <a:off x="1248" y="1296"/>
                <a:ext cx="0" cy="1872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480" name="Line 130"/>
              <p:cNvSpPr>
                <a:spLocks noChangeShapeType="1"/>
              </p:cNvSpPr>
              <p:nvPr/>
            </p:nvSpPr>
            <p:spPr bwMode="auto">
              <a:xfrm flipV="1">
                <a:off x="2071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481" name="Line 131"/>
              <p:cNvSpPr>
                <a:spLocks noChangeShapeType="1"/>
              </p:cNvSpPr>
              <p:nvPr/>
            </p:nvSpPr>
            <p:spPr bwMode="auto">
              <a:xfrm flipV="1">
                <a:off x="2176" y="273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482" name="Line 132"/>
              <p:cNvSpPr>
                <a:spLocks noChangeShapeType="1"/>
              </p:cNvSpPr>
              <p:nvPr/>
            </p:nvSpPr>
            <p:spPr bwMode="auto">
              <a:xfrm flipV="1">
                <a:off x="2072" y="27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483" name="Line 133"/>
              <p:cNvSpPr>
                <a:spLocks noChangeShapeType="1"/>
              </p:cNvSpPr>
              <p:nvPr/>
            </p:nvSpPr>
            <p:spPr bwMode="auto">
              <a:xfrm flipV="1">
                <a:off x="1248" y="27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484" name="Line 134"/>
              <p:cNvSpPr>
                <a:spLocks noChangeShapeType="1"/>
              </p:cNvSpPr>
              <p:nvPr/>
            </p:nvSpPr>
            <p:spPr bwMode="auto">
              <a:xfrm flipV="1">
                <a:off x="1152" y="27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8473" name="Line 135"/>
            <p:cNvSpPr>
              <a:spLocks noChangeShapeType="1"/>
            </p:cNvSpPr>
            <p:nvPr/>
          </p:nvSpPr>
          <p:spPr bwMode="auto">
            <a:xfrm flipV="1">
              <a:off x="2262" y="2640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74" name="Line 136"/>
            <p:cNvSpPr>
              <a:spLocks noChangeShapeType="1"/>
            </p:cNvSpPr>
            <p:nvPr/>
          </p:nvSpPr>
          <p:spPr bwMode="auto">
            <a:xfrm flipV="1">
              <a:off x="1038" y="2640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75" name="Line 137"/>
            <p:cNvSpPr>
              <a:spLocks noChangeShapeType="1"/>
            </p:cNvSpPr>
            <p:nvPr/>
          </p:nvSpPr>
          <p:spPr bwMode="auto">
            <a:xfrm flipV="1">
              <a:off x="1038" y="274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76" name="Line 138"/>
            <p:cNvSpPr>
              <a:spLocks noChangeShapeType="1"/>
            </p:cNvSpPr>
            <p:nvPr/>
          </p:nvSpPr>
          <p:spPr bwMode="auto">
            <a:xfrm flipV="1">
              <a:off x="2256" y="27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36395" name="Text Box 139"/>
          <p:cNvSpPr txBox="1">
            <a:spLocks noChangeArrowheads="1"/>
          </p:cNvSpPr>
          <p:nvPr/>
        </p:nvSpPr>
        <p:spPr bwMode="auto">
          <a:xfrm>
            <a:off x="6232525" y="0"/>
            <a:ext cx="270510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CASE 1.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CYLINDER STANDING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&amp;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 CYLINDER PENETRATING</a:t>
            </a:r>
          </a:p>
        </p:txBody>
      </p:sp>
      <p:graphicFrame>
        <p:nvGraphicFramePr>
          <p:cNvPr id="736396" name="Object 140"/>
          <p:cNvGraphicFramePr>
            <a:graphicFrameLocks noChangeAspect="1"/>
          </p:cNvGraphicFramePr>
          <p:nvPr/>
        </p:nvGraphicFramePr>
        <p:xfrm>
          <a:off x="6934200" y="982663"/>
          <a:ext cx="1905000" cy="176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1" name="Bitmap Image" r:id="rId4" imgW="3258005" imgH="3010320" progId="Paint.Picture">
                  <p:embed/>
                </p:oleObj>
              </mc:Choice>
              <mc:Fallback>
                <p:oleObj name="Bitmap Image" r:id="rId4" imgW="3258005" imgH="3010320" progId="Paint.Picture">
                  <p:embed/>
                  <p:pic>
                    <p:nvPicPr>
                      <p:cNvPr id="0" name="Object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982663"/>
                        <a:ext cx="1905000" cy="176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6397" name="Text Box 141"/>
          <p:cNvSpPr txBox="1">
            <a:spLocks noChangeArrowheads="1"/>
          </p:cNvSpPr>
          <p:nvPr/>
        </p:nvSpPr>
        <p:spPr bwMode="auto">
          <a:xfrm>
            <a:off x="136525" y="61913"/>
            <a:ext cx="627380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66"/>
                </a:solidFill>
              </a:rPr>
              <a:t>Problem:</a:t>
            </a:r>
            <a:r>
              <a:rPr lang="en-US" altLang="en-US" sz="1600">
                <a:solidFill>
                  <a:srgbClr val="000000"/>
                </a:solidFill>
              </a:rPr>
              <a:t> </a:t>
            </a:r>
            <a:r>
              <a:rPr lang="en-US" altLang="en-US" sz="1600">
                <a:solidFill>
                  <a:srgbClr val="3333CC"/>
                </a:solidFill>
              </a:rPr>
              <a:t>A cylinder 50mm dia.and 70mm axis is completely penetrated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3333CC"/>
                </a:solidFill>
              </a:rPr>
              <a:t>by another of 40 mm dia.and 70 mm axis horizontally. Both axes intersect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3333CC"/>
                </a:solidFill>
              </a:rPr>
              <a:t> &amp; bisect each other. Draw projections showing curves of intersections.</a:t>
            </a:r>
          </a:p>
        </p:txBody>
      </p:sp>
      <p:grpSp>
        <p:nvGrpSpPr>
          <p:cNvPr id="18465" name="Group 149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18466" name="AutoShape 150">
              <a:hlinkClick r:id="rId6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7" name="AutoShape 151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8" name="AutoShape 152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9" name="AutoShape 153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70" name="AutoShape 154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71" name="AutoShape 155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6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6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6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6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6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6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6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6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6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6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6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6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36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36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36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36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36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36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36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36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36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36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36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36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36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36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36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36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36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36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9" dur="500"/>
                                        <p:tgtEl>
                                          <p:spTgt spid="73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36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36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36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36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36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36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36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36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36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36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36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36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36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36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36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736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736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36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36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736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36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36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36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736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736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736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36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736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736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736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36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736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736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736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736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736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736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36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736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36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36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736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736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736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8" dur="500"/>
                                        <p:tgtEl>
                                          <p:spTgt spid="73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3" dur="500"/>
                                        <p:tgtEl>
                                          <p:spTgt spid="73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6258" grpId="0" animBg="1"/>
      <p:bldP spid="736259" grpId="0" animBg="1"/>
      <p:bldP spid="736266" grpId="0" autoUpdateAnimBg="0"/>
      <p:bldP spid="736267" grpId="0" autoUpdateAnimBg="0"/>
      <p:bldP spid="736268" grpId="0" animBg="1"/>
      <p:bldP spid="736395" grpId="0" autoUpdateAnimBg="0"/>
      <p:bldP spid="73639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8306" name="Group 2"/>
          <p:cNvGrpSpPr>
            <a:grpSpLocks/>
          </p:cNvGrpSpPr>
          <p:nvPr/>
        </p:nvGrpSpPr>
        <p:grpSpPr bwMode="auto">
          <a:xfrm>
            <a:off x="1252538" y="1443038"/>
            <a:ext cx="1971675" cy="2698750"/>
            <a:chOff x="1029" y="947"/>
            <a:chExt cx="1242" cy="1700"/>
          </a:xfrm>
        </p:grpSpPr>
        <p:sp>
          <p:nvSpPr>
            <p:cNvPr id="20605" name="Rectangle 3"/>
            <p:cNvSpPr>
              <a:spLocks noChangeArrowheads="1"/>
            </p:cNvSpPr>
            <p:nvPr/>
          </p:nvSpPr>
          <p:spPr bwMode="auto">
            <a:xfrm>
              <a:off x="1038" y="947"/>
              <a:ext cx="1229" cy="17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606" name="Line 4"/>
            <p:cNvSpPr>
              <a:spLocks noChangeShapeType="1"/>
            </p:cNvSpPr>
            <p:nvPr/>
          </p:nvSpPr>
          <p:spPr bwMode="auto">
            <a:xfrm>
              <a:off x="1060" y="951"/>
              <a:ext cx="11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607" name="Line 5"/>
            <p:cNvSpPr>
              <a:spLocks noChangeShapeType="1"/>
            </p:cNvSpPr>
            <p:nvPr/>
          </p:nvSpPr>
          <p:spPr bwMode="auto">
            <a:xfrm>
              <a:off x="1029" y="2643"/>
              <a:ext cx="12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38310" name="Oval 6"/>
          <p:cNvSpPr>
            <a:spLocks noChangeArrowheads="1"/>
          </p:cNvSpPr>
          <p:nvPr/>
        </p:nvSpPr>
        <p:spPr bwMode="auto">
          <a:xfrm>
            <a:off x="1266825" y="4594225"/>
            <a:ext cx="1951038" cy="19478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38311" name="Line 7"/>
          <p:cNvSpPr>
            <a:spLocks noChangeShapeType="1"/>
          </p:cNvSpPr>
          <p:nvPr/>
        </p:nvSpPr>
        <p:spPr bwMode="auto">
          <a:xfrm>
            <a:off x="217488" y="4141788"/>
            <a:ext cx="6899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12" name="Line 8"/>
          <p:cNvSpPr>
            <a:spLocks noChangeShapeType="1"/>
          </p:cNvSpPr>
          <p:nvPr/>
        </p:nvSpPr>
        <p:spPr bwMode="auto">
          <a:xfrm>
            <a:off x="1266825" y="5592763"/>
            <a:ext cx="1951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13" name="Line 9"/>
          <p:cNvSpPr>
            <a:spLocks noChangeShapeType="1"/>
          </p:cNvSpPr>
          <p:nvPr/>
        </p:nvSpPr>
        <p:spPr bwMode="auto">
          <a:xfrm>
            <a:off x="2266950" y="4594225"/>
            <a:ext cx="0" cy="1947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14" name="Line 10"/>
          <p:cNvSpPr>
            <a:spLocks noChangeShapeType="1"/>
          </p:cNvSpPr>
          <p:nvPr/>
        </p:nvSpPr>
        <p:spPr bwMode="auto">
          <a:xfrm flipV="1">
            <a:off x="2254250" y="1217613"/>
            <a:ext cx="0" cy="3149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15" name="Rectangle 11"/>
          <p:cNvSpPr>
            <a:spLocks noChangeArrowheads="1"/>
          </p:cNvSpPr>
          <p:nvPr/>
        </p:nvSpPr>
        <p:spPr bwMode="auto">
          <a:xfrm>
            <a:off x="4865688" y="1443038"/>
            <a:ext cx="1951037" cy="26987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38316" name="Rectangle 12"/>
          <p:cNvSpPr>
            <a:spLocks noChangeArrowheads="1"/>
          </p:cNvSpPr>
          <p:nvPr/>
        </p:nvSpPr>
        <p:spPr bwMode="auto">
          <a:xfrm rot="2677114">
            <a:off x="5241925" y="2192338"/>
            <a:ext cx="1198563" cy="12001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38317" name="Line 13"/>
          <p:cNvSpPr>
            <a:spLocks noChangeShapeType="1"/>
          </p:cNvSpPr>
          <p:nvPr/>
        </p:nvSpPr>
        <p:spPr bwMode="auto">
          <a:xfrm flipH="1">
            <a:off x="685800" y="1920875"/>
            <a:ext cx="525145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18" name="Line 14"/>
          <p:cNvSpPr>
            <a:spLocks noChangeShapeType="1"/>
          </p:cNvSpPr>
          <p:nvPr/>
        </p:nvSpPr>
        <p:spPr bwMode="auto">
          <a:xfrm flipH="1">
            <a:off x="617538" y="3630613"/>
            <a:ext cx="5248275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19" name="Line 15"/>
          <p:cNvSpPr>
            <a:spLocks noChangeShapeType="1"/>
          </p:cNvSpPr>
          <p:nvPr/>
        </p:nvSpPr>
        <p:spPr bwMode="auto">
          <a:xfrm flipH="1">
            <a:off x="666750" y="2792413"/>
            <a:ext cx="434975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20" name="Line 16"/>
          <p:cNvSpPr>
            <a:spLocks noChangeShapeType="1"/>
          </p:cNvSpPr>
          <p:nvPr/>
        </p:nvSpPr>
        <p:spPr bwMode="auto">
          <a:xfrm>
            <a:off x="666750" y="1893888"/>
            <a:ext cx="0" cy="1724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21" name="Line 17"/>
          <p:cNvSpPr>
            <a:spLocks noChangeShapeType="1"/>
          </p:cNvSpPr>
          <p:nvPr/>
        </p:nvSpPr>
        <p:spPr bwMode="auto">
          <a:xfrm>
            <a:off x="3816350" y="1893888"/>
            <a:ext cx="0" cy="1724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22" name="Line 18"/>
          <p:cNvSpPr>
            <a:spLocks noChangeShapeType="1"/>
          </p:cNvSpPr>
          <p:nvPr/>
        </p:nvSpPr>
        <p:spPr bwMode="auto">
          <a:xfrm flipH="1">
            <a:off x="2133600" y="4602163"/>
            <a:ext cx="2732088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23" name="Line 19"/>
          <p:cNvSpPr>
            <a:spLocks noChangeShapeType="1"/>
          </p:cNvSpPr>
          <p:nvPr/>
        </p:nvSpPr>
        <p:spPr bwMode="auto">
          <a:xfrm flipH="1">
            <a:off x="2286000" y="6556375"/>
            <a:ext cx="45307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24" name="Line 20"/>
          <p:cNvSpPr>
            <a:spLocks noChangeShapeType="1"/>
          </p:cNvSpPr>
          <p:nvPr/>
        </p:nvSpPr>
        <p:spPr bwMode="auto">
          <a:xfrm>
            <a:off x="4840288" y="3992563"/>
            <a:ext cx="0" cy="7508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25" name="Line 21"/>
          <p:cNvSpPr>
            <a:spLocks noChangeShapeType="1"/>
          </p:cNvSpPr>
          <p:nvPr/>
        </p:nvSpPr>
        <p:spPr bwMode="auto">
          <a:xfrm>
            <a:off x="5853113" y="4291013"/>
            <a:ext cx="0" cy="135255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26" name="Line 22"/>
          <p:cNvSpPr>
            <a:spLocks noChangeShapeType="1"/>
          </p:cNvSpPr>
          <p:nvPr/>
        </p:nvSpPr>
        <p:spPr bwMode="auto">
          <a:xfrm>
            <a:off x="6829425" y="3841750"/>
            <a:ext cx="0" cy="270033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27" name="Line 23"/>
          <p:cNvSpPr>
            <a:spLocks noChangeShapeType="1"/>
          </p:cNvSpPr>
          <p:nvPr/>
        </p:nvSpPr>
        <p:spPr bwMode="auto">
          <a:xfrm>
            <a:off x="4343400" y="4130675"/>
            <a:ext cx="251460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38328" name="Group 24"/>
          <p:cNvGrpSpPr>
            <a:grpSpLocks/>
          </p:cNvGrpSpPr>
          <p:nvPr/>
        </p:nvGrpSpPr>
        <p:grpSpPr bwMode="auto">
          <a:xfrm>
            <a:off x="611188" y="4794250"/>
            <a:ext cx="5307012" cy="1622425"/>
            <a:chOff x="625" y="3058"/>
            <a:chExt cx="3343" cy="1022"/>
          </a:xfrm>
        </p:grpSpPr>
        <p:sp>
          <p:nvSpPr>
            <p:cNvPr id="20591" name="Line 25"/>
            <p:cNvSpPr>
              <a:spLocks noChangeShapeType="1"/>
            </p:cNvSpPr>
            <p:nvPr/>
          </p:nvSpPr>
          <p:spPr bwMode="auto">
            <a:xfrm flipH="1">
              <a:off x="625" y="3552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0592" name="Group 26"/>
            <p:cNvGrpSpPr>
              <a:grpSpLocks/>
            </p:cNvGrpSpPr>
            <p:nvPr/>
          </p:nvGrpSpPr>
          <p:grpSpPr bwMode="auto">
            <a:xfrm>
              <a:off x="649" y="3058"/>
              <a:ext cx="3319" cy="1022"/>
              <a:chOff x="649" y="3058"/>
              <a:chExt cx="3319" cy="1022"/>
            </a:xfrm>
          </p:grpSpPr>
          <p:sp>
            <p:nvSpPr>
              <p:cNvPr id="20593" name="Line 27"/>
              <p:cNvSpPr>
                <a:spLocks noChangeShapeType="1"/>
              </p:cNvSpPr>
              <p:nvPr/>
            </p:nvSpPr>
            <p:spPr bwMode="auto">
              <a:xfrm>
                <a:off x="1308" y="3064"/>
                <a:ext cx="68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0594" name="Group 28"/>
              <p:cNvGrpSpPr>
                <a:grpSpLocks/>
              </p:cNvGrpSpPr>
              <p:nvPr/>
            </p:nvGrpSpPr>
            <p:grpSpPr bwMode="auto">
              <a:xfrm>
                <a:off x="649" y="3058"/>
                <a:ext cx="3319" cy="1022"/>
                <a:chOff x="649" y="3058"/>
                <a:chExt cx="3319" cy="1022"/>
              </a:xfrm>
            </p:grpSpPr>
            <p:sp>
              <p:nvSpPr>
                <p:cNvPr id="20595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660" y="3561"/>
                  <a:ext cx="330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596" name="Line 30"/>
                <p:cNvSpPr>
                  <a:spLocks noChangeShapeType="1"/>
                </p:cNvSpPr>
                <p:nvPr/>
              </p:nvSpPr>
              <p:spPr bwMode="auto">
                <a:xfrm>
                  <a:off x="660" y="3058"/>
                  <a:ext cx="0" cy="9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597" name="Line 31"/>
                <p:cNvSpPr>
                  <a:spLocks noChangeShapeType="1"/>
                </p:cNvSpPr>
                <p:nvPr/>
              </p:nvSpPr>
              <p:spPr bwMode="auto">
                <a:xfrm>
                  <a:off x="2644" y="3064"/>
                  <a:ext cx="0" cy="10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598" name="Line 32"/>
                <p:cNvSpPr>
                  <a:spLocks noChangeShapeType="1"/>
                </p:cNvSpPr>
                <p:nvPr/>
              </p:nvSpPr>
              <p:spPr bwMode="auto">
                <a:xfrm>
                  <a:off x="649" y="4038"/>
                  <a:ext cx="68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599" name="Line 33"/>
                <p:cNvSpPr>
                  <a:spLocks noChangeShapeType="1"/>
                </p:cNvSpPr>
                <p:nvPr/>
              </p:nvSpPr>
              <p:spPr bwMode="auto">
                <a:xfrm>
                  <a:off x="672" y="3064"/>
                  <a:ext cx="62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600" name="Line 34"/>
                <p:cNvSpPr>
                  <a:spLocks noChangeShapeType="1"/>
                </p:cNvSpPr>
                <p:nvPr/>
              </p:nvSpPr>
              <p:spPr bwMode="auto">
                <a:xfrm>
                  <a:off x="1991" y="3064"/>
                  <a:ext cx="68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601" name="Line 35"/>
                <p:cNvSpPr>
                  <a:spLocks noChangeShapeType="1"/>
                </p:cNvSpPr>
                <p:nvPr/>
              </p:nvSpPr>
              <p:spPr bwMode="auto">
                <a:xfrm>
                  <a:off x="1952" y="4038"/>
                  <a:ext cx="68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602" name="Line 36"/>
                <p:cNvSpPr>
                  <a:spLocks noChangeShapeType="1"/>
                </p:cNvSpPr>
                <p:nvPr/>
              </p:nvSpPr>
              <p:spPr bwMode="auto">
                <a:xfrm>
                  <a:off x="2240" y="3559"/>
                  <a:ext cx="37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603" name="Line 37"/>
                <p:cNvSpPr>
                  <a:spLocks noChangeShapeType="1"/>
                </p:cNvSpPr>
                <p:nvPr/>
              </p:nvSpPr>
              <p:spPr bwMode="auto">
                <a:xfrm>
                  <a:off x="1060" y="3559"/>
                  <a:ext cx="124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604" name="Line 38"/>
                <p:cNvSpPr>
                  <a:spLocks noChangeShapeType="1"/>
                </p:cNvSpPr>
                <p:nvPr/>
              </p:nvSpPr>
              <p:spPr bwMode="auto">
                <a:xfrm>
                  <a:off x="1284" y="4038"/>
                  <a:ext cx="74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738343" name="Line 39"/>
          <p:cNvSpPr>
            <a:spLocks noChangeShapeType="1"/>
          </p:cNvSpPr>
          <p:nvPr/>
        </p:nvSpPr>
        <p:spPr bwMode="auto">
          <a:xfrm flipV="1">
            <a:off x="5853113" y="1217613"/>
            <a:ext cx="0" cy="3149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8344" name="Arc 40"/>
          <p:cNvSpPr>
            <a:spLocks/>
          </p:cNvSpPr>
          <p:nvPr/>
        </p:nvSpPr>
        <p:spPr bwMode="auto">
          <a:xfrm rot="1179925">
            <a:off x="2063750" y="2757488"/>
            <a:ext cx="1176338" cy="1550987"/>
          </a:xfrm>
          <a:custGeom>
            <a:avLst/>
            <a:gdLst>
              <a:gd name="T0" fmla="*/ 2147483646 w 18403"/>
              <a:gd name="T1" fmla="*/ 0 h 19975"/>
              <a:gd name="T2" fmla="*/ 2147483646 w 18403"/>
              <a:gd name="T3" fmla="*/ 2147483646 h 19975"/>
              <a:gd name="T4" fmla="*/ 0 w 18403"/>
              <a:gd name="T5" fmla="*/ 2147483646 h 1997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403" h="19975" fill="none" extrusionOk="0">
                <a:moveTo>
                  <a:pt x="8219" y="0"/>
                </a:moveTo>
                <a:cubicBezTo>
                  <a:pt x="12445" y="1738"/>
                  <a:pt x="16010" y="4772"/>
                  <a:pt x="18402" y="8665"/>
                </a:cubicBezTo>
              </a:path>
              <a:path w="18403" h="19975" stroke="0" extrusionOk="0">
                <a:moveTo>
                  <a:pt x="8219" y="0"/>
                </a:moveTo>
                <a:cubicBezTo>
                  <a:pt x="12445" y="1738"/>
                  <a:pt x="16010" y="4772"/>
                  <a:pt x="18402" y="8665"/>
                </a:cubicBezTo>
                <a:lnTo>
                  <a:pt x="0" y="19975"/>
                </a:lnTo>
                <a:lnTo>
                  <a:pt x="8219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8345" name="Arc 41"/>
          <p:cNvSpPr>
            <a:spLocks/>
          </p:cNvSpPr>
          <p:nvPr/>
        </p:nvSpPr>
        <p:spPr bwMode="auto">
          <a:xfrm rot="20420075" flipH="1">
            <a:off x="1252538" y="2743200"/>
            <a:ext cx="1176337" cy="1550988"/>
          </a:xfrm>
          <a:custGeom>
            <a:avLst/>
            <a:gdLst>
              <a:gd name="T0" fmla="*/ 2147483646 w 18403"/>
              <a:gd name="T1" fmla="*/ 0 h 19975"/>
              <a:gd name="T2" fmla="*/ 2147483646 w 18403"/>
              <a:gd name="T3" fmla="*/ 2147483646 h 19975"/>
              <a:gd name="T4" fmla="*/ 0 w 18403"/>
              <a:gd name="T5" fmla="*/ 2147483646 h 1997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403" h="19975" fill="none" extrusionOk="0">
                <a:moveTo>
                  <a:pt x="8219" y="0"/>
                </a:moveTo>
                <a:cubicBezTo>
                  <a:pt x="12445" y="1738"/>
                  <a:pt x="16010" y="4772"/>
                  <a:pt x="18402" y="8665"/>
                </a:cubicBezTo>
              </a:path>
              <a:path w="18403" h="19975" stroke="0" extrusionOk="0">
                <a:moveTo>
                  <a:pt x="8219" y="0"/>
                </a:moveTo>
                <a:cubicBezTo>
                  <a:pt x="12445" y="1738"/>
                  <a:pt x="16010" y="4772"/>
                  <a:pt x="18402" y="8665"/>
                </a:cubicBezTo>
                <a:lnTo>
                  <a:pt x="0" y="19975"/>
                </a:lnTo>
                <a:lnTo>
                  <a:pt x="8219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8346" name="Arc 42"/>
          <p:cNvSpPr>
            <a:spLocks/>
          </p:cNvSpPr>
          <p:nvPr/>
        </p:nvSpPr>
        <p:spPr bwMode="auto">
          <a:xfrm rot="20420075" flipV="1">
            <a:off x="2041525" y="1252538"/>
            <a:ext cx="1176338" cy="1550987"/>
          </a:xfrm>
          <a:custGeom>
            <a:avLst/>
            <a:gdLst>
              <a:gd name="T0" fmla="*/ 2147483646 w 18403"/>
              <a:gd name="T1" fmla="*/ 0 h 19975"/>
              <a:gd name="T2" fmla="*/ 2147483646 w 18403"/>
              <a:gd name="T3" fmla="*/ 2147483646 h 19975"/>
              <a:gd name="T4" fmla="*/ 0 w 18403"/>
              <a:gd name="T5" fmla="*/ 2147483646 h 1997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403" h="19975" fill="none" extrusionOk="0">
                <a:moveTo>
                  <a:pt x="8219" y="0"/>
                </a:moveTo>
                <a:cubicBezTo>
                  <a:pt x="12445" y="1738"/>
                  <a:pt x="16010" y="4772"/>
                  <a:pt x="18402" y="8665"/>
                </a:cubicBezTo>
              </a:path>
              <a:path w="18403" h="19975" stroke="0" extrusionOk="0">
                <a:moveTo>
                  <a:pt x="8219" y="0"/>
                </a:moveTo>
                <a:cubicBezTo>
                  <a:pt x="12445" y="1738"/>
                  <a:pt x="16010" y="4772"/>
                  <a:pt x="18402" y="8665"/>
                </a:cubicBezTo>
                <a:lnTo>
                  <a:pt x="0" y="19975"/>
                </a:lnTo>
                <a:lnTo>
                  <a:pt x="8219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8347" name="Arc 43"/>
          <p:cNvSpPr>
            <a:spLocks/>
          </p:cNvSpPr>
          <p:nvPr/>
        </p:nvSpPr>
        <p:spPr bwMode="auto">
          <a:xfrm rot="1179925" flipH="1" flipV="1">
            <a:off x="1252538" y="1265238"/>
            <a:ext cx="1176337" cy="1549400"/>
          </a:xfrm>
          <a:custGeom>
            <a:avLst/>
            <a:gdLst>
              <a:gd name="T0" fmla="*/ 2147483646 w 18403"/>
              <a:gd name="T1" fmla="*/ 0 h 19975"/>
              <a:gd name="T2" fmla="*/ 2147483646 w 18403"/>
              <a:gd name="T3" fmla="*/ 2147483646 h 19975"/>
              <a:gd name="T4" fmla="*/ 0 w 18403"/>
              <a:gd name="T5" fmla="*/ 2147483646 h 1997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403" h="19975" fill="none" extrusionOk="0">
                <a:moveTo>
                  <a:pt x="8219" y="0"/>
                </a:moveTo>
                <a:cubicBezTo>
                  <a:pt x="12445" y="1738"/>
                  <a:pt x="16010" y="4772"/>
                  <a:pt x="18402" y="8665"/>
                </a:cubicBezTo>
              </a:path>
              <a:path w="18403" h="19975" stroke="0" extrusionOk="0">
                <a:moveTo>
                  <a:pt x="8219" y="0"/>
                </a:moveTo>
                <a:cubicBezTo>
                  <a:pt x="12445" y="1738"/>
                  <a:pt x="16010" y="4772"/>
                  <a:pt x="18402" y="8665"/>
                </a:cubicBezTo>
                <a:lnTo>
                  <a:pt x="0" y="19975"/>
                </a:lnTo>
                <a:lnTo>
                  <a:pt x="8219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738348" name="Group 44"/>
          <p:cNvGrpSpPr>
            <a:grpSpLocks/>
          </p:cNvGrpSpPr>
          <p:nvPr/>
        </p:nvGrpSpPr>
        <p:grpSpPr bwMode="auto">
          <a:xfrm>
            <a:off x="649288" y="1943100"/>
            <a:ext cx="3214687" cy="1674813"/>
            <a:chOff x="649" y="1262"/>
            <a:chExt cx="2025" cy="1055"/>
          </a:xfrm>
        </p:grpSpPr>
        <p:sp>
          <p:nvSpPr>
            <p:cNvPr id="20583" name="Line 45"/>
            <p:cNvSpPr>
              <a:spLocks noChangeShapeType="1"/>
            </p:cNvSpPr>
            <p:nvPr/>
          </p:nvSpPr>
          <p:spPr bwMode="auto">
            <a:xfrm>
              <a:off x="649" y="1262"/>
              <a:ext cx="3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84" name="Line 46"/>
            <p:cNvSpPr>
              <a:spLocks noChangeShapeType="1"/>
            </p:cNvSpPr>
            <p:nvPr/>
          </p:nvSpPr>
          <p:spPr bwMode="auto">
            <a:xfrm>
              <a:off x="2302" y="1262"/>
              <a:ext cx="3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85" name="Line 47"/>
            <p:cNvSpPr>
              <a:spLocks noChangeShapeType="1"/>
            </p:cNvSpPr>
            <p:nvPr/>
          </p:nvSpPr>
          <p:spPr bwMode="auto">
            <a:xfrm>
              <a:off x="1060" y="1262"/>
              <a:ext cx="11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86" name="Line 48"/>
            <p:cNvSpPr>
              <a:spLocks noChangeShapeType="1"/>
            </p:cNvSpPr>
            <p:nvPr/>
          </p:nvSpPr>
          <p:spPr bwMode="auto">
            <a:xfrm>
              <a:off x="2053" y="1805"/>
              <a:ext cx="62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87" name="Line 49"/>
            <p:cNvSpPr>
              <a:spLocks noChangeShapeType="1"/>
            </p:cNvSpPr>
            <p:nvPr/>
          </p:nvSpPr>
          <p:spPr bwMode="auto">
            <a:xfrm>
              <a:off x="649" y="1789"/>
              <a:ext cx="62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88" name="Line 50"/>
            <p:cNvSpPr>
              <a:spLocks noChangeShapeType="1"/>
            </p:cNvSpPr>
            <p:nvPr/>
          </p:nvSpPr>
          <p:spPr bwMode="auto">
            <a:xfrm>
              <a:off x="688" y="2317"/>
              <a:ext cx="3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89" name="Line 51"/>
            <p:cNvSpPr>
              <a:spLocks noChangeShapeType="1"/>
            </p:cNvSpPr>
            <p:nvPr/>
          </p:nvSpPr>
          <p:spPr bwMode="auto">
            <a:xfrm>
              <a:off x="1060" y="2317"/>
              <a:ext cx="11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90" name="Line 52"/>
            <p:cNvSpPr>
              <a:spLocks noChangeShapeType="1"/>
            </p:cNvSpPr>
            <p:nvPr/>
          </p:nvSpPr>
          <p:spPr bwMode="auto">
            <a:xfrm>
              <a:off x="2240" y="2317"/>
              <a:ext cx="3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8357" name="Group 53"/>
          <p:cNvGrpSpPr>
            <a:grpSpLocks/>
          </p:cNvGrpSpPr>
          <p:nvPr/>
        </p:nvGrpSpPr>
        <p:grpSpPr bwMode="auto">
          <a:xfrm>
            <a:off x="1216025" y="1868488"/>
            <a:ext cx="393700" cy="1811337"/>
            <a:chOff x="1006" y="1215"/>
            <a:chExt cx="248" cy="1141"/>
          </a:xfrm>
        </p:grpSpPr>
        <p:sp>
          <p:nvSpPr>
            <p:cNvPr id="20580" name="Oval 54"/>
            <p:cNvSpPr>
              <a:spLocks noChangeArrowheads="1"/>
            </p:cNvSpPr>
            <p:nvPr/>
          </p:nvSpPr>
          <p:spPr bwMode="auto">
            <a:xfrm>
              <a:off x="1192" y="1758"/>
              <a:ext cx="62" cy="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81" name="Oval 55"/>
            <p:cNvSpPr>
              <a:spLocks noChangeArrowheads="1"/>
            </p:cNvSpPr>
            <p:nvPr/>
          </p:nvSpPr>
          <p:spPr bwMode="auto">
            <a:xfrm>
              <a:off x="1006" y="1215"/>
              <a:ext cx="62" cy="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82" name="Oval 56"/>
            <p:cNvSpPr>
              <a:spLocks noChangeArrowheads="1"/>
            </p:cNvSpPr>
            <p:nvPr/>
          </p:nvSpPr>
          <p:spPr bwMode="auto">
            <a:xfrm>
              <a:off x="1006" y="2294"/>
              <a:ext cx="62" cy="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38361" name="Group 57"/>
          <p:cNvGrpSpPr>
            <a:grpSpLocks/>
          </p:cNvGrpSpPr>
          <p:nvPr/>
        </p:nvGrpSpPr>
        <p:grpSpPr bwMode="auto">
          <a:xfrm>
            <a:off x="2817813" y="1868488"/>
            <a:ext cx="455612" cy="1835150"/>
            <a:chOff x="2015" y="1215"/>
            <a:chExt cx="287" cy="1156"/>
          </a:xfrm>
        </p:grpSpPr>
        <p:sp>
          <p:nvSpPr>
            <p:cNvPr id="20577" name="Oval 58"/>
            <p:cNvSpPr>
              <a:spLocks noChangeArrowheads="1"/>
            </p:cNvSpPr>
            <p:nvPr/>
          </p:nvSpPr>
          <p:spPr bwMode="auto">
            <a:xfrm>
              <a:off x="2015" y="1758"/>
              <a:ext cx="62" cy="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78" name="Oval 59"/>
            <p:cNvSpPr>
              <a:spLocks noChangeArrowheads="1"/>
            </p:cNvSpPr>
            <p:nvPr/>
          </p:nvSpPr>
          <p:spPr bwMode="auto">
            <a:xfrm>
              <a:off x="2240" y="2309"/>
              <a:ext cx="62" cy="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79" name="Oval 60"/>
            <p:cNvSpPr>
              <a:spLocks noChangeArrowheads="1"/>
            </p:cNvSpPr>
            <p:nvPr/>
          </p:nvSpPr>
          <p:spPr bwMode="auto">
            <a:xfrm>
              <a:off x="2232" y="1215"/>
              <a:ext cx="62" cy="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38365" name="Group 61"/>
          <p:cNvGrpSpPr>
            <a:grpSpLocks/>
          </p:cNvGrpSpPr>
          <p:nvPr/>
        </p:nvGrpSpPr>
        <p:grpSpPr bwMode="auto">
          <a:xfrm>
            <a:off x="1276350" y="1449388"/>
            <a:ext cx="1947863" cy="2662237"/>
            <a:chOff x="1044" y="951"/>
            <a:chExt cx="1227" cy="1677"/>
          </a:xfrm>
        </p:grpSpPr>
        <p:sp>
          <p:nvSpPr>
            <p:cNvPr id="20572" name="Line 62"/>
            <p:cNvSpPr>
              <a:spLocks noChangeShapeType="1"/>
            </p:cNvSpPr>
            <p:nvPr/>
          </p:nvSpPr>
          <p:spPr bwMode="auto">
            <a:xfrm>
              <a:off x="1246" y="1797"/>
              <a:ext cx="8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73" name="Line 63"/>
            <p:cNvSpPr>
              <a:spLocks noChangeShapeType="1"/>
            </p:cNvSpPr>
            <p:nvPr/>
          </p:nvSpPr>
          <p:spPr bwMode="auto">
            <a:xfrm>
              <a:off x="2271" y="951"/>
              <a:ext cx="0" cy="3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74" name="Line 64"/>
            <p:cNvSpPr>
              <a:spLocks noChangeShapeType="1"/>
            </p:cNvSpPr>
            <p:nvPr/>
          </p:nvSpPr>
          <p:spPr bwMode="auto">
            <a:xfrm>
              <a:off x="1044" y="951"/>
              <a:ext cx="0" cy="3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75" name="Line 65"/>
            <p:cNvSpPr>
              <a:spLocks noChangeShapeType="1"/>
            </p:cNvSpPr>
            <p:nvPr/>
          </p:nvSpPr>
          <p:spPr bwMode="auto">
            <a:xfrm>
              <a:off x="1044" y="2317"/>
              <a:ext cx="0" cy="3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76" name="Line 66"/>
            <p:cNvSpPr>
              <a:spLocks noChangeShapeType="1"/>
            </p:cNvSpPr>
            <p:nvPr/>
          </p:nvSpPr>
          <p:spPr bwMode="auto">
            <a:xfrm>
              <a:off x="2271" y="2317"/>
              <a:ext cx="0" cy="3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8371" name="Group 67"/>
          <p:cNvGrpSpPr>
            <a:grpSpLocks/>
          </p:cNvGrpSpPr>
          <p:nvPr/>
        </p:nvGrpSpPr>
        <p:grpSpPr bwMode="auto">
          <a:xfrm>
            <a:off x="4997450" y="2730500"/>
            <a:ext cx="1687513" cy="3648075"/>
            <a:chOff x="3388" y="1758"/>
            <a:chExt cx="1063" cy="2298"/>
          </a:xfrm>
        </p:grpSpPr>
        <p:sp>
          <p:nvSpPr>
            <p:cNvPr id="20568" name="Line 68"/>
            <p:cNvSpPr>
              <a:spLocks noChangeShapeType="1"/>
            </p:cNvSpPr>
            <p:nvPr/>
          </p:nvSpPr>
          <p:spPr bwMode="auto">
            <a:xfrm>
              <a:off x="3396" y="1813"/>
              <a:ext cx="0" cy="1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69" name="Line 69"/>
            <p:cNvSpPr>
              <a:spLocks noChangeShapeType="1"/>
            </p:cNvSpPr>
            <p:nvPr/>
          </p:nvSpPr>
          <p:spPr bwMode="auto">
            <a:xfrm>
              <a:off x="4443" y="1758"/>
              <a:ext cx="0" cy="22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70" name="Line 70"/>
            <p:cNvSpPr>
              <a:spLocks noChangeShapeType="1"/>
            </p:cNvSpPr>
            <p:nvPr/>
          </p:nvSpPr>
          <p:spPr bwMode="auto">
            <a:xfrm>
              <a:off x="3388" y="2814"/>
              <a:ext cx="0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71" name="Line 71"/>
            <p:cNvSpPr>
              <a:spLocks noChangeShapeType="1"/>
            </p:cNvSpPr>
            <p:nvPr/>
          </p:nvSpPr>
          <p:spPr bwMode="auto">
            <a:xfrm>
              <a:off x="4451" y="2829"/>
              <a:ext cx="0" cy="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8376" name="Group 72"/>
          <p:cNvGrpSpPr>
            <a:grpSpLocks/>
          </p:cNvGrpSpPr>
          <p:nvPr/>
        </p:nvGrpSpPr>
        <p:grpSpPr bwMode="auto">
          <a:xfrm>
            <a:off x="1573213" y="2632075"/>
            <a:ext cx="1304925" cy="2205038"/>
            <a:chOff x="1231" y="1696"/>
            <a:chExt cx="822" cy="1389"/>
          </a:xfrm>
        </p:grpSpPr>
        <p:sp>
          <p:nvSpPr>
            <p:cNvPr id="20564" name="Line 73"/>
            <p:cNvSpPr>
              <a:spLocks noChangeShapeType="1"/>
            </p:cNvSpPr>
            <p:nvPr/>
          </p:nvSpPr>
          <p:spPr bwMode="auto">
            <a:xfrm flipV="1">
              <a:off x="2053" y="1758"/>
              <a:ext cx="0" cy="130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65" name="Line 74"/>
            <p:cNvSpPr>
              <a:spLocks noChangeShapeType="1"/>
            </p:cNvSpPr>
            <p:nvPr/>
          </p:nvSpPr>
          <p:spPr bwMode="auto">
            <a:xfrm flipV="1">
              <a:off x="1231" y="1696"/>
              <a:ext cx="0" cy="1389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66" name="Line 75"/>
            <p:cNvSpPr>
              <a:spLocks noChangeShapeType="1"/>
            </p:cNvSpPr>
            <p:nvPr/>
          </p:nvSpPr>
          <p:spPr bwMode="auto">
            <a:xfrm flipV="1">
              <a:off x="2053" y="2744"/>
              <a:ext cx="0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67" name="Line 76"/>
            <p:cNvSpPr>
              <a:spLocks noChangeShapeType="1"/>
            </p:cNvSpPr>
            <p:nvPr/>
          </p:nvSpPr>
          <p:spPr bwMode="auto">
            <a:xfrm flipV="1">
              <a:off x="1231" y="2744"/>
              <a:ext cx="0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38381" name="Text Box 77"/>
          <p:cNvSpPr txBox="1">
            <a:spLocks noChangeArrowheads="1"/>
          </p:cNvSpPr>
          <p:nvPr/>
        </p:nvSpPr>
        <p:spPr bwMode="auto">
          <a:xfrm>
            <a:off x="0" y="377190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738382" name="Text Box 78"/>
          <p:cNvSpPr txBox="1">
            <a:spLocks noChangeArrowheads="1"/>
          </p:cNvSpPr>
          <p:nvPr/>
        </p:nvSpPr>
        <p:spPr bwMode="auto">
          <a:xfrm>
            <a:off x="7018338" y="3814763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Y</a:t>
            </a:r>
          </a:p>
        </p:txBody>
      </p:sp>
      <p:grpSp>
        <p:nvGrpSpPr>
          <p:cNvPr id="738383" name="Group 79"/>
          <p:cNvGrpSpPr>
            <a:grpSpLocks/>
          </p:cNvGrpSpPr>
          <p:nvPr/>
        </p:nvGrpSpPr>
        <p:grpSpPr bwMode="auto">
          <a:xfrm>
            <a:off x="2779713" y="4800600"/>
            <a:ext cx="3868737" cy="1552575"/>
            <a:chOff x="1991" y="3062"/>
            <a:chExt cx="2437" cy="978"/>
          </a:xfrm>
        </p:grpSpPr>
        <p:sp>
          <p:nvSpPr>
            <p:cNvPr id="20560" name="Line 80"/>
            <p:cNvSpPr>
              <a:spLocks noChangeShapeType="1"/>
            </p:cNvSpPr>
            <p:nvPr/>
          </p:nvSpPr>
          <p:spPr bwMode="auto">
            <a:xfrm flipH="1">
              <a:off x="2007" y="4040"/>
              <a:ext cx="24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61" name="Line 81"/>
            <p:cNvSpPr>
              <a:spLocks noChangeShapeType="1"/>
            </p:cNvSpPr>
            <p:nvPr/>
          </p:nvSpPr>
          <p:spPr bwMode="auto">
            <a:xfrm flipH="1">
              <a:off x="1991" y="3062"/>
              <a:ext cx="1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62" name="Line 82"/>
            <p:cNvSpPr>
              <a:spLocks noChangeShapeType="1"/>
            </p:cNvSpPr>
            <p:nvPr/>
          </p:nvSpPr>
          <p:spPr bwMode="auto">
            <a:xfrm flipH="1">
              <a:off x="2784" y="3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63" name="Line 83"/>
            <p:cNvSpPr>
              <a:spLocks noChangeShapeType="1"/>
            </p:cNvSpPr>
            <p:nvPr/>
          </p:nvSpPr>
          <p:spPr bwMode="auto">
            <a:xfrm flipH="1">
              <a:off x="2784" y="403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8388" name="Group 84"/>
          <p:cNvGrpSpPr>
            <a:grpSpLocks/>
          </p:cNvGrpSpPr>
          <p:nvPr/>
        </p:nvGrpSpPr>
        <p:grpSpPr bwMode="auto">
          <a:xfrm>
            <a:off x="4838700" y="1711325"/>
            <a:ext cx="2108200" cy="2178050"/>
            <a:chOff x="3456" y="1247"/>
            <a:chExt cx="1149" cy="1160"/>
          </a:xfrm>
        </p:grpSpPr>
        <p:sp>
          <p:nvSpPr>
            <p:cNvPr id="20556" name="Text Box 85"/>
            <p:cNvSpPr txBox="1">
              <a:spLocks noChangeArrowheads="1"/>
            </p:cNvSpPr>
            <p:nvPr/>
          </p:nvSpPr>
          <p:spPr bwMode="auto">
            <a:xfrm>
              <a:off x="3990" y="1247"/>
              <a:ext cx="199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a”</a:t>
              </a:r>
            </a:p>
          </p:txBody>
        </p:sp>
        <p:sp>
          <p:nvSpPr>
            <p:cNvPr id="20557" name="Text Box 86"/>
            <p:cNvSpPr txBox="1">
              <a:spLocks noChangeArrowheads="1"/>
            </p:cNvSpPr>
            <p:nvPr/>
          </p:nvSpPr>
          <p:spPr bwMode="auto">
            <a:xfrm>
              <a:off x="3456" y="1632"/>
              <a:ext cx="205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d”</a:t>
              </a:r>
            </a:p>
          </p:txBody>
        </p:sp>
        <p:sp>
          <p:nvSpPr>
            <p:cNvPr id="20558" name="Text Box 87"/>
            <p:cNvSpPr txBox="1">
              <a:spLocks noChangeArrowheads="1"/>
            </p:cNvSpPr>
            <p:nvPr/>
          </p:nvSpPr>
          <p:spPr bwMode="auto">
            <a:xfrm>
              <a:off x="4400" y="1672"/>
              <a:ext cx="205" cy="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b”</a:t>
              </a:r>
            </a:p>
          </p:txBody>
        </p:sp>
        <p:sp>
          <p:nvSpPr>
            <p:cNvPr id="20559" name="Text Box 88"/>
            <p:cNvSpPr txBox="1">
              <a:spLocks noChangeArrowheads="1"/>
            </p:cNvSpPr>
            <p:nvPr/>
          </p:nvSpPr>
          <p:spPr bwMode="auto">
            <a:xfrm>
              <a:off x="3970" y="2228"/>
              <a:ext cx="199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c”</a:t>
              </a:r>
            </a:p>
          </p:txBody>
        </p:sp>
      </p:grpSp>
      <p:grpSp>
        <p:nvGrpSpPr>
          <p:cNvPr id="738393" name="Group 89"/>
          <p:cNvGrpSpPr>
            <a:grpSpLocks/>
          </p:cNvGrpSpPr>
          <p:nvPr/>
        </p:nvGrpSpPr>
        <p:grpSpPr bwMode="auto">
          <a:xfrm>
            <a:off x="4775200" y="1143000"/>
            <a:ext cx="2193925" cy="330200"/>
            <a:chOff x="1440" y="912"/>
            <a:chExt cx="1316" cy="208"/>
          </a:xfrm>
        </p:grpSpPr>
        <p:sp>
          <p:nvSpPr>
            <p:cNvPr id="20552" name="Text Box 90"/>
            <p:cNvSpPr txBox="1">
              <a:spLocks noChangeArrowheads="1"/>
            </p:cNvSpPr>
            <p:nvPr/>
          </p:nvSpPr>
          <p:spPr bwMode="auto">
            <a:xfrm>
              <a:off x="1440" y="928"/>
              <a:ext cx="21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4”</a:t>
              </a:r>
            </a:p>
          </p:txBody>
        </p:sp>
        <p:sp>
          <p:nvSpPr>
            <p:cNvPr id="20553" name="Text Box 91"/>
            <p:cNvSpPr txBox="1">
              <a:spLocks noChangeArrowheads="1"/>
            </p:cNvSpPr>
            <p:nvPr/>
          </p:nvSpPr>
          <p:spPr bwMode="auto">
            <a:xfrm>
              <a:off x="1968" y="912"/>
              <a:ext cx="21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1”</a:t>
              </a:r>
            </a:p>
          </p:txBody>
        </p:sp>
        <p:sp>
          <p:nvSpPr>
            <p:cNvPr id="20554" name="Text Box 92"/>
            <p:cNvSpPr txBox="1">
              <a:spLocks noChangeArrowheads="1"/>
            </p:cNvSpPr>
            <p:nvPr/>
          </p:nvSpPr>
          <p:spPr bwMode="auto">
            <a:xfrm>
              <a:off x="2064" y="912"/>
              <a:ext cx="21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3”</a:t>
              </a:r>
            </a:p>
          </p:txBody>
        </p:sp>
        <p:sp>
          <p:nvSpPr>
            <p:cNvPr id="20555" name="Text Box 93"/>
            <p:cNvSpPr txBox="1">
              <a:spLocks noChangeArrowheads="1"/>
            </p:cNvSpPr>
            <p:nvPr/>
          </p:nvSpPr>
          <p:spPr bwMode="auto">
            <a:xfrm>
              <a:off x="2544" y="912"/>
              <a:ext cx="21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2”</a:t>
              </a:r>
            </a:p>
          </p:txBody>
        </p:sp>
      </p:grpSp>
      <p:grpSp>
        <p:nvGrpSpPr>
          <p:cNvPr id="738398" name="Group 94"/>
          <p:cNvGrpSpPr>
            <a:grpSpLocks/>
          </p:cNvGrpSpPr>
          <p:nvPr/>
        </p:nvGrpSpPr>
        <p:grpSpPr bwMode="auto">
          <a:xfrm>
            <a:off x="1117600" y="1171575"/>
            <a:ext cx="2254250" cy="330200"/>
            <a:chOff x="1440" y="912"/>
            <a:chExt cx="1295" cy="208"/>
          </a:xfrm>
        </p:grpSpPr>
        <p:sp>
          <p:nvSpPr>
            <p:cNvPr id="20548" name="Text Box 95"/>
            <p:cNvSpPr txBox="1">
              <a:spLocks noChangeArrowheads="1"/>
            </p:cNvSpPr>
            <p:nvPr/>
          </p:nvSpPr>
          <p:spPr bwMode="auto">
            <a:xfrm>
              <a:off x="1440" y="928"/>
              <a:ext cx="1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1’</a:t>
              </a:r>
            </a:p>
          </p:txBody>
        </p:sp>
        <p:sp>
          <p:nvSpPr>
            <p:cNvPr id="20549" name="Text Box 96"/>
            <p:cNvSpPr txBox="1">
              <a:spLocks noChangeArrowheads="1"/>
            </p:cNvSpPr>
            <p:nvPr/>
          </p:nvSpPr>
          <p:spPr bwMode="auto">
            <a:xfrm>
              <a:off x="1968" y="912"/>
              <a:ext cx="1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2’</a:t>
              </a:r>
            </a:p>
          </p:txBody>
        </p:sp>
        <p:sp>
          <p:nvSpPr>
            <p:cNvPr id="20550" name="Text Box 97"/>
            <p:cNvSpPr txBox="1">
              <a:spLocks noChangeArrowheads="1"/>
            </p:cNvSpPr>
            <p:nvPr/>
          </p:nvSpPr>
          <p:spPr bwMode="auto">
            <a:xfrm>
              <a:off x="2064" y="912"/>
              <a:ext cx="19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4’</a:t>
              </a:r>
            </a:p>
          </p:txBody>
        </p:sp>
        <p:sp>
          <p:nvSpPr>
            <p:cNvPr id="20551" name="Text Box 98"/>
            <p:cNvSpPr txBox="1">
              <a:spLocks noChangeArrowheads="1"/>
            </p:cNvSpPr>
            <p:nvPr/>
          </p:nvSpPr>
          <p:spPr bwMode="auto">
            <a:xfrm>
              <a:off x="2544" y="912"/>
              <a:ext cx="1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3’</a:t>
              </a:r>
            </a:p>
          </p:txBody>
        </p:sp>
      </p:grpSp>
      <p:grpSp>
        <p:nvGrpSpPr>
          <p:cNvPr id="738403" name="Group 99"/>
          <p:cNvGrpSpPr>
            <a:grpSpLocks/>
          </p:cNvGrpSpPr>
          <p:nvPr/>
        </p:nvGrpSpPr>
        <p:grpSpPr bwMode="auto">
          <a:xfrm>
            <a:off x="1066800" y="4354513"/>
            <a:ext cx="2381250" cy="2454275"/>
            <a:chOff x="1392" y="2632"/>
            <a:chExt cx="1355" cy="1343"/>
          </a:xfrm>
        </p:grpSpPr>
        <p:sp>
          <p:nvSpPr>
            <p:cNvPr id="20544" name="Text Box 100"/>
            <p:cNvSpPr txBox="1">
              <a:spLocks noChangeArrowheads="1"/>
            </p:cNvSpPr>
            <p:nvPr/>
          </p:nvSpPr>
          <p:spPr bwMode="auto">
            <a:xfrm>
              <a:off x="1392" y="3184"/>
              <a:ext cx="15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0545" name="Text Box 101"/>
            <p:cNvSpPr txBox="1">
              <a:spLocks noChangeArrowheads="1"/>
            </p:cNvSpPr>
            <p:nvPr/>
          </p:nvSpPr>
          <p:spPr bwMode="auto">
            <a:xfrm>
              <a:off x="1872" y="3808"/>
              <a:ext cx="15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0546" name="Text Box 102"/>
            <p:cNvSpPr txBox="1">
              <a:spLocks noChangeArrowheads="1"/>
            </p:cNvSpPr>
            <p:nvPr/>
          </p:nvSpPr>
          <p:spPr bwMode="auto">
            <a:xfrm>
              <a:off x="2592" y="3166"/>
              <a:ext cx="15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0547" name="Text Box 103"/>
            <p:cNvSpPr txBox="1">
              <a:spLocks noChangeArrowheads="1"/>
            </p:cNvSpPr>
            <p:nvPr/>
          </p:nvSpPr>
          <p:spPr bwMode="auto">
            <a:xfrm>
              <a:off x="1968" y="2632"/>
              <a:ext cx="15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</a:t>
              </a:r>
            </a:p>
          </p:txBody>
        </p:sp>
      </p:grpSp>
      <p:grpSp>
        <p:nvGrpSpPr>
          <p:cNvPr id="738408" name="Group 104"/>
          <p:cNvGrpSpPr>
            <a:grpSpLocks/>
          </p:cNvGrpSpPr>
          <p:nvPr/>
        </p:nvGrpSpPr>
        <p:grpSpPr bwMode="auto">
          <a:xfrm>
            <a:off x="2171700" y="1666875"/>
            <a:ext cx="1371600" cy="2012950"/>
            <a:chOff x="1608" y="1088"/>
            <a:chExt cx="864" cy="1268"/>
          </a:xfrm>
        </p:grpSpPr>
        <p:sp>
          <p:nvSpPr>
            <p:cNvPr id="20538" name="Text Box 105"/>
            <p:cNvSpPr txBox="1">
              <a:spLocks noChangeArrowheads="1"/>
            </p:cNvSpPr>
            <p:nvPr/>
          </p:nvSpPr>
          <p:spPr bwMode="auto">
            <a:xfrm>
              <a:off x="2256" y="1088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a’</a:t>
              </a:r>
            </a:p>
          </p:txBody>
        </p:sp>
        <p:grpSp>
          <p:nvGrpSpPr>
            <p:cNvPr id="20539" name="Group 106"/>
            <p:cNvGrpSpPr>
              <a:grpSpLocks/>
            </p:cNvGrpSpPr>
            <p:nvPr/>
          </p:nvGrpSpPr>
          <p:grpSpPr bwMode="auto">
            <a:xfrm>
              <a:off x="1608" y="1608"/>
              <a:ext cx="543" cy="372"/>
              <a:chOff x="1968" y="1640"/>
              <a:chExt cx="543" cy="372"/>
            </a:xfrm>
          </p:grpSpPr>
          <p:sp>
            <p:nvSpPr>
              <p:cNvPr id="20541" name="Line 107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542" name="Text Box 108"/>
              <p:cNvSpPr txBox="1">
                <a:spLocks noChangeArrowheads="1"/>
              </p:cNvSpPr>
              <p:nvPr/>
            </p:nvSpPr>
            <p:spPr bwMode="auto">
              <a:xfrm>
                <a:off x="2048" y="1800"/>
                <a:ext cx="44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</a:rPr>
                  <a:t>       d’</a:t>
                </a:r>
              </a:p>
            </p:txBody>
          </p:sp>
          <p:sp>
            <p:nvSpPr>
              <p:cNvPr id="20543" name="Text Box 109"/>
              <p:cNvSpPr txBox="1">
                <a:spLocks noChangeArrowheads="1"/>
              </p:cNvSpPr>
              <p:nvPr/>
            </p:nvSpPr>
            <p:spPr bwMode="auto">
              <a:xfrm>
                <a:off x="2064" y="1640"/>
                <a:ext cx="44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</a:rPr>
                  <a:t>       b’</a:t>
                </a:r>
              </a:p>
            </p:txBody>
          </p:sp>
        </p:grpSp>
        <p:sp>
          <p:nvSpPr>
            <p:cNvPr id="20540" name="Text Box 110"/>
            <p:cNvSpPr txBox="1">
              <a:spLocks noChangeArrowheads="1"/>
            </p:cNvSpPr>
            <p:nvPr/>
          </p:nvSpPr>
          <p:spPr bwMode="auto">
            <a:xfrm>
              <a:off x="2240" y="2144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c’</a:t>
              </a:r>
            </a:p>
          </p:txBody>
        </p:sp>
      </p:grpSp>
      <p:grpSp>
        <p:nvGrpSpPr>
          <p:cNvPr id="738415" name="Group 111"/>
          <p:cNvGrpSpPr>
            <a:grpSpLocks/>
          </p:cNvGrpSpPr>
          <p:nvPr/>
        </p:nvGrpSpPr>
        <p:grpSpPr bwMode="auto">
          <a:xfrm>
            <a:off x="1219200" y="1628775"/>
            <a:ext cx="709613" cy="2051050"/>
            <a:chOff x="1008" y="1064"/>
            <a:chExt cx="447" cy="1292"/>
          </a:xfrm>
        </p:grpSpPr>
        <p:sp>
          <p:nvSpPr>
            <p:cNvPr id="20532" name="Text Box 112"/>
            <p:cNvSpPr txBox="1">
              <a:spLocks noChangeArrowheads="1"/>
            </p:cNvSpPr>
            <p:nvPr/>
          </p:nvSpPr>
          <p:spPr bwMode="auto">
            <a:xfrm>
              <a:off x="1008" y="1064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a’</a:t>
              </a:r>
            </a:p>
          </p:txBody>
        </p:sp>
        <p:sp>
          <p:nvSpPr>
            <p:cNvPr id="20533" name="Text Box 113"/>
            <p:cNvSpPr txBox="1">
              <a:spLocks noChangeArrowheads="1"/>
            </p:cNvSpPr>
            <p:nvPr/>
          </p:nvSpPr>
          <p:spPr bwMode="auto">
            <a:xfrm>
              <a:off x="1016" y="2144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c’</a:t>
              </a:r>
            </a:p>
          </p:txBody>
        </p:sp>
        <p:grpSp>
          <p:nvGrpSpPr>
            <p:cNvPr id="20534" name="Group 114"/>
            <p:cNvGrpSpPr>
              <a:grpSpLocks/>
            </p:cNvGrpSpPr>
            <p:nvPr/>
          </p:nvGrpSpPr>
          <p:grpSpPr bwMode="auto">
            <a:xfrm>
              <a:off x="1136" y="1608"/>
              <a:ext cx="319" cy="372"/>
              <a:chOff x="1968" y="1640"/>
              <a:chExt cx="319" cy="372"/>
            </a:xfrm>
          </p:grpSpPr>
          <p:sp>
            <p:nvSpPr>
              <p:cNvPr id="20535" name="Line 115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536" name="Text Box 116"/>
              <p:cNvSpPr txBox="1">
                <a:spLocks noChangeArrowheads="1"/>
              </p:cNvSpPr>
              <p:nvPr/>
            </p:nvSpPr>
            <p:spPr bwMode="auto">
              <a:xfrm>
                <a:off x="2048" y="1800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</a:rPr>
                  <a:t>d’</a:t>
                </a:r>
              </a:p>
            </p:txBody>
          </p:sp>
          <p:sp>
            <p:nvSpPr>
              <p:cNvPr id="20537" name="Text Box 117"/>
              <p:cNvSpPr txBox="1">
                <a:spLocks noChangeArrowheads="1"/>
              </p:cNvSpPr>
              <p:nvPr/>
            </p:nvSpPr>
            <p:spPr bwMode="auto">
              <a:xfrm>
                <a:off x="2064" y="1640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</a:rPr>
                  <a:t>b’</a:t>
                </a:r>
              </a:p>
            </p:txBody>
          </p:sp>
        </p:grpSp>
      </p:grpSp>
      <p:sp>
        <p:nvSpPr>
          <p:cNvPr id="738422" name="Text Box 118"/>
          <p:cNvSpPr txBox="1">
            <a:spLocks noChangeArrowheads="1"/>
          </p:cNvSpPr>
          <p:nvPr/>
        </p:nvSpPr>
        <p:spPr bwMode="auto">
          <a:xfrm>
            <a:off x="6324600" y="73025"/>
            <a:ext cx="2651125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CASE 2.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CYLINDER STANDING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 &amp;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 SQ.PRISM  PENETRATING</a:t>
            </a:r>
          </a:p>
        </p:txBody>
      </p:sp>
      <p:graphicFrame>
        <p:nvGraphicFramePr>
          <p:cNvPr id="738423" name="Object 119"/>
          <p:cNvGraphicFramePr>
            <a:graphicFrameLocks noChangeAspect="1"/>
          </p:cNvGraphicFramePr>
          <p:nvPr/>
        </p:nvGraphicFramePr>
        <p:xfrm>
          <a:off x="7010400" y="1295400"/>
          <a:ext cx="18097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8" name="Bitmap Image" r:id="rId4" imgW="3866667" imgH="3419952" progId="Paint.Picture">
                  <p:embed/>
                </p:oleObj>
              </mc:Choice>
              <mc:Fallback>
                <p:oleObj name="Bitmap Image" r:id="rId4" imgW="3866667" imgH="3419952" progId="Paint.Picture">
                  <p:embed/>
                  <p:pic>
                    <p:nvPicPr>
                      <p:cNvPr id="0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295400"/>
                        <a:ext cx="180975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424" name="Text Box 120"/>
          <p:cNvSpPr txBox="1">
            <a:spLocks noChangeArrowheads="1"/>
          </p:cNvSpPr>
          <p:nvPr/>
        </p:nvSpPr>
        <p:spPr bwMode="auto">
          <a:xfrm>
            <a:off x="76200" y="61913"/>
            <a:ext cx="6627813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66"/>
                </a:solidFill>
              </a:rPr>
              <a:t>Problem:</a:t>
            </a:r>
            <a:r>
              <a:rPr lang="en-US" altLang="en-US" sz="1600">
                <a:solidFill>
                  <a:srgbClr val="000000"/>
                </a:solidFill>
              </a:rPr>
              <a:t> A cylinder 50mm diameter and 70mm axis is completely penetrated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by a square prism of 25 mm sides and 70 mm axis, horizontally. Both axes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intersect &amp; bisect each other. All faces of prism are equally inclined to Hp.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Draw projections showing curves of intersections</a:t>
            </a:r>
            <a:r>
              <a:rPr lang="en-US" altLang="en-US" sz="1600">
                <a:solidFill>
                  <a:srgbClr val="3333CC"/>
                </a:solidFill>
              </a:rPr>
              <a:t>.</a:t>
            </a:r>
          </a:p>
        </p:txBody>
      </p:sp>
      <p:grpSp>
        <p:nvGrpSpPr>
          <p:cNvPr id="20525" name="Group 128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20526" name="AutoShape 129">
              <a:hlinkClick r:id="rId6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27" name="AutoShape 130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28" name="AutoShape 131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29" name="AutoShape 132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30" name="AutoShape 133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31" name="AutoShape 134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8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8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8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8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8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8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8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8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8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8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8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8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38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38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38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38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38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38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38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38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38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38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38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38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38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38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38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38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38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38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9" dur="500"/>
                                        <p:tgtEl>
                                          <p:spTgt spid="73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38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38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38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38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38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38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38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38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38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38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38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38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38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38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38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38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38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38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38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738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738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38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38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38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38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38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38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738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738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738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38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738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738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38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38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738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738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738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38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738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738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738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738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738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738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738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738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738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73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73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738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738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738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738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738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738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738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738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738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738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738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73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738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738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738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738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738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738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738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738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738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738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738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738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738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738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6" dur="500"/>
                                        <p:tgtEl>
                                          <p:spTgt spid="73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1" dur="500"/>
                                        <p:tgtEl>
                                          <p:spTgt spid="738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6" dur="500"/>
                                        <p:tgtEl>
                                          <p:spTgt spid="73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 nodeType="clickPar">
                      <p:stCondLst>
                        <p:cond delay="indefinite"/>
                      </p:stCondLst>
                      <p:childTnLst>
                        <p:par>
                          <p:cTn id="2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1" dur="500"/>
                                        <p:tgtEl>
                                          <p:spTgt spid="738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Par">
                      <p:stCondLst>
                        <p:cond delay="indefinite"/>
                      </p:stCondLst>
                      <p:childTnLst>
                        <p:par>
                          <p:cTn id="2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10" grpId="0" animBg="1"/>
      <p:bldP spid="738315" grpId="0" animBg="1"/>
      <p:bldP spid="738316" grpId="0" animBg="1"/>
      <p:bldP spid="738381" grpId="0" autoUpdateAnimBg="0"/>
      <p:bldP spid="738382" grpId="0" autoUpdateAnimBg="0"/>
      <p:bldP spid="738422" grpId="0" autoUpdateAnimBg="0"/>
      <p:bldP spid="73842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354" name="Group 2"/>
          <p:cNvGrpSpPr>
            <a:grpSpLocks/>
          </p:cNvGrpSpPr>
          <p:nvPr/>
        </p:nvGrpSpPr>
        <p:grpSpPr bwMode="auto">
          <a:xfrm>
            <a:off x="917575" y="1524000"/>
            <a:ext cx="3556000" cy="2301875"/>
            <a:chOff x="1504" y="960"/>
            <a:chExt cx="2240" cy="1450"/>
          </a:xfrm>
        </p:grpSpPr>
        <p:sp>
          <p:nvSpPr>
            <p:cNvPr id="22607" name="Line 3"/>
            <p:cNvSpPr>
              <a:spLocks noChangeShapeType="1"/>
            </p:cNvSpPr>
            <p:nvPr/>
          </p:nvSpPr>
          <p:spPr bwMode="auto">
            <a:xfrm>
              <a:off x="1504" y="1680"/>
              <a:ext cx="2240" cy="73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608" name="Line 4"/>
            <p:cNvSpPr>
              <a:spLocks noChangeShapeType="1"/>
            </p:cNvSpPr>
            <p:nvPr/>
          </p:nvSpPr>
          <p:spPr bwMode="auto">
            <a:xfrm flipV="1">
              <a:off x="1536" y="960"/>
              <a:ext cx="2208" cy="72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609" name="Line 5"/>
            <p:cNvSpPr>
              <a:spLocks noChangeShapeType="1"/>
            </p:cNvSpPr>
            <p:nvPr/>
          </p:nvSpPr>
          <p:spPr bwMode="auto">
            <a:xfrm>
              <a:off x="3744" y="960"/>
              <a:ext cx="0" cy="144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0358" name="Rectangle 6"/>
          <p:cNvSpPr>
            <a:spLocks noChangeArrowheads="1"/>
          </p:cNvSpPr>
          <p:nvPr/>
        </p:nvSpPr>
        <p:spPr bwMode="auto">
          <a:xfrm>
            <a:off x="1730375" y="1295400"/>
            <a:ext cx="2057400" cy="27432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0359" name="Line 7"/>
          <p:cNvSpPr>
            <a:spLocks noChangeShapeType="1"/>
          </p:cNvSpPr>
          <p:nvPr/>
        </p:nvSpPr>
        <p:spPr bwMode="auto">
          <a:xfrm>
            <a:off x="206375" y="4038600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60" name="AutoShape 8"/>
          <p:cNvSpPr>
            <a:spLocks noChangeArrowheads="1"/>
          </p:cNvSpPr>
          <p:nvPr/>
        </p:nvSpPr>
        <p:spPr bwMode="auto">
          <a:xfrm rot="-5400000">
            <a:off x="1539875" y="3606800"/>
            <a:ext cx="2286000" cy="3581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0361" name="Arc 9"/>
          <p:cNvSpPr>
            <a:spLocks/>
          </p:cNvSpPr>
          <p:nvPr/>
        </p:nvSpPr>
        <p:spPr bwMode="auto">
          <a:xfrm>
            <a:off x="4448175" y="4256088"/>
            <a:ext cx="1192213" cy="2286000"/>
          </a:xfrm>
          <a:custGeom>
            <a:avLst/>
            <a:gdLst>
              <a:gd name="T0" fmla="*/ 2147483646 w 22528"/>
              <a:gd name="T1" fmla="*/ 0 h 43200"/>
              <a:gd name="T2" fmla="*/ 0 w 22528"/>
              <a:gd name="T3" fmla="*/ 2147483646 h 43200"/>
              <a:gd name="T4" fmla="*/ 2147483646 w 22528"/>
              <a:gd name="T5" fmla="*/ 2147483646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528" h="43200" fill="none" extrusionOk="0">
                <a:moveTo>
                  <a:pt x="927" y="0"/>
                </a:moveTo>
                <a:cubicBezTo>
                  <a:pt x="12857" y="0"/>
                  <a:pt x="22528" y="9670"/>
                  <a:pt x="22528" y="21600"/>
                </a:cubicBezTo>
                <a:cubicBezTo>
                  <a:pt x="22528" y="33529"/>
                  <a:pt x="12857" y="43200"/>
                  <a:pt x="928" y="43200"/>
                </a:cubicBezTo>
                <a:cubicBezTo>
                  <a:pt x="618" y="43200"/>
                  <a:pt x="309" y="43193"/>
                  <a:pt x="-1" y="43180"/>
                </a:cubicBezTo>
              </a:path>
              <a:path w="22528" h="43200" stroke="0" extrusionOk="0">
                <a:moveTo>
                  <a:pt x="927" y="0"/>
                </a:moveTo>
                <a:cubicBezTo>
                  <a:pt x="12857" y="0"/>
                  <a:pt x="22528" y="9670"/>
                  <a:pt x="22528" y="21600"/>
                </a:cubicBezTo>
                <a:cubicBezTo>
                  <a:pt x="22528" y="33529"/>
                  <a:pt x="12857" y="43200"/>
                  <a:pt x="928" y="43200"/>
                </a:cubicBezTo>
                <a:cubicBezTo>
                  <a:pt x="618" y="43200"/>
                  <a:pt x="309" y="43193"/>
                  <a:pt x="-1" y="43180"/>
                </a:cubicBezTo>
                <a:lnTo>
                  <a:pt x="928" y="21600"/>
                </a:lnTo>
                <a:lnTo>
                  <a:pt x="927" y="0"/>
                </a:lnTo>
                <a:close/>
              </a:path>
            </a:pathLst>
          </a:cu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0362" name="Line 10"/>
          <p:cNvSpPr>
            <a:spLocks noChangeShapeType="1"/>
          </p:cNvSpPr>
          <p:nvPr/>
        </p:nvSpPr>
        <p:spPr bwMode="auto">
          <a:xfrm>
            <a:off x="4473575" y="5397500"/>
            <a:ext cx="11430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63" name="Line 11"/>
          <p:cNvSpPr>
            <a:spLocks noChangeShapeType="1"/>
          </p:cNvSpPr>
          <p:nvPr/>
        </p:nvSpPr>
        <p:spPr bwMode="auto">
          <a:xfrm flipV="1">
            <a:off x="4473575" y="4641850"/>
            <a:ext cx="838200" cy="76835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64" name="Line 12"/>
          <p:cNvSpPr>
            <a:spLocks noChangeShapeType="1"/>
          </p:cNvSpPr>
          <p:nvPr/>
        </p:nvSpPr>
        <p:spPr bwMode="auto">
          <a:xfrm>
            <a:off x="4473575" y="5391150"/>
            <a:ext cx="838200" cy="76835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65" name="Line 13"/>
          <p:cNvSpPr>
            <a:spLocks noChangeShapeType="1"/>
          </p:cNvSpPr>
          <p:nvPr/>
        </p:nvSpPr>
        <p:spPr bwMode="auto">
          <a:xfrm flipH="1">
            <a:off x="4498975" y="4635500"/>
            <a:ext cx="838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66" name="Line 14"/>
          <p:cNvSpPr>
            <a:spLocks noChangeShapeType="1"/>
          </p:cNvSpPr>
          <p:nvPr/>
        </p:nvSpPr>
        <p:spPr bwMode="auto">
          <a:xfrm flipH="1">
            <a:off x="4473575" y="6172200"/>
            <a:ext cx="838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0367" name="Group 15"/>
          <p:cNvGrpSpPr>
            <a:grpSpLocks/>
          </p:cNvGrpSpPr>
          <p:nvPr/>
        </p:nvGrpSpPr>
        <p:grpSpPr bwMode="auto">
          <a:xfrm>
            <a:off x="917575" y="1905000"/>
            <a:ext cx="3644900" cy="1524000"/>
            <a:chOff x="1584" y="1152"/>
            <a:chExt cx="2296" cy="960"/>
          </a:xfrm>
        </p:grpSpPr>
        <p:sp>
          <p:nvSpPr>
            <p:cNvPr id="22604" name="Line 16"/>
            <p:cNvSpPr>
              <a:spLocks noChangeShapeType="1"/>
            </p:cNvSpPr>
            <p:nvPr/>
          </p:nvSpPr>
          <p:spPr bwMode="auto">
            <a:xfrm flipV="1">
              <a:off x="1584" y="1152"/>
              <a:ext cx="2256" cy="48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605" name="Line 17"/>
            <p:cNvSpPr>
              <a:spLocks noChangeShapeType="1"/>
            </p:cNvSpPr>
            <p:nvPr/>
          </p:nvSpPr>
          <p:spPr bwMode="auto">
            <a:xfrm>
              <a:off x="1624" y="1632"/>
              <a:ext cx="2256" cy="48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606" name="Line 18"/>
            <p:cNvSpPr>
              <a:spLocks noChangeShapeType="1"/>
            </p:cNvSpPr>
            <p:nvPr/>
          </p:nvSpPr>
          <p:spPr bwMode="auto">
            <a:xfrm>
              <a:off x="1584" y="1632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0371" name="Oval 19"/>
          <p:cNvSpPr>
            <a:spLocks noChangeArrowheads="1"/>
          </p:cNvSpPr>
          <p:nvPr/>
        </p:nvSpPr>
        <p:spPr bwMode="auto">
          <a:xfrm>
            <a:off x="1730375" y="4343400"/>
            <a:ext cx="2057400" cy="20574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0372" name="Oval 20"/>
          <p:cNvSpPr>
            <a:spLocks noChangeArrowheads="1"/>
          </p:cNvSpPr>
          <p:nvPr/>
        </p:nvSpPr>
        <p:spPr bwMode="auto">
          <a:xfrm>
            <a:off x="3565525" y="2057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0373" name="Oval 21"/>
          <p:cNvSpPr>
            <a:spLocks noChangeArrowheads="1"/>
          </p:cNvSpPr>
          <p:nvPr/>
        </p:nvSpPr>
        <p:spPr bwMode="auto">
          <a:xfrm>
            <a:off x="3368675" y="26225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0374" name="Oval 22"/>
          <p:cNvSpPr>
            <a:spLocks noChangeArrowheads="1"/>
          </p:cNvSpPr>
          <p:nvPr/>
        </p:nvSpPr>
        <p:spPr bwMode="auto">
          <a:xfrm>
            <a:off x="3565525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0375" name="Oval 23"/>
          <p:cNvSpPr>
            <a:spLocks noChangeArrowheads="1"/>
          </p:cNvSpPr>
          <p:nvPr/>
        </p:nvSpPr>
        <p:spPr bwMode="auto">
          <a:xfrm>
            <a:off x="3749675" y="35496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0376" name="Oval 24"/>
          <p:cNvSpPr>
            <a:spLocks noChangeArrowheads="1"/>
          </p:cNvSpPr>
          <p:nvPr/>
        </p:nvSpPr>
        <p:spPr bwMode="auto">
          <a:xfrm>
            <a:off x="3743325" y="17081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0377" name="Oval 25"/>
          <p:cNvSpPr>
            <a:spLocks noChangeArrowheads="1"/>
          </p:cNvSpPr>
          <p:nvPr/>
        </p:nvSpPr>
        <p:spPr bwMode="auto">
          <a:xfrm>
            <a:off x="1774825" y="26225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0378" name="Oval 26"/>
          <p:cNvSpPr>
            <a:spLocks noChangeArrowheads="1"/>
          </p:cNvSpPr>
          <p:nvPr/>
        </p:nvSpPr>
        <p:spPr bwMode="auto">
          <a:xfrm>
            <a:off x="1704975" y="23495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0379" name="Oval 27"/>
          <p:cNvSpPr>
            <a:spLocks noChangeArrowheads="1"/>
          </p:cNvSpPr>
          <p:nvPr/>
        </p:nvSpPr>
        <p:spPr bwMode="auto">
          <a:xfrm>
            <a:off x="1692275" y="29083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0380" name="Freeform 28"/>
          <p:cNvSpPr>
            <a:spLocks/>
          </p:cNvSpPr>
          <p:nvPr/>
        </p:nvSpPr>
        <p:spPr bwMode="auto">
          <a:xfrm>
            <a:off x="3422650" y="1758950"/>
            <a:ext cx="385763" cy="1828800"/>
          </a:xfrm>
          <a:custGeom>
            <a:avLst/>
            <a:gdLst>
              <a:gd name="T0" fmla="*/ 2147483646 w 243"/>
              <a:gd name="T1" fmla="*/ 2147483646 h 1152"/>
              <a:gd name="T2" fmla="*/ 2147483646 w 243"/>
              <a:gd name="T3" fmla="*/ 2147483646 h 1152"/>
              <a:gd name="T4" fmla="*/ 2147483646 w 243"/>
              <a:gd name="T5" fmla="*/ 2147483646 h 1152"/>
              <a:gd name="T6" fmla="*/ 2147483646 w 243"/>
              <a:gd name="T7" fmla="*/ 2147483646 h 1152"/>
              <a:gd name="T8" fmla="*/ 2147483646 w 243"/>
              <a:gd name="T9" fmla="*/ 2147483646 h 1152"/>
              <a:gd name="T10" fmla="*/ 2147483646 w 243"/>
              <a:gd name="T11" fmla="*/ 2147483646 h 1152"/>
              <a:gd name="T12" fmla="*/ 2147483646 w 243"/>
              <a:gd name="T13" fmla="*/ 2147483646 h 1152"/>
              <a:gd name="T14" fmla="*/ 2147483646 w 243"/>
              <a:gd name="T15" fmla="*/ 2147483646 h 1152"/>
              <a:gd name="T16" fmla="*/ 2147483646 w 243"/>
              <a:gd name="T17" fmla="*/ 2147483646 h 1152"/>
              <a:gd name="T18" fmla="*/ 2147483646 w 243"/>
              <a:gd name="T19" fmla="*/ 2147483646 h 1152"/>
              <a:gd name="T20" fmla="*/ 2147483646 w 243"/>
              <a:gd name="T21" fmla="*/ 2147483646 h 1152"/>
              <a:gd name="T22" fmla="*/ 2147483646 w 243"/>
              <a:gd name="T23" fmla="*/ 2147483646 h 1152"/>
              <a:gd name="T24" fmla="*/ 2147483646 w 243"/>
              <a:gd name="T25" fmla="*/ 2147483646 h 1152"/>
              <a:gd name="T26" fmla="*/ 2147483646 w 243"/>
              <a:gd name="T27" fmla="*/ 2147483646 h 1152"/>
              <a:gd name="T28" fmla="*/ 2147483646 w 243"/>
              <a:gd name="T29" fmla="*/ 2147483646 h 1152"/>
              <a:gd name="T30" fmla="*/ 2147483646 w 243"/>
              <a:gd name="T31" fmla="*/ 2147483646 h 1152"/>
              <a:gd name="T32" fmla="*/ 0 w 243"/>
              <a:gd name="T33" fmla="*/ 2147483646 h 1152"/>
              <a:gd name="T34" fmla="*/ 0 w 243"/>
              <a:gd name="T35" fmla="*/ 2147483646 h 1152"/>
              <a:gd name="T36" fmla="*/ 2147483646 w 243"/>
              <a:gd name="T37" fmla="*/ 2147483646 h 1152"/>
              <a:gd name="T38" fmla="*/ 2147483646 w 243"/>
              <a:gd name="T39" fmla="*/ 2147483646 h 1152"/>
              <a:gd name="T40" fmla="*/ 2147483646 w 243"/>
              <a:gd name="T41" fmla="*/ 2147483646 h 1152"/>
              <a:gd name="T42" fmla="*/ 2147483646 w 243"/>
              <a:gd name="T43" fmla="*/ 2147483646 h 1152"/>
              <a:gd name="T44" fmla="*/ 2147483646 w 243"/>
              <a:gd name="T45" fmla="*/ 2147483646 h 1152"/>
              <a:gd name="T46" fmla="*/ 2147483646 w 243"/>
              <a:gd name="T47" fmla="*/ 2147483646 h 1152"/>
              <a:gd name="T48" fmla="*/ 2147483646 w 243"/>
              <a:gd name="T49" fmla="*/ 2147483646 h 1152"/>
              <a:gd name="T50" fmla="*/ 2147483646 w 243"/>
              <a:gd name="T51" fmla="*/ 2147483646 h 1152"/>
              <a:gd name="T52" fmla="*/ 2147483646 w 243"/>
              <a:gd name="T53" fmla="*/ 2147483646 h 1152"/>
              <a:gd name="T54" fmla="*/ 2147483646 w 243"/>
              <a:gd name="T55" fmla="*/ 2147483646 h 1152"/>
              <a:gd name="T56" fmla="*/ 2147483646 w 243"/>
              <a:gd name="T57" fmla="*/ 2147483646 h 1152"/>
              <a:gd name="T58" fmla="*/ 2147483646 w 243"/>
              <a:gd name="T59" fmla="*/ 2147483646 h 1152"/>
              <a:gd name="T60" fmla="*/ 2147483646 w 243"/>
              <a:gd name="T61" fmla="*/ 2147483646 h 1152"/>
              <a:gd name="T62" fmla="*/ 2147483646 w 243"/>
              <a:gd name="T63" fmla="*/ 2147483646 h 1152"/>
              <a:gd name="T64" fmla="*/ 2147483646 w 243"/>
              <a:gd name="T65" fmla="*/ 0 h 1152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243" h="1152">
                <a:moveTo>
                  <a:pt x="243" y="1152"/>
                </a:moveTo>
                <a:lnTo>
                  <a:pt x="214" y="1122"/>
                </a:lnTo>
                <a:lnTo>
                  <a:pt x="186" y="1091"/>
                </a:lnTo>
                <a:lnTo>
                  <a:pt x="161" y="1058"/>
                </a:lnTo>
                <a:lnTo>
                  <a:pt x="138" y="1026"/>
                </a:lnTo>
                <a:lnTo>
                  <a:pt x="115" y="993"/>
                </a:lnTo>
                <a:lnTo>
                  <a:pt x="96" y="958"/>
                </a:lnTo>
                <a:lnTo>
                  <a:pt x="78" y="924"/>
                </a:lnTo>
                <a:lnTo>
                  <a:pt x="61" y="889"/>
                </a:lnTo>
                <a:lnTo>
                  <a:pt x="48" y="853"/>
                </a:lnTo>
                <a:lnTo>
                  <a:pt x="34" y="816"/>
                </a:lnTo>
                <a:lnTo>
                  <a:pt x="25" y="780"/>
                </a:lnTo>
                <a:lnTo>
                  <a:pt x="15" y="743"/>
                </a:lnTo>
                <a:lnTo>
                  <a:pt x="9" y="705"/>
                </a:lnTo>
                <a:lnTo>
                  <a:pt x="3" y="666"/>
                </a:lnTo>
                <a:lnTo>
                  <a:pt x="2" y="630"/>
                </a:lnTo>
                <a:lnTo>
                  <a:pt x="0" y="591"/>
                </a:lnTo>
                <a:lnTo>
                  <a:pt x="0" y="553"/>
                </a:lnTo>
                <a:lnTo>
                  <a:pt x="3" y="515"/>
                </a:lnTo>
                <a:lnTo>
                  <a:pt x="7" y="476"/>
                </a:lnTo>
                <a:lnTo>
                  <a:pt x="13" y="438"/>
                </a:lnTo>
                <a:lnTo>
                  <a:pt x="21" y="399"/>
                </a:lnTo>
                <a:lnTo>
                  <a:pt x="30" y="363"/>
                </a:lnTo>
                <a:lnTo>
                  <a:pt x="42" y="324"/>
                </a:lnTo>
                <a:lnTo>
                  <a:pt x="57" y="286"/>
                </a:lnTo>
                <a:lnTo>
                  <a:pt x="72" y="249"/>
                </a:lnTo>
                <a:lnTo>
                  <a:pt x="90" y="211"/>
                </a:lnTo>
                <a:lnTo>
                  <a:pt x="109" y="174"/>
                </a:lnTo>
                <a:lnTo>
                  <a:pt x="130" y="140"/>
                </a:lnTo>
                <a:lnTo>
                  <a:pt x="153" y="103"/>
                </a:lnTo>
                <a:lnTo>
                  <a:pt x="178" y="69"/>
                </a:lnTo>
                <a:lnTo>
                  <a:pt x="203" y="34"/>
                </a:lnTo>
                <a:lnTo>
                  <a:pt x="232" y="0"/>
                </a:lnTo>
              </a:path>
            </a:pathLst>
          </a:custGeom>
          <a:noFill/>
          <a:ln w="28575" cmpd="sng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81" name="Freeform 29"/>
          <p:cNvSpPr>
            <a:spLocks/>
          </p:cNvSpPr>
          <p:nvPr/>
        </p:nvSpPr>
        <p:spPr bwMode="auto">
          <a:xfrm>
            <a:off x="1730375" y="2362200"/>
            <a:ext cx="117475" cy="609600"/>
          </a:xfrm>
          <a:custGeom>
            <a:avLst/>
            <a:gdLst>
              <a:gd name="T0" fmla="*/ 2147483646 w 74"/>
              <a:gd name="T1" fmla="*/ 0 h 384"/>
              <a:gd name="T2" fmla="*/ 2147483646 w 74"/>
              <a:gd name="T3" fmla="*/ 2147483646 h 384"/>
              <a:gd name="T4" fmla="*/ 2147483646 w 74"/>
              <a:gd name="T5" fmla="*/ 2147483646 h 384"/>
              <a:gd name="T6" fmla="*/ 2147483646 w 74"/>
              <a:gd name="T7" fmla="*/ 2147483646 h 384"/>
              <a:gd name="T8" fmla="*/ 2147483646 w 74"/>
              <a:gd name="T9" fmla="*/ 2147483646 h 384"/>
              <a:gd name="T10" fmla="*/ 2147483646 w 74"/>
              <a:gd name="T11" fmla="*/ 2147483646 h 384"/>
              <a:gd name="T12" fmla="*/ 2147483646 w 74"/>
              <a:gd name="T13" fmla="*/ 2147483646 h 384"/>
              <a:gd name="T14" fmla="*/ 2147483646 w 74"/>
              <a:gd name="T15" fmla="*/ 2147483646 h 384"/>
              <a:gd name="T16" fmla="*/ 2147483646 w 74"/>
              <a:gd name="T17" fmla="*/ 2147483646 h 384"/>
              <a:gd name="T18" fmla="*/ 2147483646 w 74"/>
              <a:gd name="T19" fmla="*/ 2147483646 h 384"/>
              <a:gd name="T20" fmla="*/ 2147483646 w 74"/>
              <a:gd name="T21" fmla="*/ 2147483646 h 384"/>
              <a:gd name="T22" fmla="*/ 2147483646 w 74"/>
              <a:gd name="T23" fmla="*/ 2147483646 h 384"/>
              <a:gd name="T24" fmla="*/ 2147483646 w 74"/>
              <a:gd name="T25" fmla="*/ 2147483646 h 384"/>
              <a:gd name="T26" fmla="*/ 2147483646 w 74"/>
              <a:gd name="T27" fmla="*/ 2147483646 h 384"/>
              <a:gd name="T28" fmla="*/ 2147483646 w 74"/>
              <a:gd name="T29" fmla="*/ 2147483646 h 384"/>
              <a:gd name="T30" fmla="*/ 2147483646 w 74"/>
              <a:gd name="T31" fmla="*/ 2147483646 h 384"/>
              <a:gd name="T32" fmla="*/ 0 w 74"/>
              <a:gd name="T33" fmla="*/ 2147483646 h 38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74" h="384">
                <a:moveTo>
                  <a:pt x="2" y="0"/>
                </a:moveTo>
                <a:lnTo>
                  <a:pt x="19" y="19"/>
                </a:lnTo>
                <a:lnTo>
                  <a:pt x="32" y="39"/>
                </a:lnTo>
                <a:lnTo>
                  <a:pt x="46" y="62"/>
                </a:lnTo>
                <a:lnTo>
                  <a:pt x="55" y="85"/>
                </a:lnTo>
                <a:lnTo>
                  <a:pt x="65" y="112"/>
                </a:lnTo>
                <a:lnTo>
                  <a:pt x="71" y="138"/>
                </a:lnTo>
                <a:lnTo>
                  <a:pt x="74" y="167"/>
                </a:lnTo>
                <a:lnTo>
                  <a:pt x="74" y="196"/>
                </a:lnTo>
                <a:lnTo>
                  <a:pt x="72" y="223"/>
                </a:lnTo>
                <a:lnTo>
                  <a:pt x="69" y="250"/>
                </a:lnTo>
                <a:lnTo>
                  <a:pt x="63" y="277"/>
                </a:lnTo>
                <a:lnTo>
                  <a:pt x="53" y="302"/>
                </a:lnTo>
                <a:lnTo>
                  <a:pt x="44" y="327"/>
                </a:lnTo>
                <a:lnTo>
                  <a:pt x="30" y="348"/>
                </a:lnTo>
                <a:lnTo>
                  <a:pt x="17" y="367"/>
                </a:lnTo>
                <a:lnTo>
                  <a:pt x="0" y="384"/>
                </a:lnTo>
              </a:path>
            </a:pathLst>
          </a:custGeom>
          <a:noFill/>
          <a:ln w="28575" cmpd="sng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82" name="Line 30"/>
          <p:cNvSpPr>
            <a:spLocks noChangeShapeType="1"/>
          </p:cNvSpPr>
          <p:nvPr/>
        </p:nvSpPr>
        <p:spPr bwMode="auto">
          <a:xfrm flipV="1">
            <a:off x="1730375" y="4572000"/>
            <a:ext cx="1752600" cy="5334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83" name="Line 31"/>
          <p:cNvSpPr>
            <a:spLocks noChangeShapeType="1"/>
          </p:cNvSpPr>
          <p:nvPr/>
        </p:nvSpPr>
        <p:spPr bwMode="auto">
          <a:xfrm>
            <a:off x="1717675" y="5664200"/>
            <a:ext cx="1676400" cy="5334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0384" name="Group 32"/>
          <p:cNvGrpSpPr>
            <a:grpSpLocks/>
          </p:cNvGrpSpPr>
          <p:nvPr/>
        </p:nvGrpSpPr>
        <p:grpSpPr bwMode="auto">
          <a:xfrm>
            <a:off x="892175" y="4648200"/>
            <a:ext cx="3644900" cy="1524000"/>
            <a:chOff x="1488" y="2928"/>
            <a:chExt cx="2296" cy="960"/>
          </a:xfrm>
        </p:grpSpPr>
        <p:sp>
          <p:nvSpPr>
            <p:cNvPr id="22601" name="Line 33"/>
            <p:cNvSpPr>
              <a:spLocks noChangeShapeType="1"/>
            </p:cNvSpPr>
            <p:nvPr/>
          </p:nvSpPr>
          <p:spPr bwMode="auto">
            <a:xfrm flipV="1">
              <a:off x="1488" y="2928"/>
              <a:ext cx="2256" cy="48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602" name="Line 34"/>
            <p:cNvSpPr>
              <a:spLocks noChangeShapeType="1"/>
            </p:cNvSpPr>
            <p:nvPr/>
          </p:nvSpPr>
          <p:spPr bwMode="auto">
            <a:xfrm>
              <a:off x="1528" y="3408"/>
              <a:ext cx="2256" cy="48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603" name="Line 35"/>
            <p:cNvSpPr>
              <a:spLocks noChangeShapeType="1"/>
            </p:cNvSpPr>
            <p:nvPr/>
          </p:nvSpPr>
          <p:spPr bwMode="auto">
            <a:xfrm>
              <a:off x="1488" y="3408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0388" name="Group 36"/>
          <p:cNvGrpSpPr>
            <a:grpSpLocks/>
          </p:cNvGrpSpPr>
          <p:nvPr/>
        </p:nvGrpSpPr>
        <p:grpSpPr bwMode="auto">
          <a:xfrm>
            <a:off x="1717675" y="1739900"/>
            <a:ext cx="2133600" cy="1841500"/>
            <a:chOff x="2008" y="1096"/>
            <a:chExt cx="1344" cy="1160"/>
          </a:xfrm>
        </p:grpSpPr>
        <p:sp>
          <p:nvSpPr>
            <p:cNvPr id="22599" name="Line 37"/>
            <p:cNvSpPr>
              <a:spLocks noChangeShapeType="1"/>
            </p:cNvSpPr>
            <p:nvPr/>
          </p:nvSpPr>
          <p:spPr bwMode="auto">
            <a:xfrm>
              <a:off x="2064" y="1872"/>
              <a:ext cx="1248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600" name="Line 38"/>
            <p:cNvSpPr>
              <a:spLocks noChangeShapeType="1"/>
            </p:cNvSpPr>
            <p:nvPr/>
          </p:nvSpPr>
          <p:spPr bwMode="auto">
            <a:xfrm flipV="1">
              <a:off x="2008" y="1096"/>
              <a:ext cx="1344" cy="4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0391" name="Line 39"/>
          <p:cNvSpPr>
            <a:spLocks noChangeShapeType="1"/>
          </p:cNvSpPr>
          <p:nvPr/>
        </p:nvSpPr>
        <p:spPr bwMode="auto">
          <a:xfrm flipV="1">
            <a:off x="1730375" y="1295400"/>
            <a:ext cx="0" cy="10668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92" name="Line 40"/>
          <p:cNvSpPr>
            <a:spLocks noChangeShapeType="1"/>
          </p:cNvSpPr>
          <p:nvPr/>
        </p:nvSpPr>
        <p:spPr bwMode="auto">
          <a:xfrm>
            <a:off x="1730375" y="1295400"/>
            <a:ext cx="2057400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93" name="Line 41"/>
          <p:cNvSpPr>
            <a:spLocks noChangeShapeType="1"/>
          </p:cNvSpPr>
          <p:nvPr/>
        </p:nvSpPr>
        <p:spPr bwMode="auto">
          <a:xfrm>
            <a:off x="3787775" y="1295400"/>
            <a:ext cx="0" cy="4572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94" name="Line 42"/>
          <p:cNvSpPr>
            <a:spLocks noChangeShapeType="1"/>
          </p:cNvSpPr>
          <p:nvPr/>
        </p:nvSpPr>
        <p:spPr bwMode="auto">
          <a:xfrm>
            <a:off x="1730375" y="2971800"/>
            <a:ext cx="0" cy="10668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95" name="Line 43"/>
          <p:cNvSpPr>
            <a:spLocks noChangeShapeType="1"/>
          </p:cNvSpPr>
          <p:nvPr/>
        </p:nvSpPr>
        <p:spPr bwMode="auto">
          <a:xfrm>
            <a:off x="1730375" y="4038600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96" name="Line 44"/>
          <p:cNvSpPr>
            <a:spLocks noChangeShapeType="1"/>
          </p:cNvSpPr>
          <p:nvPr/>
        </p:nvSpPr>
        <p:spPr bwMode="auto">
          <a:xfrm flipV="1">
            <a:off x="3787775" y="3581400"/>
            <a:ext cx="0" cy="4572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97" name="Line 45"/>
          <p:cNvSpPr>
            <a:spLocks noChangeShapeType="1"/>
          </p:cNvSpPr>
          <p:nvPr/>
        </p:nvSpPr>
        <p:spPr bwMode="auto">
          <a:xfrm flipV="1">
            <a:off x="2746375" y="1200150"/>
            <a:ext cx="0" cy="29718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0398" name="Text Box 46"/>
          <p:cNvSpPr txBox="1">
            <a:spLocks noChangeArrowheads="1"/>
          </p:cNvSpPr>
          <p:nvPr/>
        </p:nvSpPr>
        <p:spPr bwMode="auto">
          <a:xfrm>
            <a:off x="76200" y="3719513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740399" name="Text Box 47"/>
          <p:cNvSpPr txBox="1">
            <a:spLocks noChangeArrowheads="1"/>
          </p:cNvSpPr>
          <p:nvPr/>
        </p:nvSpPr>
        <p:spPr bwMode="auto">
          <a:xfrm>
            <a:off x="5616575" y="373380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Y</a:t>
            </a:r>
          </a:p>
        </p:txBody>
      </p:sp>
      <p:grpSp>
        <p:nvGrpSpPr>
          <p:cNvPr id="740400" name="Group 48"/>
          <p:cNvGrpSpPr>
            <a:grpSpLocks/>
          </p:cNvGrpSpPr>
          <p:nvPr/>
        </p:nvGrpSpPr>
        <p:grpSpPr bwMode="auto">
          <a:xfrm>
            <a:off x="1724025" y="2057400"/>
            <a:ext cx="2063750" cy="3390900"/>
            <a:chOff x="2012" y="1296"/>
            <a:chExt cx="1300" cy="2136"/>
          </a:xfrm>
        </p:grpSpPr>
        <p:sp>
          <p:nvSpPr>
            <p:cNvPr id="22588" name="Line 49"/>
            <p:cNvSpPr>
              <a:spLocks noChangeShapeType="1"/>
            </p:cNvSpPr>
            <p:nvPr/>
          </p:nvSpPr>
          <p:spPr bwMode="auto">
            <a:xfrm flipV="1">
              <a:off x="3072" y="1680"/>
              <a:ext cx="0" cy="120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89" name="Line 50"/>
            <p:cNvSpPr>
              <a:spLocks noChangeShapeType="1"/>
            </p:cNvSpPr>
            <p:nvPr/>
          </p:nvSpPr>
          <p:spPr bwMode="auto">
            <a:xfrm flipV="1">
              <a:off x="3216" y="1296"/>
              <a:ext cx="0" cy="172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90" name="Line 51"/>
            <p:cNvSpPr>
              <a:spLocks noChangeShapeType="1"/>
            </p:cNvSpPr>
            <p:nvPr/>
          </p:nvSpPr>
          <p:spPr bwMode="auto">
            <a:xfrm flipV="1">
              <a:off x="3312" y="2496"/>
              <a:ext cx="0" cy="91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91" name="Line 52"/>
            <p:cNvSpPr>
              <a:spLocks noChangeShapeType="1"/>
            </p:cNvSpPr>
            <p:nvPr/>
          </p:nvSpPr>
          <p:spPr bwMode="auto">
            <a:xfrm flipV="1">
              <a:off x="2064" y="1680"/>
              <a:ext cx="0" cy="153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92" name="Line 53"/>
            <p:cNvSpPr>
              <a:spLocks noChangeShapeType="1"/>
            </p:cNvSpPr>
            <p:nvPr/>
          </p:nvSpPr>
          <p:spPr bwMode="auto">
            <a:xfrm flipV="1">
              <a:off x="2040" y="1552"/>
              <a:ext cx="0" cy="172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93" name="Line 54"/>
            <p:cNvSpPr>
              <a:spLocks noChangeShapeType="1"/>
            </p:cNvSpPr>
            <p:nvPr/>
          </p:nvSpPr>
          <p:spPr bwMode="auto">
            <a:xfrm flipV="1">
              <a:off x="2012" y="2520"/>
              <a:ext cx="0" cy="91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94" name="Line 55"/>
            <p:cNvSpPr>
              <a:spLocks noChangeShapeType="1"/>
            </p:cNvSpPr>
            <p:nvPr/>
          </p:nvSpPr>
          <p:spPr bwMode="auto">
            <a:xfrm flipV="1">
              <a:off x="3312" y="259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95" name="Line 56"/>
            <p:cNvSpPr>
              <a:spLocks noChangeShapeType="1"/>
            </p:cNvSpPr>
            <p:nvPr/>
          </p:nvSpPr>
          <p:spPr bwMode="auto">
            <a:xfrm flipV="1">
              <a:off x="3216" y="259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96" name="Line 57"/>
            <p:cNvSpPr>
              <a:spLocks noChangeShapeType="1"/>
            </p:cNvSpPr>
            <p:nvPr/>
          </p:nvSpPr>
          <p:spPr bwMode="auto">
            <a:xfrm flipV="1">
              <a:off x="3072" y="259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97" name="Line 58"/>
            <p:cNvSpPr>
              <a:spLocks noChangeShapeType="1"/>
            </p:cNvSpPr>
            <p:nvPr/>
          </p:nvSpPr>
          <p:spPr bwMode="auto">
            <a:xfrm flipV="1">
              <a:off x="2064" y="259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98" name="Line 59"/>
            <p:cNvSpPr>
              <a:spLocks noChangeShapeType="1"/>
            </p:cNvSpPr>
            <p:nvPr/>
          </p:nvSpPr>
          <p:spPr bwMode="auto">
            <a:xfrm flipV="1">
              <a:off x="2016" y="268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0412" name="Text Box 60"/>
          <p:cNvSpPr txBox="1">
            <a:spLocks noChangeArrowheads="1"/>
          </p:cNvSpPr>
          <p:nvPr/>
        </p:nvSpPr>
        <p:spPr bwMode="auto">
          <a:xfrm>
            <a:off x="5978525" y="-38100"/>
            <a:ext cx="26225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CASE 3.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CYLINDER STANDING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&amp;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CONE  PENETRATING</a:t>
            </a:r>
          </a:p>
        </p:txBody>
      </p:sp>
      <p:graphicFrame>
        <p:nvGraphicFramePr>
          <p:cNvPr id="740413" name="Object 61"/>
          <p:cNvGraphicFramePr>
            <a:graphicFrameLocks noChangeAspect="1"/>
          </p:cNvGraphicFramePr>
          <p:nvPr/>
        </p:nvGraphicFramePr>
        <p:xfrm>
          <a:off x="5715000" y="1104900"/>
          <a:ext cx="32004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0" name="Bitmap Image" r:id="rId4" imgW="3801006" imgH="3038095" progId="Paint.Picture">
                  <p:embed/>
                </p:oleObj>
              </mc:Choice>
              <mc:Fallback>
                <p:oleObj name="Bitmap Image" r:id="rId4" imgW="3801006" imgH="3038095" progId="Paint.Picture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104900"/>
                        <a:ext cx="3200400" cy="255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0414" name="Text Box 62"/>
          <p:cNvSpPr txBox="1">
            <a:spLocks noChangeArrowheads="1"/>
          </p:cNvSpPr>
          <p:nvPr/>
        </p:nvSpPr>
        <p:spPr bwMode="auto">
          <a:xfrm>
            <a:off x="0" y="96838"/>
            <a:ext cx="5133975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3300"/>
                </a:solidFill>
              </a:rPr>
              <a:t>Problem:</a:t>
            </a:r>
            <a:r>
              <a:rPr lang="en-US" altLang="en-US" sz="1600">
                <a:solidFill>
                  <a:srgbClr val="000000"/>
                </a:solidFill>
              </a:rPr>
              <a:t> A cylinder of 80 mm diameter and 100 mm axis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is completely penetrated by a cone of 80 mm diameter and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120 mm long axis horizontally. Both axes intersect &amp; bisect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each other. Draw projections showing curve of intersections.</a:t>
            </a:r>
          </a:p>
        </p:txBody>
      </p:sp>
      <p:grpSp>
        <p:nvGrpSpPr>
          <p:cNvPr id="740422" name="Group 70"/>
          <p:cNvGrpSpPr>
            <a:grpSpLocks/>
          </p:cNvGrpSpPr>
          <p:nvPr/>
        </p:nvGrpSpPr>
        <p:grpSpPr bwMode="auto">
          <a:xfrm>
            <a:off x="4267200" y="4267200"/>
            <a:ext cx="406400" cy="2286000"/>
            <a:chOff x="2688" y="2688"/>
            <a:chExt cx="256" cy="1440"/>
          </a:xfrm>
        </p:grpSpPr>
        <p:sp>
          <p:nvSpPr>
            <p:cNvPr id="22583" name="Text Box 71"/>
            <p:cNvSpPr txBox="1">
              <a:spLocks noChangeArrowheads="1"/>
            </p:cNvSpPr>
            <p:nvPr/>
          </p:nvSpPr>
          <p:spPr bwMode="auto">
            <a:xfrm>
              <a:off x="2688" y="268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2584" name="Text Box 72"/>
            <p:cNvSpPr txBox="1">
              <a:spLocks noChangeArrowheads="1"/>
            </p:cNvSpPr>
            <p:nvPr/>
          </p:nvSpPr>
          <p:spPr bwMode="auto">
            <a:xfrm>
              <a:off x="2688" y="2928"/>
              <a:ext cx="25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2 8</a:t>
              </a:r>
            </a:p>
          </p:txBody>
        </p:sp>
        <p:sp>
          <p:nvSpPr>
            <p:cNvPr id="22585" name="Text Box 73"/>
            <p:cNvSpPr txBox="1">
              <a:spLocks noChangeArrowheads="1"/>
            </p:cNvSpPr>
            <p:nvPr/>
          </p:nvSpPr>
          <p:spPr bwMode="auto">
            <a:xfrm>
              <a:off x="2688" y="3312"/>
              <a:ext cx="25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3 7</a:t>
              </a:r>
            </a:p>
          </p:txBody>
        </p:sp>
        <p:sp>
          <p:nvSpPr>
            <p:cNvPr id="22586" name="Text Box 74"/>
            <p:cNvSpPr txBox="1">
              <a:spLocks noChangeArrowheads="1"/>
            </p:cNvSpPr>
            <p:nvPr/>
          </p:nvSpPr>
          <p:spPr bwMode="auto">
            <a:xfrm>
              <a:off x="2688" y="3744"/>
              <a:ext cx="25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4 6</a:t>
              </a:r>
            </a:p>
          </p:txBody>
        </p:sp>
        <p:sp>
          <p:nvSpPr>
            <p:cNvPr id="22587" name="Text Box 75"/>
            <p:cNvSpPr txBox="1">
              <a:spLocks noChangeArrowheads="1"/>
            </p:cNvSpPr>
            <p:nvPr/>
          </p:nvSpPr>
          <p:spPr bwMode="auto">
            <a:xfrm>
              <a:off x="2688" y="393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5</a:t>
              </a:r>
            </a:p>
          </p:txBody>
        </p:sp>
      </p:grpSp>
      <p:grpSp>
        <p:nvGrpSpPr>
          <p:cNvPr id="740428" name="Group 76"/>
          <p:cNvGrpSpPr>
            <a:grpSpLocks/>
          </p:cNvGrpSpPr>
          <p:nvPr/>
        </p:nvGrpSpPr>
        <p:grpSpPr bwMode="auto">
          <a:xfrm>
            <a:off x="4191000" y="1524000"/>
            <a:ext cx="523875" cy="2286000"/>
            <a:chOff x="2688" y="2688"/>
            <a:chExt cx="330" cy="1440"/>
          </a:xfrm>
        </p:grpSpPr>
        <p:sp>
          <p:nvSpPr>
            <p:cNvPr id="22578" name="Text Box 77"/>
            <p:cNvSpPr txBox="1">
              <a:spLocks noChangeArrowheads="1"/>
            </p:cNvSpPr>
            <p:nvPr/>
          </p:nvSpPr>
          <p:spPr bwMode="auto">
            <a:xfrm>
              <a:off x="2688" y="2688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7’</a:t>
              </a:r>
            </a:p>
          </p:txBody>
        </p:sp>
        <p:sp>
          <p:nvSpPr>
            <p:cNvPr id="22579" name="Text Box 78"/>
            <p:cNvSpPr txBox="1">
              <a:spLocks noChangeArrowheads="1"/>
            </p:cNvSpPr>
            <p:nvPr/>
          </p:nvSpPr>
          <p:spPr bwMode="auto">
            <a:xfrm>
              <a:off x="2688" y="2928"/>
              <a:ext cx="33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6’ 8’</a:t>
              </a:r>
            </a:p>
          </p:txBody>
        </p:sp>
        <p:sp>
          <p:nvSpPr>
            <p:cNvPr id="22580" name="Text Box 79"/>
            <p:cNvSpPr txBox="1">
              <a:spLocks noChangeArrowheads="1"/>
            </p:cNvSpPr>
            <p:nvPr/>
          </p:nvSpPr>
          <p:spPr bwMode="auto">
            <a:xfrm>
              <a:off x="2688" y="3312"/>
              <a:ext cx="33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1’ 5’</a:t>
              </a:r>
            </a:p>
          </p:txBody>
        </p:sp>
        <p:sp>
          <p:nvSpPr>
            <p:cNvPr id="22581" name="Text Box 80"/>
            <p:cNvSpPr txBox="1">
              <a:spLocks noChangeArrowheads="1"/>
            </p:cNvSpPr>
            <p:nvPr/>
          </p:nvSpPr>
          <p:spPr bwMode="auto">
            <a:xfrm>
              <a:off x="2688" y="3744"/>
              <a:ext cx="33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2’ 4’</a:t>
              </a:r>
            </a:p>
          </p:txBody>
        </p:sp>
        <p:sp>
          <p:nvSpPr>
            <p:cNvPr id="22582" name="Text Box 81"/>
            <p:cNvSpPr txBox="1">
              <a:spLocks noChangeArrowheads="1"/>
            </p:cNvSpPr>
            <p:nvPr/>
          </p:nvSpPr>
          <p:spPr bwMode="auto">
            <a:xfrm>
              <a:off x="2688" y="3936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3’</a:t>
              </a:r>
            </a:p>
          </p:txBody>
        </p:sp>
      </p:grpSp>
      <p:grpSp>
        <p:nvGrpSpPr>
          <p:cNvPr id="22571" name="Group 82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22572" name="AutoShape 83">
              <a:hlinkClick r:id="rId6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73" name="AutoShape 84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74" name="AutoShape 85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75" name="AutoShape 86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76" name="AutoShape 87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77" name="AutoShape 88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0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0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0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40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0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0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0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0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0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0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0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0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40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40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40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40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4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4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40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40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40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40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40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40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40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40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40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40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40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40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4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4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7" dur="500"/>
                                        <p:tgtEl>
                                          <p:spTgt spid="74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2" dur="500"/>
                                        <p:tgtEl>
                                          <p:spTgt spid="74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7" dur="500"/>
                                        <p:tgtEl>
                                          <p:spTgt spid="740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40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40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40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40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4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4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40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40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4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4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40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740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40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40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74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4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40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40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40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740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740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740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40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40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40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740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40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740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740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740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740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40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40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740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740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740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740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740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740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740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740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740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740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740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740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740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0" dur="500"/>
                                        <p:tgtEl>
                                          <p:spTgt spid="74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5" dur="500"/>
                                        <p:tgtEl>
                                          <p:spTgt spid="740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740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740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740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740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740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740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740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740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740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740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740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740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58" grpId="0" animBg="1"/>
      <p:bldP spid="740360" grpId="0" animBg="1"/>
      <p:bldP spid="740371" grpId="0" animBg="1"/>
      <p:bldP spid="740372" grpId="0" animBg="1"/>
      <p:bldP spid="740373" grpId="0" animBg="1"/>
      <p:bldP spid="740374" grpId="0" animBg="1"/>
      <p:bldP spid="740375" grpId="0" animBg="1"/>
      <p:bldP spid="740376" grpId="0" animBg="1"/>
      <p:bldP spid="740377" grpId="0" animBg="1"/>
      <p:bldP spid="740378" grpId="0" animBg="1"/>
      <p:bldP spid="740379" grpId="0" animBg="1"/>
      <p:bldP spid="740398" grpId="0" autoUpdateAnimBg="0"/>
      <p:bldP spid="740399" grpId="0" autoUpdateAnimBg="0"/>
      <p:bldP spid="740412" grpId="0" autoUpdateAnimBg="0"/>
      <p:bldP spid="74041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AutoShape 2"/>
          <p:cNvSpPr>
            <a:spLocks noChangeArrowheads="1"/>
          </p:cNvSpPr>
          <p:nvPr/>
        </p:nvSpPr>
        <p:spPr bwMode="auto">
          <a:xfrm>
            <a:off x="1311275" y="4546600"/>
            <a:ext cx="1752600" cy="1752600"/>
          </a:xfrm>
          <a:prstGeom prst="diamond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2403" name="Line 3"/>
          <p:cNvSpPr>
            <a:spLocks noChangeShapeType="1"/>
          </p:cNvSpPr>
          <p:nvPr/>
        </p:nvSpPr>
        <p:spPr bwMode="auto">
          <a:xfrm>
            <a:off x="92075" y="4241800"/>
            <a:ext cx="678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2404" name="Group 4"/>
          <p:cNvGrpSpPr>
            <a:grpSpLocks/>
          </p:cNvGrpSpPr>
          <p:nvPr/>
        </p:nvGrpSpPr>
        <p:grpSpPr bwMode="auto">
          <a:xfrm>
            <a:off x="4359275" y="1879600"/>
            <a:ext cx="1752600" cy="2362200"/>
            <a:chOff x="1056" y="1200"/>
            <a:chExt cx="1104" cy="1488"/>
          </a:xfrm>
        </p:grpSpPr>
        <p:sp>
          <p:nvSpPr>
            <p:cNvPr id="24699" name="Rectangle 5"/>
            <p:cNvSpPr>
              <a:spLocks noChangeArrowheads="1"/>
            </p:cNvSpPr>
            <p:nvPr/>
          </p:nvSpPr>
          <p:spPr bwMode="auto">
            <a:xfrm>
              <a:off x="1056" y="1200"/>
              <a:ext cx="1104" cy="14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700" name="Line 6"/>
            <p:cNvSpPr>
              <a:spLocks noChangeShapeType="1"/>
            </p:cNvSpPr>
            <p:nvPr/>
          </p:nvSpPr>
          <p:spPr bwMode="auto">
            <a:xfrm flipV="1">
              <a:off x="1600" y="1200"/>
              <a:ext cx="0" cy="14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2407" name="AutoShape 7"/>
          <p:cNvSpPr>
            <a:spLocks noChangeArrowheads="1"/>
          </p:cNvSpPr>
          <p:nvPr/>
        </p:nvSpPr>
        <p:spPr bwMode="auto">
          <a:xfrm>
            <a:off x="4498975" y="2336800"/>
            <a:ext cx="1447800" cy="1447800"/>
          </a:xfrm>
          <a:prstGeom prst="diamond">
            <a:avLst/>
          </a:prstGeom>
          <a:solidFill>
            <a:schemeClr val="bg1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2408" name="Line 8"/>
          <p:cNvSpPr>
            <a:spLocks noChangeShapeType="1"/>
          </p:cNvSpPr>
          <p:nvPr/>
        </p:nvSpPr>
        <p:spPr bwMode="auto">
          <a:xfrm>
            <a:off x="4054475" y="4241800"/>
            <a:ext cx="2057400" cy="2057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2409" name="Group 9"/>
          <p:cNvGrpSpPr>
            <a:grpSpLocks/>
          </p:cNvGrpSpPr>
          <p:nvPr/>
        </p:nvGrpSpPr>
        <p:grpSpPr bwMode="auto">
          <a:xfrm>
            <a:off x="2149475" y="4546600"/>
            <a:ext cx="4114800" cy="1752600"/>
            <a:chOff x="2064" y="2784"/>
            <a:chExt cx="2592" cy="1104"/>
          </a:xfrm>
        </p:grpSpPr>
        <p:sp>
          <p:nvSpPr>
            <p:cNvPr id="24696" name="Line 10"/>
            <p:cNvSpPr>
              <a:spLocks noChangeShapeType="1"/>
            </p:cNvSpPr>
            <p:nvPr/>
          </p:nvSpPr>
          <p:spPr bwMode="auto">
            <a:xfrm>
              <a:off x="2064" y="2784"/>
              <a:ext cx="139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7" name="Line 11"/>
            <p:cNvSpPr>
              <a:spLocks noChangeShapeType="1"/>
            </p:cNvSpPr>
            <p:nvPr/>
          </p:nvSpPr>
          <p:spPr bwMode="auto">
            <a:xfrm>
              <a:off x="2064" y="3888"/>
              <a:ext cx="259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8" name="Line 12"/>
            <p:cNvSpPr>
              <a:spLocks noChangeShapeType="1"/>
            </p:cNvSpPr>
            <p:nvPr/>
          </p:nvSpPr>
          <p:spPr bwMode="auto">
            <a:xfrm>
              <a:off x="2640" y="3336"/>
              <a:ext cx="139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2413" name="Group 13"/>
          <p:cNvGrpSpPr>
            <a:grpSpLocks/>
          </p:cNvGrpSpPr>
          <p:nvPr/>
        </p:nvGrpSpPr>
        <p:grpSpPr bwMode="auto">
          <a:xfrm>
            <a:off x="4359275" y="3937000"/>
            <a:ext cx="1752600" cy="2362200"/>
            <a:chOff x="3456" y="2400"/>
            <a:chExt cx="1104" cy="1488"/>
          </a:xfrm>
        </p:grpSpPr>
        <p:sp>
          <p:nvSpPr>
            <p:cNvPr id="24693" name="Line 14"/>
            <p:cNvSpPr>
              <a:spLocks noChangeShapeType="1"/>
            </p:cNvSpPr>
            <p:nvPr/>
          </p:nvSpPr>
          <p:spPr bwMode="auto">
            <a:xfrm>
              <a:off x="3456" y="2496"/>
              <a:ext cx="0" cy="28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4" name="Line 15"/>
            <p:cNvSpPr>
              <a:spLocks noChangeShapeType="1"/>
            </p:cNvSpPr>
            <p:nvPr/>
          </p:nvSpPr>
          <p:spPr bwMode="auto">
            <a:xfrm>
              <a:off x="4560" y="2400"/>
              <a:ext cx="0" cy="148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5" name="Line 16"/>
            <p:cNvSpPr>
              <a:spLocks noChangeShapeType="1"/>
            </p:cNvSpPr>
            <p:nvPr/>
          </p:nvSpPr>
          <p:spPr bwMode="auto">
            <a:xfrm>
              <a:off x="4000" y="2496"/>
              <a:ext cx="0" cy="86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2417" name="Line 17"/>
          <p:cNvSpPr>
            <a:spLocks noChangeShapeType="1"/>
          </p:cNvSpPr>
          <p:nvPr/>
        </p:nvSpPr>
        <p:spPr bwMode="auto">
          <a:xfrm flipH="1">
            <a:off x="701675" y="2336800"/>
            <a:ext cx="44958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18" name="Line 18"/>
          <p:cNvSpPr>
            <a:spLocks noChangeShapeType="1"/>
          </p:cNvSpPr>
          <p:nvPr/>
        </p:nvSpPr>
        <p:spPr bwMode="auto">
          <a:xfrm flipH="1">
            <a:off x="701675" y="3022600"/>
            <a:ext cx="38100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19" name="Line 19"/>
          <p:cNvSpPr>
            <a:spLocks noChangeShapeType="1"/>
          </p:cNvSpPr>
          <p:nvPr/>
        </p:nvSpPr>
        <p:spPr bwMode="auto">
          <a:xfrm flipH="1">
            <a:off x="701675" y="3784600"/>
            <a:ext cx="44958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20" name="Line 20"/>
          <p:cNvSpPr>
            <a:spLocks noChangeShapeType="1"/>
          </p:cNvSpPr>
          <p:nvPr/>
        </p:nvSpPr>
        <p:spPr bwMode="auto">
          <a:xfrm>
            <a:off x="4511675" y="2978150"/>
            <a:ext cx="0" cy="1752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21" name="Line 21"/>
          <p:cNvSpPr>
            <a:spLocks noChangeShapeType="1"/>
          </p:cNvSpPr>
          <p:nvPr/>
        </p:nvSpPr>
        <p:spPr bwMode="auto">
          <a:xfrm flipH="1">
            <a:off x="625475" y="4699000"/>
            <a:ext cx="3886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22" name="Line 22"/>
          <p:cNvSpPr>
            <a:spLocks noChangeShapeType="1"/>
          </p:cNvSpPr>
          <p:nvPr/>
        </p:nvSpPr>
        <p:spPr bwMode="auto">
          <a:xfrm>
            <a:off x="5959475" y="3022600"/>
            <a:ext cx="0" cy="3124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23" name="Line 23"/>
          <p:cNvSpPr>
            <a:spLocks noChangeShapeType="1"/>
          </p:cNvSpPr>
          <p:nvPr/>
        </p:nvSpPr>
        <p:spPr bwMode="auto">
          <a:xfrm flipH="1">
            <a:off x="701675" y="61468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24" name="Line 24"/>
          <p:cNvSpPr>
            <a:spLocks noChangeShapeType="1"/>
          </p:cNvSpPr>
          <p:nvPr/>
        </p:nvSpPr>
        <p:spPr bwMode="auto">
          <a:xfrm flipV="1">
            <a:off x="2339975" y="2946400"/>
            <a:ext cx="0" cy="1752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25" name="Line 25"/>
          <p:cNvSpPr>
            <a:spLocks noChangeShapeType="1"/>
          </p:cNvSpPr>
          <p:nvPr/>
        </p:nvSpPr>
        <p:spPr bwMode="auto">
          <a:xfrm flipV="1">
            <a:off x="1997075" y="2984500"/>
            <a:ext cx="0" cy="1752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26" name="Line 26"/>
          <p:cNvSpPr>
            <a:spLocks noChangeShapeType="1"/>
          </p:cNvSpPr>
          <p:nvPr/>
        </p:nvSpPr>
        <p:spPr bwMode="auto">
          <a:xfrm flipV="1">
            <a:off x="1311275" y="3022600"/>
            <a:ext cx="685800" cy="7620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27" name="Line 27"/>
          <p:cNvSpPr>
            <a:spLocks noChangeShapeType="1"/>
          </p:cNvSpPr>
          <p:nvPr/>
        </p:nvSpPr>
        <p:spPr bwMode="auto">
          <a:xfrm>
            <a:off x="2301875" y="3022600"/>
            <a:ext cx="762000" cy="7620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28" name="Line 28"/>
          <p:cNvSpPr>
            <a:spLocks noChangeShapeType="1"/>
          </p:cNvSpPr>
          <p:nvPr/>
        </p:nvSpPr>
        <p:spPr bwMode="auto">
          <a:xfrm>
            <a:off x="1311275" y="2336800"/>
            <a:ext cx="685800" cy="6858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29" name="Line 29"/>
          <p:cNvSpPr>
            <a:spLocks noChangeShapeType="1"/>
          </p:cNvSpPr>
          <p:nvPr/>
        </p:nvSpPr>
        <p:spPr bwMode="auto">
          <a:xfrm flipV="1">
            <a:off x="2301875" y="2336800"/>
            <a:ext cx="762000" cy="6858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2430" name="Group 30"/>
          <p:cNvGrpSpPr>
            <a:grpSpLocks/>
          </p:cNvGrpSpPr>
          <p:nvPr/>
        </p:nvGrpSpPr>
        <p:grpSpPr bwMode="auto">
          <a:xfrm>
            <a:off x="688975" y="2336800"/>
            <a:ext cx="2908300" cy="1447800"/>
            <a:chOff x="1144" y="1392"/>
            <a:chExt cx="1832" cy="912"/>
          </a:xfrm>
        </p:grpSpPr>
        <p:sp>
          <p:nvSpPr>
            <p:cNvPr id="24685" name="Line 31"/>
            <p:cNvSpPr>
              <a:spLocks noChangeShapeType="1"/>
            </p:cNvSpPr>
            <p:nvPr/>
          </p:nvSpPr>
          <p:spPr bwMode="auto">
            <a:xfrm>
              <a:off x="1152" y="1392"/>
              <a:ext cx="0" cy="91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86" name="Line 32"/>
            <p:cNvSpPr>
              <a:spLocks noChangeShapeType="1"/>
            </p:cNvSpPr>
            <p:nvPr/>
          </p:nvSpPr>
          <p:spPr bwMode="auto">
            <a:xfrm>
              <a:off x="2976" y="1392"/>
              <a:ext cx="0" cy="91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87" name="Line 33"/>
            <p:cNvSpPr>
              <a:spLocks noChangeShapeType="1"/>
            </p:cNvSpPr>
            <p:nvPr/>
          </p:nvSpPr>
          <p:spPr bwMode="auto">
            <a:xfrm>
              <a:off x="1152" y="1392"/>
              <a:ext cx="38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88" name="Line 34"/>
            <p:cNvSpPr>
              <a:spLocks noChangeShapeType="1"/>
            </p:cNvSpPr>
            <p:nvPr/>
          </p:nvSpPr>
          <p:spPr bwMode="auto">
            <a:xfrm>
              <a:off x="2640" y="1392"/>
              <a:ext cx="3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89" name="Line 35"/>
            <p:cNvSpPr>
              <a:spLocks noChangeShapeType="1"/>
            </p:cNvSpPr>
            <p:nvPr/>
          </p:nvSpPr>
          <p:spPr bwMode="auto">
            <a:xfrm>
              <a:off x="1144" y="2304"/>
              <a:ext cx="38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0" name="Line 36"/>
            <p:cNvSpPr>
              <a:spLocks noChangeShapeType="1"/>
            </p:cNvSpPr>
            <p:nvPr/>
          </p:nvSpPr>
          <p:spPr bwMode="auto">
            <a:xfrm>
              <a:off x="2632" y="2304"/>
              <a:ext cx="3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1" name="Line 37"/>
            <p:cNvSpPr>
              <a:spLocks noChangeShapeType="1"/>
            </p:cNvSpPr>
            <p:nvPr/>
          </p:nvSpPr>
          <p:spPr bwMode="auto">
            <a:xfrm>
              <a:off x="1152" y="1824"/>
              <a:ext cx="81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2" name="Line 38"/>
            <p:cNvSpPr>
              <a:spLocks noChangeShapeType="1"/>
            </p:cNvSpPr>
            <p:nvPr/>
          </p:nvSpPr>
          <p:spPr bwMode="auto">
            <a:xfrm>
              <a:off x="2152" y="1824"/>
              <a:ext cx="81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2439" name="Group 39"/>
          <p:cNvGrpSpPr>
            <a:grpSpLocks/>
          </p:cNvGrpSpPr>
          <p:nvPr/>
        </p:nvGrpSpPr>
        <p:grpSpPr bwMode="auto">
          <a:xfrm>
            <a:off x="701675" y="4699000"/>
            <a:ext cx="2908300" cy="1447800"/>
            <a:chOff x="1152" y="2880"/>
            <a:chExt cx="1832" cy="912"/>
          </a:xfrm>
        </p:grpSpPr>
        <p:sp>
          <p:nvSpPr>
            <p:cNvPr id="24674" name="Line 40"/>
            <p:cNvSpPr>
              <a:spLocks noChangeShapeType="1"/>
            </p:cNvSpPr>
            <p:nvPr/>
          </p:nvSpPr>
          <p:spPr bwMode="auto">
            <a:xfrm flipH="1">
              <a:off x="1152" y="3344"/>
              <a:ext cx="38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75" name="Line 41"/>
            <p:cNvSpPr>
              <a:spLocks noChangeShapeType="1"/>
            </p:cNvSpPr>
            <p:nvPr/>
          </p:nvSpPr>
          <p:spPr bwMode="auto">
            <a:xfrm>
              <a:off x="1152" y="2880"/>
              <a:ext cx="0" cy="91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76" name="Line 42"/>
            <p:cNvSpPr>
              <a:spLocks noChangeShapeType="1"/>
            </p:cNvSpPr>
            <p:nvPr/>
          </p:nvSpPr>
          <p:spPr bwMode="auto">
            <a:xfrm>
              <a:off x="2976" y="2880"/>
              <a:ext cx="0" cy="91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77" name="Line 43"/>
            <p:cNvSpPr>
              <a:spLocks noChangeShapeType="1"/>
            </p:cNvSpPr>
            <p:nvPr/>
          </p:nvSpPr>
          <p:spPr bwMode="auto">
            <a:xfrm>
              <a:off x="1152" y="2880"/>
              <a:ext cx="81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78" name="Line 44"/>
            <p:cNvSpPr>
              <a:spLocks noChangeShapeType="1"/>
            </p:cNvSpPr>
            <p:nvPr/>
          </p:nvSpPr>
          <p:spPr bwMode="auto">
            <a:xfrm>
              <a:off x="2160" y="3792"/>
              <a:ext cx="81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79" name="Line 45"/>
            <p:cNvSpPr>
              <a:spLocks noChangeShapeType="1"/>
            </p:cNvSpPr>
            <p:nvPr/>
          </p:nvSpPr>
          <p:spPr bwMode="auto">
            <a:xfrm>
              <a:off x="1152" y="3792"/>
              <a:ext cx="81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80" name="Line 46"/>
            <p:cNvSpPr>
              <a:spLocks noChangeShapeType="1"/>
            </p:cNvSpPr>
            <p:nvPr/>
          </p:nvSpPr>
          <p:spPr bwMode="auto">
            <a:xfrm>
              <a:off x="2168" y="2880"/>
              <a:ext cx="81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81" name="Line 47"/>
            <p:cNvSpPr>
              <a:spLocks noChangeShapeType="1"/>
            </p:cNvSpPr>
            <p:nvPr/>
          </p:nvSpPr>
          <p:spPr bwMode="auto">
            <a:xfrm flipH="1">
              <a:off x="2616" y="3336"/>
              <a:ext cx="36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82" name="Line 48"/>
            <p:cNvSpPr>
              <a:spLocks noChangeShapeType="1"/>
            </p:cNvSpPr>
            <p:nvPr/>
          </p:nvSpPr>
          <p:spPr bwMode="auto">
            <a:xfrm>
              <a:off x="2016" y="2880"/>
              <a:ext cx="19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83" name="Line 49"/>
            <p:cNvSpPr>
              <a:spLocks noChangeShapeType="1"/>
            </p:cNvSpPr>
            <p:nvPr/>
          </p:nvSpPr>
          <p:spPr bwMode="auto">
            <a:xfrm>
              <a:off x="1536" y="3336"/>
              <a:ext cx="1104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84" name="Line 50"/>
            <p:cNvSpPr>
              <a:spLocks noChangeShapeType="1"/>
            </p:cNvSpPr>
            <p:nvPr/>
          </p:nvSpPr>
          <p:spPr bwMode="auto">
            <a:xfrm>
              <a:off x="1968" y="3792"/>
              <a:ext cx="28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2451" name="Line 51"/>
          <p:cNvSpPr>
            <a:spLocks noChangeShapeType="1"/>
          </p:cNvSpPr>
          <p:nvPr/>
        </p:nvSpPr>
        <p:spPr bwMode="auto">
          <a:xfrm>
            <a:off x="1311275" y="23368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52" name="Line 52"/>
          <p:cNvSpPr>
            <a:spLocks noChangeShapeType="1"/>
          </p:cNvSpPr>
          <p:nvPr/>
        </p:nvSpPr>
        <p:spPr bwMode="auto">
          <a:xfrm>
            <a:off x="1311275" y="37846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53" name="Text Box 53"/>
          <p:cNvSpPr txBox="1">
            <a:spLocks noChangeArrowheads="1"/>
          </p:cNvSpPr>
          <p:nvPr/>
        </p:nvSpPr>
        <p:spPr bwMode="auto">
          <a:xfrm>
            <a:off x="76200" y="3986213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742454" name="Text Box 54"/>
          <p:cNvSpPr txBox="1">
            <a:spLocks noChangeArrowheads="1"/>
          </p:cNvSpPr>
          <p:nvPr/>
        </p:nvSpPr>
        <p:spPr bwMode="auto">
          <a:xfrm>
            <a:off x="6594475" y="401320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Y</a:t>
            </a:r>
          </a:p>
        </p:txBody>
      </p:sp>
      <p:grpSp>
        <p:nvGrpSpPr>
          <p:cNvPr id="742455" name="Group 55"/>
          <p:cNvGrpSpPr>
            <a:grpSpLocks/>
          </p:cNvGrpSpPr>
          <p:nvPr/>
        </p:nvGrpSpPr>
        <p:grpSpPr bwMode="auto">
          <a:xfrm>
            <a:off x="3749675" y="4470400"/>
            <a:ext cx="2209800" cy="1676400"/>
            <a:chOff x="3072" y="2736"/>
            <a:chExt cx="1392" cy="1056"/>
          </a:xfrm>
        </p:grpSpPr>
        <p:sp>
          <p:nvSpPr>
            <p:cNvPr id="24670" name="Line 56"/>
            <p:cNvSpPr>
              <a:spLocks noChangeShapeType="1"/>
            </p:cNvSpPr>
            <p:nvPr/>
          </p:nvSpPr>
          <p:spPr bwMode="auto">
            <a:xfrm>
              <a:off x="3552" y="273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71" name="Line 57"/>
            <p:cNvSpPr>
              <a:spLocks noChangeShapeType="1"/>
            </p:cNvSpPr>
            <p:nvPr/>
          </p:nvSpPr>
          <p:spPr bwMode="auto">
            <a:xfrm>
              <a:off x="4464" y="274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72" name="Line 58"/>
            <p:cNvSpPr>
              <a:spLocks noChangeShapeType="1"/>
            </p:cNvSpPr>
            <p:nvPr/>
          </p:nvSpPr>
          <p:spPr bwMode="auto">
            <a:xfrm flipH="1">
              <a:off x="3072" y="288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73" name="Line 59"/>
            <p:cNvSpPr>
              <a:spLocks noChangeShapeType="1"/>
            </p:cNvSpPr>
            <p:nvPr/>
          </p:nvSpPr>
          <p:spPr bwMode="auto">
            <a:xfrm flipH="1">
              <a:off x="3072" y="37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2460" name="Line 60"/>
          <p:cNvSpPr>
            <a:spLocks noChangeShapeType="1"/>
          </p:cNvSpPr>
          <p:nvPr/>
        </p:nvSpPr>
        <p:spPr bwMode="auto">
          <a:xfrm flipV="1">
            <a:off x="2339975" y="43815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2461" name="Line 61"/>
          <p:cNvSpPr>
            <a:spLocks noChangeShapeType="1"/>
          </p:cNvSpPr>
          <p:nvPr/>
        </p:nvSpPr>
        <p:spPr bwMode="auto">
          <a:xfrm flipV="1">
            <a:off x="1997075" y="4394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2462" name="Group 62"/>
          <p:cNvGrpSpPr>
            <a:grpSpLocks/>
          </p:cNvGrpSpPr>
          <p:nvPr/>
        </p:nvGrpSpPr>
        <p:grpSpPr bwMode="auto">
          <a:xfrm>
            <a:off x="1298575" y="1879600"/>
            <a:ext cx="1765300" cy="2362200"/>
            <a:chOff x="1528" y="1104"/>
            <a:chExt cx="1112" cy="1488"/>
          </a:xfrm>
        </p:grpSpPr>
        <p:grpSp>
          <p:nvGrpSpPr>
            <p:cNvPr id="24660" name="Group 63"/>
            <p:cNvGrpSpPr>
              <a:grpSpLocks/>
            </p:cNvGrpSpPr>
            <p:nvPr/>
          </p:nvGrpSpPr>
          <p:grpSpPr bwMode="auto">
            <a:xfrm>
              <a:off x="1536" y="1104"/>
              <a:ext cx="1104" cy="1488"/>
              <a:chOff x="1536" y="1104"/>
              <a:chExt cx="1104" cy="1488"/>
            </a:xfrm>
          </p:grpSpPr>
          <p:sp>
            <p:nvSpPr>
              <p:cNvPr id="24663" name="Line 64"/>
              <p:cNvSpPr>
                <a:spLocks noChangeShapeType="1"/>
              </p:cNvSpPr>
              <p:nvPr/>
            </p:nvSpPr>
            <p:spPr bwMode="auto">
              <a:xfrm flipV="1">
                <a:off x="2080" y="1104"/>
                <a:ext cx="0" cy="148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664" name="Line 65"/>
              <p:cNvSpPr>
                <a:spLocks noChangeShapeType="1"/>
              </p:cNvSpPr>
              <p:nvPr/>
            </p:nvSpPr>
            <p:spPr bwMode="auto">
              <a:xfrm>
                <a:off x="1536" y="230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665" name="Line 66"/>
              <p:cNvSpPr>
                <a:spLocks noChangeShapeType="1"/>
              </p:cNvSpPr>
              <p:nvPr/>
            </p:nvSpPr>
            <p:spPr bwMode="auto">
              <a:xfrm>
                <a:off x="2640" y="230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666" name="Line 67"/>
              <p:cNvSpPr>
                <a:spLocks noChangeShapeType="1"/>
              </p:cNvSpPr>
              <p:nvPr/>
            </p:nvSpPr>
            <p:spPr bwMode="auto">
              <a:xfrm>
                <a:off x="1536" y="2592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667" name="Line 68"/>
              <p:cNvSpPr>
                <a:spLocks noChangeShapeType="1"/>
              </p:cNvSpPr>
              <p:nvPr/>
            </p:nvSpPr>
            <p:spPr bwMode="auto">
              <a:xfrm flipV="1">
                <a:off x="1536" y="110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668" name="Line 69"/>
              <p:cNvSpPr>
                <a:spLocks noChangeShapeType="1"/>
              </p:cNvSpPr>
              <p:nvPr/>
            </p:nvSpPr>
            <p:spPr bwMode="auto">
              <a:xfrm>
                <a:off x="1536" y="1104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669" name="Line 70"/>
              <p:cNvSpPr>
                <a:spLocks noChangeShapeType="1"/>
              </p:cNvSpPr>
              <p:nvPr/>
            </p:nvSpPr>
            <p:spPr bwMode="auto">
              <a:xfrm>
                <a:off x="2640" y="110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4661" name="Line 71"/>
            <p:cNvSpPr>
              <a:spLocks noChangeShapeType="1"/>
            </p:cNvSpPr>
            <p:nvPr/>
          </p:nvSpPr>
          <p:spPr bwMode="auto">
            <a:xfrm>
              <a:off x="1528" y="1344"/>
              <a:ext cx="0" cy="96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62" name="Line 72"/>
            <p:cNvSpPr>
              <a:spLocks noChangeShapeType="1"/>
            </p:cNvSpPr>
            <p:nvPr/>
          </p:nvSpPr>
          <p:spPr bwMode="auto">
            <a:xfrm>
              <a:off x="2640" y="1392"/>
              <a:ext cx="0" cy="91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2473" name="Group 73"/>
          <p:cNvGrpSpPr>
            <a:grpSpLocks/>
          </p:cNvGrpSpPr>
          <p:nvPr/>
        </p:nvGrpSpPr>
        <p:grpSpPr bwMode="auto">
          <a:xfrm>
            <a:off x="4359275" y="2106613"/>
            <a:ext cx="1874838" cy="1893887"/>
            <a:chOff x="3456" y="1247"/>
            <a:chExt cx="1181" cy="1193"/>
          </a:xfrm>
        </p:grpSpPr>
        <p:sp>
          <p:nvSpPr>
            <p:cNvPr id="24656" name="Text Box 74"/>
            <p:cNvSpPr txBox="1">
              <a:spLocks noChangeArrowheads="1"/>
            </p:cNvSpPr>
            <p:nvPr/>
          </p:nvSpPr>
          <p:spPr bwMode="auto">
            <a:xfrm>
              <a:off x="3990" y="1247"/>
              <a:ext cx="23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a”</a:t>
              </a:r>
            </a:p>
          </p:txBody>
        </p:sp>
        <p:sp>
          <p:nvSpPr>
            <p:cNvPr id="24657" name="Text Box 75"/>
            <p:cNvSpPr txBox="1">
              <a:spLocks noChangeArrowheads="1"/>
            </p:cNvSpPr>
            <p:nvPr/>
          </p:nvSpPr>
          <p:spPr bwMode="auto">
            <a:xfrm>
              <a:off x="3456" y="1632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d”</a:t>
              </a:r>
            </a:p>
          </p:txBody>
        </p:sp>
        <p:sp>
          <p:nvSpPr>
            <p:cNvPr id="24658" name="Text Box 76"/>
            <p:cNvSpPr txBox="1">
              <a:spLocks noChangeArrowheads="1"/>
            </p:cNvSpPr>
            <p:nvPr/>
          </p:nvSpPr>
          <p:spPr bwMode="auto">
            <a:xfrm>
              <a:off x="4400" y="1672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b”</a:t>
              </a:r>
            </a:p>
          </p:txBody>
        </p:sp>
        <p:sp>
          <p:nvSpPr>
            <p:cNvPr id="24659" name="Text Box 77"/>
            <p:cNvSpPr txBox="1">
              <a:spLocks noChangeArrowheads="1"/>
            </p:cNvSpPr>
            <p:nvPr/>
          </p:nvSpPr>
          <p:spPr bwMode="auto">
            <a:xfrm>
              <a:off x="3970" y="2228"/>
              <a:ext cx="23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c”</a:t>
              </a:r>
            </a:p>
          </p:txBody>
        </p:sp>
      </p:grpSp>
      <p:grpSp>
        <p:nvGrpSpPr>
          <p:cNvPr id="742478" name="Group 78"/>
          <p:cNvGrpSpPr>
            <a:grpSpLocks/>
          </p:cNvGrpSpPr>
          <p:nvPr/>
        </p:nvGrpSpPr>
        <p:grpSpPr bwMode="auto">
          <a:xfrm>
            <a:off x="1082675" y="2032000"/>
            <a:ext cx="2362200" cy="1822450"/>
            <a:chOff x="1368" y="1200"/>
            <a:chExt cx="1488" cy="1148"/>
          </a:xfrm>
        </p:grpSpPr>
        <p:sp>
          <p:nvSpPr>
            <p:cNvPr id="24643" name="Text Box 79"/>
            <p:cNvSpPr txBox="1">
              <a:spLocks noChangeArrowheads="1"/>
            </p:cNvSpPr>
            <p:nvPr/>
          </p:nvSpPr>
          <p:spPr bwMode="auto">
            <a:xfrm>
              <a:off x="1368" y="1200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a’</a:t>
              </a:r>
            </a:p>
          </p:txBody>
        </p:sp>
        <p:sp>
          <p:nvSpPr>
            <p:cNvPr id="24644" name="Text Box 80"/>
            <p:cNvSpPr txBox="1">
              <a:spLocks noChangeArrowheads="1"/>
            </p:cNvSpPr>
            <p:nvPr/>
          </p:nvSpPr>
          <p:spPr bwMode="auto">
            <a:xfrm>
              <a:off x="1376" y="2136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c’</a:t>
              </a:r>
            </a:p>
          </p:txBody>
        </p:sp>
        <p:grpSp>
          <p:nvGrpSpPr>
            <p:cNvPr id="24645" name="Group 81"/>
            <p:cNvGrpSpPr>
              <a:grpSpLocks/>
            </p:cNvGrpSpPr>
            <p:nvPr/>
          </p:nvGrpSpPr>
          <p:grpSpPr bwMode="auto">
            <a:xfrm>
              <a:off x="1968" y="1200"/>
              <a:ext cx="888" cy="1124"/>
              <a:chOff x="1968" y="1200"/>
              <a:chExt cx="888" cy="1124"/>
            </a:xfrm>
          </p:grpSpPr>
          <p:sp>
            <p:nvSpPr>
              <p:cNvPr id="24650" name="Text Box 82"/>
              <p:cNvSpPr txBox="1">
                <a:spLocks noChangeArrowheads="1"/>
              </p:cNvSpPr>
              <p:nvPr/>
            </p:nvSpPr>
            <p:spPr bwMode="auto">
              <a:xfrm>
                <a:off x="2640" y="1200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</a:rPr>
                  <a:t>a’</a:t>
                </a:r>
              </a:p>
            </p:txBody>
          </p:sp>
          <p:grpSp>
            <p:nvGrpSpPr>
              <p:cNvPr id="24651" name="Group 83"/>
              <p:cNvGrpSpPr>
                <a:grpSpLocks/>
              </p:cNvGrpSpPr>
              <p:nvPr/>
            </p:nvGrpSpPr>
            <p:grpSpPr bwMode="auto">
              <a:xfrm>
                <a:off x="1968" y="1640"/>
                <a:ext cx="319" cy="372"/>
                <a:chOff x="1968" y="1640"/>
                <a:chExt cx="319" cy="372"/>
              </a:xfrm>
            </p:grpSpPr>
            <p:sp>
              <p:nvSpPr>
                <p:cNvPr id="24653" name="Line 84"/>
                <p:cNvSpPr>
                  <a:spLocks noChangeShapeType="1"/>
                </p:cNvSpPr>
                <p:nvPr/>
              </p:nvSpPr>
              <p:spPr bwMode="auto">
                <a:xfrm>
                  <a:off x="1968" y="1824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4654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2048" y="1800"/>
                  <a:ext cx="22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rgbClr val="000000"/>
                      </a:solidFill>
                    </a:rPr>
                    <a:t>d’</a:t>
                  </a:r>
                </a:p>
              </p:txBody>
            </p:sp>
            <p:sp>
              <p:nvSpPr>
                <p:cNvPr id="24655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2064" y="1640"/>
                  <a:ext cx="22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rgbClr val="000000"/>
                      </a:solidFill>
                    </a:rPr>
                    <a:t>b’</a:t>
                  </a:r>
                </a:p>
              </p:txBody>
            </p:sp>
          </p:grpSp>
          <p:sp>
            <p:nvSpPr>
              <p:cNvPr id="24652" name="Text Box 87"/>
              <p:cNvSpPr txBox="1">
                <a:spLocks noChangeArrowheads="1"/>
              </p:cNvSpPr>
              <p:nvPr/>
            </p:nvSpPr>
            <p:spPr bwMode="auto">
              <a:xfrm>
                <a:off x="2640" y="2112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</a:rPr>
                  <a:t>c’</a:t>
                </a:r>
              </a:p>
            </p:txBody>
          </p:sp>
        </p:grpSp>
        <p:grpSp>
          <p:nvGrpSpPr>
            <p:cNvPr id="24646" name="Group 88"/>
            <p:cNvGrpSpPr>
              <a:grpSpLocks/>
            </p:cNvGrpSpPr>
            <p:nvPr/>
          </p:nvGrpSpPr>
          <p:grpSpPr bwMode="auto">
            <a:xfrm>
              <a:off x="1656" y="1632"/>
              <a:ext cx="319" cy="372"/>
              <a:chOff x="1968" y="1640"/>
              <a:chExt cx="319" cy="372"/>
            </a:xfrm>
          </p:grpSpPr>
          <p:sp>
            <p:nvSpPr>
              <p:cNvPr id="24647" name="Line 89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648" name="Text Box 90"/>
              <p:cNvSpPr txBox="1">
                <a:spLocks noChangeArrowheads="1"/>
              </p:cNvSpPr>
              <p:nvPr/>
            </p:nvSpPr>
            <p:spPr bwMode="auto">
              <a:xfrm>
                <a:off x="2048" y="1800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</a:rPr>
                  <a:t>d’</a:t>
                </a:r>
              </a:p>
            </p:txBody>
          </p:sp>
          <p:sp>
            <p:nvSpPr>
              <p:cNvPr id="24649" name="Text Box 91"/>
              <p:cNvSpPr txBox="1">
                <a:spLocks noChangeArrowheads="1"/>
              </p:cNvSpPr>
              <p:nvPr/>
            </p:nvSpPr>
            <p:spPr bwMode="auto">
              <a:xfrm>
                <a:off x="2064" y="1640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</a:rPr>
                  <a:t>b’</a:t>
                </a:r>
              </a:p>
            </p:txBody>
          </p:sp>
        </p:grpSp>
      </p:grpSp>
      <p:grpSp>
        <p:nvGrpSpPr>
          <p:cNvPr id="742492" name="Group 92"/>
          <p:cNvGrpSpPr>
            <a:grpSpLocks/>
          </p:cNvGrpSpPr>
          <p:nvPr/>
        </p:nvGrpSpPr>
        <p:grpSpPr bwMode="auto">
          <a:xfrm>
            <a:off x="2263775" y="2279650"/>
            <a:ext cx="838200" cy="1543050"/>
            <a:chOff x="2136" y="1356"/>
            <a:chExt cx="528" cy="972"/>
          </a:xfrm>
        </p:grpSpPr>
        <p:sp>
          <p:nvSpPr>
            <p:cNvPr id="24640" name="Oval 93"/>
            <p:cNvSpPr>
              <a:spLocks noChangeArrowheads="1"/>
            </p:cNvSpPr>
            <p:nvPr/>
          </p:nvSpPr>
          <p:spPr bwMode="auto">
            <a:xfrm>
              <a:off x="2610" y="13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641" name="Oval 94"/>
            <p:cNvSpPr>
              <a:spLocks noChangeArrowheads="1"/>
            </p:cNvSpPr>
            <p:nvPr/>
          </p:nvSpPr>
          <p:spPr bwMode="auto">
            <a:xfrm>
              <a:off x="2616" y="228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642" name="Oval 95"/>
            <p:cNvSpPr>
              <a:spLocks noChangeArrowheads="1"/>
            </p:cNvSpPr>
            <p:nvPr/>
          </p:nvSpPr>
          <p:spPr bwMode="auto">
            <a:xfrm>
              <a:off x="2136" y="180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42496" name="Group 96"/>
          <p:cNvGrpSpPr>
            <a:grpSpLocks/>
          </p:cNvGrpSpPr>
          <p:nvPr/>
        </p:nvGrpSpPr>
        <p:grpSpPr bwMode="auto">
          <a:xfrm>
            <a:off x="1263650" y="2298700"/>
            <a:ext cx="762000" cy="1524000"/>
            <a:chOff x="1506" y="1368"/>
            <a:chExt cx="480" cy="960"/>
          </a:xfrm>
        </p:grpSpPr>
        <p:sp>
          <p:nvSpPr>
            <p:cNvPr id="24637" name="Oval 97"/>
            <p:cNvSpPr>
              <a:spLocks noChangeArrowheads="1"/>
            </p:cNvSpPr>
            <p:nvPr/>
          </p:nvSpPr>
          <p:spPr bwMode="auto">
            <a:xfrm>
              <a:off x="1938" y="179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638" name="Oval 98"/>
            <p:cNvSpPr>
              <a:spLocks noChangeArrowheads="1"/>
            </p:cNvSpPr>
            <p:nvPr/>
          </p:nvSpPr>
          <p:spPr bwMode="auto">
            <a:xfrm>
              <a:off x="1506" y="13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639" name="Oval 99"/>
            <p:cNvSpPr>
              <a:spLocks noChangeArrowheads="1"/>
            </p:cNvSpPr>
            <p:nvPr/>
          </p:nvSpPr>
          <p:spPr bwMode="auto">
            <a:xfrm>
              <a:off x="1506" y="228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42500" name="Group 100"/>
          <p:cNvGrpSpPr>
            <a:grpSpLocks/>
          </p:cNvGrpSpPr>
          <p:nvPr/>
        </p:nvGrpSpPr>
        <p:grpSpPr bwMode="auto">
          <a:xfrm>
            <a:off x="1082675" y="4305300"/>
            <a:ext cx="2178050" cy="2171700"/>
            <a:chOff x="1392" y="2632"/>
            <a:chExt cx="1372" cy="1368"/>
          </a:xfrm>
        </p:grpSpPr>
        <p:sp>
          <p:nvSpPr>
            <p:cNvPr id="24633" name="Text Box 101"/>
            <p:cNvSpPr txBox="1">
              <a:spLocks noChangeArrowheads="1"/>
            </p:cNvSpPr>
            <p:nvPr/>
          </p:nvSpPr>
          <p:spPr bwMode="auto">
            <a:xfrm>
              <a:off x="1392" y="31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4634" name="Text Box 102"/>
            <p:cNvSpPr txBox="1">
              <a:spLocks noChangeArrowheads="1"/>
            </p:cNvSpPr>
            <p:nvPr/>
          </p:nvSpPr>
          <p:spPr bwMode="auto">
            <a:xfrm>
              <a:off x="1872" y="380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4635" name="Text Box 103"/>
            <p:cNvSpPr txBox="1">
              <a:spLocks noChangeArrowheads="1"/>
            </p:cNvSpPr>
            <p:nvPr/>
          </p:nvSpPr>
          <p:spPr bwMode="auto">
            <a:xfrm>
              <a:off x="2592" y="316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4636" name="Text Box 104"/>
            <p:cNvSpPr txBox="1">
              <a:spLocks noChangeArrowheads="1"/>
            </p:cNvSpPr>
            <p:nvPr/>
          </p:nvSpPr>
          <p:spPr bwMode="auto">
            <a:xfrm>
              <a:off x="1968" y="263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</a:t>
              </a:r>
            </a:p>
          </p:txBody>
        </p:sp>
      </p:grpSp>
      <p:grpSp>
        <p:nvGrpSpPr>
          <p:cNvPr id="742505" name="Group 105"/>
          <p:cNvGrpSpPr>
            <a:grpSpLocks/>
          </p:cNvGrpSpPr>
          <p:nvPr/>
        </p:nvGrpSpPr>
        <p:grpSpPr bwMode="auto">
          <a:xfrm>
            <a:off x="1158875" y="1574800"/>
            <a:ext cx="2084388" cy="330200"/>
            <a:chOff x="1440" y="912"/>
            <a:chExt cx="1313" cy="208"/>
          </a:xfrm>
        </p:grpSpPr>
        <p:sp>
          <p:nvSpPr>
            <p:cNvPr id="24629" name="Text Box 106"/>
            <p:cNvSpPr txBox="1">
              <a:spLocks noChangeArrowheads="1"/>
            </p:cNvSpPr>
            <p:nvPr/>
          </p:nvSpPr>
          <p:spPr bwMode="auto">
            <a:xfrm>
              <a:off x="1440" y="928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1’</a:t>
              </a:r>
            </a:p>
          </p:txBody>
        </p:sp>
        <p:sp>
          <p:nvSpPr>
            <p:cNvPr id="24630" name="Text Box 107"/>
            <p:cNvSpPr txBox="1">
              <a:spLocks noChangeArrowheads="1"/>
            </p:cNvSpPr>
            <p:nvPr/>
          </p:nvSpPr>
          <p:spPr bwMode="auto">
            <a:xfrm>
              <a:off x="1968" y="912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2’</a:t>
              </a:r>
            </a:p>
          </p:txBody>
        </p:sp>
        <p:sp>
          <p:nvSpPr>
            <p:cNvPr id="24631" name="Text Box 108"/>
            <p:cNvSpPr txBox="1">
              <a:spLocks noChangeArrowheads="1"/>
            </p:cNvSpPr>
            <p:nvPr/>
          </p:nvSpPr>
          <p:spPr bwMode="auto">
            <a:xfrm>
              <a:off x="2064" y="912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4’</a:t>
              </a:r>
            </a:p>
          </p:txBody>
        </p:sp>
        <p:sp>
          <p:nvSpPr>
            <p:cNvPr id="24632" name="Text Box 109"/>
            <p:cNvSpPr txBox="1">
              <a:spLocks noChangeArrowheads="1"/>
            </p:cNvSpPr>
            <p:nvPr/>
          </p:nvSpPr>
          <p:spPr bwMode="auto">
            <a:xfrm>
              <a:off x="2544" y="912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3’</a:t>
              </a:r>
            </a:p>
          </p:txBody>
        </p:sp>
      </p:grpSp>
      <p:grpSp>
        <p:nvGrpSpPr>
          <p:cNvPr id="742510" name="Group 110"/>
          <p:cNvGrpSpPr>
            <a:grpSpLocks/>
          </p:cNvGrpSpPr>
          <p:nvPr/>
        </p:nvGrpSpPr>
        <p:grpSpPr bwMode="auto">
          <a:xfrm>
            <a:off x="4217988" y="1622425"/>
            <a:ext cx="2105025" cy="330200"/>
            <a:chOff x="1440" y="912"/>
            <a:chExt cx="1326" cy="208"/>
          </a:xfrm>
        </p:grpSpPr>
        <p:sp>
          <p:nvSpPr>
            <p:cNvPr id="24625" name="Text Box 111"/>
            <p:cNvSpPr txBox="1">
              <a:spLocks noChangeArrowheads="1"/>
            </p:cNvSpPr>
            <p:nvPr/>
          </p:nvSpPr>
          <p:spPr bwMode="auto">
            <a:xfrm>
              <a:off x="1440" y="928"/>
              <a:ext cx="22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4”</a:t>
              </a:r>
            </a:p>
          </p:txBody>
        </p:sp>
        <p:sp>
          <p:nvSpPr>
            <p:cNvPr id="24626" name="Text Box 112"/>
            <p:cNvSpPr txBox="1">
              <a:spLocks noChangeArrowheads="1"/>
            </p:cNvSpPr>
            <p:nvPr/>
          </p:nvSpPr>
          <p:spPr bwMode="auto">
            <a:xfrm>
              <a:off x="1968" y="912"/>
              <a:ext cx="22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1”</a:t>
              </a:r>
            </a:p>
          </p:txBody>
        </p:sp>
        <p:sp>
          <p:nvSpPr>
            <p:cNvPr id="24627" name="Text Box 113"/>
            <p:cNvSpPr txBox="1">
              <a:spLocks noChangeArrowheads="1"/>
            </p:cNvSpPr>
            <p:nvPr/>
          </p:nvSpPr>
          <p:spPr bwMode="auto">
            <a:xfrm>
              <a:off x="2064" y="912"/>
              <a:ext cx="22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3”</a:t>
              </a:r>
            </a:p>
          </p:txBody>
        </p:sp>
        <p:sp>
          <p:nvSpPr>
            <p:cNvPr id="24628" name="Text Box 114"/>
            <p:cNvSpPr txBox="1">
              <a:spLocks noChangeArrowheads="1"/>
            </p:cNvSpPr>
            <p:nvPr/>
          </p:nvSpPr>
          <p:spPr bwMode="auto">
            <a:xfrm>
              <a:off x="2544" y="912"/>
              <a:ext cx="22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2”</a:t>
              </a:r>
            </a:p>
          </p:txBody>
        </p:sp>
      </p:grpSp>
      <p:sp>
        <p:nvSpPr>
          <p:cNvPr id="742515" name="Text Box 115"/>
          <p:cNvSpPr txBox="1">
            <a:spLocks noChangeArrowheads="1"/>
          </p:cNvSpPr>
          <p:nvPr/>
        </p:nvSpPr>
        <p:spPr bwMode="auto">
          <a:xfrm>
            <a:off x="6391275" y="76200"/>
            <a:ext cx="2600325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CASE 4</a:t>
            </a:r>
            <a:r>
              <a:rPr lang="en-US" altLang="en-US" sz="1600">
                <a:solidFill>
                  <a:srgbClr val="000000"/>
                </a:solidFill>
              </a:rPr>
              <a:t>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 SQ.PRISM STANDING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&amp;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SQ.PRISM  PENETRATING</a:t>
            </a:r>
          </a:p>
        </p:txBody>
      </p:sp>
      <p:graphicFrame>
        <p:nvGraphicFramePr>
          <p:cNvPr id="742516" name="Object 116"/>
          <p:cNvGraphicFramePr>
            <a:graphicFrameLocks noChangeAspect="1"/>
          </p:cNvGraphicFramePr>
          <p:nvPr/>
        </p:nvGraphicFramePr>
        <p:xfrm>
          <a:off x="6629400" y="1228725"/>
          <a:ext cx="2286000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1" name="Bitmap Image" r:id="rId4" imgW="3629532" imgH="3371429" progId="Paint.Picture">
                  <p:embed/>
                </p:oleObj>
              </mc:Choice>
              <mc:Fallback>
                <p:oleObj name="Bitmap Image" r:id="rId4" imgW="3629532" imgH="3371429" progId="Paint.Picture">
                  <p:embed/>
                  <p:pic>
                    <p:nvPicPr>
                      <p:cNvPr id="0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228725"/>
                        <a:ext cx="2286000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2517" name="Text Box 117"/>
          <p:cNvSpPr txBox="1">
            <a:spLocks noChangeArrowheads="1"/>
          </p:cNvSpPr>
          <p:nvPr/>
        </p:nvSpPr>
        <p:spPr bwMode="auto">
          <a:xfrm>
            <a:off x="50800" y="17463"/>
            <a:ext cx="657860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66"/>
                </a:solidFill>
              </a:rPr>
              <a:t>Problem:</a:t>
            </a:r>
            <a:r>
              <a:rPr lang="en-US" altLang="en-US" sz="1600">
                <a:solidFill>
                  <a:srgbClr val="000000"/>
                </a:solidFill>
              </a:rPr>
              <a:t> A sq. prism 30 mm base sides and 70mm axis is completely penetrated by another square prism of 25 mm sides and 70 mm axis, horizontally. Both axes intersects &amp; bisect each other. All faces of prisms are equally inclined to Vp. Draw projections showing curves of intersections.</a:t>
            </a:r>
          </a:p>
        </p:txBody>
      </p:sp>
      <p:grpSp>
        <p:nvGrpSpPr>
          <p:cNvPr id="24618" name="Group 125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24619" name="AutoShape 126">
              <a:hlinkClick r:id="rId6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620" name="AutoShape 127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621" name="AutoShape 128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622" name="AutoShape 129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623" name="AutoShape 130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624" name="AutoShape 131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2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2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2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2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2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2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2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2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2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2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2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2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42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42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42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42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42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42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42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42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7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42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42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42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42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42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42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42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42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42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42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42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42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42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42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42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42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42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42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42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42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42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742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7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42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742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42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742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7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7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42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742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7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7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42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742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7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7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742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742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7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742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742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7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7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742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742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742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742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742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742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7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7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742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742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742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742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742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742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4" dur="500"/>
                                        <p:tgtEl>
                                          <p:spTgt spid="7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9" dur="500"/>
                                        <p:tgtEl>
                                          <p:spTgt spid="742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4" dur="500"/>
                                        <p:tgtEl>
                                          <p:spTgt spid="7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9" dur="500"/>
                                        <p:tgtEl>
                                          <p:spTgt spid="7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02" grpId="0" animBg="1"/>
      <p:bldP spid="742407" grpId="0" animBg="1"/>
      <p:bldP spid="742453" grpId="0" autoUpdateAnimBg="0"/>
      <p:bldP spid="742454" grpId="0" autoUpdateAnimBg="0"/>
      <p:bldP spid="742515" grpId="0" autoUpdateAnimBg="0"/>
      <p:bldP spid="74251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Oval 2"/>
          <p:cNvSpPr>
            <a:spLocks noChangeArrowheads="1"/>
          </p:cNvSpPr>
          <p:nvPr/>
        </p:nvSpPr>
        <p:spPr bwMode="auto">
          <a:xfrm>
            <a:off x="2560638" y="4625975"/>
            <a:ext cx="1552575" cy="1549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744451" name="Group 3"/>
          <p:cNvGrpSpPr>
            <a:grpSpLocks/>
          </p:cNvGrpSpPr>
          <p:nvPr/>
        </p:nvGrpSpPr>
        <p:grpSpPr bwMode="auto">
          <a:xfrm>
            <a:off x="5424488" y="1887538"/>
            <a:ext cx="1552575" cy="2506662"/>
            <a:chOff x="3305" y="805"/>
            <a:chExt cx="1229" cy="1984"/>
          </a:xfrm>
        </p:grpSpPr>
        <p:sp>
          <p:nvSpPr>
            <p:cNvPr id="26760" name="Rectangle 4"/>
            <p:cNvSpPr>
              <a:spLocks noChangeArrowheads="1"/>
            </p:cNvSpPr>
            <p:nvPr/>
          </p:nvSpPr>
          <p:spPr bwMode="auto">
            <a:xfrm>
              <a:off x="3305" y="947"/>
              <a:ext cx="1229" cy="17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761" name="Line 5"/>
            <p:cNvSpPr>
              <a:spLocks noChangeShapeType="1"/>
            </p:cNvSpPr>
            <p:nvPr/>
          </p:nvSpPr>
          <p:spPr bwMode="auto">
            <a:xfrm flipV="1">
              <a:off x="3927" y="805"/>
              <a:ext cx="0" cy="19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4454" name="Group 6"/>
          <p:cNvGrpSpPr>
            <a:grpSpLocks/>
          </p:cNvGrpSpPr>
          <p:nvPr/>
        </p:nvGrpSpPr>
        <p:grpSpPr bwMode="auto">
          <a:xfrm>
            <a:off x="1552575" y="3979863"/>
            <a:ext cx="5884863" cy="371475"/>
            <a:chOff x="240" y="2135"/>
            <a:chExt cx="4659" cy="294"/>
          </a:xfrm>
        </p:grpSpPr>
        <p:sp>
          <p:nvSpPr>
            <p:cNvPr id="26757" name="Line 7"/>
            <p:cNvSpPr>
              <a:spLocks noChangeShapeType="1"/>
            </p:cNvSpPr>
            <p:nvPr/>
          </p:nvSpPr>
          <p:spPr bwMode="auto">
            <a:xfrm>
              <a:off x="384" y="2321"/>
              <a:ext cx="43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58" name="Text Box 8"/>
            <p:cNvSpPr txBox="1">
              <a:spLocks noChangeArrowheads="1"/>
            </p:cNvSpPr>
            <p:nvPr/>
          </p:nvSpPr>
          <p:spPr bwMode="auto">
            <a:xfrm>
              <a:off x="240" y="2135"/>
              <a:ext cx="261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26759" name="Text Box 9"/>
            <p:cNvSpPr txBox="1">
              <a:spLocks noChangeArrowheads="1"/>
            </p:cNvSpPr>
            <p:nvPr/>
          </p:nvSpPr>
          <p:spPr bwMode="auto">
            <a:xfrm>
              <a:off x="4637" y="2163"/>
              <a:ext cx="262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Y</a:t>
              </a:r>
            </a:p>
          </p:txBody>
        </p:sp>
      </p:grpSp>
      <p:sp>
        <p:nvSpPr>
          <p:cNvPr id="744458" name="Line 10"/>
          <p:cNvSpPr>
            <a:spLocks noChangeShapeType="1"/>
          </p:cNvSpPr>
          <p:nvPr/>
        </p:nvSpPr>
        <p:spPr bwMode="auto">
          <a:xfrm>
            <a:off x="5008563" y="4205288"/>
            <a:ext cx="2363787" cy="2365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4459" name="Group 11"/>
          <p:cNvGrpSpPr>
            <a:grpSpLocks/>
          </p:cNvGrpSpPr>
          <p:nvPr/>
        </p:nvGrpSpPr>
        <p:grpSpPr bwMode="auto">
          <a:xfrm>
            <a:off x="5413375" y="3940175"/>
            <a:ext cx="1555750" cy="2244725"/>
            <a:chOff x="3296" y="2448"/>
            <a:chExt cx="1232" cy="1776"/>
          </a:xfrm>
        </p:grpSpPr>
        <p:sp>
          <p:nvSpPr>
            <p:cNvPr id="26754" name="Line 12"/>
            <p:cNvSpPr>
              <a:spLocks noChangeShapeType="1"/>
            </p:cNvSpPr>
            <p:nvPr/>
          </p:nvSpPr>
          <p:spPr bwMode="auto">
            <a:xfrm>
              <a:off x="3296" y="2448"/>
              <a:ext cx="0" cy="57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55" name="Line 13"/>
            <p:cNvSpPr>
              <a:spLocks noChangeShapeType="1"/>
            </p:cNvSpPr>
            <p:nvPr/>
          </p:nvSpPr>
          <p:spPr bwMode="auto">
            <a:xfrm>
              <a:off x="4528" y="2496"/>
              <a:ext cx="0" cy="172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56" name="Line 14"/>
            <p:cNvSpPr>
              <a:spLocks noChangeShapeType="1"/>
            </p:cNvSpPr>
            <p:nvPr/>
          </p:nvSpPr>
          <p:spPr bwMode="auto">
            <a:xfrm>
              <a:off x="3924" y="2784"/>
              <a:ext cx="0" cy="81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4463" name="Group 15"/>
          <p:cNvGrpSpPr>
            <a:grpSpLocks/>
          </p:cNvGrpSpPr>
          <p:nvPr/>
        </p:nvGrpSpPr>
        <p:grpSpPr bwMode="auto">
          <a:xfrm>
            <a:off x="2765425" y="4618038"/>
            <a:ext cx="4203700" cy="1535112"/>
            <a:chOff x="1200" y="2984"/>
            <a:chExt cx="3328" cy="1216"/>
          </a:xfrm>
        </p:grpSpPr>
        <p:sp>
          <p:nvSpPr>
            <p:cNvPr id="26751" name="Line 16"/>
            <p:cNvSpPr>
              <a:spLocks noChangeShapeType="1"/>
            </p:cNvSpPr>
            <p:nvPr/>
          </p:nvSpPr>
          <p:spPr bwMode="auto">
            <a:xfrm flipH="1">
              <a:off x="1200" y="2984"/>
              <a:ext cx="211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52" name="Line 17"/>
            <p:cNvSpPr>
              <a:spLocks noChangeShapeType="1"/>
            </p:cNvSpPr>
            <p:nvPr/>
          </p:nvSpPr>
          <p:spPr bwMode="auto">
            <a:xfrm flipH="1">
              <a:off x="1264" y="4200"/>
              <a:ext cx="326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53" name="Line 18"/>
            <p:cNvSpPr>
              <a:spLocks noChangeShapeType="1"/>
            </p:cNvSpPr>
            <p:nvPr/>
          </p:nvSpPr>
          <p:spPr bwMode="auto">
            <a:xfrm flipH="1">
              <a:off x="2592" y="3600"/>
              <a:ext cx="134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4467" name="Group 19"/>
          <p:cNvGrpSpPr>
            <a:grpSpLocks/>
          </p:cNvGrpSpPr>
          <p:nvPr/>
        </p:nvGrpSpPr>
        <p:grpSpPr bwMode="auto">
          <a:xfrm>
            <a:off x="2401888" y="4435475"/>
            <a:ext cx="1951037" cy="2017713"/>
            <a:chOff x="1392" y="2632"/>
            <a:chExt cx="1396" cy="1387"/>
          </a:xfrm>
        </p:grpSpPr>
        <p:sp>
          <p:nvSpPr>
            <p:cNvPr id="26747" name="Text Box 20"/>
            <p:cNvSpPr txBox="1">
              <a:spLocks noChangeArrowheads="1"/>
            </p:cNvSpPr>
            <p:nvPr/>
          </p:nvSpPr>
          <p:spPr bwMode="auto">
            <a:xfrm>
              <a:off x="1392" y="3184"/>
              <a:ext cx="19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6748" name="Text Box 21"/>
            <p:cNvSpPr txBox="1">
              <a:spLocks noChangeArrowheads="1"/>
            </p:cNvSpPr>
            <p:nvPr/>
          </p:nvSpPr>
          <p:spPr bwMode="auto">
            <a:xfrm>
              <a:off x="1873" y="3810"/>
              <a:ext cx="195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6749" name="Text Box 22"/>
            <p:cNvSpPr txBox="1">
              <a:spLocks noChangeArrowheads="1"/>
            </p:cNvSpPr>
            <p:nvPr/>
          </p:nvSpPr>
          <p:spPr bwMode="auto">
            <a:xfrm>
              <a:off x="2593" y="3164"/>
              <a:ext cx="19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6750" name="Text Box 23"/>
            <p:cNvSpPr txBox="1">
              <a:spLocks noChangeArrowheads="1"/>
            </p:cNvSpPr>
            <p:nvPr/>
          </p:nvSpPr>
          <p:spPr bwMode="auto">
            <a:xfrm>
              <a:off x="1967" y="2632"/>
              <a:ext cx="195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</a:t>
              </a:r>
            </a:p>
          </p:txBody>
        </p:sp>
      </p:grpSp>
      <p:grpSp>
        <p:nvGrpSpPr>
          <p:cNvPr id="744472" name="Group 24"/>
          <p:cNvGrpSpPr>
            <a:grpSpLocks/>
          </p:cNvGrpSpPr>
          <p:nvPr/>
        </p:nvGrpSpPr>
        <p:grpSpPr bwMode="auto">
          <a:xfrm>
            <a:off x="5351463" y="1828800"/>
            <a:ext cx="1819275" cy="323850"/>
            <a:chOff x="1439" y="912"/>
            <a:chExt cx="1371" cy="256"/>
          </a:xfrm>
        </p:grpSpPr>
        <p:sp>
          <p:nvSpPr>
            <p:cNvPr id="26743" name="Text Box 25"/>
            <p:cNvSpPr txBox="1">
              <a:spLocks noChangeArrowheads="1"/>
            </p:cNvSpPr>
            <p:nvPr/>
          </p:nvSpPr>
          <p:spPr bwMode="auto">
            <a:xfrm>
              <a:off x="1439" y="927"/>
              <a:ext cx="26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4”</a:t>
              </a:r>
            </a:p>
          </p:txBody>
        </p:sp>
        <p:sp>
          <p:nvSpPr>
            <p:cNvPr id="26744" name="Text Box 26"/>
            <p:cNvSpPr txBox="1">
              <a:spLocks noChangeArrowheads="1"/>
            </p:cNvSpPr>
            <p:nvPr/>
          </p:nvSpPr>
          <p:spPr bwMode="auto">
            <a:xfrm>
              <a:off x="1968" y="912"/>
              <a:ext cx="265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1”</a:t>
              </a:r>
            </a:p>
          </p:txBody>
        </p:sp>
        <p:sp>
          <p:nvSpPr>
            <p:cNvPr id="26745" name="Text Box 27"/>
            <p:cNvSpPr txBox="1">
              <a:spLocks noChangeArrowheads="1"/>
            </p:cNvSpPr>
            <p:nvPr/>
          </p:nvSpPr>
          <p:spPr bwMode="auto">
            <a:xfrm>
              <a:off x="2065" y="912"/>
              <a:ext cx="265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3”</a:t>
              </a:r>
            </a:p>
          </p:txBody>
        </p:sp>
        <p:sp>
          <p:nvSpPr>
            <p:cNvPr id="26746" name="Text Box 28"/>
            <p:cNvSpPr txBox="1">
              <a:spLocks noChangeArrowheads="1"/>
            </p:cNvSpPr>
            <p:nvPr/>
          </p:nvSpPr>
          <p:spPr bwMode="auto">
            <a:xfrm>
              <a:off x="2544" y="912"/>
              <a:ext cx="26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2”</a:t>
              </a:r>
            </a:p>
          </p:txBody>
        </p:sp>
      </p:grpSp>
      <p:grpSp>
        <p:nvGrpSpPr>
          <p:cNvPr id="744477" name="Group 29"/>
          <p:cNvGrpSpPr>
            <a:grpSpLocks/>
          </p:cNvGrpSpPr>
          <p:nvPr/>
        </p:nvGrpSpPr>
        <p:grpSpPr bwMode="auto">
          <a:xfrm>
            <a:off x="2441575" y="1851025"/>
            <a:ext cx="1862138" cy="325438"/>
            <a:chOff x="1440" y="912"/>
            <a:chExt cx="1345" cy="257"/>
          </a:xfrm>
        </p:grpSpPr>
        <p:sp>
          <p:nvSpPr>
            <p:cNvPr id="26739" name="Text Box 30"/>
            <p:cNvSpPr txBox="1">
              <a:spLocks noChangeArrowheads="1"/>
            </p:cNvSpPr>
            <p:nvPr/>
          </p:nvSpPr>
          <p:spPr bwMode="auto">
            <a:xfrm>
              <a:off x="1440" y="928"/>
              <a:ext cx="239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1’</a:t>
              </a:r>
            </a:p>
          </p:txBody>
        </p:sp>
        <p:sp>
          <p:nvSpPr>
            <p:cNvPr id="26740" name="Text Box 31"/>
            <p:cNvSpPr txBox="1">
              <a:spLocks noChangeArrowheads="1"/>
            </p:cNvSpPr>
            <p:nvPr/>
          </p:nvSpPr>
          <p:spPr bwMode="auto">
            <a:xfrm>
              <a:off x="1967" y="912"/>
              <a:ext cx="240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2’</a:t>
              </a:r>
            </a:p>
          </p:txBody>
        </p:sp>
        <p:sp>
          <p:nvSpPr>
            <p:cNvPr id="26741" name="Text Box 32"/>
            <p:cNvSpPr txBox="1">
              <a:spLocks noChangeArrowheads="1"/>
            </p:cNvSpPr>
            <p:nvPr/>
          </p:nvSpPr>
          <p:spPr bwMode="auto">
            <a:xfrm>
              <a:off x="2063" y="912"/>
              <a:ext cx="240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4’</a:t>
              </a:r>
            </a:p>
          </p:txBody>
        </p:sp>
        <p:sp>
          <p:nvSpPr>
            <p:cNvPr id="26742" name="Text Box 33"/>
            <p:cNvSpPr txBox="1">
              <a:spLocks noChangeArrowheads="1"/>
            </p:cNvSpPr>
            <p:nvPr/>
          </p:nvSpPr>
          <p:spPr bwMode="auto">
            <a:xfrm>
              <a:off x="2545" y="912"/>
              <a:ext cx="240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3’</a:t>
              </a:r>
            </a:p>
          </p:txBody>
        </p:sp>
      </p:grpSp>
      <p:sp>
        <p:nvSpPr>
          <p:cNvPr id="744482" name="Line 34"/>
          <p:cNvSpPr>
            <a:spLocks noChangeShapeType="1"/>
          </p:cNvSpPr>
          <p:nvPr/>
        </p:nvSpPr>
        <p:spPr bwMode="auto">
          <a:xfrm flipV="1">
            <a:off x="3335338" y="1889125"/>
            <a:ext cx="0" cy="250666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4483" name="AutoShape 35"/>
          <p:cNvSpPr>
            <a:spLocks noChangeArrowheads="1"/>
          </p:cNvSpPr>
          <p:nvPr/>
        </p:nvSpPr>
        <p:spPr bwMode="auto">
          <a:xfrm rot="5400000">
            <a:off x="6028531" y="2616994"/>
            <a:ext cx="1455738" cy="10922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4484" name="Line 36"/>
          <p:cNvSpPr>
            <a:spLocks noChangeShapeType="1"/>
          </p:cNvSpPr>
          <p:nvPr/>
        </p:nvSpPr>
        <p:spPr bwMode="auto">
          <a:xfrm flipH="1">
            <a:off x="2038350" y="3162300"/>
            <a:ext cx="26066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4485" name="Line 37"/>
          <p:cNvSpPr>
            <a:spLocks noChangeShapeType="1"/>
          </p:cNvSpPr>
          <p:nvPr/>
        </p:nvSpPr>
        <p:spPr bwMode="auto">
          <a:xfrm>
            <a:off x="3328988" y="4618038"/>
            <a:ext cx="0" cy="15494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4486" name="Line 38"/>
          <p:cNvSpPr>
            <a:spLocks noChangeShapeType="1"/>
          </p:cNvSpPr>
          <p:nvPr/>
        </p:nvSpPr>
        <p:spPr bwMode="auto">
          <a:xfrm>
            <a:off x="7312025" y="3162300"/>
            <a:ext cx="0" cy="3335338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4487" name="Group 39"/>
          <p:cNvGrpSpPr>
            <a:grpSpLocks/>
          </p:cNvGrpSpPr>
          <p:nvPr/>
        </p:nvGrpSpPr>
        <p:grpSpPr bwMode="auto">
          <a:xfrm>
            <a:off x="2038350" y="5405438"/>
            <a:ext cx="2606675" cy="1092200"/>
            <a:chOff x="624" y="3264"/>
            <a:chExt cx="2064" cy="864"/>
          </a:xfrm>
        </p:grpSpPr>
        <p:sp>
          <p:nvSpPr>
            <p:cNvPr id="26732" name="Line 40"/>
            <p:cNvSpPr>
              <a:spLocks noChangeShapeType="1"/>
            </p:cNvSpPr>
            <p:nvPr/>
          </p:nvSpPr>
          <p:spPr bwMode="auto">
            <a:xfrm>
              <a:off x="624" y="3264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6733" name="Group 41"/>
            <p:cNvGrpSpPr>
              <a:grpSpLocks/>
            </p:cNvGrpSpPr>
            <p:nvPr/>
          </p:nvGrpSpPr>
          <p:grpSpPr bwMode="auto">
            <a:xfrm>
              <a:off x="624" y="3264"/>
              <a:ext cx="2064" cy="864"/>
              <a:chOff x="624" y="3264"/>
              <a:chExt cx="2064" cy="864"/>
            </a:xfrm>
          </p:grpSpPr>
          <p:sp>
            <p:nvSpPr>
              <p:cNvPr id="26734" name="Line 42"/>
              <p:cNvSpPr>
                <a:spLocks noChangeShapeType="1"/>
              </p:cNvSpPr>
              <p:nvPr/>
            </p:nvSpPr>
            <p:spPr bwMode="auto">
              <a:xfrm>
                <a:off x="1056" y="3264"/>
                <a:ext cx="120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735" name="Line 43"/>
              <p:cNvSpPr>
                <a:spLocks noChangeShapeType="1"/>
              </p:cNvSpPr>
              <p:nvPr/>
            </p:nvSpPr>
            <p:spPr bwMode="auto">
              <a:xfrm flipH="1">
                <a:off x="624" y="4128"/>
                <a:ext cx="206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736" name="Line 44"/>
              <p:cNvSpPr>
                <a:spLocks noChangeShapeType="1"/>
              </p:cNvSpPr>
              <p:nvPr/>
            </p:nvSpPr>
            <p:spPr bwMode="auto">
              <a:xfrm>
                <a:off x="2688" y="3264"/>
                <a:ext cx="0" cy="8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737" name="Line 45"/>
              <p:cNvSpPr>
                <a:spLocks noChangeShapeType="1"/>
              </p:cNvSpPr>
              <p:nvPr/>
            </p:nvSpPr>
            <p:spPr bwMode="auto">
              <a:xfrm>
                <a:off x="624" y="326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738" name="Line 46"/>
              <p:cNvSpPr>
                <a:spLocks noChangeShapeType="1"/>
              </p:cNvSpPr>
              <p:nvPr/>
            </p:nvSpPr>
            <p:spPr bwMode="auto">
              <a:xfrm>
                <a:off x="2256" y="326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744495" name="Group 47"/>
          <p:cNvGrpSpPr>
            <a:grpSpLocks/>
          </p:cNvGrpSpPr>
          <p:nvPr/>
        </p:nvGrpSpPr>
        <p:grpSpPr bwMode="auto">
          <a:xfrm>
            <a:off x="2462213" y="2940050"/>
            <a:ext cx="4546600" cy="444500"/>
            <a:chOff x="960" y="1312"/>
            <a:chExt cx="3600" cy="352"/>
          </a:xfrm>
        </p:grpSpPr>
        <p:sp>
          <p:nvSpPr>
            <p:cNvPr id="26730" name="Line 48"/>
            <p:cNvSpPr>
              <a:spLocks noChangeShapeType="1"/>
            </p:cNvSpPr>
            <p:nvPr/>
          </p:nvSpPr>
          <p:spPr bwMode="auto">
            <a:xfrm flipH="1">
              <a:off x="960" y="1312"/>
              <a:ext cx="3600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31" name="Line 49"/>
            <p:cNvSpPr>
              <a:spLocks noChangeShapeType="1"/>
            </p:cNvSpPr>
            <p:nvPr/>
          </p:nvSpPr>
          <p:spPr bwMode="auto">
            <a:xfrm flipH="1">
              <a:off x="992" y="1664"/>
              <a:ext cx="3552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4498" name="Group 50"/>
          <p:cNvGrpSpPr>
            <a:grpSpLocks/>
          </p:cNvGrpSpPr>
          <p:nvPr/>
        </p:nvGrpSpPr>
        <p:grpSpPr bwMode="auto">
          <a:xfrm>
            <a:off x="2532063" y="2414588"/>
            <a:ext cx="1597025" cy="566737"/>
            <a:chOff x="1016" y="896"/>
            <a:chExt cx="1264" cy="448"/>
          </a:xfrm>
        </p:grpSpPr>
        <p:sp>
          <p:nvSpPr>
            <p:cNvPr id="26725" name="Oval 51"/>
            <p:cNvSpPr>
              <a:spLocks noChangeArrowheads="1"/>
            </p:cNvSpPr>
            <p:nvPr/>
          </p:nvSpPr>
          <p:spPr bwMode="auto">
            <a:xfrm>
              <a:off x="1632" y="129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726" name="Oval 52"/>
            <p:cNvSpPr>
              <a:spLocks noChangeArrowheads="1"/>
            </p:cNvSpPr>
            <p:nvPr/>
          </p:nvSpPr>
          <p:spPr bwMode="auto">
            <a:xfrm>
              <a:off x="2232" y="89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727" name="Oval 53"/>
            <p:cNvSpPr>
              <a:spLocks noChangeArrowheads="1"/>
            </p:cNvSpPr>
            <p:nvPr/>
          </p:nvSpPr>
          <p:spPr bwMode="auto">
            <a:xfrm>
              <a:off x="1016" y="89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728" name="Oval 54"/>
            <p:cNvSpPr>
              <a:spLocks noChangeArrowheads="1"/>
            </p:cNvSpPr>
            <p:nvPr/>
          </p:nvSpPr>
          <p:spPr bwMode="auto">
            <a:xfrm>
              <a:off x="2136" y="11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729" name="Oval 55"/>
            <p:cNvSpPr>
              <a:spLocks noChangeArrowheads="1"/>
            </p:cNvSpPr>
            <p:nvPr/>
          </p:nvSpPr>
          <p:spPr bwMode="auto">
            <a:xfrm>
              <a:off x="1112" y="11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744504" name="Arc 56"/>
          <p:cNvSpPr>
            <a:spLocks/>
          </p:cNvSpPr>
          <p:nvPr/>
        </p:nvSpPr>
        <p:spPr bwMode="auto">
          <a:xfrm rot="5400000">
            <a:off x="3072607" y="1945481"/>
            <a:ext cx="546100" cy="1525587"/>
          </a:xfrm>
          <a:custGeom>
            <a:avLst/>
            <a:gdLst>
              <a:gd name="T0" fmla="*/ 0 w 21600"/>
              <a:gd name="T1" fmla="*/ 0 h 43124"/>
              <a:gd name="T2" fmla="*/ 739521313 w 21600"/>
              <a:gd name="T3" fmla="*/ 2147483646 h 43124"/>
              <a:gd name="T4" fmla="*/ 0 w 21600"/>
              <a:gd name="T5" fmla="*/ 2147483646 h 431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4312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827"/>
                  <a:pt x="12998" y="42183"/>
                  <a:pt x="1810" y="43124"/>
                </a:cubicBezTo>
              </a:path>
              <a:path w="21600" h="4312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827"/>
                  <a:pt x="12998" y="42183"/>
                  <a:pt x="1810" y="43124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4505" name="Line 57"/>
          <p:cNvSpPr>
            <a:spLocks noChangeShapeType="1"/>
          </p:cNvSpPr>
          <p:nvPr/>
        </p:nvSpPr>
        <p:spPr bwMode="auto">
          <a:xfrm flipH="1">
            <a:off x="4645025" y="6497638"/>
            <a:ext cx="2667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4506" name="Group 58"/>
          <p:cNvGrpSpPr>
            <a:grpSpLocks/>
          </p:cNvGrpSpPr>
          <p:nvPr/>
        </p:nvGrpSpPr>
        <p:grpSpPr bwMode="auto">
          <a:xfrm>
            <a:off x="2038350" y="2435225"/>
            <a:ext cx="2606675" cy="1455738"/>
            <a:chOff x="624" y="912"/>
            <a:chExt cx="2064" cy="1152"/>
          </a:xfrm>
        </p:grpSpPr>
        <p:sp>
          <p:nvSpPr>
            <p:cNvPr id="26719" name="Line 59"/>
            <p:cNvSpPr>
              <a:spLocks noChangeShapeType="1"/>
            </p:cNvSpPr>
            <p:nvPr/>
          </p:nvSpPr>
          <p:spPr bwMode="auto">
            <a:xfrm>
              <a:off x="2688" y="912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20" name="Line 60"/>
            <p:cNvSpPr>
              <a:spLocks noChangeShapeType="1"/>
            </p:cNvSpPr>
            <p:nvPr/>
          </p:nvSpPr>
          <p:spPr bwMode="auto">
            <a:xfrm>
              <a:off x="624" y="912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21" name="Line 61"/>
            <p:cNvSpPr>
              <a:spLocks noChangeShapeType="1"/>
            </p:cNvSpPr>
            <p:nvPr/>
          </p:nvSpPr>
          <p:spPr bwMode="auto">
            <a:xfrm>
              <a:off x="624" y="91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22" name="Line 62"/>
            <p:cNvSpPr>
              <a:spLocks noChangeShapeType="1"/>
            </p:cNvSpPr>
            <p:nvPr/>
          </p:nvSpPr>
          <p:spPr bwMode="auto">
            <a:xfrm>
              <a:off x="2256" y="912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23" name="Line 63"/>
            <p:cNvSpPr>
              <a:spLocks noChangeShapeType="1"/>
            </p:cNvSpPr>
            <p:nvPr/>
          </p:nvSpPr>
          <p:spPr bwMode="auto">
            <a:xfrm>
              <a:off x="2256" y="2064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24" name="Line 64"/>
            <p:cNvSpPr>
              <a:spLocks noChangeShapeType="1"/>
            </p:cNvSpPr>
            <p:nvPr/>
          </p:nvSpPr>
          <p:spPr bwMode="auto">
            <a:xfrm>
              <a:off x="624" y="2064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4513" name="Line 65"/>
          <p:cNvSpPr>
            <a:spLocks noChangeShapeType="1"/>
          </p:cNvSpPr>
          <p:nvPr/>
        </p:nvSpPr>
        <p:spPr bwMode="auto">
          <a:xfrm>
            <a:off x="2582863" y="2444750"/>
            <a:ext cx="151606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4514" name="Group 66"/>
          <p:cNvGrpSpPr>
            <a:grpSpLocks/>
          </p:cNvGrpSpPr>
          <p:nvPr/>
        </p:nvGrpSpPr>
        <p:grpSpPr bwMode="auto">
          <a:xfrm>
            <a:off x="2543175" y="2076450"/>
            <a:ext cx="1555750" cy="2128838"/>
            <a:chOff x="1024" y="628"/>
            <a:chExt cx="1232" cy="1686"/>
          </a:xfrm>
        </p:grpSpPr>
        <p:sp>
          <p:nvSpPr>
            <p:cNvPr id="26711" name="Line 67"/>
            <p:cNvSpPr>
              <a:spLocks noChangeShapeType="1"/>
            </p:cNvSpPr>
            <p:nvPr/>
          </p:nvSpPr>
          <p:spPr bwMode="auto">
            <a:xfrm>
              <a:off x="1024" y="2064"/>
              <a:ext cx="0" cy="2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12" name="Line 68"/>
            <p:cNvSpPr>
              <a:spLocks noChangeShapeType="1"/>
            </p:cNvSpPr>
            <p:nvPr/>
          </p:nvSpPr>
          <p:spPr bwMode="auto">
            <a:xfrm>
              <a:off x="1036" y="2314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13" name="Line 69"/>
            <p:cNvSpPr>
              <a:spLocks noChangeShapeType="1"/>
            </p:cNvSpPr>
            <p:nvPr/>
          </p:nvSpPr>
          <p:spPr bwMode="auto">
            <a:xfrm flipV="1">
              <a:off x="2248" y="2064"/>
              <a:ext cx="0" cy="2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14" name="Line 70"/>
            <p:cNvSpPr>
              <a:spLocks noChangeShapeType="1"/>
            </p:cNvSpPr>
            <p:nvPr/>
          </p:nvSpPr>
          <p:spPr bwMode="auto">
            <a:xfrm flipV="1">
              <a:off x="2256" y="634"/>
              <a:ext cx="0" cy="2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15" name="Line 71"/>
            <p:cNvSpPr>
              <a:spLocks noChangeShapeType="1"/>
            </p:cNvSpPr>
            <p:nvPr/>
          </p:nvSpPr>
          <p:spPr bwMode="auto">
            <a:xfrm flipH="1">
              <a:off x="1056" y="634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16" name="Line 72"/>
            <p:cNvSpPr>
              <a:spLocks noChangeShapeType="1"/>
            </p:cNvSpPr>
            <p:nvPr/>
          </p:nvSpPr>
          <p:spPr bwMode="auto">
            <a:xfrm>
              <a:off x="1038" y="628"/>
              <a:ext cx="0" cy="2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17" name="Line 73"/>
            <p:cNvSpPr>
              <a:spLocks noChangeShapeType="1"/>
            </p:cNvSpPr>
            <p:nvPr/>
          </p:nvSpPr>
          <p:spPr bwMode="auto">
            <a:xfrm>
              <a:off x="1032" y="864"/>
              <a:ext cx="0" cy="120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718" name="Line 74"/>
            <p:cNvSpPr>
              <a:spLocks noChangeShapeType="1"/>
            </p:cNvSpPr>
            <p:nvPr/>
          </p:nvSpPr>
          <p:spPr bwMode="auto">
            <a:xfrm>
              <a:off x="2256" y="912"/>
              <a:ext cx="0" cy="120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4523" name="Text Box 75"/>
          <p:cNvSpPr txBox="1">
            <a:spLocks noChangeArrowheads="1"/>
          </p:cNvSpPr>
          <p:nvPr/>
        </p:nvSpPr>
        <p:spPr bwMode="auto">
          <a:xfrm>
            <a:off x="6592888" y="25558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744524" name="Text Box 76"/>
          <p:cNvSpPr txBox="1">
            <a:spLocks noChangeArrowheads="1"/>
          </p:cNvSpPr>
          <p:nvPr/>
        </p:nvSpPr>
        <p:spPr bwMode="auto">
          <a:xfrm>
            <a:off x="6600825" y="350520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e</a:t>
            </a:r>
          </a:p>
        </p:txBody>
      </p:sp>
      <p:grpSp>
        <p:nvGrpSpPr>
          <p:cNvPr id="744525" name="Group 77"/>
          <p:cNvGrpSpPr>
            <a:grpSpLocks/>
          </p:cNvGrpSpPr>
          <p:nvPr/>
        </p:nvGrpSpPr>
        <p:grpSpPr bwMode="auto">
          <a:xfrm>
            <a:off x="6167438" y="2241550"/>
            <a:ext cx="1042987" cy="1892300"/>
            <a:chOff x="3893" y="759"/>
            <a:chExt cx="826" cy="1498"/>
          </a:xfrm>
        </p:grpSpPr>
        <p:sp>
          <p:nvSpPr>
            <p:cNvPr id="26707" name="Text Box 78"/>
            <p:cNvSpPr txBox="1">
              <a:spLocks noChangeArrowheads="1"/>
            </p:cNvSpPr>
            <p:nvPr/>
          </p:nvSpPr>
          <p:spPr bwMode="auto">
            <a:xfrm>
              <a:off x="3895" y="759"/>
              <a:ext cx="208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6708" name="Text Box 79"/>
            <p:cNvSpPr txBox="1">
              <a:spLocks noChangeArrowheads="1"/>
            </p:cNvSpPr>
            <p:nvPr/>
          </p:nvSpPr>
          <p:spPr bwMode="auto">
            <a:xfrm>
              <a:off x="4503" y="1167"/>
              <a:ext cx="209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6709" name="Text Box 80"/>
            <p:cNvSpPr txBox="1">
              <a:spLocks noChangeArrowheads="1"/>
            </p:cNvSpPr>
            <p:nvPr/>
          </p:nvSpPr>
          <p:spPr bwMode="auto">
            <a:xfrm>
              <a:off x="4503" y="1598"/>
              <a:ext cx="216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26710" name="Text Box 81"/>
            <p:cNvSpPr txBox="1">
              <a:spLocks noChangeArrowheads="1"/>
            </p:cNvSpPr>
            <p:nvPr/>
          </p:nvSpPr>
          <p:spPr bwMode="auto">
            <a:xfrm>
              <a:off x="3893" y="2016"/>
              <a:ext cx="193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f</a:t>
              </a:r>
            </a:p>
          </p:txBody>
        </p:sp>
      </p:grpSp>
      <p:grpSp>
        <p:nvGrpSpPr>
          <p:cNvPr id="744530" name="Group 82"/>
          <p:cNvGrpSpPr>
            <a:grpSpLocks/>
          </p:cNvGrpSpPr>
          <p:nvPr/>
        </p:nvGrpSpPr>
        <p:grpSpPr bwMode="auto">
          <a:xfrm>
            <a:off x="2509838" y="2636838"/>
            <a:ext cx="1728787" cy="344487"/>
            <a:chOff x="998" y="1063"/>
            <a:chExt cx="1368" cy="272"/>
          </a:xfrm>
        </p:grpSpPr>
        <p:sp>
          <p:nvSpPr>
            <p:cNvPr id="26705" name="Text Box 83"/>
            <p:cNvSpPr txBox="1">
              <a:spLocks noChangeArrowheads="1"/>
            </p:cNvSpPr>
            <p:nvPr/>
          </p:nvSpPr>
          <p:spPr bwMode="auto">
            <a:xfrm>
              <a:off x="2150" y="1063"/>
              <a:ext cx="21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6706" name="Text Box 84"/>
            <p:cNvSpPr txBox="1">
              <a:spLocks noChangeArrowheads="1"/>
            </p:cNvSpPr>
            <p:nvPr/>
          </p:nvSpPr>
          <p:spPr bwMode="auto">
            <a:xfrm>
              <a:off x="998" y="1094"/>
              <a:ext cx="21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744533" name="Group 85"/>
          <p:cNvGrpSpPr>
            <a:grpSpLocks/>
          </p:cNvGrpSpPr>
          <p:nvPr/>
        </p:nvGrpSpPr>
        <p:grpSpPr bwMode="auto">
          <a:xfrm>
            <a:off x="3275013" y="2908300"/>
            <a:ext cx="273050" cy="558800"/>
            <a:chOff x="1622" y="1287"/>
            <a:chExt cx="216" cy="442"/>
          </a:xfrm>
        </p:grpSpPr>
        <p:sp>
          <p:nvSpPr>
            <p:cNvPr id="26703" name="Text Box 86"/>
            <p:cNvSpPr txBox="1">
              <a:spLocks noChangeArrowheads="1"/>
            </p:cNvSpPr>
            <p:nvPr/>
          </p:nvSpPr>
          <p:spPr bwMode="auto">
            <a:xfrm>
              <a:off x="1622" y="1287"/>
              <a:ext cx="208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6704" name="Text Box 87"/>
            <p:cNvSpPr txBox="1">
              <a:spLocks noChangeArrowheads="1"/>
            </p:cNvSpPr>
            <p:nvPr/>
          </p:nvSpPr>
          <p:spPr bwMode="auto">
            <a:xfrm>
              <a:off x="1622" y="1488"/>
              <a:ext cx="21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d</a:t>
              </a:r>
            </a:p>
          </p:txBody>
        </p:sp>
      </p:grpSp>
      <p:sp>
        <p:nvSpPr>
          <p:cNvPr id="744536" name="Arc 88"/>
          <p:cNvSpPr>
            <a:spLocks/>
          </p:cNvSpPr>
          <p:nvPr/>
        </p:nvSpPr>
        <p:spPr bwMode="auto">
          <a:xfrm rot="16200000" flipV="1">
            <a:off x="3063082" y="2855119"/>
            <a:ext cx="546100" cy="1525587"/>
          </a:xfrm>
          <a:custGeom>
            <a:avLst/>
            <a:gdLst>
              <a:gd name="T0" fmla="*/ 0 w 21600"/>
              <a:gd name="T1" fmla="*/ 0 h 43124"/>
              <a:gd name="T2" fmla="*/ 739521313 w 21600"/>
              <a:gd name="T3" fmla="*/ 2147483646 h 43124"/>
              <a:gd name="T4" fmla="*/ 0 w 21600"/>
              <a:gd name="T5" fmla="*/ 2147483646 h 431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4312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827"/>
                  <a:pt x="12998" y="42183"/>
                  <a:pt x="1810" y="43124"/>
                </a:cubicBezTo>
              </a:path>
              <a:path w="21600" h="4312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827"/>
                  <a:pt x="12998" y="42183"/>
                  <a:pt x="1810" y="43124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744537" name="Group 89"/>
          <p:cNvGrpSpPr>
            <a:grpSpLocks/>
          </p:cNvGrpSpPr>
          <p:nvPr/>
        </p:nvGrpSpPr>
        <p:grpSpPr bwMode="auto">
          <a:xfrm>
            <a:off x="2543175" y="3344863"/>
            <a:ext cx="1606550" cy="576262"/>
            <a:chOff x="1024" y="1632"/>
            <a:chExt cx="1272" cy="456"/>
          </a:xfrm>
        </p:grpSpPr>
        <p:sp>
          <p:nvSpPr>
            <p:cNvPr id="26697" name="Oval 90"/>
            <p:cNvSpPr>
              <a:spLocks noChangeArrowheads="1"/>
            </p:cNvSpPr>
            <p:nvPr/>
          </p:nvSpPr>
          <p:spPr bwMode="auto">
            <a:xfrm>
              <a:off x="1614" y="163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26698" name="Group 91"/>
            <p:cNvGrpSpPr>
              <a:grpSpLocks/>
            </p:cNvGrpSpPr>
            <p:nvPr/>
          </p:nvGrpSpPr>
          <p:grpSpPr bwMode="auto">
            <a:xfrm>
              <a:off x="1112" y="1808"/>
              <a:ext cx="1072" cy="56"/>
              <a:chOff x="1112" y="1808"/>
              <a:chExt cx="1072" cy="56"/>
            </a:xfrm>
          </p:grpSpPr>
          <p:sp>
            <p:nvSpPr>
              <p:cNvPr id="26701" name="Oval 92"/>
              <p:cNvSpPr>
                <a:spLocks noChangeArrowheads="1"/>
              </p:cNvSpPr>
              <p:nvPr/>
            </p:nvSpPr>
            <p:spPr bwMode="auto">
              <a:xfrm>
                <a:off x="2136" y="180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b="1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6702" name="Oval 93"/>
              <p:cNvSpPr>
                <a:spLocks noChangeArrowheads="1"/>
              </p:cNvSpPr>
              <p:nvPr/>
            </p:nvSpPr>
            <p:spPr bwMode="auto">
              <a:xfrm>
                <a:off x="1112" y="181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b="1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6699" name="Oval 94"/>
            <p:cNvSpPr>
              <a:spLocks noChangeArrowheads="1"/>
            </p:cNvSpPr>
            <p:nvPr/>
          </p:nvSpPr>
          <p:spPr bwMode="auto">
            <a:xfrm>
              <a:off x="1024" y="204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700" name="Oval 95"/>
            <p:cNvSpPr>
              <a:spLocks noChangeArrowheads="1"/>
            </p:cNvSpPr>
            <p:nvPr/>
          </p:nvSpPr>
          <p:spPr bwMode="auto">
            <a:xfrm>
              <a:off x="2248" y="204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744544" name="Line 96"/>
          <p:cNvSpPr>
            <a:spLocks noChangeShapeType="1"/>
          </p:cNvSpPr>
          <p:nvPr/>
        </p:nvSpPr>
        <p:spPr bwMode="auto">
          <a:xfrm>
            <a:off x="2582863" y="3890963"/>
            <a:ext cx="151606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4545" name="Group 97"/>
          <p:cNvGrpSpPr>
            <a:grpSpLocks/>
          </p:cNvGrpSpPr>
          <p:nvPr/>
        </p:nvGrpSpPr>
        <p:grpSpPr bwMode="auto">
          <a:xfrm>
            <a:off x="2540000" y="3373438"/>
            <a:ext cx="1666875" cy="315912"/>
            <a:chOff x="1022" y="1663"/>
            <a:chExt cx="1319" cy="250"/>
          </a:xfrm>
        </p:grpSpPr>
        <p:sp>
          <p:nvSpPr>
            <p:cNvPr id="26695" name="Text Box 98"/>
            <p:cNvSpPr txBox="1">
              <a:spLocks noChangeArrowheads="1"/>
            </p:cNvSpPr>
            <p:nvPr/>
          </p:nvSpPr>
          <p:spPr bwMode="auto">
            <a:xfrm>
              <a:off x="1022" y="1663"/>
              <a:ext cx="208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26696" name="Text Box 99"/>
            <p:cNvSpPr txBox="1">
              <a:spLocks noChangeArrowheads="1"/>
            </p:cNvSpPr>
            <p:nvPr/>
          </p:nvSpPr>
          <p:spPr bwMode="auto">
            <a:xfrm>
              <a:off x="2133" y="1672"/>
              <a:ext cx="208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e</a:t>
              </a:r>
            </a:p>
          </p:txBody>
        </p:sp>
      </p:grpSp>
      <p:grpSp>
        <p:nvGrpSpPr>
          <p:cNvPr id="744548" name="Group 100"/>
          <p:cNvGrpSpPr>
            <a:grpSpLocks/>
          </p:cNvGrpSpPr>
          <p:nvPr/>
        </p:nvGrpSpPr>
        <p:grpSpPr bwMode="auto">
          <a:xfrm>
            <a:off x="2389188" y="2243138"/>
            <a:ext cx="1958975" cy="304800"/>
            <a:chOff x="902" y="727"/>
            <a:chExt cx="1551" cy="241"/>
          </a:xfrm>
        </p:grpSpPr>
        <p:sp>
          <p:nvSpPr>
            <p:cNvPr id="26693" name="Text Box 101"/>
            <p:cNvSpPr txBox="1">
              <a:spLocks noChangeArrowheads="1"/>
            </p:cNvSpPr>
            <p:nvPr/>
          </p:nvSpPr>
          <p:spPr bwMode="auto">
            <a:xfrm>
              <a:off x="2245" y="727"/>
              <a:ext cx="208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6694" name="Text Box 102"/>
            <p:cNvSpPr txBox="1">
              <a:spLocks noChangeArrowheads="1"/>
            </p:cNvSpPr>
            <p:nvPr/>
          </p:nvSpPr>
          <p:spPr bwMode="auto">
            <a:xfrm>
              <a:off x="902" y="727"/>
              <a:ext cx="209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744551" name="Group 103"/>
          <p:cNvGrpSpPr>
            <a:grpSpLocks/>
          </p:cNvGrpSpPr>
          <p:nvPr/>
        </p:nvGrpSpPr>
        <p:grpSpPr bwMode="auto">
          <a:xfrm>
            <a:off x="2389188" y="3848100"/>
            <a:ext cx="1939925" cy="304800"/>
            <a:chOff x="902" y="2031"/>
            <a:chExt cx="1536" cy="241"/>
          </a:xfrm>
        </p:grpSpPr>
        <p:sp>
          <p:nvSpPr>
            <p:cNvPr id="26691" name="Text Box 104"/>
            <p:cNvSpPr txBox="1">
              <a:spLocks noChangeArrowheads="1"/>
            </p:cNvSpPr>
            <p:nvPr/>
          </p:nvSpPr>
          <p:spPr bwMode="auto">
            <a:xfrm>
              <a:off x="902" y="2031"/>
              <a:ext cx="193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26692" name="Text Box 105"/>
            <p:cNvSpPr txBox="1">
              <a:spLocks noChangeArrowheads="1"/>
            </p:cNvSpPr>
            <p:nvPr/>
          </p:nvSpPr>
          <p:spPr bwMode="auto">
            <a:xfrm>
              <a:off x="2246" y="2031"/>
              <a:ext cx="19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f</a:t>
              </a:r>
            </a:p>
          </p:txBody>
        </p:sp>
      </p:grpSp>
      <p:grpSp>
        <p:nvGrpSpPr>
          <p:cNvPr id="744554" name="Group 106"/>
          <p:cNvGrpSpPr>
            <a:grpSpLocks/>
          </p:cNvGrpSpPr>
          <p:nvPr/>
        </p:nvGrpSpPr>
        <p:grpSpPr bwMode="auto">
          <a:xfrm>
            <a:off x="2522538" y="5830888"/>
            <a:ext cx="4122737" cy="0"/>
            <a:chOff x="1008" y="3600"/>
            <a:chExt cx="3264" cy="0"/>
          </a:xfrm>
        </p:grpSpPr>
        <p:sp>
          <p:nvSpPr>
            <p:cNvPr id="26688" name="Line 107"/>
            <p:cNvSpPr>
              <a:spLocks noChangeShapeType="1"/>
            </p:cNvSpPr>
            <p:nvPr/>
          </p:nvSpPr>
          <p:spPr bwMode="auto">
            <a:xfrm flipH="1">
              <a:off x="1008" y="3600"/>
              <a:ext cx="3264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89" name="Line 108"/>
            <p:cNvSpPr>
              <a:spLocks noChangeShapeType="1"/>
            </p:cNvSpPr>
            <p:nvPr/>
          </p:nvSpPr>
          <p:spPr bwMode="auto">
            <a:xfrm flipH="1">
              <a:off x="2160" y="360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90" name="Line 109"/>
            <p:cNvSpPr>
              <a:spLocks noChangeShapeType="1"/>
            </p:cNvSpPr>
            <p:nvPr/>
          </p:nvSpPr>
          <p:spPr bwMode="auto">
            <a:xfrm flipH="1">
              <a:off x="1152" y="360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4558" name="Group 110"/>
          <p:cNvGrpSpPr>
            <a:grpSpLocks/>
          </p:cNvGrpSpPr>
          <p:nvPr/>
        </p:nvGrpSpPr>
        <p:grpSpPr bwMode="auto">
          <a:xfrm>
            <a:off x="2684463" y="2678113"/>
            <a:ext cx="1293812" cy="3162300"/>
            <a:chOff x="1136" y="1104"/>
            <a:chExt cx="1024" cy="2504"/>
          </a:xfrm>
        </p:grpSpPr>
        <p:sp>
          <p:nvSpPr>
            <p:cNvPr id="26684" name="Line 111"/>
            <p:cNvSpPr>
              <a:spLocks noChangeShapeType="1"/>
            </p:cNvSpPr>
            <p:nvPr/>
          </p:nvSpPr>
          <p:spPr bwMode="auto">
            <a:xfrm flipV="1">
              <a:off x="2160" y="1104"/>
              <a:ext cx="0" cy="249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85" name="Line 112"/>
            <p:cNvSpPr>
              <a:spLocks noChangeShapeType="1"/>
            </p:cNvSpPr>
            <p:nvPr/>
          </p:nvSpPr>
          <p:spPr bwMode="auto">
            <a:xfrm flipV="1">
              <a:off x="1136" y="1112"/>
              <a:ext cx="0" cy="249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86" name="Line 113"/>
            <p:cNvSpPr>
              <a:spLocks noChangeShapeType="1"/>
            </p:cNvSpPr>
            <p:nvPr/>
          </p:nvSpPr>
          <p:spPr bwMode="auto">
            <a:xfrm flipV="1">
              <a:off x="1136" y="26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87" name="Line 114"/>
            <p:cNvSpPr>
              <a:spLocks noChangeShapeType="1"/>
            </p:cNvSpPr>
            <p:nvPr/>
          </p:nvSpPr>
          <p:spPr bwMode="auto">
            <a:xfrm flipV="1">
              <a:off x="2160" y="265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4563" name="Group 115"/>
          <p:cNvGrpSpPr>
            <a:grpSpLocks/>
          </p:cNvGrpSpPr>
          <p:nvPr/>
        </p:nvGrpSpPr>
        <p:grpSpPr bwMode="auto">
          <a:xfrm>
            <a:off x="6645275" y="2617788"/>
            <a:ext cx="0" cy="3213100"/>
            <a:chOff x="4272" y="1056"/>
            <a:chExt cx="0" cy="2544"/>
          </a:xfrm>
        </p:grpSpPr>
        <p:sp>
          <p:nvSpPr>
            <p:cNvPr id="26682" name="Line 116"/>
            <p:cNvSpPr>
              <a:spLocks noChangeShapeType="1"/>
            </p:cNvSpPr>
            <p:nvPr/>
          </p:nvSpPr>
          <p:spPr bwMode="auto">
            <a:xfrm>
              <a:off x="4272" y="1056"/>
              <a:ext cx="0" cy="25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83" name="Line 117"/>
            <p:cNvSpPr>
              <a:spLocks noChangeShapeType="1"/>
            </p:cNvSpPr>
            <p:nvPr/>
          </p:nvSpPr>
          <p:spPr bwMode="auto">
            <a:xfrm>
              <a:off x="4272" y="340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4566" name="Group 118"/>
          <p:cNvGrpSpPr>
            <a:grpSpLocks/>
          </p:cNvGrpSpPr>
          <p:nvPr/>
        </p:nvGrpSpPr>
        <p:grpSpPr bwMode="auto">
          <a:xfrm>
            <a:off x="2462213" y="2738438"/>
            <a:ext cx="4183062" cy="849312"/>
            <a:chOff x="960" y="1152"/>
            <a:chExt cx="3312" cy="672"/>
          </a:xfrm>
        </p:grpSpPr>
        <p:sp>
          <p:nvSpPr>
            <p:cNvPr id="26678" name="Line 119"/>
            <p:cNvSpPr>
              <a:spLocks noChangeShapeType="1"/>
            </p:cNvSpPr>
            <p:nvPr/>
          </p:nvSpPr>
          <p:spPr bwMode="auto">
            <a:xfrm flipH="1">
              <a:off x="960" y="1152"/>
              <a:ext cx="3312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79" name="Line 120"/>
            <p:cNvSpPr>
              <a:spLocks noChangeShapeType="1"/>
            </p:cNvSpPr>
            <p:nvPr/>
          </p:nvSpPr>
          <p:spPr bwMode="auto">
            <a:xfrm flipH="1">
              <a:off x="960" y="1824"/>
              <a:ext cx="3312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80" name="Line 121"/>
            <p:cNvSpPr>
              <a:spLocks noChangeShapeType="1"/>
            </p:cNvSpPr>
            <p:nvPr/>
          </p:nvSpPr>
          <p:spPr bwMode="auto">
            <a:xfrm flipH="1">
              <a:off x="2976" y="18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81" name="Line 122"/>
            <p:cNvSpPr>
              <a:spLocks noChangeShapeType="1"/>
            </p:cNvSpPr>
            <p:nvPr/>
          </p:nvSpPr>
          <p:spPr bwMode="auto">
            <a:xfrm flipH="1">
              <a:off x="2976" y="11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4571" name="Group 123"/>
          <p:cNvGrpSpPr>
            <a:grpSpLocks/>
          </p:cNvGrpSpPr>
          <p:nvPr/>
        </p:nvGrpSpPr>
        <p:grpSpPr bwMode="auto">
          <a:xfrm>
            <a:off x="2038350" y="2435225"/>
            <a:ext cx="5273675" cy="1444625"/>
            <a:chOff x="624" y="920"/>
            <a:chExt cx="4176" cy="1144"/>
          </a:xfrm>
        </p:grpSpPr>
        <p:sp>
          <p:nvSpPr>
            <p:cNvPr id="26675" name="Line 124"/>
            <p:cNvSpPr>
              <a:spLocks noChangeShapeType="1"/>
            </p:cNvSpPr>
            <p:nvPr/>
          </p:nvSpPr>
          <p:spPr bwMode="auto">
            <a:xfrm flipH="1">
              <a:off x="624" y="920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76" name="Line 125"/>
            <p:cNvSpPr>
              <a:spLocks noChangeShapeType="1"/>
            </p:cNvSpPr>
            <p:nvPr/>
          </p:nvSpPr>
          <p:spPr bwMode="auto">
            <a:xfrm flipH="1">
              <a:off x="624" y="2064"/>
              <a:ext cx="3304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77" name="Line 126"/>
            <p:cNvSpPr>
              <a:spLocks noChangeShapeType="1"/>
            </p:cNvSpPr>
            <p:nvPr/>
          </p:nvSpPr>
          <p:spPr bwMode="auto">
            <a:xfrm flipH="1">
              <a:off x="624" y="1488"/>
              <a:ext cx="41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4575" name="Text Box 127"/>
          <p:cNvSpPr txBox="1">
            <a:spLocks noChangeArrowheads="1"/>
          </p:cNvSpPr>
          <p:nvPr/>
        </p:nvSpPr>
        <p:spPr bwMode="auto">
          <a:xfrm>
            <a:off x="914400" y="1447800"/>
            <a:ext cx="764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CASE 5. CYLINDER STANDING &amp; TRIANGULAR PRISM  PENETRATING</a:t>
            </a:r>
          </a:p>
        </p:txBody>
      </p:sp>
      <p:graphicFrame>
        <p:nvGraphicFramePr>
          <p:cNvPr id="744576" name="Object 128"/>
          <p:cNvGraphicFramePr>
            <a:graphicFrameLocks noChangeAspect="1"/>
          </p:cNvGraphicFramePr>
          <p:nvPr/>
        </p:nvGraphicFramePr>
        <p:xfrm>
          <a:off x="0" y="2286000"/>
          <a:ext cx="190500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2" name="Bitmap Image" r:id="rId4" imgW="3619048" imgH="3057143" progId="Paint.Picture">
                  <p:embed/>
                </p:oleObj>
              </mc:Choice>
              <mc:Fallback>
                <p:oleObj name="Bitmap Image" r:id="rId4" imgW="3619048" imgH="3057143" progId="Paint.Picture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86000"/>
                        <a:ext cx="1905000" cy="160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577" name="Object 129"/>
          <p:cNvGraphicFramePr>
            <a:graphicFrameLocks noChangeAspect="1"/>
          </p:cNvGraphicFramePr>
          <p:nvPr/>
        </p:nvGraphicFramePr>
        <p:xfrm>
          <a:off x="7445375" y="2262188"/>
          <a:ext cx="1698625" cy="185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3" name="Bitmap Image" r:id="rId6" imgW="2838846" imgH="3095238" progId="Paint.Picture">
                  <p:embed/>
                </p:oleObj>
              </mc:Choice>
              <mc:Fallback>
                <p:oleObj name="Bitmap Image" r:id="rId6" imgW="2838846" imgH="3095238" progId="Paint.Picture">
                  <p:embed/>
                  <p:pic>
                    <p:nvPicPr>
                      <p:cNvPr id="0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75" y="2262188"/>
                        <a:ext cx="1698625" cy="185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4578" name="Text Box 130"/>
          <p:cNvSpPr txBox="1">
            <a:spLocks noChangeArrowheads="1"/>
          </p:cNvSpPr>
          <p:nvPr/>
        </p:nvSpPr>
        <p:spPr bwMode="auto">
          <a:xfrm>
            <a:off x="76200" y="61913"/>
            <a:ext cx="6176963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66"/>
                </a:solidFill>
              </a:rPr>
              <a:t>Problem:</a:t>
            </a:r>
            <a:r>
              <a:rPr lang="en-US" altLang="en-US" sz="1600">
                <a:solidFill>
                  <a:srgbClr val="000000"/>
                </a:solidFill>
              </a:rPr>
              <a:t> A cylinder 50mm dia.and 70mm axis is completely penetrated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by a triangular prism of 45 mm sides.and 70 mm axis, horizontally.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One flat face of prism is parallel to Vp and Contains axis of cylinder.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Draw projections showing curves of intersections.</a:t>
            </a:r>
          </a:p>
        </p:txBody>
      </p:sp>
      <p:grpSp>
        <p:nvGrpSpPr>
          <p:cNvPr id="26668" name="Group 138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26669" name="AutoShape 139">
              <a:hlinkClick r:id="rId8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70" name="AutoShape 140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71" name="AutoShape 141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72" name="AutoShape 142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73" name="AutoShape 143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74" name="AutoShape 144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4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4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44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44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44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44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44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44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44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44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44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44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44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44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44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44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44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44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44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44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74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44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44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44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44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44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44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44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44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44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44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44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44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44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44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44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44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44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44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44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44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44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44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44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44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44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44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44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744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744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44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44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744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7445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7445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44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44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744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744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44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744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744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744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44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744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744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44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44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744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744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744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744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744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744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744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744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744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744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744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744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744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744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744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744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744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744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744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74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74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744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744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744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744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744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744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744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744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744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744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744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744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744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744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 nodeType="clickPar">
                      <p:stCondLst>
                        <p:cond delay="indefinite"/>
                      </p:stCondLst>
                      <p:childTnLst>
                        <p:par>
                          <p:cTn id="2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744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744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744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744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744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744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744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744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 nodeType="clickPar">
                      <p:stCondLst>
                        <p:cond delay="indefinite"/>
                      </p:stCondLst>
                      <p:childTnLst>
                        <p:par>
                          <p:cTn id="2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744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744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744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744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4450" grpId="0" animBg="1"/>
      <p:bldP spid="744483" grpId="0" animBg="1"/>
      <p:bldP spid="744523" grpId="0" autoUpdateAnimBg="0"/>
      <p:bldP spid="744524" grpId="0" autoUpdateAnimBg="0"/>
      <p:bldP spid="744575" grpId="0" autoUpdateAnimBg="0"/>
      <p:bldP spid="74457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AutoShape 2"/>
          <p:cNvSpPr>
            <a:spLocks noChangeArrowheads="1"/>
          </p:cNvSpPr>
          <p:nvPr/>
        </p:nvSpPr>
        <p:spPr bwMode="auto">
          <a:xfrm>
            <a:off x="2708275" y="4016375"/>
            <a:ext cx="1560513" cy="1560513"/>
          </a:xfrm>
          <a:prstGeom prst="diamond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6499" name="Line 3"/>
          <p:cNvSpPr>
            <a:spLocks noChangeShapeType="1"/>
          </p:cNvSpPr>
          <p:nvPr/>
        </p:nvSpPr>
        <p:spPr bwMode="auto">
          <a:xfrm>
            <a:off x="1624013" y="3744913"/>
            <a:ext cx="6035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6500" name="Group 4"/>
          <p:cNvGrpSpPr>
            <a:grpSpLocks/>
          </p:cNvGrpSpPr>
          <p:nvPr/>
        </p:nvGrpSpPr>
        <p:grpSpPr bwMode="auto">
          <a:xfrm>
            <a:off x="5421313" y="1643063"/>
            <a:ext cx="1560512" cy="2101850"/>
            <a:chOff x="1056" y="1200"/>
            <a:chExt cx="1104" cy="1488"/>
          </a:xfrm>
        </p:grpSpPr>
        <p:sp>
          <p:nvSpPr>
            <p:cNvPr id="28831" name="Rectangle 5"/>
            <p:cNvSpPr>
              <a:spLocks noChangeArrowheads="1"/>
            </p:cNvSpPr>
            <p:nvPr/>
          </p:nvSpPr>
          <p:spPr bwMode="auto">
            <a:xfrm>
              <a:off x="1056" y="1200"/>
              <a:ext cx="1104" cy="14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832" name="Line 6"/>
            <p:cNvSpPr>
              <a:spLocks noChangeShapeType="1"/>
            </p:cNvSpPr>
            <p:nvPr/>
          </p:nvSpPr>
          <p:spPr bwMode="auto">
            <a:xfrm flipV="1">
              <a:off x="1600" y="1200"/>
              <a:ext cx="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6503" name="AutoShape 7"/>
          <p:cNvSpPr>
            <a:spLocks noChangeArrowheads="1"/>
          </p:cNvSpPr>
          <p:nvPr/>
        </p:nvSpPr>
        <p:spPr bwMode="auto">
          <a:xfrm rot="1005927">
            <a:off x="5546725" y="2049463"/>
            <a:ext cx="1289050" cy="1289050"/>
          </a:xfrm>
          <a:prstGeom prst="diamond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6504" name="Text Box 8"/>
          <p:cNvSpPr txBox="1">
            <a:spLocks noChangeArrowheads="1"/>
          </p:cNvSpPr>
          <p:nvPr/>
        </p:nvSpPr>
        <p:spPr bwMode="auto">
          <a:xfrm>
            <a:off x="1609725" y="351790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746505" name="Text Box 9"/>
          <p:cNvSpPr txBox="1">
            <a:spLocks noChangeArrowheads="1"/>
          </p:cNvSpPr>
          <p:nvPr/>
        </p:nvSpPr>
        <p:spPr bwMode="auto">
          <a:xfrm>
            <a:off x="7412038" y="3541713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Y</a:t>
            </a:r>
          </a:p>
        </p:txBody>
      </p:sp>
      <p:grpSp>
        <p:nvGrpSpPr>
          <p:cNvPr id="746506" name="Group 10"/>
          <p:cNvGrpSpPr>
            <a:grpSpLocks/>
          </p:cNvGrpSpPr>
          <p:nvPr/>
        </p:nvGrpSpPr>
        <p:grpSpPr bwMode="auto">
          <a:xfrm>
            <a:off x="2697163" y="1643063"/>
            <a:ext cx="1571625" cy="2101850"/>
            <a:chOff x="1528" y="1104"/>
            <a:chExt cx="1112" cy="1488"/>
          </a:xfrm>
        </p:grpSpPr>
        <p:grpSp>
          <p:nvGrpSpPr>
            <p:cNvPr id="28821" name="Group 11"/>
            <p:cNvGrpSpPr>
              <a:grpSpLocks/>
            </p:cNvGrpSpPr>
            <p:nvPr/>
          </p:nvGrpSpPr>
          <p:grpSpPr bwMode="auto">
            <a:xfrm>
              <a:off x="1536" y="1104"/>
              <a:ext cx="1104" cy="1488"/>
              <a:chOff x="1536" y="1104"/>
              <a:chExt cx="1104" cy="1488"/>
            </a:xfrm>
          </p:grpSpPr>
          <p:sp>
            <p:nvSpPr>
              <p:cNvPr id="28824" name="Line 12"/>
              <p:cNvSpPr>
                <a:spLocks noChangeShapeType="1"/>
              </p:cNvSpPr>
              <p:nvPr/>
            </p:nvSpPr>
            <p:spPr bwMode="auto">
              <a:xfrm flipV="1">
                <a:off x="2080" y="1104"/>
                <a:ext cx="0" cy="14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825" name="Line 13"/>
              <p:cNvSpPr>
                <a:spLocks noChangeShapeType="1"/>
              </p:cNvSpPr>
              <p:nvPr/>
            </p:nvSpPr>
            <p:spPr bwMode="auto">
              <a:xfrm>
                <a:off x="1536" y="230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826" name="Line 14"/>
              <p:cNvSpPr>
                <a:spLocks noChangeShapeType="1"/>
              </p:cNvSpPr>
              <p:nvPr/>
            </p:nvSpPr>
            <p:spPr bwMode="auto">
              <a:xfrm>
                <a:off x="2640" y="230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827" name="Line 15"/>
              <p:cNvSpPr>
                <a:spLocks noChangeShapeType="1"/>
              </p:cNvSpPr>
              <p:nvPr/>
            </p:nvSpPr>
            <p:spPr bwMode="auto">
              <a:xfrm>
                <a:off x="1536" y="2592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828" name="Line 16"/>
              <p:cNvSpPr>
                <a:spLocks noChangeShapeType="1"/>
              </p:cNvSpPr>
              <p:nvPr/>
            </p:nvSpPr>
            <p:spPr bwMode="auto">
              <a:xfrm flipV="1">
                <a:off x="1536" y="110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829" name="Line 17"/>
              <p:cNvSpPr>
                <a:spLocks noChangeShapeType="1"/>
              </p:cNvSpPr>
              <p:nvPr/>
            </p:nvSpPr>
            <p:spPr bwMode="auto">
              <a:xfrm>
                <a:off x="1536" y="1104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830" name="Line 18"/>
              <p:cNvSpPr>
                <a:spLocks noChangeShapeType="1"/>
              </p:cNvSpPr>
              <p:nvPr/>
            </p:nvSpPr>
            <p:spPr bwMode="auto">
              <a:xfrm>
                <a:off x="2640" y="110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8822" name="Line 19"/>
            <p:cNvSpPr>
              <a:spLocks noChangeShapeType="1"/>
            </p:cNvSpPr>
            <p:nvPr/>
          </p:nvSpPr>
          <p:spPr bwMode="auto">
            <a:xfrm>
              <a:off x="1528" y="1344"/>
              <a:ext cx="0" cy="9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823" name="Line 20"/>
            <p:cNvSpPr>
              <a:spLocks noChangeShapeType="1"/>
            </p:cNvSpPr>
            <p:nvPr/>
          </p:nvSpPr>
          <p:spPr bwMode="auto">
            <a:xfrm>
              <a:off x="2640" y="1392"/>
              <a:ext cx="0" cy="91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6517" name="Group 21"/>
          <p:cNvGrpSpPr>
            <a:grpSpLocks/>
          </p:cNvGrpSpPr>
          <p:nvPr/>
        </p:nvGrpSpPr>
        <p:grpSpPr bwMode="auto">
          <a:xfrm rot="836538">
            <a:off x="5387975" y="1849438"/>
            <a:ext cx="1709738" cy="1719262"/>
            <a:chOff x="3451" y="1250"/>
            <a:chExt cx="1210" cy="1217"/>
          </a:xfrm>
        </p:grpSpPr>
        <p:sp>
          <p:nvSpPr>
            <p:cNvPr id="28817" name="Text Box 22"/>
            <p:cNvSpPr txBox="1">
              <a:spLocks noChangeArrowheads="1"/>
            </p:cNvSpPr>
            <p:nvPr/>
          </p:nvSpPr>
          <p:spPr bwMode="auto">
            <a:xfrm>
              <a:off x="3985" y="1250"/>
              <a:ext cx="259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a”</a:t>
              </a:r>
            </a:p>
          </p:txBody>
        </p:sp>
        <p:sp>
          <p:nvSpPr>
            <p:cNvPr id="28818" name="Text Box 23"/>
            <p:cNvSpPr txBox="1">
              <a:spLocks noChangeArrowheads="1"/>
            </p:cNvSpPr>
            <p:nvPr/>
          </p:nvSpPr>
          <p:spPr bwMode="auto">
            <a:xfrm>
              <a:off x="3451" y="1637"/>
              <a:ext cx="258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e”</a:t>
              </a:r>
            </a:p>
          </p:txBody>
        </p:sp>
        <p:sp>
          <p:nvSpPr>
            <p:cNvPr id="28819" name="Text Box 24"/>
            <p:cNvSpPr txBox="1">
              <a:spLocks noChangeArrowheads="1"/>
            </p:cNvSpPr>
            <p:nvPr/>
          </p:nvSpPr>
          <p:spPr bwMode="auto">
            <a:xfrm>
              <a:off x="4395" y="1676"/>
              <a:ext cx="266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b”</a:t>
              </a:r>
            </a:p>
          </p:txBody>
        </p:sp>
        <p:sp>
          <p:nvSpPr>
            <p:cNvPr id="28820" name="Text Box 25"/>
            <p:cNvSpPr txBox="1">
              <a:spLocks noChangeArrowheads="1"/>
            </p:cNvSpPr>
            <p:nvPr/>
          </p:nvSpPr>
          <p:spPr bwMode="auto">
            <a:xfrm>
              <a:off x="3965" y="2229"/>
              <a:ext cx="266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d”</a:t>
              </a:r>
            </a:p>
          </p:txBody>
        </p:sp>
      </p:grpSp>
      <p:grpSp>
        <p:nvGrpSpPr>
          <p:cNvPr id="746522" name="Group 26"/>
          <p:cNvGrpSpPr>
            <a:grpSpLocks/>
          </p:cNvGrpSpPr>
          <p:nvPr/>
        </p:nvGrpSpPr>
        <p:grpSpPr bwMode="auto">
          <a:xfrm>
            <a:off x="2505075" y="3802063"/>
            <a:ext cx="1970088" cy="1966912"/>
            <a:chOff x="1392" y="2632"/>
            <a:chExt cx="1394" cy="1392"/>
          </a:xfrm>
        </p:grpSpPr>
        <p:sp>
          <p:nvSpPr>
            <p:cNvPr id="28813" name="Text Box 27"/>
            <p:cNvSpPr txBox="1">
              <a:spLocks noChangeArrowheads="1"/>
            </p:cNvSpPr>
            <p:nvPr/>
          </p:nvSpPr>
          <p:spPr bwMode="auto">
            <a:xfrm>
              <a:off x="1392" y="3184"/>
              <a:ext cx="193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8814" name="Text Box 28"/>
            <p:cNvSpPr txBox="1">
              <a:spLocks noChangeArrowheads="1"/>
            </p:cNvSpPr>
            <p:nvPr/>
          </p:nvSpPr>
          <p:spPr bwMode="auto">
            <a:xfrm>
              <a:off x="1871" y="3808"/>
              <a:ext cx="194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8815" name="Text Box 29"/>
            <p:cNvSpPr txBox="1">
              <a:spLocks noChangeArrowheads="1"/>
            </p:cNvSpPr>
            <p:nvPr/>
          </p:nvSpPr>
          <p:spPr bwMode="auto">
            <a:xfrm>
              <a:off x="2593" y="3166"/>
              <a:ext cx="193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8816" name="Text Box 30"/>
            <p:cNvSpPr txBox="1">
              <a:spLocks noChangeArrowheads="1"/>
            </p:cNvSpPr>
            <p:nvPr/>
          </p:nvSpPr>
          <p:spPr bwMode="auto">
            <a:xfrm>
              <a:off x="1968" y="2632"/>
              <a:ext cx="193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</a:t>
              </a:r>
            </a:p>
          </p:txBody>
        </p:sp>
      </p:grpSp>
      <p:grpSp>
        <p:nvGrpSpPr>
          <p:cNvPr id="746527" name="Group 31"/>
          <p:cNvGrpSpPr>
            <a:grpSpLocks/>
          </p:cNvGrpSpPr>
          <p:nvPr/>
        </p:nvGrpSpPr>
        <p:grpSpPr bwMode="auto">
          <a:xfrm>
            <a:off x="2573338" y="1371600"/>
            <a:ext cx="1892300" cy="327025"/>
            <a:chOff x="1440" y="912"/>
            <a:chExt cx="1339" cy="231"/>
          </a:xfrm>
        </p:grpSpPr>
        <p:sp>
          <p:nvSpPr>
            <p:cNvPr id="28809" name="Text Box 32"/>
            <p:cNvSpPr txBox="1">
              <a:spLocks noChangeArrowheads="1"/>
            </p:cNvSpPr>
            <p:nvPr/>
          </p:nvSpPr>
          <p:spPr bwMode="auto">
            <a:xfrm>
              <a:off x="1440" y="928"/>
              <a:ext cx="235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1’</a:t>
              </a:r>
            </a:p>
          </p:txBody>
        </p:sp>
        <p:sp>
          <p:nvSpPr>
            <p:cNvPr id="28810" name="Text Box 33"/>
            <p:cNvSpPr txBox="1">
              <a:spLocks noChangeArrowheads="1"/>
            </p:cNvSpPr>
            <p:nvPr/>
          </p:nvSpPr>
          <p:spPr bwMode="auto">
            <a:xfrm>
              <a:off x="1968" y="912"/>
              <a:ext cx="235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2’</a:t>
              </a:r>
            </a:p>
          </p:txBody>
        </p:sp>
        <p:sp>
          <p:nvSpPr>
            <p:cNvPr id="28811" name="Text Box 34"/>
            <p:cNvSpPr txBox="1">
              <a:spLocks noChangeArrowheads="1"/>
            </p:cNvSpPr>
            <p:nvPr/>
          </p:nvSpPr>
          <p:spPr bwMode="auto">
            <a:xfrm>
              <a:off x="2063" y="912"/>
              <a:ext cx="235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4’</a:t>
              </a:r>
            </a:p>
          </p:txBody>
        </p:sp>
        <p:sp>
          <p:nvSpPr>
            <p:cNvPr id="28812" name="Text Box 35"/>
            <p:cNvSpPr txBox="1">
              <a:spLocks noChangeArrowheads="1"/>
            </p:cNvSpPr>
            <p:nvPr/>
          </p:nvSpPr>
          <p:spPr bwMode="auto">
            <a:xfrm>
              <a:off x="2544" y="912"/>
              <a:ext cx="235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3’</a:t>
              </a:r>
            </a:p>
          </p:txBody>
        </p:sp>
      </p:grpSp>
      <p:grpSp>
        <p:nvGrpSpPr>
          <p:cNvPr id="746532" name="Group 36"/>
          <p:cNvGrpSpPr>
            <a:grpSpLocks/>
          </p:cNvGrpSpPr>
          <p:nvPr/>
        </p:nvGrpSpPr>
        <p:grpSpPr bwMode="auto">
          <a:xfrm>
            <a:off x="5295900" y="1414463"/>
            <a:ext cx="1912938" cy="327025"/>
            <a:chOff x="1440" y="912"/>
            <a:chExt cx="1353" cy="232"/>
          </a:xfrm>
        </p:grpSpPr>
        <p:sp>
          <p:nvSpPr>
            <p:cNvPr id="28805" name="Text Box 37"/>
            <p:cNvSpPr txBox="1">
              <a:spLocks noChangeArrowheads="1"/>
            </p:cNvSpPr>
            <p:nvPr/>
          </p:nvSpPr>
          <p:spPr bwMode="auto">
            <a:xfrm>
              <a:off x="1440" y="928"/>
              <a:ext cx="249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4”</a:t>
              </a:r>
            </a:p>
          </p:txBody>
        </p:sp>
        <p:sp>
          <p:nvSpPr>
            <p:cNvPr id="28806" name="Text Box 38"/>
            <p:cNvSpPr txBox="1">
              <a:spLocks noChangeArrowheads="1"/>
            </p:cNvSpPr>
            <p:nvPr/>
          </p:nvSpPr>
          <p:spPr bwMode="auto">
            <a:xfrm>
              <a:off x="1968" y="912"/>
              <a:ext cx="249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1”</a:t>
              </a:r>
            </a:p>
          </p:txBody>
        </p:sp>
        <p:sp>
          <p:nvSpPr>
            <p:cNvPr id="28807" name="Text Box 39"/>
            <p:cNvSpPr txBox="1">
              <a:spLocks noChangeArrowheads="1"/>
            </p:cNvSpPr>
            <p:nvPr/>
          </p:nvSpPr>
          <p:spPr bwMode="auto">
            <a:xfrm>
              <a:off x="2064" y="912"/>
              <a:ext cx="250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3”</a:t>
              </a:r>
            </a:p>
          </p:txBody>
        </p:sp>
        <p:sp>
          <p:nvSpPr>
            <p:cNvPr id="28808" name="Text Box 40"/>
            <p:cNvSpPr txBox="1">
              <a:spLocks noChangeArrowheads="1"/>
            </p:cNvSpPr>
            <p:nvPr/>
          </p:nvSpPr>
          <p:spPr bwMode="auto">
            <a:xfrm>
              <a:off x="2544" y="912"/>
              <a:ext cx="249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2”</a:t>
              </a:r>
            </a:p>
          </p:txBody>
        </p:sp>
      </p:grpSp>
      <p:sp>
        <p:nvSpPr>
          <p:cNvPr id="746537" name="Line 41"/>
          <p:cNvSpPr>
            <a:spLocks noChangeShapeType="1"/>
          </p:cNvSpPr>
          <p:nvPr/>
        </p:nvSpPr>
        <p:spPr bwMode="auto">
          <a:xfrm flipV="1">
            <a:off x="5229225" y="3078163"/>
            <a:ext cx="1220788" cy="677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538" name="Text Box 42"/>
          <p:cNvSpPr txBox="1">
            <a:spLocks noChangeArrowheads="1"/>
          </p:cNvSpPr>
          <p:nvPr/>
        </p:nvSpPr>
        <p:spPr bwMode="auto">
          <a:xfrm>
            <a:off x="5489575" y="3519488"/>
            <a:ext cx="41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30</a:t>
            </a:r>
            <a:r>
              <a:rPr lang="en-US" altLang="en-US" sz="1400" baseline="30000">
                <a:solidFill>
                  <a:srgbClr val="000000"/>
                </a:solidFill>
              </a:rPr>
              <a:t>0</a:t>
            </a:r>
          </a:p>
        </p:txBody>
      </p:sp>
      <p:grpSp>
        <p:nvGrpSpPr>
          <p:cNvPr id="746539" name="Group 43"/>
          <p:cNvGrpSpPr>
            <a:grpSpLocks/>
          </p:cNvGrpSpPr>
          <p:nvPr/>
        </p:nvGrpSpPr>
        <p:grpSpPr bwMode="auto">
          <a:xfrm>
            <a:off x="1895475" y="2049463"/>
            <a:ext cx="4883150" cy="1289050"/>
            <a:chOff x="960" y="1392"/>
            <a:chExt cx="3456" cy="912"/>
          </a:xfrm>
        </p:grpSpPr>
        <p:sp>
          <p:nvSpPr>
            <p:cNvPr id="28799" name="Line 44"/>
            <p:cNvSpPr>
              <a:spLocks noChangeShapeType="1"/>
            </p:cNvSpPr>
            <p:nvPr/>
          </p:nvSpPr>
          <p:spPr bwMode="auto">
            <a:xfrm flipH="1">
              <a:off x="1008" y="1392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800" name="Line 45"/>
            <p:cNvSpPr>
              <a:spLocks noChangeShapeType="1"/>
            </p:cNvSpPr>
            <p:nvPr/>
          </p:nvSpPr>
          <p:spPr bwMode="auto">
            <a:xfrm flipH="1">
              <a:off x="960" y="1968"/>
              <a:ext cx="34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801" name="Line 46"/>
            <p:cNvSpPr>
              <a:spLocks noChangeShapeType="1"/>
            </p:cNvSpPr>
            <p:nvPr/>
          </p:nvSpPr>
          <p:spPr bwMode="auto">
            <a:xfrm flipH="1">
              <a:off x="1008" y="2304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802" name="Line 47"/>
            <p:cNvSpPr>
              <a:spLocks noChangeShapeType="1"/>
            </p:cNvSpPr>
            <p:nvPr/>
          </p:nvSpPr>
          <p:spPr bwMode="auto">
            <a:xfrm flipH="1">
              <a:off x="1008" y="1728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803" name="Line 48"/>
            <p:cNvSpPr>
              <a:spLocks noChangeShapeType="1"/>
            </p:cNvSpPr>
            <p:nvPr/>
          </p:nvSpPr>
          <p:spPr bwMode="auto">
            <a:xfrm flipH="1">
              <a:off x="1392" y="1488"/>
              <a:ext cx="259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804" name="Line 49"/>
            <p:cNvSpPr>
              <a:spLocks noChangeShapeType="1"/>
            </p:cNvSpPr>
            <p:nvPr/>
          </p:nvSpPr>
          <p:spPr bwMode="auto">
            <a:xfrm flipH="1">
              <a:off x="1344" y="2208"/>
              <a:ext cx="264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6546" name="Group 50"/>
          <p:cNvGrpSpPr>
            <a:grpSpLocks/>
          </p:cNvGrpSpPr>
          <p:nvPr/>
        </p:nvGrpSpPr>
        <p:grpSpPr bwMode="auto">
          <a:xfrm>
            <a:off x="1963738" y="2049463"/>
            <a:ext cx="2779712" cy="1289050"/>
            <a:chOff x="1008" y="1392"/>
            <a:chExt cx="1968" cy="912"/>
          </a:xfrm>
        </p:grpSpPr>
        <p:sp>
          <p:nvSpPr>
            <p:cNvPr id="28797" name="Line 51"/>
            <p:cNvSpPr>
              <a:spLocks noChangeShapeType="1"/>
            </p:cNvSpPr>
            <p:nvPr/>
          </p:nvSpPr>
          <p:spPr bwMode="auto">
            <a:xfrm>
              <a:off x="1008" y="139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98" name="Line 52"/>
            <p:cNvSpPr>
              <a:spLocks noChangeShapeType="1"/>
            </p:cNvSpPr>
            <p:nvPr/>
          </p:nvSpPr>
          <p:spPr bwMode="auto">
            <a:xfrm>
              <a:off x="2976" y="139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6549" name="Group 53"/>
          <p:cNvGrpSpPr>
            <a:grpSpLocks/>
          </p:cNvGrpSpPr>
          <p:nvPr/>
        </p:nvGrpSpPr>
        <p:grpSpPr bwMode="auto">
          <a:xfrm>
            <a:off x="3454400" y="4016375"/>
            <a:ext cx="3595688" cy="1560513"/>
            <a:chOff x="2064" y="2784"/>
            <a:chExt cx="2544" cy="1104"/>
          </a:xfrm>
        </p:grpSpPr>
        <p:sp>
          <p:nvSpPr>
            <p:cNvPr id="28794" name="Line 54"/>
            <p:cNvSpPr>
              <a:spLocks noChangeShapeType="1"/>
            </p:cNvSpPr>
            <p:nvPr/>
          </p:nvSpPr>
          <p:spPr bwMode="auto">
            <a:xfrm>
              <a:off x="2064" y="2784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95" name="Line 55"/>
            <p:cNvSpPr>
              <a:spLocks noChangeShapeType="1"/>
            </p:cNvSpPr>
            <p:nvPr/>
          </p:nvSpPr>
          <p:spPr bwMode="auto">
            <a:xfrm>
              <a:off x="2640" y="333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96" name="Line 56"/>
            <p:cNvSpPr>
              <a:spLocks noChangeShapeType="1"/>
            </p:cNvSpPr>
            <p:nvPr/>
          </p:nvSpPr>
          <p:spPr bwMode="auto">
            <a:xfrm>
              <a:off x="2064" y="3888"/>
              <a:ext cx="2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6553" name="Group 57"/>
          <p:cNvGrpSpPr>
            <a:grpSpLocks/>
          </p:cNvGrpSpPr>
          <p:nvPr/>
        </p:nvGrpSpPr>
        <p:grpSpPr bwMode="auto">
          <a:xfrm>
            <a:off x="5421313" y="3609975"/>
            <a:ext cx="1560512" cy="1966913"/>
            <a:chOff x="3456" y="2496"/>
            <a:chExt cx="1104" cy="1392"/>
          </a:xfrm>
        </p:grpSpPr>
        <p:sp>
          <p:nvSpPr>
            <p:cNvPr id="28791" name="Line 58"/>
            <p:cNvSpPr>
              <a:spLocks noChangeShapeType="1"/>
            </p:cNvSpPr>
            <p:nvPr/>
          </p:nvSpPr>
          <p:spPr bwMode="auto">
            <a:xfrm>
              <a:off x="4560" y="2544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92" name="Line 59"/>
            <p:cNvSpPr>
              <a:spLocks noChangeShapeType="1"/>
            </p:cNvSpPr>
            <p:nvPr/>
          </p:nvSpPr>
          <p:spPr bwMode="auto">
            <a:xfrm>
              <a:off x="3992" y="249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93" name="Line 60"/>
            <p:cNvSpPr>
              <a:spLocks noChangeShapeType="1"/>
            </p:cNvSpPr>
            <p:nvPr/>
          </p:nvSpPr>
          <p:spPr bwMode="auto">
            <a:xfrm>
              <a:off x="3456" y="24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6557" name="Line 61"/>
          <p:cNvSpPr>
            <a:spLocks noChangeShapeType="1"/>
          </p:cNvSpPr>
          <p:nvPr/>
        </p:nvSpPr>
        <p:spPr bwMode="auto">
          <a:xfrm rot="23214">
            <a:off x="5105400" y="3744913"/>
            <a:ext cx="2103438" cy="2035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558" name="Line 62"/>
          <p:cNvSpPr>
            <a:spLocks noChangeShapeType="1"/>
          </p:cNvSpPr>
          <p:nvPr/>
        </p:nvSpPr>
        <p:spPr bwMode="auto">
          <a:xfrm flipH="1">
            <a:off x="1624013" y="2660650"/>
            <a:ext cx="34591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559" name="Oval 63"/>
          <p:cNvSpPr>
            <a:spLocks noChangeArrowheads="1"/>
          </p:cNvSpPr>
          <p:nvPr/>
        </p:nvSpPr>
        <p:spPr bwMode="auto">
          <a:xfrm>
            <a:off x="4246563" y="2162175"/>
            <a:ext cx="68262" cy="68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6560" name="Oval 64"/>
          <p:cNvSpPr>
            <a:spLocks noChangeArrowheads="1"/>
          </p:cNvSpPr>
          <p:nvPr/>
        </p:nvSpPr>
        <p:spPr bwMode="auto">
          <a:xfrm>
            <a:off x="4246563" y="3146425"/>
            <a:ext cx="68262" cy="68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6561" name="Oval 65"/>
          <p:cNvSpPr>
            <a:spLocks noChangeArrowheads="1"/>
          </p:cNvSpPr>
          <p:nvPr/>
        </p:nvSpPr>
        <p:spPr bwMode="auto">
          <a:xfrm>
            <a:off x="2663825" y="3157538"/>
            <a:ext cx="68263" cy="68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6562" name="Oval 66"/>
          <p:cNvSpPr>
            <a:spLocks noChangeArrowheads="1"/>
          </p:cNvSpPr>
          <p:nvPr/>
        </p:nvSpPr>
        <p:spPr bwMode="auto">
          <a:xfrm>
            <a:off x="2663825" y="2151063"/>
            <a:ext cx="68263" cy="68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6563" name="Line 67"/>
          <p:cNvSpPr>
            <a:spLocks noChangeShapeType="1"/>
          </p:cNvSpPr>
          <p:nvPr/>
        </p:nvSpPr>
        <p:spPr bwMode="auto">
          <a:xfrm flipV="1">
            <a:off x="3659188" y="2852738"/>
            <a:ext cx="0" cy="257651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564" name="Oval 68"/>
          <p:cNvSpPr>
            <a:spLocks noChangeArrowheads="1"/>
          </p:cNvSpPr>
          <p:nvPr/>
        </p:nvSpPr>
        <p:spPr bwMode="auto">
          <a:xfrm>
            <a:off x="3613150" y="2817813"/>
            <a:ext cx="68263" cy="68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6565" name="Line 69"/>
          <p:cNvSpPr>
            <a:spLocks noChangeShapeType="1"/>
          </p:cNvSpPr>
          <p:nvPr/>
        </p:nvSpPr>
        <p:spPr bwMode="auto">
          <a:xfrm flipV="1">
            <a:off x="3319463" y="2863850"/>
            <a:ext cx="0" cy="2509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566" name="Oval 70"/>
          <p:cNvSpPr>
            <a:spLocks noChangeArrowheads="1"/>
          </p:cNvSpPr>
          <p:nvPr/>
        </p:nvSpPr>
        <p:spPr bwMode="auto">
          <a:xfrm>
            <a:off x="3275013" y="2817813"/>
            <a:ext cx="66675" cy="68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746567" name="Group 71"/>
          <p:cNvGrpSpPr>
            <a:grpSpLocks/>
          </p:cNvGrpSpPr>
          <p:nvPr/>
        </p:nvGrpSpPr>
        <p:grpSpPr bwMode="auto">
          <a:xfrm>
            <a:off x="1963738" y="2049463"/>
            <a:ext cx="4814887" cy="3324225"/>
            <a:chOff x="1008" y="1392"/>
            <a:chExt cx="3408" cy="2352"/>
          </a:xfrm>
        </p:grpSpPr>
        <p:sp>
          <p:nvSpPr>
            <p:cNvPr id="28783" name="Line 72"/>
            <p:cNvSpPr>
              <a:spLocks noChangeShapeType="1"/>
            </p:cNvSpPr>
            <p:nvPr/>
          </p:nvSpPr>
          <p:spPr bwMode="auto">
            <a:xfrm>
              <a:off x="4416" y="1968"/>
              <a:ext cx="0" cy="17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84" name="Line 73"/>
            <p:cNvSpPr>
              <a:spLocks noChangeShapeType="1"/>
            </p:cNvSpPr>
            <p:nvPr/>
          </p:nvSpPr>
          <p:spPr bwMode="auto">
            <a:xfrm flipH="1">
              <a:off x="2208" y="3744"/>
              <a:ext cx="220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85" name="Line 74"/>
            <p:cNvSpPr>
              <a:spLocks noChangeShapeType="1"/>
            </p:cNvSpPr>
            <p:nvPr/>
          </p:nvSpPr>
          <p:spPr bwMode="auto">
            <a:xfrm>
              <a:off x="4128" y="1392"/>
              <a:ext cx="0" cy="206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86" name="Line 75"/>
            <p:cNvSpPr>
              <a:spLocks noChangeShapeType="1"/>
            </p:cNvSpPr>
            <p:nvPr/>
          </p:nvSpPr>
          <p:spPr bwMode="auto">
            <a:xfrm flipH="1">
              <a:off x="1008" y="3456"/>
              <a:ext cx="312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87" name="Line 76"/>
            <p:cNvSpPr>
              <a:spLocks noChangeShapeType="1"/>
            </p:cNvSpPr>
            <p:nvPr/>
          </p:nvSpPr>
          <p:spPr bwMode="auto">
            <a:xfrm>
              <a:off x="3552" y="1728"/>
              <a:ext cx="0" cy="120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88" name="Line 77"/>
            <p:cNvSpPr>
              <a:spLocks noChangeShapeType="1"/>
            </p:cNvSpPr>
            <p:nvPr/>
          </p:nvSpPr>
          <p:spPr bwMode="auto">
            <a:xfrm flipH="1">
              <a:off x="1008" y="2880"/>
              <a:ext cx="25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89" name="Line 78"/>
            <p:cNvSpPr>
              <a:spLocks noChangeShapeType="1"/>
            </p:cNvSpPr>
            <p:nvPr/>
          </p:nvSpPr>
          <p:spPr bwMode="auto">
            <a:xfrm>
              <a:off x="3888" y="2304"/>
              <a:ext cx="0" cy="91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90" name="Line 79"/>
            <p:cNvSpPr>
              <a:spLocks noChangeShapeType="1"/>
            </p:cNvSpPr>
            <p:nvPr/>
          </p:nvSpPr>
          <p:spPr bwMode="auto">
            <a:xfrm flipH="1">
              <a:off x="1008" y="3216"/>
              <a:ext cx="288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6576" name="Group 80"/>
          <p:cNvGrpSpPr>
            <a:grpSpLocks/>
          </p:cNvGrpSpPr>
          <p:nvPr/>
        </p:nvGrpSpPr>
        <p:grpSpPr bwMode="auto">
          <a:xfrm>
            <a:off x="1963738" y="4152900"/>
            <a:ext cx="2779712" cy="1231900"/>
            <a:chOff x="1008" y="2880"/>
            <a:chExt cx="1968" cy="872"/>
          </a:xfrm>
        </p:grpSpPr>
        <p:sp>
          <p:nvSpPr>
            <p:cNvPr id="28775" name="Line 81"/>
            <p:cNvSpPr>
              <a:spLocks noChangeShapeType="1"/>
            </p:cNvSpPr>
            <p:nvPr/>
          </p:nvSpPr>
          <p:spPr bwMode="auto">
            <a:xfrm>
              <a:off x="1008" y="2888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76" name="Line 82"/>
            <p:cNvSpPr>
              <a:spLocks noChangeShapeType="1"/>
            </p:cNvSpPr>
            <p:nvPr/>
          </p:nvSpPr>
          <p:spPr bwMode="auto">
            <a:xfrm>
              <a:off x="2976" y="2880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77" name="Line 83"/>
            <p:cNvSpPr>
              <a:spLocks noChangeShapeType="1"/>
            </p:cNvSpPr>
            <p:nvPr/>
          </p:nvSpPr>
          <p:spPr bwMode="auto">
            <a:xfrm flipH="1">
              <a:off x="1008" y="2880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78" name="Line 84"/>
            <p:cNvSpPr>
              <a:spLocks noChangeShapeType="1"/>
            </p:cNvSpPr>
            <p:nvPr/>
          </p:nvSpPr>
          <p:spPr bwMode="auto">
            <a:xfrm flipH="1">
              <a:off x="1008" y="3744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79" name="Line 85"/>
            <p:cNvSpPr>
              <a:spLocks noChangeShapeType="1"/>
            </p:cNvSpPr>
            <p:nvPr/>
          </p:nvSpPr>
          <p:spPr bwMode="auto">
            <a:xfrm flipH="1">
              <a:off x="2544" y="3456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80" name="Line 86"/>
            <p:cNvSpPr>
              <a:spLocks noChangeShapeType="1"/>
            </p:cNvSpPr>
            <p:nvPr/>
          </p:nvSpPr>
          <p:spPr bwMode="auto">
            <a:xfrm flipH="1">
              <a:off x="1008" y="3456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81" name="Line 87"/>
            <p:cNvSpPr>
              <a:spLocks noChangeShapeType="1"/>
            </p:cNvSpPr>
            <p:nvPr/>
          </p:nvSpPr>
          <p:spPr bwMode="auto">
            <a:xfrm flipH="1">
              <a:off x="2208" y="374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82" name="Line 88"/>
            <p:cNvSpPr>
              <a:spLocks noChangeShapeType="1"/>
            </p:cNvSpPr>
            <p:nvPr/>
          </p:nvSpPr>
          <p:spPr bwMode="auto">
            <a:xfrm flipH="1">
              <a:off x="2208" y="2880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6585" name="Group 89"/>
          <p:cNvGrpSpPr>
            <a:grpSpLocks/>
          </p:cNvGrpSpPr>
          <p:nvPr/>
        </p:nvGrpSpPr>
        <p:grpSpPr bwMode="auto">
          <a:xfrm>
            <a:off x="1963738" y="4152900"/>
            <a:ext cx="2779712" cy="1220788"/>
            <a:chOff x="1008" y="2880"/>
            <a:chExt cx="1968" cy="864"/>
          </a:xfrm>
        </p:grpSpPr>
        <p:sp>
          <p:nvSpPr>
            <p:cNvPr id="28771" name="Line 90"/>
            <p:cNvSpPr>
              <a:spLocks noChangeShapeType="1"/>
            </p:cNvSpPr>
            <p:nvPr/>
          </p:nvSpPr>
          <p:spPr bwMode="auto">
            <a:xfrm flipH="1">
              <a:off x="1920" y="374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72" name="Line 91"/>
            <p:cNvSpPr>
              <a:spLocks noChangeShapeType="1"/>
            </p:cNvSpPr>
            <p:nvPr/>
          </p:nvSpPr>
          <p:spPr bwMode="auto">
            <a:xfrm flipH="1">
              <a:off x="2016" y="288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73" name="Line 92"/>
            <p:cNvSpPr>
              <a:spLocks noChangeShapeType="1"/>
            </p:cNvSpPr>
            <p:nvPr/>
          </p:nvSpPr>
          <p:spPr bwMode="auto">
            <a:xfrm flipH="1">
              <a:off x="1008" y="3216"/>
              <a:ext cx="19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74" name="Line 93"/>
            <p:cNvSpPr>
              <a:spLocks noChangeShapeType="1"/>
            </p:cNvSpPr>
            <p:nvPr/>
          </p:nvSpPr>
          <p:spPr bwMode="auto">
            <a:xfrm flipH="1">
              <a:off x="1632" y="3456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6590" name="Line 94"/>
          <p:cNvSpPr>
            <a:spLocks noChangeShapeType="1"/>
          </p:cNvSpPr>
          <p:nvPr/>
        </p:nvSpPr>
        <p:spPr bwMode="auto">
          <a:xfrm flipH="1">
            <a:off x="3308350" y="5362575"/>
            <a:ext cx="134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6591" name="Group 95"/>
          <p:cNvGrpSpPr>
            <a:grpSpLocks/>
          </p:cNvGrpSpPr>
          <p:nvPr/>
        </p:nvGrpSpPr>
        <p:grpSpPr bwMode="auto">
          <a:xfrm>
            <a:off x="6156325" y="3135313"/>
            <a:ext cx="354013" cy="304800"/>
            <a:chOff x="3976" y="2160"/>
            <a:chExt cx="250" cy="216"/>
          </a:xfrm>
        </p:grpSpPr>
        <p:sp>
          <p:nvSpPr>
            <p:cNvPr id="28769" name="Oval 96"/>
            <p:cNvSpPr>
              <a:spLocks noChangeArrowheads="1"/>
            </p:cNvSpPr>
            <p:nvPr/>
          </p:nvSpPr>
          <p:spPr bwMode="auto">
            <a:xfrm>
              <a:off x="3976" y="219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70" name="Text Box 97"/>
            <p:cNvSpPr txBox="1">
              <a:spLocks noChangeArrowheads="1"/>
            </p:cNvSpPr>
            <p:nvPr/>
          </p:nvSpPr>
          <p:spPr bwMode="auto">
            <a:xfrm>
              <a:off x="3983" y="2160"/>
              <a:ext cx="243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c”</a:t>
              </a:r>
            </a:p>
          </p:txBody>
        </p:sp>
      </p:grpSp>
      <p:grpSp>
        <p:nvGrpSpPr>
          <p:cNvPr id="746594" name="Group 98"/>
          <p:cNvGrpSpPr>
            <a:grpSpLocks/>
          </p:cNvGrpSpPr>
          <p:nvPr/>
        </p:nvGrpSpPr>
        <p:grpSpPr bwMode="auto">
          <a:xfrm>
            <a:off x="5930900" y="1982788"/>
            <a:ext cx="306388" cy="304800"/>
            <a:chOff x="3816" y="1345"/>
            <a:chExt cx="217" cy="215"/>
          </a:xfrm>
        </p:grpSpPr>
        <p:sp>
          <p:nvSpPr>
            <p:cNvPr id="28767" name="Oval 99"/>
            <p:cNvSpPr>
              <a:spLocks noChangeArrowheads="1"/>
            </p:cNvSpPr>
            <p:nvPr/>
          </p:nvSpPr>
          <p:spPr bwMode="auto">
            <a:xfrm>
              <a:off x="3976" y="14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68" name="Text Box 100"/>
            <p:cNvSpPr txBox="1">
              <a:spLocks noChangeArrowheads="1"/>
            </p:cNvSpPr>
            <p:nvPr/>
          </p:nvSpPr>
          <p:spPr bwMode="auto">
            <a:xfrm>
              <a:off x="3816" y="1345"/>
              <a:ext cx="217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  <a:r>
                <a:rPr lang="en-US" altLang="en-US" sz="1400">
                  <a:solidFill>
                    <a:srgbClr val="000000"/>
                  </a:solidFill>
                </a:rPr>
                <a:t>”</a:t>
              </a:r>
            </a:p>
          </p:txBody>
        </p:sp>
      </p:grpSp>
      <p:grpSp>
        <p:nvGrpSpPr>
          <p:cNvPr id="746597" name="Group 101"/>
          <p:cNvGrpSpPr>
            <a:grpSpLocks/>
          </p:cNvGrpSpPr>
          <p:nvPr/>
        </p:nvGrpSpPr>
        <p:grpSpPr bwMode="auto">
          <a:xfrm>
            <a:off x="3624263" y="2490788"/>
            <a:ext cx="68262" cy="441325"/>
            <a:chOff x="2184" y="1704"/>
            <a:chExt cx="48" cy="312"/>
          </a:xfrm>
        </p:grpSpPr>
        <p:sp>
          <p:nvSpPr>
            <p:cNvPr id="28765" name="Line 102"/>
            <p:cNvSpPr>
              <a:spLocks noChangeShapeType="1"/>
            </p:cNvSpPr>
            <p:nvPr/>
          </p:nvSpPr>
          <p:spPr bwMode="auto">
            <a:xfrm flipV="1">
              <a:off x="2208" y="172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66" name="Oval 103"/>
            <p:cNvSpPr>
              <a:spLocks noChangeArrowheads="1"/>
            </p:cNvSpPr>
            <p:nvPr/>
          </p:nvSpPr>
          <p:spPr bwMode="auto">
            <a:xfrm>
              <a:off x="2184" y="170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46600" name="Group 104"/>
          <p:cNvGrpSpPr>
            <a:grpSpLocks/>
          </p:cNvGrpSpPr>
          <p:nvPr/>
        </p:nvGrpSpPr>
        <p:grpSpPr bwMode="auto">
          <a:xfrm>
            <a:off x="3286125" y="2490788"/>
            <a:ext cx="66675" cy="441325"/>
            <a:chOff x="1944" y="1704"/>
            <a:chExt cx="48" cy="312"/>
          </a:xfrm>
        </p:grpSpPr>
        <p:sp>
          <p:nvSpPr>
            <p:cNvPr id="28763" name="Line 105"/>
            <p:cNvSpPr>
              <a:spLocks noChangeShapeType="1"/>
            </p:cNvSpPr>
            <p:nvPr/>
          </p:nvSpPr>
          <p:spPr bwMode="auto">
            <a:xfrm flipV="1">
              <a:off x="1968" y="172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64" name="Oval 106"/>
            <p:cNvSpPr>
              <a:spLocks noChangeArrowheads="1"/>
            </p:cNvSpPr>
            <p:nvPr/>
          </p:nvSpPr>
          <p:spPr bwMode="auto">
            <a:xfrm>
              <a:off x="1944" y="170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746603" name="Line 107"/>
          <p:cNvSpPr>
            <a:spLocks noChangeShapeType="1"/>
          </p:cNvSpPr>
          <p:nvPr/>
        </p:nvSpPr>
        <p:spPr bwMode="auto">
          <a:xfrm flipV="1">
            <a:off x="4073525" y="2049463"/>
            <a:ext cx="0" cy="2916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04" name="Line 108"/>
          <p:cNvSpPr>
            <a:spLocks noChangeShapeType="1"/>
          </p:cNvSpPr>
          <p:nvPr/>
        </p:nvSpPr>
        <p:spPr bwMode="auto">
          <a:xfrm flipV="1">
            <a:off x="2887663" y="2041525"/>
            <a:ext cx="0" cy="291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05" name="Oval 109"/>
          <p:cNvSpPr>
            <a:spLocks noChangeArrowheads="1"/>
          </p:cNvSpPr>
          <p:nvPr/>
        </p:nvSpPr>
        <p:spPr bwMode="auto">
          <a:xfrm>
            <a:off x="4040188" y="2008188"/>
            <a:ext cx="68262" cy="66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6606" name="Oval 110"/>
          <p:cNvSpPr>
            <a:spLocks noChangeArrowheads="1"/>
          </p:cNvSpPr>
          <p:nvPr/>
        </p:nvSpPr>
        <p:spPr bwMode="auto">
          <a:xfrm>
            <a:off x="2852738" y="2008188"/>
            <a:ext cx="68262" cy="66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6607" name="Oval 111"/>
          <p:cNvSpPr>
            <a:spLocks noChangeArrowheads="1"/>
          </p:cNvSpPr>
          <p:nvPr/>
        </p:nvSpPr>
        <p:spPr bwMode="auto">
          <a:xfrm>
            <a:off x="4040188" y="3305175"/>
            <a:ext cx="68262" cy="66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6608" name="Oval 112"/>
          <p:cNvSpPr>
            <a:spLocks noChangeArrowheads="1"/>
          </p:cNvSpPr>
          <p:nvPr/>
        </p:nvSpPr>
        <p:spPr bwMode="auto">
          <a:xfrm>
            <a:off x="2852738" y="3305175"/>
            <a:ext cx="68262" cy="66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6609" name="Text Box 113"/>
          <p:cNvSpPr txBox="1">
            <a:spLocks noChangeArrowheads="1"/>
          </p:cNvSpPr>
          <p:nvPr/>
        </p:nvSpPr>
        <p:spPr bwMode="auto">
          <a:xfrm>
            <a:off x="3862388" y="1846263"/>
            <a:ext cx="3032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</a:rPr>
              <a:t>a’</a:t>
            </a:r>
          </a:p>
        </p:txBody>
      </p:sp>
      <p:sp>
        <p:nvSpPr>
          <p:cNvPr id="746610" name="Text Box 114"/>
          <p:cNvSpPr txBox="1">
            <a:spLocks noChangeArrowheads="1"/>
          </p:cNvSpPr>
          <p:nvPr/>
        </p:nvSpPr>
        <p:spPr bwMode="auto">
          <a:xfrm>
            <a:off x="4252913" y="1990725"/>
            <a:ext cx="2857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</a:rPr>
              <a:t>f’</a:t>
            </a:r>
          </a:p>
        </p:txBody>
      </p:sp>
      <p:sp>
        <p:nvSpPr>
          <p:cNvPr id="746611" name="Text Box 115"/>
          <p:cNvSpPr txBox="1">
            <a:spLocks noChangeArrowheads="1"/>
          </p:cNvSpPr>
          <p:nvPr/>
        </p:nvSpPr>
        <p:spPr bwMode="auto">
          <a:xfrm>
            <a:off x="4268788" y="2998788"/>
            <a:ext cx="3032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</a:rPr>
              <a:t>c’</a:t>
            </a:r>
          </a:p>
        </p:txBody>
      </p:sp>
      <p:sp>
        <p:nvSpPr>
          <p:cNvPr id="746612" name="Text Box 116"/>
          <p:cNvSpPr txBox="1">
            <a:spLocks noChangeArrowheads="1"/>
          </p:cNvSpPr>
          <p:nvPr/>
        </p:nvSpPr>
        <p:spPr bwMode="auto">
          <a:xfrm>
            <a:off x="3854450" y="3279775"/>
            <a:ext cx="3111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</a:rPr>
              <a:t>d’</a:t>
            </a:r>
          </a:p>
        </p:txBody>
      </p:sp>
      <p:sp>
        <p:nvSpPr>
          <p:cNvPr id="746613" name="Text Box 117"/>
          <p:cNvSpPr txBox="1">
            <a:spLocks noChangeArrowheads="1"/>
          </p:cNvSpPr>
          <p:nvPr/>
        </p:nvSpPr>
        <p:spPr bwMode="auto">
          <a:xfrm>
            <a:off x="3438525" y="2838450"/>
            <a:ext cx="3111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</a:rPr>
              <a:t>b’</a:t>
            </a:r>
          </a:p>
        </p:txBody>
      </p:sp>
      <p:sp>
        <p:nvSpPr>
          <p:cNvPr id="746614" name="Text Box 118"/>
          <p:cNvSpPr txBox="1">
            <a:spLocks noChangeArrowheads="1"/>
          </p:cNvSpPr>
          <p:nvPr/>
        </p:nvSpPr>
        <p:spPr bwMode="auto">
          <a:xfrm>
            <a:off x="3446463" y="2363788"/>
            <a:ext cx="3032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</a:rPr>
              <a:t>e’</a:t>
            </a:r>
          </a:p>
        </p:txBody>
      </p:sp>
      <p:sp>
        <p:nvSpPr>
          <p:cNvPr id="746615" name="Line 119"/>
          <p:cNvSpPr>
            <a:spLocks noChangeShapeType="1"/>
          </p:cNvSpPr>
          <p:nvPr/>
        </p:nvSpPr>
        <p:spPr bwMode="auto">
          <a:xfrm flipH="1">
            <a:off x="3659188" y="2049463"/>
            <a:ext cx="406400" cy="814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16" name="Line 120"/>
          <p:cNvSpPr>
            <a:spLocks noChangeShapeType="1"/>
          </p:cNvSpPr>
          <p:nvPr/>
        </p:nvSpPr>
        <p:spPr bwMode="auto">
          <a:xfrm>
            <a:off x="3659188" y="2863850"/>
            <a:ext cx="609600" cy="339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17" name="Line 121"/>
          <p:cNvSpPr>
            <a:spLocks noChangeShapeType="1"/>
          </p:cNvSpPr>
          <p:nvPr/>
        </p:nvSpPr>
        <p:spPr bwMode="auto">
          <a:xfrm flipH="1">
            <a:off x="4065588" y="3203575"/>
            <a:ext cx="203200" cy="134938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18" name="Line 122"/>
          <p:cNvSpPr>
            <a:spLocks noChangeShapeType="1"/>
          </p:cNvSpPr>
          <p:nvPr/>
        </p:nvSpPr>
        <p:spPr bwMode="auto">
          <a:xfrm flipH="1" flipV="1">
            <a:off x="3659188" y="2524125"/>
            <a:ext cx="406400" cy="814388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19" name="Line 123"/>
          <p:cNvSpPr>
            <a:spLocks noChangeShapeType="1"/>
          </p:cNvSpPr>
          <p:nvPr/>
        </p:nvSpPr>
        <p:spPr bwMode="auto">
          <a:xfrm flipV="1">
            <a:off x="3659188" y="2185988"/>
            <a:ext cx="609600" cy="338137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20" name="Line 124"/>
          <p:cNvSpPr>
            <a:spLocks noChangeShapeType="1"/>
          </p:cNvSpPr>
          <p:nvPr/>
        </p:nvSpPr>
        <p:spPr bwMode="auto">
          <a:xfrm flipH="1" flipV="1">
            <a:off x="4065588" y="2049463"/>
            <a:ext cx="203200" cy="136525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21" name="Line 125"/>
          <p:cNvSpPr>
            <a:spLocks noChangeShapeType="1"/>
          </p:cNvSpPr>
          <p:nvPr/>
        </p:nvSpPr>
        <p:spPr bwMode="auto">
          <a:xfrm>
            <a:off x="2844800" y="2049463"/>
            <a:ext cx="474663" cy="814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22" name="Line 126"/>
          <p:cNvSpPr>
            <a:spLocks noChangeShapeType="1"/>
          </p:cNvSpPr>
          <p:nvPr/>
        </p:nvSpPr>
        <p:spPr bwMode="auto">
          <a:xfrm flipH="1">
            <a:off x="2708275" y="2863850"/>
            <a:ext cx="611188" cy="339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23" name="Line 127"/>
          <p:cNvSpPr>
            <a:spLocks noChangeShapeType="1"/>
          </p:cNvSpPr>
          <p:nvPr/>
        </p:nvSpPr>
        <p:spPr bwMode="auto">
          <a:xfrm>
            <a:off x="2708275" y="3203575"/>
            <a:ext cx="204788" cy="134938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24" name="Line 128"/>
          <p:cNvSpPr>
            <a:spLocks noChangeShapeType="1"/>
          </p:cNvSpPr>
          <p:nvPr/>
        </p:nvSpPr>
        <p:spPr bwMode="auto">
          <a:xfrm flipV="1">
            <a:off x="2913063" y="2524125"/>
            <a:ext cx="406400" cy="814388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25" name="Line 129"/>
          <p:cNvSpPr>
            <a:spLocks noChangeShapeType="1"/>
          </p:cNvSpPr>
          <p:nvPr/>
        </p:nvSpPr>
        <p:spPr bwMode="auto">
          <a:xfrm flipH="1" flipV="1">
            <a:off x="2708275" y="2185988"/>
            <a:ext cx="611188" cy="338137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6626" name="Line 130"/>
          <p:cNvSpPr>
            <a:spLocks noChangeShapeType="1"/>
          </p:cNvSpPr>
          <p:nvPr/>
        </p:nvSpPr>
        <p:spPr bwMode="auto">
          <a:xfrm flipV="1">
            <a:off x="2708275" y="2049463"/>
            <a:ext cx="204788" cy="136525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6627" name="Group 131"/>
          <p:cNvGrpSpPr>
            <a:grpSpLocks/>
          </p:cNvGrpSpPr>
          <p:nvPr/>
        </p:nvGrpSpPr>
        <p:grpSpPr bwMode="auto">
          <a:xfrm>
            <a:off x="1963738" y="2049463"/>
            <a:ext cx="2779712" cy="1289050"/>
            <a:chOff x="1008" y="1392"/>
            <a:chExt cx="1968" cy="912"/>
          </a:xfrm>
        </p:grpSpPr>
        <p:sp>
          <p:nvSpPr>
            <p:cNvPr id="28752" name="Line 132"/>
            <p:cNvSpPr>
              <a:spLocks noChangeShapeType="1"/>
            </p:cNvSpPr>
            <p:nvPr/>
          </p:nvSpPr>
          <p:spPr bwMode="auto">
            <a:xfrm flipV="1">
              <a:off x="1536" y="2208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53" name="Line 133"/>
            <p:cNvSpPr>
              <a:spLocks noChangeShapeType="1"/>
            </p:cNvSpPr>
            <p:nvPr/>
          </p:nvSpPr>
          <p:spPr bwMode="auto">
            <a:xfrm flipV="1">
              <a:off x="2640" y="2208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8754" name="Group 134"/>
            <p:cNvGrpSpPr>
              <a:grpSpLocks/>
            </p:cNvGrpSpPr>
            <p:nvPr/>
          </p:nvGrpSpPr>
          <p:grpSpPr bwMode="auto">
            <a:xfrm>
              <a:off x="1008" y="1392"/>
              <a:ext cx="1968" cy="912"/>
              <a:chOff x="1008" y="1392"/>
              <a:chExt cx="1968" cy="912"/>
            </a:xfrm>
          </p:grpSpPr>
          <p:sp>
            <p:nvSpPr>
              <p:cNvPr id="28755" name="Line 135"/>
              <p:cNvSpPr>
                <a:spLocks noChangeShapeType="1"/>
              </p:cNvSpPr>
              <p:nvPr/>
            </p:nvSpPr>
            <p:spPr bwMode="auto">
              <a:xfrm flipH="1">
                <a:off x="1008" y="1392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56" name="Line 136"/>
              <p:cNvSpPr>
                <a:spLocks noChangeShapeType="1"/>
              </p:cNvSpPr>
              <p:nvPr/>
            </p:nvSpPr>
            <p:spPr bwMode="auto">
              <a:xfrm>
                <a:off x="1008" y="1392"/>
                <a:ext cx="0" cy="9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57" name="Line 137"/>
              <p:cNvSpPr>
                <a:spLocks noChangeShapeType="1"/>
              </p:cNvSpPr>
              <p:nvPr/>
            </p:nvSpPr>
            <p:spPr bwMode="auto">
              <a:xfrm>
                <a:off x="1008" y="2304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58" name="Line 138"/>
              <p:cNvSpPr>
                <a:spLocks noChangeShapeType="1"/>
              </p:cNvSpPr>
              <p:nvPr/>
            </p:nvSpPr>
            <p:spPr bwMode="auto">
              <a:xfrm flipH="1">
                <a:off x="1008" y="1968"/>
                <a:ext cx="9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59" name="Line 139"/>
              <p:cNvSpPr>
                <a:spLocks noChangeShapeType="1"/>
              </p:cNvSpPr>
              <p:nvPr/>
            </p:nvSpPr>
            <p:spPr bwMode="auto">
              <a:xfrm>
                <a:off x="2208" y="1968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60" name="Line 140"/>
              <p:cNvSpPr>
                <a:spLocks noChangeShapeType="1"/>
              </p:cNvSpPr>
              <p:nvPr/>
            </p:nvSpPr>
            <p:spPr bwMode="auto">
              <a:xfrm>
                <a:off x="2976" y="1392"/>
                <a:ext cx="0" cy="9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61" name="Line 141"/>
              <p:cNvSpPr>
                <a:spLocks noChangeShapeType="1"/>
              </p:cNvSpPr>
              <p:nvPr/>
            </p:nvSpPr>
            <p:spPr bwMode="auto">
              <a:xfrm>
                <a:off x="2640" y="2304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62" name="Line 142"/>
              <p:cNvSpPr>
                <a:spLocks noChangeShapeType="1"/>
              </p:cNvSpPr>
              <p:nvPr/>
            </p:nvSpPr>
            <p:spPr bwMode="auto">
              <a:xfrm flipH="1">
                <a:off x="2496" y="1392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746639" name="Group 143"/>
          <p:cNvGrpSpPr>
            <a:grpSpLocks/>
          </p:cNvGrpSpPr>
          <p:nvPr/>
        </p:nvGrpSpPr>
        <p:grpSpPr bwMode="auto">
          <a:xfrm>
            <a:off x="2913063" y="2049463"/>
            <a:ext cx="1152525" cy="1289050"/>
            <a:chOff x="1680" y="1392"/>
            <a:chExt cx="816" cy="912"/>
          </a:xfrm>
        </p:grpSpPr>
        <p:sp>
          <p:nvSpPr>
            <p:cNvPr id="28749" name="Line 144"/>
            <p:cNvSpPr>
              <a:spLocks noChangeShapeType="1"/>
            </p:cNvSpPr>
            <p:nvPr/>
          </p:nvSpPr>
          <p:spPr bwMode="auto">
            <a:xfrm>
              <a:off x="1680" y="1392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50" name="Line 145"/>
            <p:cNvSpPr>
              <a:spLocks noChangeShapeType="1"/>
            </p:cNvSpPr>
            <p:nvPr/>
          </p:nvSpPr>
          <p:spPr bwMode="auto">
            <a:xfrm>
              <a:off x="1968" y="196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51" name="Line 146"/>
            <p:cNvSpPr>
              <a:spLocks noChangeShapeType="1"/>
            </p:cNvSpPr>
            <p:nvPr/>
          </p:nvSpPr>
          <p:spPr bwMode="auto">
            <a:xfrm>
              <a:off x="1680" y="2304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6643" name="Group 147"/>
          <p:cNvGrpSpPr>
            <a:grpSpLocks/>
          </p:cNvGrpSpPr>
          <p:nvPr/>
        </p:nvGrpSpPr>
        <p:grpSpPr bwMode="auto">
          <a:xfrm>
            <a:off x="2708275" y="1871663"/>
            <a:ext cx="1568450" cy="339725"/>
            <a:chOff x="1536" y="1266"/>
            <a:chExt cx="1110" cy="240"/>
          </a:xfrm>
        </p:grpSpPr>
        <p:sp>
          <p:nvSpPr>
            <p:cNvPr id="28747" name="Line 148"/>
            <p:cNvSpPr>
              <a:spLocks noChangeShapeType="1"/>
            </p:cNvSpPr>
            <p:nvPr/>
          </p:nvSpPr>
          <p:spPr bwMode="auto">
            <a:xfrm>
              <a:off x="1536" y="1344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748" name="Line 149"/>
            <p:cNvSpPr>
              <a:spLocks noChangeShapeType="1"/>
            </p:cNvSpPr>
            <p:nvPr/>
          </p:nvSpPr>
          <p:spPr bwMode="auto">
            <a:xfrm>
              <a:off x="2646" y="1266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6646" name="Text Box 150"/>
          <p:cNvSpPr txBox="1">
            <a:spLocks noChangeArrowheads="1"/>
          </p:cNvSpPr>
          <p:nvPr/>
        </p:nvSpPr>
        <p:spPr bwMode="auto">
          <a:xfrm>
            <a:off x="6019800" y="0"/>
            <a:ext cx="296545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CASE 6.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SQ.PRISM STANDING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&amp;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SQ.PRISM  PENETRATING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(30</a:t>
            </a:r>
            <a:r>
              <a:rPr lang="en-US" altLang="en-US" sz="1800" baseline="30000">
                <a:solidFill>
                  <a:srgbClr val="000000"/>
                </a:solidFill>
              </a:rPr>
              <a:t>0</a:t>
            </a:r>
            <a:r>
              <a:rPr lang="en-US" altLang="en-US" sz="1800">
                <a:solidFill>
                  <a:srgbClr val="000000"/>
                </a:solidFill>
              </a:rPr>
              <a:t> SKEW POSITION)</a:t>
            </a:r>
          </a:p>
        </p:txBody>
      </p:sp>
      <p:graphicFrame>
        <p:nvGraphicFramePr>
          <p:cNvPr id="746647" name="Object 151"/>
          <p:cNvGraphicFramePr>
            <a:graphicFrameLocks noChangeAspect="1"/>
          </p:cNvGraphicFramePr>
          <p:nvPr/>
        </p:nvGraphicFramePr>
        <p:xfrm>
          <a:off x="0" y="1981200"/>
          <a:ext cx="1828800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3" name="Bitmap Image" r:id="rId4" imgW="4371429" imgH="3409524" progId="Paint.Picture">
                  <p:embed/>
                </p:oleObj>
              </mc:Choice>
              <mc:Fallback>
                <p:oleObj name="Bitmap Image" r:id="rId4" imgW="4371429" imgH="3409524" progId="Paint.Picture">
                  <p:embed/>
                  <p:pic>
                    <p:nvPicPr>
                      <p:cNvPr id="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81200"/>
                        <a:ext cx="1828800" cy="1427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648" name="Object 152"/>
          <p:cNvGraphicFramePr>
            <a:graphicFrameLocks noChangeAspect="1"/>
          </p:cNvGraphicFramePr>
          <p:nvPr/>
        </p:nvGraphicFramePr>
        <p:xfrm>
          <a:off x="7135813" y="1524000"/>
          <a:ext cx="1857375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4" name="Bitmap Image" r:id="rId6" imgW="3409524" imgH="3428571" progId="Paint.Picture">
                  <p:embed/>
                </p:oleObj>
              </mc:Choice>
              <mc:Fallback>
                <p:oleObj name="Bitmap Image" r:id="rId6" imgW="3409524" imgH="3428571" progId="Paint.Picture">
                  <p:embed/>
                  <p:pic>
                    <p:nvPicPr>
                      <p:cNvPr id="0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5813" y="1524000"/>
                        <a:ext cx="1857375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6649" name="Text Box 153"/>
          <p:cNvSpPr txBox="1">
            <a:spLocks noChangeArrowheads="1"/>
          </p:cNvSpPr>
          <p:nvPr/>
        </p:nvSpPr>
        <p:spPr bwMode="auto">
          <a:xfrm>
            <a:off x="152400" y="76200"/>
            <a:ext cx="558800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66"/>
                </a:solidFill>
              </a:rPr>
              <a:t>Problem:</a:t>
            </a:r>
            <a:r>
              <a:rPr lang="en-US" altLang="en-US" sz="1600">
                <a:solidFill>
                  <a:srgbClr val="000000"/>
                </a:solidFill>
              </a:rPr>
              <a:t> A sq.prism 30 mm base sides and 70mm axis is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completely penetrated by another square prism of 25 mm side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S and 70 mm axis, horizontally. Both axes intersect &amp; bisect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each other. Two faces of penetrating prism are 30</a:t>
            </a:r>
            <a:r>
              <a:rPr lang="en-US" altLang="en-US" sz="1600" baseline="30000">
                <a:solidFill>
                  <a:srgbClr val="000000"/>
                </a:solidFill>
              </a:rPr>
              <a:t>0</a:t>
            </a:r>
            <a:r>
              <a:rPr lang="en-US" altLang="en-US" sz="1600">
                <a:solidFill>
                  <a:srgbClr val="000000"/>
                </a:solidFill>
              </a:rPr>
              <a:t> inclined to Hp.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Draw projections showing curves of intersections.</a:t>
            </a:r>
          </a:p>
        </p:txBody>
      </p:sp>
      <p:grpSp>
        <p:nvGrpSpPr>
          <p:cNvPr id="28740" name="Group 161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28741" name="AutoShape 162">
              <a:hlinkClick r:id="rId8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42" name="AutoShape 163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43" name="AutoShape 164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44" name="AutoShape 165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45" name="AutoShape 166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46" name="AutoShape 167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6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6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66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466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46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46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6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6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6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6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6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6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46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46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46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46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46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46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46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46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46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46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74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46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46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46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46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46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46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46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46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4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4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46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46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46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46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46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46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46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46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46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46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46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46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8" dur="500"/>
                                        <p:tgtEl>
                                          <p:spTgt spid="74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46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746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746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46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746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746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746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46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46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746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746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46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46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46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746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746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46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46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746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746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746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46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746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746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7" dur="500"/>
                                        <p:tgtEl>
                                          <p:spTgt spid="74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746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746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746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746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746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746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746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746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746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746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746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746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74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74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746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746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746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746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746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746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74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74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746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746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746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746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746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746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746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746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 nodeType="clickPar">
                      <p:stCondLst>
                        <p:cond delay="indefinite"/>
                      </p:stCondLst>
                      <p:childTnLst>
                        <p:par>
                          <p:cTn id="2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746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746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746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746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746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746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746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746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746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746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 nodeType="clickPar">
                      <p:stCondLst>
                        <p:cond delay="indefinite"/>
                      </p:stCondLst>
                      <p:childTnLst>
                        <p:par>
                          <p:cTn id="2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746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746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746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746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746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746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Par">
                      <p:stCondLst>
                        <p:cond delay="indefinite"/>
                      </p:stCondLst>
                      <p:childTnLst>
                        <p:par>
                          <p:cTn id="3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746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746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 nodeType="clickPar">
                      <p:stCondLst>
                        <p:cond delay="indefinite"/>
                      </p:stCondLst>
                      <p:childTnLst>
                        <p:par>
                          <p:cTn id="3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4" dur="500" fill="hold"/>
                                        <p:tgtEl>
                                          <p:spTgt spid="746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746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746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746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2" dur="500" fill="hold"/>
                                        <p:tgtEl>
                                          <p:spTgt spid="746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746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 nodeType="clickPar">
                      <p:stCondLst>
                        <p:cond delay="indefinite"/>
                      </p:stCondLst>
                      <p:childTnLst>
                        <p:par>
                          <p:cTn id="3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500" fill="hold"/>
                                        <p:tgtEl>
                                          <p:spTgt spid="746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500" fill="hold"/>
                                        <p:tgtEl>
                                          <p:spTgt spid="746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 nodeType="clickPar">
                      <p:stCondLst>
                        <p:cond delay="indefinite"/>
                      </p:stCondLst>
                      <p:childTnLst>
                        <p:par>
                          <p:cTn id="3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4" dur="500"/>
                                        <p:tgtEl>
                                          <p:spTgt spid="74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 nodeType="clickPar">
                      <p:stCondLst>
                        <p:cond delay="indefinite"/>
                      </p:stCondLst>
                      <p:childTnLst>
                        <p:par>
                          <p:cTn id="3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9" dur="500"/>
                                        <p:tgtEl>
                                          <p:spTgt spid="74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 nodeType="clickPar">
                      <p:stCondLst>
                        <p:cond delay="indefinite"/>
                      </p:stCondLst>
                      <p:childTnLst>
                        <p:par>
                          <p:cTn id="3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4" dur="500"/>
                                        <p:tgtEl>
                                          <p:spTgt spid="746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 nodeType="clickPar">
                      <p:stCondLst>
                        <p:cond delay="indefinite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9" dur="500"/>
                                        <p:tgtEl>
                                          <p:spTgt spid="74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 nodeType="clickPar">
                      <p:stCondLst>
                        <p:cond delay="indefinite"/>
                      </p:stCondLst>
                      <p:childTnLst>
                        <p:par>
                          <p:cTn id="3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4" dur="500"/>
                                        <p:tgtEl>
                                          <p:spTgt spid="74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 nodeType="clickPar">
                      <p:stCondLst>
                        <p:cond delay="indefinite"/>
                      </p:stCondLst>
                      <p:childTnLst>
                        <p:par>
                          <p:cTn id="3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7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59" dur="500"/>
                                        <p:tgtEl>
                                          <p:spTgt spid="74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 nodeType="clickPar">
                      <p:stCondLst>
                        <p:cond delay="indefinite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4" dur="500"/>
                                        <p:tgtEl>
                                          <p:spTgt spid="74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 nodeType="clickPar">
                      <p:stCondLst>
                        <p:cond delay="indefinite"/>
                      </p:stCondLst>
                      <p:childTnLst>
                        <p:par>
                          <p:cTn id="3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7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69" dur="500"/>
                                        <p:tgtEl>
                                          <p:spTgt spid="74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 nodeType="clickPar">
                      <p:stCondLst>
                        <p:cond delay="indefinite"/>
                      </p:stCondLst>
                      <p:childTnLst>
                        <p:par>
                          <p:cTn id="3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4" dur="500"/>
                                        <p:tgtEl>
                                          <p:spTgt spid="74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 nodeType="clickPar">
                      <p:stCondLst>
                        <p:cond delay="indefinite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9" dur="500"/>
                                        <p:tgtEl>
                                          <p:spTgt spid="74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 nodeType="clickPar">
                      <p:stCondLst>
                        <p:cond delay="indefinite"/>
                      </p:stCondLst>
                      <p:childTnLst>
                        <p:par>
                          <p:cTn id="3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84" dur="500"/>
                                        <p:tgtEl>
                                          <p:spTgt spid="74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 nodeType="clickPar">
                      <p:stCondLst>
                        <p:cond delay="indefinite"/>
                      </p:stCondLst>
                      <p:childTnLst>
                        <p:par>
                          <p:cTn id="3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9" dur="500"/>
                                        <p:tgtEl>
                                          <p:spTgt spid="74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 nodeType="clickPar">
                      <p:stCondLst>
                        <p:cond delay="indefinite"/>
                      </p:stCondLst>
                      <p:childTnLst>
                        <p:par>
                          <p:cTn id="3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4" dur="500" fill="hold"/>
                                        <p:tgtEl>
                                          <p:spTgt spid="746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746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 nodeType="clickPar">
                      <p:stCondLst>
                        <p:cond delay="indefinite"/>
                      </p:stCondLst>
                      <p:childTnLst>
                        <p:par>
                          <p:cTn id="3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746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500" fill="hold"/>
                                        <p:tgtEl>
                                          <p:spTgt spid="746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500" fill="hold"/>
                                        <p:tgtEl>
                                          <p:spTgt spid="746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746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 nodeType="clickPar">
                      <p:stCondLst>
                        <p:cond delay="indefinite"/>
                      </p:stCondLst>
                      <p:childTnLst>
                        <p:par>
                          <p:cTn id="4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8" dur="500" fill="hold"/>
                                        <p:tgtEl>
                                          <p:spTgt spid="746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500" fill="hold"/>
                                        <p:tgtEl>
                                          <p:spTgt spid="746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 nodeType="clickPar">
                      <p:stCondLst>
                        <p:cond delay="indefinite"/>
                      </p:stCondLst>
                      <p:childTnLst>
                        <p:par>
                          <p:cTn id="4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4" dur="500" fill="hold"/>
                                        <p:tgtEl>
                                          <p:spTgt spid="746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5" dur="500" fill="hold"/>
                                        <p:tgtEl>
                                          <p:spTgt spid="746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498" grpId="0" animBg="1"/>
      <p:bldP spid="746503" grpId="0" animBg="1"/>
      <p:bldP spid="746504" grpId="0" autoUpdateAnimBg="0"/>
      <p:bldP spid="746505" grpId="0" autoUpdateAnimBg="0"/>
      <p:bldP spid="746538" grpId="0" autoUpdateAnimBg="0"/>
      <p:bldP spid="746559" grpId="0" animBg="1"/>
      <p:bldP spid="746560" grpId="0" animBg="1"/>
      <p:bldP spid="746561" grpId="0" animBg="1"/>
      <p:bldP spid="746562" grpId="0" animBg="1"/>
      <p:bldP spid="746564" grpId="0" animBg="1"/>
      <p:bldP spid="746566" grpId="0" animBg="1"/>
      <p:bldP spid="746605" grpId="0" animBg="1"/>
      <p:bldP spid="746606" grpId="0" animBg="1"/>
      <p:bldP spid="746607" grpId="0" animBg="1"/>
      <p:bldP spid="746608" grpId="0" animBg="1"/>
      <p:bldP spid="746609" grpId="0" autoUpdateAnimBg="0"/>
      <p:bldP spid="746610" grpId="0" autoUpdateAnimBg="0"/>
      <p:bldP spid="746611" grpId="0" autoUpdateAnimBg="0"/>
      <p:bldP spid="746612" grpId="0" autoUpdateAnimBg="0"/>
      <p:bldP spid="746613" grpId="0" autoUpdateAnimBg="0"/>
      <p:bldP spid="746614" grpId="0" autoUpdateAnimBg="0"/>
      <p:bldP spid="746646" grpId="0" autoUpdateAnimBg="0"/>
      <p:bldP spid="74664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730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Rectangle 2"/>
          <p:cNvSpPr>
            <a:spLocks noChangeArrowheads="1"/>
          </p:cNvSpPr>
          <p:nvPr/>
        </p:nvSpPr>
        <p:spPr bwMode="auto">
          <a:xfrm>
            <a:off x="1858963" y="457200"/>
            <a:ext cx="1466850" cy="304006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547" name="Line 3"/>
          <p:cNvSpPr>
            <a:spLocks noChangeShapeType="1"/>
          </p:cNvSpPr>
          <p:nvPr/>
        </p:nvSpPr>
        <p:spPr bwMode="auto">
          <a:xfrm>
            <a:off x="338138" y="3497263"/>
            <a:ext cx="396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548" name="Text Box 4"/>
          <p:cNvSpPr txBox="1">
            <a:spLocks noChangeArrowheads="1"/>
          </p:cNvSpPr>
          <p:nvPr/>
        </p:nvSpPr>
        <p:spPr bwMode="auto">
          <a:xfrm>
            <a:off x="152400" y="3171825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748549" name="Text Box 5"/>
          <p:cNvSpPr txBox="1">
            <a:spLocks noChangeArrowheads="1"/>
          </p:cNvSpPr>
          <p:nvPr/>
        </p:nvSpPr>
        <p:spPr bwMode="auto">
          <a:xfrm>
            <a:off x="4222750" y="3243263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748550" name="Oval 6"/>
          <p:cNvSpPr>
            <a:spLocks noChangeArrowheads="1"/>
          </p:cNvSpPr>
          <p:nvPr/>
        </p:nvSpPr>
        <p:spPr bwMode="auto">
          <a:xfrm>
            <a:off x="1182688" y="3919538"/>
            <a:ext cx="2279650" cy="22796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748551" name="Group 7"/>
          <p:cNvGrpSpPr>
            <a:grpSpLocks/>
          </p:cNvGrpSpPr>
          <p:nvPr/>
        </p:nvGrpSpPr>
        <p:grpSpPr bwMode="auto">
          <a:xfrm>
            <a:off x="873125" y="3587750"/>
            <a:ext cx="2851150" cy="2822575"/>
            <a:chOff x="528" y="2232"/>
            <a:chExt cx="1259" cy="1247"/>
          </a:xfrm>
        </p:grpSpPr>
        <p:sp>
          <p:nvSpPr>
            <p:cNvPr id="30817" name="Text Box 8"/>
            <p:cNvSpPr txBox="1">
              <a:spLocks noChangeArrowheads="1"/>
            </p:cNvSpPr>
            <p:nvPr/>
          </p:nvSpPr>
          <p:spPr bwMode="auto">
            <a:xfrm>
              <a:off x="672" y="2448"/>
              <a:ext cx="115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30818" name="Text Box 9"/>
            <p:cNvSpPr txBox="1">
              <a:spLocks noChangeArrowheads="1"/>
            </p:cNvSpPr>
            <p:nvPr/>
          </p:nvSpPr>
          <p:spPr bwMode="auto">
            <a:xfrm>
              <a:off x="528" y="2768"/>
              <a:ext cx="117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30819" name="Text Box 10"/>
            <p:cNvSpPr txBox="1">
              <a:spLocks noChangeArrowheads="1"/>
            </p:cNvSpPr>
            <p:nvPr/>
          </p:nvSpPr>
          <p:spPr bwMode="auto">
            <a:xfrm>
              <a:off x="672" y="3171"/>
              <a:ext cx="120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30820" name="Text Box 11"/>
            <p:cNvSpPr txBox="1">
              <a:spLocks noChangeArrowheads="1"/>
            </p:cNvSpPr>
            <p:nvPr/>
          </p:nvSpPr>
          <p:spPr bwMode="auto">
            <a:xfrm>
              <a:off x="1104" y="3345"/>
              <a:ext cx="117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30821" name="Text Box 12"/>
            <p:cNvSpPr txBox="1">
              <a:spLocks noChangeArrowheads="1"/>
            </p:cNvSpPr>
            <p:nvPr/>
          </p:nvSpPr>
          <p:spPr bwMode="auto">
            <a:xfrm>
              <a:off x="1536" y="3171"/>
              <a:ext cx="12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0822" name="Text Box 13"/>
            <p:cNvSpPr txBox="1">
              <a:spLocks noChangeArrowheads="1"/>
            </p:cNvSpPr>
            <p:nvPr/>
          </p:nvSpPr>
          <p:spPr bwMode="auto">
            <a:xfrm>
              <a:off x="1670" y="2791"/>
              <a:ext cx="117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30823" name="Text Box 14"/>
            <p:cNvSpPr txBox="1">
              <a:spLocks noChangeArrowheads="1"/>
            </p:cNvSpPr>
            <p:nvPr/>
          </p:nvSpPr>
          <p:spPr bwMode="auto">
            <a:xfrm>
              <a:off x="1104" y="2232"/>
              <a:ext cx="121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30824" name="Text Box 15"/>
            <p:cNvSpPr txBox="1">
              <a:spLocks noChangeArrowheads="1"/>
            </p:cNvSpPr>
            <p:nvPr/>
          </p:nvSpPr>
          <p:spPr bwMode="auto">
            <a:xfrm>
              <a:off x="1536" y="2462"/>
              <a:ext cx="108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f</a:t>
              </a:r>
            </a:p>
          </p:txBody>
        </p:sp>
      </p:grpSp>
      <p:grpSp>
        <p:nvGrpSpPr>
          <p:cNvPr id="748560" name="Group 16"/>
          <p:cNvGrpSpPr>
            <a:grpSpLocks/>
          </p:cNvGrpSpPr>
          <p:nvPr/>
        </p:nvGrpSpPr>
        <p:grpSpPr bwMode="auto">
          <a:xfrm>
            <a:off x="1182688" y="3486150"/>
            <a:ext cx="2279650" cy="1530350"/>
            <a:chOff x="1872" y="2346"/>
            <a:chExt cx="1296" cy="870"/>
          </a:xfrm>
        </p:grpSpPr>
        <p:sp>
          <p:nvSpPr>
            <p:cNvPr id="30812" name="Line 17"/>
            <p:cNvSpPr>
              <a:spLocks noChangeShapeType="1"/>
            </p:cNvSpPr>
            <p:nvPr/>
          </p:nvSpPr>
          <p:spPr bwMode="auto">
            <a:xfrm flipV="1">
              <a:off x="1872" y="2352"/>
              <a:ext cx="0" cy="86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813" name="Line 18"/>
            <p:cNvSpPr>
              <a:spLocks noChangeShapeType="1"/>
            </p:cNvSpPr>
            <p:nvPr/>
          </p:nvSpPr>
          <p:spPr bwMode="auto">
            <a:xfrm flipV="1">
              <a:off x="2040" y="2352"/>
              <a:ext cx="0" cy="43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814" name="Line 19"/>
            <p:cNvSpPr>
              <a:spLocks noChangeShapeType="1"/>
            </p:cNvSpPr>
            <p:nvPr/>
          </p:nvSpPr>
          <p:spPr bwMode="auto">
            <a:xfrm flipV="1">
              <a:off x="2532" y="2352"/>
              <a:ext cx="0" cy="2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815" name="Line 20"/>
            <p:cNvSpPr>
              <a:spLocks noChangeShapeType="1"/>
            </p:cNvSpPr>
            <p:nvPr/>
          </p:nvSpPr>
          <p:spPr bwMode="auto">
            <a:xfrm flipV="1">
              <a:off x="2994" y="2346"/>
              <a:ext cx="0" cy="48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816" name="Line 21"/>
            <p:cNvSpPr>
              <a:spLocks noChangeShapeType="1"/>
            </p:cNvSpPr>
            <p:nvPr/>
          </p:nvSpPr>
          <p:spPr bwMode="auto">
            <a:xfrm flipV="1">
              <a:off x="3168" y="2352"/>
              <a:ext cx="0" cy="86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8566" name="Group 22"/>
          <p:cNvGrpSpPr>
            <a:grpSpLocks/>
          </p:cNvGrpSpPr>
          <p:nvPr/>
        </p:nvGrpSpPr>
        <p:grpSpPr bwMode="auto">
          <a:xfrm>
            <a:off x="1182688" y="711200"/>
            <a:ext cx="2279650" cy="2786063"/>
            <a:chOff x="1872" y="768"/>
            <a:chExt cx="1296" cy="1584"/>
          </a:xfrm>
        </p:grpSpPr>
        <p:sp>
          <p:nvSpPr>
            <p:cNvPr id="30808" name="AutoShape 23"/>
            <p:cNvSpPr>
              <a:spLocks noChangeArrowheads="1"/>
            </p:cNvSpPr>
            <p:nvPr/>
          </p:nvSpPr>
          <p:spPr bwMode="auto">
            <a:xfrm>
              <a:off x="1872" y="768"/>
              <a:ext cx="1296" cy="15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809" name="Line 24"/>
            <p:cNvSpPr>
              <a:spLocks noChangeShapeType="1"/>
            </p:cNvSpPr>
            <p:nvPr/>
          </p:nvSpPr>
          <p:spPr bwMode="auto">
            <a:xfrm flipV="1">
              <a:off x="2046" y="768"/>
              <a:ext cx="480" cy="1584"/>
            </a:xfrm>
            <a:prstGeom prst="line">
              <a:avLst/>
            </a:prstGeom>
            <a:noFill/>
            <a:ln w="63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810" name="Line 25"/>
            <p:cNvSpPr>
              <a:spLocks noChangeShapeType="1"/>
            </p:cNvSpPr>
            <p:nvPr/>
          </p:nvSpPr>
          <p:spPr bwMode="auto">
            <a:xfrm flipH="1" flipV="1">
              <a:off x="2514" y="768"/>
              <a:ext cx="480" cy="1584"/>
            </a:xfrm>
            <a:prstGeom prst="line">
              <a:avLst/>
            </a:prstGeom>
            <a:noFill/>
            <a:ln w="63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811" name="Line 26"/>
            <p:cNvSpPr>
              <a:spLocks noChangeShapeType="1"/>
            </p:cNvSpPr>
            <p:nvPr/>
          </p:nvSpPr>
          <p:spPr bwMode="auto">
            <a:xfrm flipV="1">
              <a:off x="2526" y="768"/>
              <a:ext cx="0" cy="1584"/>
            </a:xfrm>
            <a:prstGeom prst="line">
              <a:avLst/>
            </a:prstGeom>
            <a:noFill/>
            <a:ln w="6350">
              <a:solidFill>
                <a:schemeClr val="folHlink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8571" name="AutoShape 27"/>
          <p:cNvSpPr>
            <a:spLocks noChangeArrowheads="1"/>
          </p:cNvSpPr>
          <p:nvPr/>
        </p:nvSpPr>
        <p:spPr bwMode="auto">
          <a:xfrm>
            <a:off x="1868488" y="4267200"/>
            <a:ext cx="1489075" cy="1489075"/>
          </a:xfrm>
          <a:prstGeom prst="diamond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572" name="Line 28"/>
          <p:cNvSpPr>
            <a:spLocks noChangeShapeType="1"/>
          </p:cNvSpPr>
          <p:nvPr/>
        </p:nvSpPr>
        <p:spPr bwMode="auto">
          <a:xfrm>
            <a:off x="2608263" y="457200"/>
            <a:ext cx="0" cy="3040063"/>
          </a:xfrm>
          <a:prstGeom prst="line">
            <a:avLst/>
          </a:prstGeom>
          <a:noFill/>
          <a:ln w="317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573" name="Oval 29"/>
          <p:cNvSpPr>
            <a:spLocks noChangeArrowheads="1"/>
          </p:cNvSpPr>
          <p:nvPr/>
        </p:nvSpPr>
        <p:spPr bwMode="auto">
          <a:xfrm>
            <a:off x="2301875" y="4478338"/>
            <a:ext cx="84138" cy="84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574" name="Oval 30"/>
          <p:cNvSpPr>
            <a:spLocks noChangeArrowheads="1"/>
          </p:cNvSpPr>
          <p:nvPr/>
        </p:nvSpPr>
        <p:spPr bwMode="auto">
          <a:xfrm>
            <a:off x="2027238" y="4764088"/>
            <a:ext cx="84137" cy="84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575" name="Oval 31"/>
          <p:cNvSpPr>
            <a:spLocks noChangeArrowheads="1"/>
          </p:cNvSpPr>
          <p:nvPr/>
        </p:nvSpPr>
        <p:spPr bwMode="auto">
          <a:xfrm>
            <a:off x="1827213" y="4975225"/>
            <a:ext cx="84137" cy="84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576" name="Oval 32"/>
          <p:cNvSpPr>
            <a:spLocks noChangeArrowheads="1"/>
          </p:cNvSpPr>
          <p:nvPr/>
        </p:nvSpPr>
        <p:spPr bwMode="auto">
          <a:xfrm>
            <a:off x="2047875" y="5195888"/>
            <a:ext cx="85725" cy="84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577" name="Oval 33"/>
          <p:cNvSpPr>
            <a:spLocks noChangeArrowheads="1"/>
          </p:cNvSpPr>
          <p:nvPr/>
        </p:nvSpPr>
        <p:spPr bwMode="auto">
          <a:xfrm>
            <a:off x="2301875" y="5470525"/>
            <a:ext cx="84138" cy="84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578" name="Oval 34"/>
          <p:cNvSpPr>
            <a:spLocks noChangeArrowheads="1"/>
          </p:cNvSpPr>
          <p:nvPr/>
        </p:nvSpPr>
        <p:spPr bwMode="auto">
          <a:xfrm>
            <a:off x="3303588" y="4964113"/>
            <a:ext cx="85725" cy="84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579" name="Oval 35"/>
          <p:cNvSpPr>
            <a:spLocks noChangeArrowheads="1"/>
          </p:cNvSpPr>
          <p:nvPr/>
        </p:nvSpPr>
        <p:spPr bwMode="auto">
          <a:xfrm>
            <a:off x="2851150" y="4510088"/>
            <a:ext cx="84138" cy="84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580" name="Oval 36"/>
          <p:cNvSpPr>
            <a:spLocks noChangeArrowheads="1"/>
          </p:cNvSpPr>
          <p:nvPr/>
        </p:nvSpPr>
        <p:spPr bwMode="auto">
          <a:xfrm>
            <a:off x="2565400" y="5692775"/>
            <a:ext cx="84138" cy="84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748581" name="Group 37"/>
          <p:cNvGrpSpPr>
            <a:grpSpLocks/>
          </p:cNvGrpSpPr>
          <p:nvPr/>
        </p:nvGrpSpPr>
        <p:grpSpPr bwMode="auto">
          <a:xfrm>
            <a:off x="1173163" y="3887788"/>
            <a:ext cx="2279650" cy="2279650"/>
            <a:chOff x="672" y="2400"/>
            <a:chExt cx="1008" cy="1008"/>
          </a:xfrm>
        </p:grpSpPr>
        <p:sp>
          <p:nvSpPr>
            <p:cNvPr id="30804" name="Line 38"/>
            <p:cNvSpPr>
              <a:spLocks noChangeShapeType="1"/>
            </p:cNvSpPr>
            <p:nvPr/>
          </p:nvSpPr>
          <p:spPr bwMode="auto">
            <a:xfrm>
              <a:off x="1189" y="2400"/>
              <a:ext cx="0" cy="100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805" name="Line 39"/>
            <p:cNvSpPr>
              <a:spLocks noChangeShapeType="1"/>
            </p:cNvSpPr>
            <p:nvPr/>
          </p:nvSpPr>
          <p:spPr bwMode="auto">
            <a:xfrm>
              <a:off x="672" y="2902"/>
              <a:ext cx="1008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806" name="Line 40"/>
            <p:cNvSpPr>
              <a:spLocks noChangeShapeType="1"/>
            </p:cNvSpPr>
            <p:nvPr/>
          </p:nvSpPr>
          <p:spPr bwMode="auto">
            <a:xfrm rot="189070" flipH="1" flipV="1">
              <a:off x="766" y="2576"/>
              <a:ext cx="814" cy="63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807" name="Line 41"/>
            <p:cNvSpPr>
              <a:spLocks noChangeShapeType="1"/>
            </p:cNvSpPr>
            <p:nvPr/>
          </p:nvSpPr>
          <p:spPr bwMode="auto">
            <a:xfrm rot="21410930" flipV="1">
              <a:off x="768" y="2598"/>
              <a:ext cx="814" cy="63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8586" name="Oval 42"/>
          <p:cNvSpPr>
            <a:spLocks noChangeArrowheads="1"/>
          </p:cNvSpPr>
          <p:nvPr/>
        </p:nvSpPr>
        <p:spPr bwMode="auto">
          <a:xfrm>
            <a:off x="2828925" y="5449888"/>
            <a:ext cx="84138" cy="84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587" name="Oval 43"/>
          <p:cNvSpPr>
            <a:spLocks noChangeArrowheads="1"/>
          </p:cNvSpPr>
          <p:nvPr/>
        </p:nvSpPr>
        <p:spPr bwMode="auto">
          <a:xfrm>
            <a:off x="2565400" y="4235450"/>
            <a:ext cx="84138" cy="84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748588" name="Group 44"/>
          <p:cNvGrpSpPr>
            <a:grpSpLocks/>
          </p:cNvGrpSpPr>
          <p:nvPr/>
        </p:nvGrpSpPr>
        <p:grpSpPr bwMode="auto">
          <a:xfrm>
            <a:off x="1604963" y="4003675"/>
            <a:ext cx="1865312" cy="1960563"/>
            <a:chOff x="2112" y="2640"/>
            <a:chExt cx="1060" cy="1115"/>
          </a:xfrm>
        </p:grpSpPr>
        <p:sp>
          <p:nvSpPr>
            <p:cNvPr id="30794" name="Text Box 45"/>
            <p:cNvSpPr txBox="1">
              <a:spLocks noChangeArrowheads="1"/>
            </p:cNvSpPr>
            <p:nvPr/>
          </p:nvSpPr>
          <p:spPr bwMode="auto">
            <a:xfrm>
              <a:off x="2112" y="3071"/>
              <a:ext cx="148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0795" name="Text Box 46"/>
            <p:cNvSpPr txBox="1">
              <a:spLocks noChangeArrowheads="1"/>
            </p:cNvSpPr>
            <p:nvPr/>
          </p:nvSpPr>
          <p:spPr bwMode="auto">
            <a:xfrm>
              <a:off x="2292" y="3324"/>
              <a:ext cx="148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0796" name="Text Box 47"/>
            <p:cNvSpPr txBox="1">
              <a:spLocks noChangeArrowheads="1"/>
            </p:cNvSpPr>
            <p:nvPr/>
          </p:nvSpPr>
          <p:spPr bwMode="auto">
            <a:xfrm>
              <a:off x="2388" y="3438"/>
              <a:ext cx="148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0797" name="Text Box 48"/>
            <p:cNvSpPr txBox="1">
              <a:spLocks noChangeArrowheads="1"/>
            </p:cNvSpPr>
            <p:nvPr/>
          </p:nvSpPr>
          <p:spPr bwMode="auto">
            <a:xfrm>
              <a:off x="2544" y="3599"/>
              <a:ext cx="148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0798" name="Text Box 49"/>
            <p:cNvSpPr txBox="1">
              <a:spLocks noChangeArrowheads="1"/>
            </p:cNvSpPr>
            <p:nvPr/>
          </p:nvSpPr>
          <p:spPr bwMode="auto">
            <a:xfrm>
              <a:off x="2832" y="3408"/>
              <a:ext cx="148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0799" name="Text Box 50"/>
            <p:cNvSpPr txBox="1">
              <a:spLocks noChangeArrowheads="1"/>
            </p:cNvSpPr>
            <p:nvPr/>
          </p:nvSpPr>
          <p:spPr bwMode="auto">
            <a:xfrm>
              <a:off x="3023" y="3024"/>
              <a:ext cx="149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0800" name="Text Box 51"/>
            <p:cNvSpPr txBox="1">
              <a:spLocks noChangeArrowheads="1"/>
            </p:cNvSpPr>
            <p:nvPr/>
          </p:nvSpPr>
          <p:spPr bwMode="auto">
            <a:xfrm>
              <a:off x="2196" y="2952"/>
              <a:ext cx="191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30801" name="Text Box 52"/>
            <p:cNvSpPr txBox="1">
              <a:spLocks noChangeArrowheads="1"/>
            </p:cNvSpPr>
            <p:nvPr/>
          </p:nvSpPr>
          <p:spPr bwMode="auto">
            <a:xfrm>
              <a:off x="2400" y="2784"/>
              <a:ext cx="148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30802" name="Text Box 53"/>
            <p:cNvSpPr txBox="1">
              <a:spLocks noChangeArrowheads="1"/>
            </p:cNvSpPr>
            <p:nvPr/>
          </p:nvSpPr>
          <p:spPr bwMode="auto">
            <a:xfrm>
              <a:off x="2544" y="2640"/>
              <a:ext cx="148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30803" name="Text Box 54"/>
            <p:cNvSpPr txBox="1">
              <a:spLocks noChangeArrowheads="1"/>
            </p:cNvSpPr>
            <p:nvPr/>
          </p:nvSpPr>
          <p:spPr bwMode="auto">
            <a:xfrm>
              <a:off x="2783" y="2784"/>
              <a:ext cx="148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7</a:t>
              </a:r>
            </a:p>
          </p:txBody>
        </p:sp>
      </p:grpSp>
      <p:sp>
        <p:nvSpPr>
          <p:cNvPr id="748599" name="Line 55"/>
          <p:cNvSpPr>
            <a:spLocks noChangeShapeType="1"/>
          </p:cNvSpPr>
          <p:nvPr/>
        </p:nvSpPr>
        <p:spPr bwMode="auto">
          <a:xfrm flipV="1">
            <a:off x="1858963" y="1808163"/>
            <a:ext cx="0" cy="320833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00" name="Line 56"/>
          <p:cNvSpPr>
            <a:spLocks noChangeShapeType="1"/>
          </p:cNvSpPr>
          <p:nvPr/>
        </p:nvSpPr>
        <p:spPr bwMode="auto">
          <a:xfrm flipV="1">
            <a:off x="2079625" y="1470025"/>
            <a:ext cx="0" cy="380047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01" name="Line 57"/>
          <p:cNvSpPr>
            <a:spLocks noChangeShapeType="1"/>
          </p:cNvSpPr>
          <p:nvPr/>
        </p:nvSpPr>
        <p:spPr bwMode="auto">
          <a:xfrm flipV="1">
            <a:off x="2892425" y="2484438"/>
            <a:ext cx="0" cy="21097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02" name="Line 58"/>
          <p:cNvSpPr>
            <a:spLocks noChangeShapeType="1"/>
          </p:cNvSpPr>
          <p:nvPr/>
        </p:nvSpPr>
        <p:spPr bwMode="auto">
          <a:xfrm flipV="1">
            <a:off x="3335338" y="3243263"/>
            <a:ext cx="0" cy="177323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03" name="Oval 59"/>
          <p:cNvSpPr>
            <a:spLocks noChangeArrowheads="1"/>
          </p:cNvSpPr>
          <p:nvPr/>
        </p:nvSpPr>
        <p:spPr bwMode="auto">
          <a:xfrm>
            <a:off x="1816100" y="1765300"/>
            <a:ext cx="84138" cy="857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604" name="Oval 60"/>
          <p:cNvSpPr>
            <a:spLocks noChangeArrowheads="1"/>
          </p:cNvSpPr>
          <p:nvPr/>
        </p:nvSpPr>
        <p:spPr bwMode="auto">
          <a:xfrm>
            <a:off x="2027238" y="1470025"/>
            <a:ext cx="84137" cy="84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605" name="Oval 61"/>
          <p:cNvSpPr>
            <a:spLocks noChangeArrowheads="1"/>
          </p:cNvSpPr>
          <p:nvPr/>
        </p:nvSpPr>
        <p:spPr bwMode="auto">
          <a:xfrm>
            <a:off x="2851150" y="2568575"/>
            <a:ext cx="84138" cy="84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606" name="Oval 62"/>
          <p:cNvSpPr>
            <a:spLocks noChangeArrowheads="1"/>
          </p:cNvSpPr>
          <p:nvPr/>
        </p:nvSpPr>
        <p:spPr bwMode="auto">
          <a:xfrm>
            <a:off x="3294063" y="3159125"/>
            <a:ext cx="84137" cy="84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607" name="Line 63"/>
          <p:cNvSpPr>
            <a:spLocks noChangeShapeType="1"/>
          </p:cNvSpPr>
          <p:nvPr/>
        </p:nvSpPr>
        <p:spPr bwMode="auto">
          <a:xfrm flipV="1">
            <a:off x="2703513" y="3497263"/>
            <a:ext cx="0" cy="506412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08" name="Line 64"/>
          <p:cNvSpPr>
            <a:spLocks noChangeShapeType="1"/>
          </p:cNvSpPr>
          <p:nvPr/>
        </p:nvSpPr>
        <p:spPr bwMode="auto">
          <a:xfrm flipV="1">
            <a:off x="2365375" y="4003675"/>
            <a:ext cx="338138" cy="10128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09" name="Line 65"/>
          <p:cNvSpPr>
            <a:spLocks noChangeShapeType="1"/>
          </p:cNvSpPr>
          <p:nvPr/>
        </p:nvSpPr>
        <p:spPr bwMode="auto">
          <a:xfrm rot="-70083" flipH="1" flipV="1">
            <a:off x="2336800" y="711200"/>
            <a:ext cx="338138" cy="2786063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10" name="Oval 66"/>
          <p:cNvSpPr>
            <a:spLocks noChangeArrowheads="1"/>
          </p:cNvSpPr>
          <p:nvPr/>
        </p:nvSpPr>
        <p:spPr bwMode="auto">
          <a:xfrm>
            <a:off x="2554288" y="2820988"/>
            <a:ext cx="85725" cy="84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48611" name="Arc 67"/>
          <p:cNvSpPr>
            <a:spLocks/>
          </p:cNvSpPr>
          <p:nvPr/>
        </p:nvSpPr>
        <p:spPr bwMode="auto">
          <a:xfrm rot="-736849">
            <a:off x="2173288" y="1463675"/>
            <a:ext cx="254000" cy="1408113"/>
          </a:xfrm>
          <a:custGeom>
            <a:avLst/>
            <a:gdLst>
              <a:gd name="T0" fmla="*/ 103026339 w 21600"/>
              <a:gd name="T1" fmla="*/ 0 h 21231"/>
              <a:gd name="T2" fmla="*/ 412983433 w 21600"/>
              <a:gd name="T3" fmla="*/ 2147483646 h 21231"/>
              <a:gd name="T4" fmla="*/ 0 w 21600"/>
              <a:gd name="T5" fmla="*/ 2147483646 h 2123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231" fill="none" extrusionOk="0">
                <a:moveTo>
                  <a:pt x="5388" y="-1"/>
                </a:moveTo>
                <a:cubicBezTo>
                  <a:pt x="14930" y="2457"/>
                  <a:pt x="21600" y="11062"/>
                  <a:pt x="21600" y="20917"/>
                </a:cubicBezTo>
                <a:cubicBezTo>
                  <a:pt x="21600" y="21021"/>
                  <a:pt x="21599" y="21126"/>
                  <a:pt x="21597" y="21230"/>
                </a:cubicBezTo>
              </a:path>
              <a:path w="21600" h="21231" stroke="0" extrusionOk="0">
                <a:moveTo>
                  <a:pt x="5388" y="-1"/>
                </a:moveTo>
                <a:cubicBezTo>
                  <a:pt x="14930" y="2457"/>
                  <a:pt x="21600" y="11062"/>
                  <a:pt x="21600" y="20917"/>
                </a:cubicBezTo>
                <a:cubicBezTo>
                  <a:pt x="21600" y="21021"/>
                  <a:pt x="21599" y="21126"/>
                  <a:pt x="21597" y="21230"/>
                </a:cubicBezTo>
                <a:lnTo>
                  <a:pt x="0" y="20917"/>
                </a:lnTo>
                <a:lnTo>
                  <a:pt x="5388" y="-1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8612" name="Arc 68"/>
          <p:cNvSpPr>
            <a:spLocks/>
          </p:cNvSpPr>
          <p:nvPr/>
        </p:nvSpPr>
        <p:spPr bwMode="auto">
          <a:xfrm rot="-5212742">
            <a:off x="1745456" y="1661319"/>
            <a:ext cx="455613" cy="180975"/>
          </a:xfrm>
          <a:custGeom>
            <a:avLst/>
            <a:gdLst>
              <a:gd name="T0" fmla="*/ 1272068691 w 21600"/>
              <a:gd name="T1" fmla="*/ 0 h 20622"/>
              <a:gd name="T2" fmla="*/ 2147483646 w 21600"/>
              <a:gd name="T3" fmla="*/ 122315616 h 20622"/>
              <a:gd name="T4" fmla="*/ 0 w 21600"/>
              <a:gd name="T5" fmla="*/ 122315616 h 2062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0622" fill="none" extrusionOk="0">
                <a:moveTo>
                  <a:pt x="6425" y="0"/>
                </a:moveTo>
                <a:cubicBezTo>
                  <a:pt x="15451" y="2812"/>
                  <a:pt x="21600" y="11168"/>
                  <a:pt x="21600" y="20622"/>
                </a:cubicBezTo>
              </a:path>
              <a:path w="21600" h="20622" stroke="0" extrusionOk="0">
                <a:moveTo>
                  <a:pt x="6425" y="0"/>
                </a:moveTo>
                <a:cubicBezTo>
                  <a:pt x="15451" y="2812"/>
                  <a:pt x="21600" y="11168"/>
                  <a:pt x="21600" y="20622"/>
                </a:cubicBezTo>
                <a:lnTo>
                  <a:pt x="0" y="20622"/>
                </a:lnTo>
                <a:lnTo>
                  <a:pt x="6425" y="0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8613" name="Arc 69"/>
          <p:cNvSpPr>
            <a:spLocks/>
          </p:cNvSpPr>
          <p:nvPr/>
        </p:nvSpPr>
        <p:spPr bwMode="auto">
          <a:xfrm rot="10556028" flipV="1">
            <a:off x="2611438" y="2589213"/>
            <a:ext cx="252412" cy="254000"/>
          </a:xfrm>
          <a:custGeom>
            <a:avLst/>
            <a:gdLst>
              <a:gd name="T0" fmla="*/ 0 w 21600"/>
              <a:gd name="T1" fmla="*/ 0 h 21600"/>
              <a:gd name="T2" fmla="*/ 402790025 w 21600"/>
              <a:gd name="T3" fmla="*/ 413022427 h 21600"/>
              <a:gd name="T4" fmla="*/ 0 w 21600"/>
              <a:gd name="T5" fmla="*/ 41302242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8614" name="Arc 70"/>
          <p:cNvSpPr>
            <a:spLocks/>
          </p:cNvSpPr>
          <p:nvPr/>
        </p:nvSpPr>
        <p:spPr bwMode="auto">
          <a:xfrm rot="15419265" flipV="1">
            <a:off x="2658269" y="2767807"/>
            <a:ext cx="835025" cy="414337"/>
          </a:xfrm>
          <a:custGeom>
            <a:avLst/>
            <a:gdLst>
              <a:gd name="T0" fmla="*/ 2147483646 w 21380"/>
              <a:gd name="T1" fmla="*/ 0 h 21233"/>
              <a:gd name="T2" fmla="*/ 2147483646 w 21380"/>
              <a:gd name="T3" fmla="*/ 2147483646 h 21233"/>
              <a:gd name="T4" fmla="*/ 0 w 21380"/>
              <a:gd name="T5" fmla="*/ 2147483646 h 2123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380" h="21233" fill="none" extrusionOk="0">
                <a:moveTo>
                  <a:pt x="3965" y="0"/>
                </a:moveTo>
                <a:cubicBezTo>
                  <a:pt x="13060" y="1699"/>
                  <a:pt x="20063" y="9001"/>
                  <a:pt x="21380" y="18159"/>
                </a:cubicBezTo>
              </a:path>
              <a:path w="21380" h="21233" stroke="0" extrusionOk="0">
                <a:moveTo>
                  <a:pt x="3965" y="0"/>
                </a:moveTo>
                <a:cubicBezTo>
                  <a:pt x="13060" y="1699"/>
                  <a:pt x="20063" y="9001"/>
                  <a:pt x="21380" y="18159"/>
                </a:cubicBezTo>
                <a:lnTo>
                  <a:pt x="0" y="21233"/>
                </a:lnTo>
                <a:lnTo>
                  <a:pt x="3965" y="0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8615" name="Line 71"/>
          <p:cNvSpPr>
            <a:spLocks noChangeShapeType="1"/>
          </p:cNvSpPr>
          <p:nvPr/>
        </p:nvSpPr>
        <p:spPr bwMode="auto">
          <a:xfrm>
            <a:off x="2617788" y="2751138"/>
            <a:ext cx="0" cy="760412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16" name="Line 72"/>
          <p:cNvSpPr>
            <a:spLocks noChangeShapeType="1"/>
          </p:cNvSpPr>
          <p:nvPr/>
        </p:nvSpPr>
        <p:spPr bwMode="auto">
          <a:xfrm>
            <a:off x="1858963" y="1808163"/>
            <a:ext cx="0" cy="1689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17" name="Line 73"/>
          <p:cNvSpPr>
            <a:spLocks noChangeShapeType="1"/>
          </p:cNvSpPr>
          <p:nvPr/>
        </p:nvSpPr>
        <p:spPr bwMode="auto">
          <a:xfrm>
            <a:off x="3335338" y="3159125"/>
            <a:ext cx="0" cy="338138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18" name="Line 74"/>
          <p:cNvSpPr>
            <a:spLocks noChangeShapeType="1"/>
          </p:cNvSpPr>
          <p:nvPr/>
        </p:nvSpPr>
        <p:spPr bwMode="auto">
          <a:xfrm flipH="1">
            <a:off x="1190625" y="1808163"/>
            <a:ext cx="674688" cy="16891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19" name="Line 75"/>
          <p:cNvSpPr>
            <a:spLocks noChangeShapeType="1"/>
          </p:cNvSpPr>
          <p:nvPr/>
        </p:nvSpPr>
        <p:spPr bwMode="auto">
          <a:xfrm>
            <a:off x="3314700" y="3159125"/>
            <a:ext cx="168275" cy="3381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20" name="Line 76"/>
          <p:cNvSpPr>
            <a:spLocks noChangeShapeType="1"/>
          </p:cNvSpPr>
          <p:nvPr/>
        </p:nvSpPr>
        <p:spPr bwMode="auto">
          <a:xfrm>
            <a:off x="1182688" y="3497263"/>
            <a:ext cx="227965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21" name="Text Box 77"/>
          <p:cNvSpPr txBox="1">
            <a:spLocks noChangeArrowheads="1"/>
          </p:cNvSpPr>
          <p:nvPr/>
        </p:nvSpPr>
        <p:spPr bwMode="auto">
          <a:xfrm>
            <a:off x="971550" y="3257550"/>
            <a:ext cx="25225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</a:rPr>
              <a:t>a’    b’h’             c’g’            d’f’       e’</a:t>
            </a:r>
          </a:p>
        </p:txBody>
      </p:sp>
      <p:sp>
        <p:nvSpPr>
          <p:cNvPr id="748622" name="Arc 78"/>
          <p:cNvSpPr>
            <a:spLocks/>
          </p:cNvSpPr>
          <p:nvPr/>
        </p:nvSpPr>
        <p:spPr bwMode="auto">
          <a:xfrm>
            <a:off x="2322513" y="5016500"/>
            <a:ext cx="549275" cy="506413"/>
          </a:xfrm>
          <a:custGeom>
            <a:avLst/>
            <a:gdLst>
              <a:gd name="T0" fmla="*/ 2147483646 w 23429"/>
              <a:gd name="T1" fmla="*/ 111485767 h 21600"/>
              <a:gd name="T2" fmla="*/ 0 w 23429"/>
              <a:gd name="T3" fmla="*/ 2147483646 h 21600"/>
              <a:gd name="T4" fmla="*/ 553441134 w 23429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429" h="21600" fill="none" extrusionOk="0">
                <a:moveTo>
                  <a:pt x="23428" y="368"/>
                </a:moveTo>
                <a:cubicBezTo>
                  <a:pt x="23227" y="12152"/>
                  <a:pt x="13617" y="21600"/>
                  <a:pt x="1832" y="21600"/>
                </a:cubicBezTo>
                <a:cubicBezTo>
                  <a:pt x="1220" y="21600"/>
                  <a:pt x="609" y="21574"/>
                  <a:pt x="-1" y="21522"/>
                </a:cubicBezTo>
              </a:path>
              <a:path w="23429" h="21600" stroke="0" extrusionOk="0">
                <a:moveTo>
                  <a:pt x="23428" y="368"/>
                </a:moveTo>
                <a:cubicBezTo>
                  <a:pt x="23227" y="12152"/>
                  <a:pt x="13617" y="21600"/>
                  <a:pt x="1832" y="21600"/>
                </a:cubicBezTo>
                <a:cubicBezTo>
                  <a:pt x="1220" y="21600"/>
                  <a:pt x="609" y="21574"/>
                  <a:pt x="-1" y="21522"/>
                </a:cubicBezTo>
                <a:lnTo>
                  <a:pt x="1832" y="0"/>
                </a:lnTo>
                <a:lnTo>
                  <a:pt x="23428" y="368"/>
                </a:lnTo>
                <a:close/>
              </a:path>
            </a:pathLst>
          </a:custGeom>
          <a:noFill/>
          <a:ln w="3175">
            <a:solidFill>
              <a:schemeClr val="tx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8623" name="Line 79"/>
          <p:cNvSpPr>
            <a:spLocks noChangeShapeType="1"/>
          </p:cNvSpPr>
          <p:nvPr/>
        </p:nvSpPr>
        <p:spPr bwMode="auto">
          <a:xfrm flipV="1">
            <a:off x="2871788" y="2062163"/>
            <a:ext cx="0" cy="2954337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24" name="Line 80"/>
          <p:cNvSpPr>
            <a:spLocks noChangeShapeType="1"/>
          </p:cNvSpPr>
          <p:nvPr/>
        </p:nvSpPr>
        <p:spPr bwMode="auto">
          <a:xfrm flipH="1">
            <a:off x="2365375" y="2062163"/>
            <a:ext cx="506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8625" name="Oval 81"/>
          <p:cNvSpPr>
            <a:spLocks noChangeArrowheads="1"/>
          </p:cNvSpPr>
          <p:nvPr/>
        </p:nvSpPr>
        <p:spPr bwMode="auto">
          <a:xfrm>
            <a:off x="2301875" y="2019300"/>
            <a:ext cx="84138" cy="84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748626" name="Group 82"/>
          <p:cNvGrpSpPr>
            <a:grpSpLocks/>
          </p:cNvGrpSpPr>
          <p:nvPr/>
        </p:nvGrpSpPr>
        <p:grpSpPr bwMode="auto">
          <a:xfrm>
            <a:off x="2027238" y="5734050"/>
            <a:ext cx="1879600" cy="971550"/>
            <a:chOff x="2352" y="3624"/>
            <a:chExt cx="1069" cy="552"/>
          </a:xfrm>
        </p:grpSpPr>
        <p:sp>
          <p:nvSpPr>
            <p:cNvPr id="30789" name="Line 83"/>
            <p:cNvSpPr>
              <a:spLocks noChangeShapeType="1"/>
            </p:cNvSpPr>
            <p:nvPr/>
          </p:nvSpPr>
          <p:spPr bwMode="auto">
            <a:xfrm>
              <a:off x="2682" y="3624"/>
              <a:ext cx="0" cy="552"/>
            </a:xfrm>
            <a:prstGeom prst="line">
              <a:avLst/>
            </a:prstGeom>
            <a:noFill/>
            <a:ln w="31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790" name="Line 84"/>
            <p:cNvSpPr>
              <a:spLocks noChangeShapeType="1"/>
            </p:cNvSpPr>
            <p:nvPr/>
          </p:nvSpPr>
          <p:spPr bwMode="auto">
            <a:xfrm>
              <a:off x="2532" y="3984"/>
              <a:ext cx="0" cy="192"/>
            </a:xfrm>
            <a:prstGeom prst="line">
              <a:avLst/>
            </a:prstGeom>
            <a:noFill/>
            <a:ln w="31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791" name="Line 85"/>
            <p:cNvSpPr>
              <a:spLocks noChangeShapeType="1"/>
            </p:cNvSpPr>
            <p:nvPr/>
          </p:nvSpPr>
          <p:spPr bwMode="auto">
            <a:xfrm>
              <a:off x="2352" y="408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792" name="Line 86"/>
            <p:cNvSpPr>
              <a:spLocks noChangeShapeType="1"/>
            </p:cNvSpPr>
            <p:nvPr/>
          </p:nvSpPr>
          <p:spPr bwMode="auto">
            <a:xfrm flipH="1">
              <a:off x="2688" y="408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793" name="Text Box 87"/>
            <p:cNvSpPr txBox="1">
              <a:spLocks noChangeArrowheads="1"/>
            </p:cNvSpPr>
            <p:nvPr/>
          </p:nvSpPr>
          <p:spPr bwMode="auto">
            <a:xfrm>
              <a:off x="2784" y="3990"/>
              <a:ext cx="637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</a:rPr>
                <a:t>5 mm</a:t>
              </a:r>
              <a:r>
                <a:rPr lang="en-US" altLang="en-US" sz="1000" b="1">
                  <a:solidFill>
                    <a:srgbClr val="000000"/>
                  </a:solidFill>
                </a:rPr>
                <a:t> OFF-SET</a:t>
              </a:r>
            </a:p>
          </p:txBody>
        </p:sp>
      </p:grpSp>
      <p:grpSp>
        <p:nvGrpSpPr>
          <p:cNvPr id="748632" name="Group 88"/>
          <p:cNvGrpSpPr>
            <a:grpSpLocks/>
          </p:cNvGrpSpPr>
          <p:nvPr/>
        </p:nvGrpSpPr>
        <p:grpSpPr bwMode="auto">
          <a:xfrm>
            <a:off x="1604963" y="1217613"/>
            <a:ext cx="2000250" cy="2047875"/>
            <a:chOff x="2112" y="1056"/>
            <a:chExt cx="1137" cy="1164"/>
          </a:xfrm>
        </p:grpSpPr>
        <p:sp>
          <p:nvSpPr>
            <p:cNvPr id="30783" name="Text Box 89"/>
            <p:cNvSpPr txBox="1">
              <a:spLocks noChangeArrowheads="1"/>
            </p:cNvSpPr>
            <p:nvPr/>
          </p:nvSpPr>
          <p:spPr bwMode="auto">
            <a:xfrm>
              <a:off x="2112" y="1296"/>
              <a:ext cx="177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1’</a:t>
              </a:r>
            </a:p>
          </p:txBody>
        </p:sp>
        <p:sp>
          <p:nvSpPr>
            <p:cNvPr id="30784" name="Text Box 90"/>
            <p:cNvSpPr txBox="1">
              <a:spLocks noChangeArrowheads="1"/>
            </p:cNvSpPr>
            <p:nvPr/>
          </p:nvSpPr>
          <p:spPr bwMode="auto">
            <a:xfrm>
              <a:off x="2304" y="1056"/>
              <a:ext cx="177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2’</a:t>
              </a:r>
            </a:p>
          </p:txBody>
        </p:sp>
        <p:sp>
          <p:nvSpPr>
            <p:cNvPr id="30785" name="Text Box 91"/>
            <p:cNvSpPr txBox="1">
              <a:spLocks noChangeArrowheads="1"/>
            </p:cNvSpPr>
            <p:nvPr/>
          </p:nvSpPr>
          <p:spPr bwMode="auto">
            <a:xfrm>
              <a:off x="2784" y="1686"/>
              <a:ext cx="177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5’</a:t>
              </a:r>
            </a:p>
          </p:txBody>
        </p:sp>
        <p:sp>
          <p:nvSpPr>
            <p:cNvPr id="30786" name="Text Box 92"/>
            <p:cNvSpPr txBox="1">
              <a:spLocks noChangeArrowheads="1"/>
            </p:cNvSpPr>
            <p:nvPr/>
          </p:nvSpPr>
          <p:spPr bwMode="auto">
            <a:xfrm>
              <a:off x="2544" y="1921"/>
              <a:ext cx="177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4’</a:t>
              </a:r>
            </a:p>
          </p:txBody>
        </p:sp>
        <p:sp>
          <p:nvSpPr>
            <p:cNvPr id="30787" name="Text Box 93"/>
            <p:cNvSpPr txBox="1">
              <a:spLocks noChangeArrowheads="1"/>
            </p:cNvSpPr>
            <p:nvPr/>
          </p:nvSpPr>
          <p:spPr bwMode="auto">
            <a:xfrm>
              <a:off x="2400" y="1489"/>
              <a:ext cx="177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3’</a:t>
              </a:r>
            </a:p>
          </p:txBody>
        </p:sp>
        <p:sp>
          <p:nvSpPr>
            <p:cNvPr id="30788" name="Text Box 94"/>
            <p:cNvSpPr txBox="1">
              <a:spLocks noChangeArrowheads="1"/>
            </p:cNvSpPr>
            <p:nvPr/>
          </p:nvSpPr>
          <p:spPr bwMode="auto">
            <a:xfrm>
              <a:off x="3072" y="2063"/>
              <a:ext cx="177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6’</a:t>
              </a:r>
            </a:p>
          </p:txBody>
        </p:sp>
      </p:grpSp>
      <p:sp>
        <p:nvSpPr>
          <p:cNvPr id="748639" name="Text Box 95"/>
          <p:cNvSpPr txBox="1">
            <a:spLocks noChangeArrowheads="1"/>
          </p:cNvSpPr>
          <p:nvPr/>
        </p:nvSpPr>
        <p:spPr bwMode="auto">
          <a:xfrm>
            <a:off x="4229100" y="228600"/>
            <a:ext cx="4776788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CASE 7.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CONE STANDING &amp; SQ.PRISM  PENETRATING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(BOTH AXES VERTICAL)</a:t>
            </a:r>
          </a:p>
        </p:txBody>
      </p:sp>
      <p:graphicFrame>
        <p:nvGraphicFramePr>
          <p:cNvPr id="748640" name="Object 96"/>
          <p:cNvGraphicFramePr>
            <a:graphicFrameLocks noChangeAspect="1"/>
          </p:cNvGraphicFramePr>
          <p:nvPr/>
        </p:nvGraphicFramePr>
        <p:xfrm>
          <a:off x="5410200" y="1143000"/>
          <a:ext cx="2538413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5" name="Bitmap Image" r:id="rId4" imgW="1561905" imgH="1828571" progId="Paint.Picture">
                  <p:embed/>
                </p:oleObj>
              </mc:Choice>
              <mc:Fallback>
                <p:oleObj name="Bitmap Image" r:id="rId4" imgW="1561905" imgH="1828571" progId="Paint.Picture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143000"/>
                        <a:ext cx="2538413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8641" name="Text Box 97"/>
          <p:cNvSpPr txBox="1">
            <a:spLocks noChangeArrowheads="1"/>
          </p:cNvSpPr>
          <p:nvPr/>
        </p:nvSpPr>
        <p:spPr bwMode="auto">
          <a:xfrm>
            <a:off x="4367213" y="4572000"/>
            <a:ext cx="4776787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3300"/>
                </a:solidFill>
              </a:rPr>
              <a:t>Problem:</a:t>
            </a:r>
            <a:r>
              <a:rPr lang="en-US" altLang="en-US" sz="1600">
                <a:solidFill>
                  <a:srgbClr val="000000"/>
                </a:solidFill>
              </a:rPr>
              <a:t> A cone70 mm base diameter and 90 mm axis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is completely penetrated  by a square prism from top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with it’s axis // to cone’s axis and 5 mm away from it.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a vertical plane containing both axes is parallel to VP.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Take all faces of sq.prism equally inclined to VP.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Base side of prism is 30 mm and axis is 100 mm long.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Draw projections showing curves of intersections. </a:t>
            </a:r>
          </a:p>
        </p:txBody>
      </p:sp>
      <p:grpSp>
        <p:nvGrpSpPr>
          <p:cNvPr id="30776" name="Group 105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30777" name="AutoShape 106">
              <a:hlinkClick r:id="rId6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78" name="AutoShape 107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79" name="AutoShape 108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80" name="AutoShape 109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81" name="AutoShape 110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82" name="AutoShape 111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8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8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86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486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8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8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8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8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8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8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8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8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48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48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48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48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48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48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48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48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48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48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48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48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48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48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48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48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48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48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48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48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48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48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48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48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48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48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48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48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48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48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48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48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48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48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48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48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48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48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48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48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748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748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748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748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748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748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748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48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748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748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48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48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48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48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748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748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748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748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4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74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748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748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748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748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748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748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748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748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748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748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3" dur="500"/>
                                        <p:tgtEl>
                                          <p:spTgt spid="74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8" dur="500"/>
                                        <p:tgtEl>
                                          <p:spTgt spid="74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3" dur="500"/>
                                        <p:tgtEl>
                                          <p:spTgt spid="74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748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748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748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748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0" dur="500"/>
                                        <p:tgtEl>
                                          <p:spTgt spid="74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748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748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748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748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748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748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7486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7486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748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748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748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748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 nodeType="clickPar">
                      <p:stCondLst>
                        <p:cond delay="indefinite"/>
                      </p:stCondLst>
                      <p:childTnLst>
                        <p:par>
                          <p:cTn id="2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748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748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748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748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0" fill="hold"/>
                                        <p:tgtEl>
                                          <p:spTgt spid="748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0" fill="hold"/>
                                        <p:tgtEl>
                                          <p:spTgt spid="748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 nodeType="clickPar">
                      <p:stCondLst>
                        <p:cond delay="indefinite"/>
                      </p:stCondLst>
                      <p:childTnLst>
                        <p:par>
                          <p:cTn id="2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1" dur="500"/>
                                        <p:tgtEl>
                                          <p:spTgt spid="74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6" dur="500"/>
                                        <p:tgtEl>
                                          <p:spTgt spid="74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1" dur="500"/>
                                        <p:tgtEl>
                                          <p:spTgt spid="74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 nodeType="clickPar">
                      <p:stCondLst>
                        <p:cond delay="indefinite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6" dur="500"/>
                                        <p:tgtEl>
                                          <p:spTgt spid="74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748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748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500" fill="hold"/>
                                        <p:tgtEl>
                                          <p:spTgt spid="748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500" fill="hold"/>
                                        <p:tgtEl>
                                          <p:spTgt spid="748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 nodeType="clickPar">
                      <p:stCondLst>
                        <p:cond delay="indefinite"/>
                      </p:stCondLst>
                      <p:childTnLst>
                        <p:par>
                          <p:cTn id="3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9" dur="500" fill="hold"/>
                                        <p:tgtEl>
                                          <p:spTgt spid="748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500" fill="hold"/>
                                        <p:tgtEl>
                                          <p:spTgt spid="748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500" fill="hold"/>
                                        <p:tgtEl>
                                          <p:spTgt spid="748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748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 nodeType="clickPar">
                      <p:stCondLst>
                        <p:cond delay="indefinite"/>
                      </p:stCondLst>
                      <p:childTnLst>
                        <p:par>
                          <p:cTn id="3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748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500" fill="hold"/>
                                        <p:tgtEl>
                                          <p:spTgt spid="748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500" fill="hold"/>
                                        <p:tgtEl>
                                          <p:spTgt spid="748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500" fill="hold"/>
                                        <p:tgtEl>
                                          <p:spTgt spid="748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5" dur="500"/>
                                        <p:tgtEl>
                                          <p:spTgt spid="74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Par">
                      <p:stCondLst>
                        <p:cond delay="indefinite"/>
                      </p:stCondLst>
                      <p:childTnLst>
                        <p:par>
                          <p:cTn id="3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0" dur="500"/>
                                        <p:tgtEl>
                                          <p:spTgt spid="74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 nodeType="clickPar">
                      <p:stCondLst>
                        <p:cond delay="indefinite"/>
                      </p:stCondLst>
                      <p:childTnLst>
                        <p:par>
                          <p:cTn id="3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5" dur="500" fill="hold"/>
                                        <p:tgtEl>
                                          <p:spTgt spid="748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500" fill="hold"/>
                                        <p:tgtEl>
                                          <p:spTgt spid="748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748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748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546" grpId="0" animBg="1"/>
      <p:bldP spid="748548" grpId="0" autoUpdateAnimBg="0"/>
      <p:bldP spid="748549" grpId="0" autoUpdateAnimBg="0"/>
      <p:bldP spid="748550" grpId="0" animBg="1"/>
      <p:bldP spid="748571" grpId="0" animBg="1"/>
      <p:bldP spid="748573" grpId="0" animBg="1"/>
      <p:bldP spid="748574" grpId="0" animBg="1"/>
      <p:bldP spid="748575" grpId="0" animBg="1"/>
      <p:bldP spid="748576" grpId="0" animBg="1"/>
      <p:bldP spid="748577" grpId="0" animBg="1"/>
      <p:bldP spid="748578" grpId="0" animBg="1"/>
      <p:bldP spid="748579" grpId="0" animBg="1"/>
      <p:bldP spid="748580" grpId="0" animBg="1"/>
      <p:bldP spid="748586" grpId="0" animBg="1"/>
      <p:bldP spid="748587" grpId="0" animBg="1"/>
      <p:bldP spid="748603" grpId="0" animBg="1"/>
      <p:bldP spid="748604" grpId="0" animBg="1"/>
      <p:bldP spid="748605" grpId="0" animBg="1"/>
      <p:bldP spid="748606" grpId="0" animBg="1"/>
      <p:bldP spid="748610" grpId="0" animBg="1"/>
      <p:bldP spid="748621" grpId="0" autoUpdateAnimBg="0"/>
      <p:bldP spid="748625" grpId="0" animBg="1"/>
      <p:bldP spid="748639" grpId="0" autoUpdateAnimBg="0"/>
      <p:bldP spid="74864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Oval 2"/>
          <p:cNvSpPr>
            <a:spLocks noChangeArrowheads="1"/>
          </p:cNvSpPr>
          <p:nvPr/>
        </p:nvSpPr>
        <p:spPr bwMode="auto">
          <a:xfrm>
            <a:off x="939800" y="4381500"/>
            <a:ext cx="2279650" cy="22796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009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50595" name="Rectangle 3"/>
          <p:cNvSpPr>
            <a:spLocks noChangeArrowheads="1"/>
          </p:cNvSpPr>
          <p:nvPr/>
        </p:nvSpPr>
        <p:spPr bwMode="auto">
          <a:xfrm>
            <a:off x="2895600" y="4876800"/>
            <a:ext cx="685800" cy="1295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50596" name="Rectangle 4"/>
          <p:cNvSpPr>
            <a:spLocks noChangeArrowheads="1"/>
          </p:cNvSpPr>
          <p:nvPr/>
        </p:nvSpPr>
        <p:spPr bwMode="auto">
          <a:xfrm>
            <a:off x="533400" y="4851400"/>
            <a:ext cx="685800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50597" name="Text Box 5"/>
          <p:cNvSpPr txBox="1">
            <a:spLocks noChangeArrowheads="1"/>
          </p:cNvSpPr>
          <p:nvPr/>
        </p:nvSpPr>
        <p:spPr bwMode="auto">
          <a:xfrm>
            <a:off x="6115050" y="0"/>
            <a:ext cx="302895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CASE 8.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CONE STANDING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&amp;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CYLINDER  PENETRATING</a:t>
            </a:r>
          </a:p>
        </p:txBody>
      </p:sp>
      <p:grpSp>
        <p:nvGrpSpPr>
          <p:cNvPr id="750598" name="Group 6"/>
          <p:cNvGrpSpPr>
            <a:grpSpLocks/>
          </p:cNvGrpSpPr>
          <p:nvPr/>
        </p:nvGrpSpPr>
        <p:grpSpPr bwMode="auto">
          <a:xfrm>
            <a:off x="644525" y="4086225"/>
            <a:ext cx="2851150" cy="2822575"/>
            <a:chOff x="528" y="2232"/>
            <a:chExt cx="1259" cy="1247"/>
          </a:xfrm>
        </p:grpSpPr>
        <p:sp>
          <p:nvSpPr>
            <p:cNvPr id="32995" name="Text Box 7"/>
            <p:cNvSpPr txBox="1">
              <a:spLocks noChangeArrowheads="1"/>
            </p:cNvSpPr>
            <p:nvPr/>
          </p:nvSpPr>
          <p:spPr bwMode="auto">
            <a:xfrm>
              <a:off x="672" y="2448"/>
              <a:ext cx="115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32996" name="Text Box 8"/>
            <p:cNvSpPr txBox="1">
              <a:spLocks noChangeArrowheads="1"/>
            </p:cNvSpPr>
            <p:nvPr/>
          </p:nvSpPr>
          <p:spPr bwMode="auto">
            <a:xfrm>
              <a:off x="528" y="2768"/>
              <a:ext cx="117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32997" name="Text Box 9"/>
            <p:cNvSpPr txBox="1">
              <a:spLocks noChangeArrowheads="1"/>
            </p:cNvSpPr>
            <p:nvPr/>
          </p:nvSpPr>
          <p:spPr bwMode="auto">
            <a:xfrm>
              <a:off x="672" y="3171"/>
              <a:ext cx="120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32998" name="Text Box 10"/>
            <p:cNvSpPr txBox="1">
              <a:spLocks noChangeArrowheads="1"/>
            </p:cNvSpPr>
            <p:nvPr/>
          </p:nvSpPr>
          <p:spPr bwMode="auto">
            <a:xfrm>
              <a:off x="1104" y="3345"/>
              <a:ext cx="117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32999" name="Text Box 11"/>
            <p:cNvSpPr txBox="1">
              <a:spLocks noChangeArrowheads="1"/>
            </p:cNvSpPr>
            <p:nvPr/>
          </p:nvSpPr>
          <p:spPr bwMode="auto">
            <a:xfrm>
              <a:off x="1536" y="3171"/>
              <a:ext cx="12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3000" name="Text Box 12"/>
            <p:cNvSpPr txBox="1">
              <a:spLocks noChangeArrowheads="1"/>
            </p:cNvSpPr>
            <p:nvPr/>
          </p:nvSpPr>
          <p:spPr bwMode="auto">
            <a:xfrm>
              <a:off x="1670" y="2791"/>
              <a:ext cx="117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33001" name="Text Box 13"/>
            <p:cNvSpPr txBox="1">
              <a:spLocks noChangeArrowheads="1"/>
            </p:cNvSpPr>
            <p:nvPr/>
          </p:nvSpPr>
          <p:spPr bwMode="auto">
            <a:xfrm>
              <a:off x="1104" y="2232"/>
              <a:ext cx="121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33002" name="Text Box 14"/>
            <p:cNvSpPr txBox="1">
              <a:spLocks noChangeArrowheads="1"/>
            </p:cNvSpPr>
            <p:nvPr/>
          </p:nvSpPr>
          <p:spPr bwMode="auto">
            <a:xfrm>
              <a:off x="1536" y="2462"/>
              <a:ext cx="108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f</a:t>
              </a:r>
            </a:p>
          </p:txBody>
        </p:sp>
      </p:grpSp>
      <p:grpSp>
        <p:nvGrpSpPr>
          <p:cNvPr id="750607" name="Group 15"/>
          <p:cNvGrpSpPr>
            <a:grpSpLocks/>
          </p:cNvGrpSpPr>
          <p:nvPr/>
        </p:nvGrpSpPr>
        <p:grpSpPr bwMode="auto">
          <a:xfrm>
            <a:off x="914400" y="1193800"/>
            <a:ext cx="2279650" cy="2786063"/>
            <a:chOff x="1872" y="768"/>
            <a:chExt cx="1296" cy="1584"/>
          </a:xfrm>
        </p:grpSpPr>
        <p:sp>
          <p:nvSpPr>
            <p:cNvPr id="32991" name="AutoShape 16"/>
            <p:cNvSpPr>
              <a:spLocks noChangeArrowheads="1"/>
            </p:cNvSpPr>
            <p:nvPr/>
          </p:nvSpPr>
          <p:spPr bwMode="auto">
            <a:xfrm>
              <a:off x="1872" y="768"/>
              <a:ext cx="1296" cy="15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92" name="Line 17"/>
            <p:cNvSpPr>
              <a:spLocks noChangeShapeType="1"/>
            </p:cNvSpPr>
            <p:nvPr/>
          </p:nvSpPr>
          <p:spPr bwMode="auto">
            <a:xfrm flipV="1">
              <a:off x="2046" y="768"/>
              <a:ext cx="480" cy="1584"/>
            </a:xfrm>
            <a:prstGeom prst="line">
              <a:avLst/>
            </a:prstGeom>
            <a:noFill/>
            <a:ln w="63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93" name="Line 18"/>
            <p:cNvSpPr>
              <a:spLocks noChangeShapeType="1"/>
            </p:cNvSpPr>
            <p:nvPr/>
          </p:nvSpPr>
          <p:spPr bwMode="auto">
            <a:xfrm flipH="1" flipV="1">
              <a:off x="2514" y="768"/>
              <a:ext cx="480" cy="1584"/>
            </a:xfrm>
            <a:prstGeom prst="line">
              <a:avLst/>
            </a:prstGeom>
            <a:noFill/>
            <a:ln w="63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94" name="Line 19"/>
            <p:cNvSpPr>
              <a:spLocks noChangeShapeType="1"/>
            </p:cNvSpPr>
            <p:nvPr/>
          </p:nvSpPr>
          <p:spPr bwMode="auto">
            <a:xfrm flipV="1">
              <a:off x="2526" y="768"/>
              <a:ext cx="0" cy="1584"/>
            </a:xfrm>
            <a:prstGeom prst="line">
              <a:avLst/>
            </a:prstGeom>
            <a:noFill/>
            <a:ln w="6350">
              <a:solidFill>
                <a:schemeClr val="folHlink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612" name="Group 20"/>
          <p:cNvGrpSpPr>
            <a:grpSpLocks/>
          </p:cNvGrpSpPr>
          <p:nvPr/>
        </p:nvGrpSpPr>
        <p:grpSpPr bwMode="auto">
          <a:xfrm>
            <a:off x="944563" y="4386263"/>
            <a:ext cx="2279650" cy="2279650"/>
            <a:chOff x="672" y="2400"/>
            <a:chExt cx="1008" cy="1008"/>
          </a:xfrm>
        </p:grpSpPr>
        <p:sp>
          <p:nvSpPr>
            <p:cNvPr id="32987" name="Line 21"/>
            <p:cNvSpPr>
              <a:spLocks noChangeShapeType="1"/>
            </p:cNvSpPr>
            <p:nvPr/>
          </p:nvSpPr>
          <p:spPr bwMode="auto">
            <a:xfrm>
              <a:off x="1189" y="2400"/>
              <a:ext cx="0" cy="100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88" name="Line 22"/>
            <p:cNvSpPr>
              <a:spLocks noChangeShapeType="1"/>
            </p:cNvSpPr>
            <p:nvPr/>
          </p:nvSpPr>
          <p:spPr bwMode="auto">
            <a:xfrm>
              <a:off x="672" y="2902"/>
              <a:ext cx="1008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89" name="Line 23"/>
            <p:cNvSpPr>
              <a:spLocks noChangeShapeType="1"/>
            </p:cNvSpPr>
            <p:nvPr/>
          </p:nvSpPr>
          <p:spPr bwMode="auto">
            <a:xfrm rot="189070" flipH="1" flipV="1">
              <a:off x="766" y="2576"/>
              <a:ext cx="814" cy="63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90" name="Line 24"/>
            <p:cNvSpPr>
              <a:spLocks noChangeShapeType="1"/>
            </p:cNvSpPr>
            <p:nvPr/>
          </p:nvSpPr>
          <p:spPr bwMode="auto">
            <a:xfrm rot="21410930" flipV="1">
              <a:off x="768" y="2598"/>
              <a:ext cx="814" cy="634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50617" name="Text Box 25"/>
          <p:cNvSpPr txBox="1">
            <a:spLocks noChangeArrowheads="1"/>
          </p:cNvSpPr>
          <p:nvPr/>
        </p:nvSpPr>
        <p:spPr bwMode="auto">
          <a:xfrm>
            <a:off x="742950" y="3794125"/>
            <a:ext cx="25225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</a:rPr>
              <a:t>a’    b’h’             c’g’            d’f’       e’</a:t>
            </a:r>
          </a:p>
        </p:txBody>
      </p:sp>
      <p:sp>
        <p:nvSpPr>
          <p:cNvPr id="750618" name="AutoShape 26"/>
          <p:cNvSpPr>
            <a:spLocks noChangeArrowheads="1"/>
          </p:cNvSpPr>
          <p:nvPr/>
        </p:nvSpPr>
        <p:spPr bwMode="auto">
          <a:xfrm>
            <a:off x="4267200" y="1200150"/>
            <a:ext cx="2279650" cy="278606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D6009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750619" name="Group 27"/>
          <p:cNvGrpSpPr>
            <a:grpSpLocks/>
          </p:cNvGrpSpPr>
          <p:nvPr/>
        </p:nvGrpSpPr>
        <p:grpSpPr bwMode="auto">
          <a:xfrm>
            <a:off x="2133600" y="4394200"/>
            <a:ext cx="4419600" cy="2286000"/>
            <a:chOff x="1872" y="2592"/>
            <a:chExt cx="2784" cy="1440"/>
          </a:xfrm>
        </p:grpSpPr>
        <p:sp>
          <p:nvSpPr>
            <p:cNvPr id="32985" name="Line 28"/>
            <p:cNvSpPr>
              <a:spLocks noChangeShapeType="1"/>
            </p:cNvSpPr>
            <p:nvPr/>
          </p:nvSpPr>
          <p:spPr bwMode="auto">
            <a:xfrm>
              <a:off x="1872" y="2592"/>
              <a:ext cx="1392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86" name="Line 29"/>
            <p:cNvSpPr>
              <a:spLocks noChangeShapeType="1"/>
            </p:cNvSpPr>
            <p:nvPr/>
          </p:nvSpPr>
          <p:spPr bwMode="auto">
            <a:xfrm>
              <a:off x="1872" y="4032"/>
              <a:ext cx="2784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622" name="Group 30"/>
          <p:cNvGrpSpPr>
            <a:grpSpLocks/>
          </p:cNvGrpSpPr>
          <p:nvPr/>
        </p:nvGrpSpPr>
        <p:grpSpPr bwMode="auto">
          <a:xfrm>
            <a:off x="4267200" y="4013200"/>
            <a:ext cx="2286000" cy="2743200"/>
            <a:chOff x="3216" y="2352"/>
            <a:chExt cx="1440" cy="1728"/>
          </a:xfrm>
        </p:grpSpPr>
        <p:sp>
          <p:nvSpPr>
            <p:cNvPr id="32983" name="Line 31"/>
            <p:cNvSpPr>
              <a:spLocks noChangeShapeType="1"/>
            </p:cNvSpPr>
            <p:nvPr/>
          </p:nvSpPr>
          <p:spPr bwMode="auto">
            <a:xfrm>
              <a:off x="3216" y="2352"/>
              <a:ext cx="0" cy="28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84" name="Line 32"/>
            <p:cNvSpPr>
              <a:spLocks noChangeShapeType="1"/>
            </p:cNvSpPr>
            <p:nvPr/>
          </p:nvSpPr>
          <p:spPr bwMode="auto">
            <a:xfrm>
              <a:off x="4656" y="2352"/>
              <a:ext cx="0" cy="1728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50625" name="Line 33"/>
          <p:cNvSpPr>
            <a:spLocks noChangeShapeType="1"/>
          </p:cNvSpPr>
          <p:nvPr/>
        </p:nvSpPr>
        <p:spPr bwMode="auto">
          <a:xfrm>
            <a:off x="3835400" y="3962400"/>
            <a:ext cx="2971800" cy="29718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50626" name="Text Box 34"/>
          <p:cNvSpPr txBox="1">
            <a:spLocks noChangeArrowheads="1"/>
          </p:cNvSpPr>
          <p:nvPr/>
        </p:nvSpPr>
        <p:spPr bwMode="auto">
          <a:xfrm>
            <a:off x="4083050" y="3802063"/>
            <a:ext cx="26876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</a:rPr>
              <a:t>g”    g”h”             a”e”            b”d”       c”</a:t>
            </a:r>
          </a:p>
        </p:txBody>
      </p:sp>
      <p:sp>
        <p:nvSpPr>
          <p:cNvPr id="750627" name="Oval 35"/>
          <p:cNvSpPr>
            <a:spLocks noChangeArrowheads="1"/>
          </p:cNvSpPr>
          <p:nvPr/>
        </p:nvSpPr>
        <p:spPr bwMode="auto">
          <a:xfrm>
            <a:off x="4737100" y="2489200"/>
            <a:ext cx="1358900" cy="13589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750628" name="Group 36"/>
          <p:cNvGrpSpPr>
            <a:grpSpLocks/>
          </p:cNvGrpSpPr>
          <p:nvPr/>
        </p:nvGrpSpPr>
        <p:grpSpPr bwMode="auto">
          <a:xfrm>
            <a:off x="4692650" y="2451100"/>
            <a:ext cx="1460500" cy="1422400"/>
            <a:chOff x="3484" y="1368"/>
            <a:chExt cx="920" cy="896"/>
          </a:xfrm>
        </p:grpSpPr>
        <p:sp>
          <p:nvSpPr>
            <p:cNvPr id="32966" name="Line 37"/>
            <p:cNvSpPr>
              <a:spLocks noChangeShapeType="1"/>
            </p:cNvSpPr>
            <p:nvPr/>
          </p:nvSpPr>
          <p:spPr bwMode="auto">
            <a:xfrm>
              <a:off x="3504" y="182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67" name="Oval 38"/>
            <p:cNvSpPr>
              <a:spLocks noChangeArrowheads="1"/>
            </p:cNvSpPr>
            <p:nvPr/>
          </p:nvSpPr>
          <p:spPr bwMode="auto">
            <a:xfrm>
              <a:off x="3640" y="14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68" name="Oval 39"/>
            <p:cNvSpPr>
              <a:spLocks noChangeArrowheads="1"/>
            </p:cNvSpPr>
            <p:nvPr/>
          </p:nvSpPr>
          <p:spPr bwMode="auto">
            <a:xfrm>
              <a:off x="3916" y="13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69" name="Oval 40"/>
            <p:cNvSpPr>
              <a:spLocks noChangeArrowheads="1"/>
            </p:cNvSpPr>
            <p:nvPr/>
          </p:nvSpPr>
          <p:spPr bwMode="auto">
            <a:xfrm>
              <a:off x="4176" y="14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70" name="Oval 41"/>
            <p:cNvSpPr>
              <a:spLocks noChangeArrowheads="1"/>
            </p:cNvSpPr>
            <p:nvPr/>
          </p:nvSpPr>
          <p:spPr bwMode="auto">
            <a:xfrm>
              <a:off x="4316" y="19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71" name="Oval 42"/>
            <p:cNvSpPr>
              <a:spLocks noChangeArrowheads="1"/>
            </p:cNvSpPr>
            <p:nvPr/>
          </p:nvSpPr>
          <p:spPr bwMode="auto">
            <a:xfrm>
              <a:off x="3912" y="221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72" name="Oval 43"/>
            <p:cNvSpPr>
              <a:spLocks noChangeArrowheads="1"/>
            </p:cNvSpPr>
            <p:nvPr/>
          </p:nvSpPr>
          <p:spPr bwMode="auto">
            <a:xfrm>
              <a:off x="3504" y="192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73" name="Oval 44"/>
            <p:cNvSpPr>
              <a:spLocks noChangeArrowheads="1"/>
            </p:cNvSpPr>
            <p:nvPr/>
          </p:nvSpPr>
          <p:spPr bwMode="auto">
            <a:xfrm>
              <a:off x="3484" y="179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74" name="Oval 45"/>
            <p:cNvSpPr>
              <a:spLocks noChangeArrowheads="1"/>
            </p:cNvSpPr>
            <p:nvPr/>
          </p:nvSpPr>
          <p:spPr bwMode="auto">
            <a:xfrm>
              <a:off x="4336" y="180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75" name="Text Box 46"/>
            <p:cNvSpPr txBox="1">
              <a:spLocks noChangeArrowheads="1"/>
            </p:cNvSpPr>
            <p:nvPr/>
          </p:nvSpPr>
          <p:spPr bwMode="auto">
            <a:xfrm>
              <a:off x="3840" y="13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2976" name="Text Box 47"/>
            <p:cNvSpPr txBox="1">
              <a:spLocks noChangeArrowheads="1"/>
            </p:cNvSpPr>
            <p:nvPr/>
          </p:nvSpPr>
          <p:spPr bwMode="auto">
            <a:xfrm>
              <a:off x="4088" y="146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2977" name="Text Box 48"/>
            <p:cNvSpPr txBox="1">
              <a:spLocks noChangeArrowheads="1"/>
            </p:cNvSpPr>
            <p:nvPr/>
          </p:nvSpPr>
          <p:spPr bwMode="auto">
            <a:xfrm>
              <a:off x="4232" y="166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2978" name="Text Box 49"/>
            <p:cNvSpPr txBox="1">
              <a:spLocks noChangeArrowheads="1"/>
            </p:cNvSpPr>
            <p:nvPr/>
          </p:nvSpPr>
          <p:spPr bwMode="auto">
            <a:xfrm>
              <a:off x="4192" y="1917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2979" name="Text Box 50"/>
            <p:cNvSpPr txBox="1">
              <a:spLocks noChangeArrowheads="1"/>
            </p:cNvSpPr>
            <p:nvPr/>
          </p:nvSpPr>
          <p:spPr bwMode="auto">
            <a:xfrm>
              <a:off x="3888" y="206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2980" name="Text Box 51"/>
            <p:cNvSpPr txBox="1">
              <a:spLocks noChangeArrowheads="1"/>
            </p:cNvSpPr>
            <p:nvPr/>
          </p:nvSpPr>
          <p:spPr bwMode="auto">
            <a:xfrm>
              <a:off x="3528" y="192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2981" name="Text Box 52"/>
            <p:cNvSpPr txBox="1">
              <a:spLocks noChangeArrowheads="1"/>
            </p:cNvSpPr>
            <p:nvPr/>
          </p:nvSpPr>
          <p:spPr bwMode="auto">
            <a:xfrm>
              <a:off x="3504" y="167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2982" name="Text Box 53"/>
            <p:cNvSpPr txBox="1">
              <a:spLocks noChangeArrowheads="1"/>
            </p:cNvSpPr>
            <p:nvPr/>
          </p:nvSpPr>
          <p:spPr bwMode="auto">
            <a:xfrm>
              <a:off x="3648" y="143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8</a:t>
              </a:r>
            </a:p>
          </p:txBody>
        </p:sp>
      </p:grpSp>
      <p:grpSp>
        <p:nvGrpSpPr>
          <p:cNvPr id="750646" name="Group 54"/>
          <p:cNvGrpSpPr>
            <a:grpSpLocks/>
          </p:cNvGrpSpPr>
          <p:nvPr/>
        </p:nvGrpSpPr>
        <p:grpSpPr bwMode="auto">
          <a:xfrm>
            <a:off x="419100" y="2489200"/>
            <a:ext cx="5676900" cy="1371600"/>
            <a:chOff x="792" y="1392"/>
            <a:chExt cx="3576" cy="864"/>
          </a:xfrm>
        </p:grpSpPr>
        <p:sp>
          <p:nvSpPr>
            <p:cNvPr id="32961" name="Line 55"/>
            <p:cNvSpPr>
              <a:spLocks noChangeShapeType="1"/>
            </p:cNvSpPr>
            <p:nvPr/>
          </p:nvSpPr>
          <p:spPr bwMode="auto">
            <a:xfrm>
              <a:off x="792" y="1824"/>
              <a:ext cx="2112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62" name="Line 56"/>
            <p:cNvSpPr>
              <a:spLocks noChangeShapeType="1"/>
            </p:cNvSpPr>
            <p:nvPr/>
          </p:nvSpPr>
          <p:spPr bwMode="auto">
            <a:xfrm flipH="1">
              <a:off x="864" y="1392"/>
              <a:ext cx="3120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63" name="Line 57"/>
            <p:cNvSpPr>
              <a:spLocks noChangeShapeType="1"/>
            </p:cNvSpPr>
            <p:nvPr/>
          </p:nvSpPr>
          <p:spPr bwMode="auto">
            <a:xfrm flipH="1">
              <a:off x="816" y="2256"/>
              <a:ext cx="3120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64" name="Line 58"/>
            <p:cNvSpPr>
              <a:spLocks noChangeShapeType="1"/>
            </p:cNvSpPr>
            <p:nvPr/>
          </p:nvSpPr>
          <p:spPr bwMode="auto">
            <a:xfrm flipH="1">
              <a:off x="864" y="1968"/>
              <a:ext cx="3504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65" name="Line 59"/>
            <p:cNvSpPr>
              <a:spLocks noChangeShapeType="1"/>
            </p:cNvSpPr>
            <p:nvPr/>
          </p:nvSpPr>
          <p:spPr bwMode="auto">
            <a:xfrm flipH="1">
              <a:off x="864" y="1488"/>
              <a:ext cx="3360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652" name="Group 60"/>
          <p:cNvGrpSpPr>
            <a:grpSpLocks/>
          </p:cNvGrpSpPr>
          <p:nvPr/>
        </p:nvGrpSpPr>
        <p:grpSpPr bwMode="auto">
          <a:xfrm>
            <a:off x="533400" y="2489200"/>
            <a:ext cx="3124200" cy="1371600"/>
            <a:chOff x="864" y="1392"/>
            <a:chExt cx="1968" cy="864"/>
          </a:xfrm>
        </p:grpSpPr>
        <p:sp>
          <p:nvSpPr>
            <p:cNvPr id="32955" name="Line 61"/>
            <p:cNvSpPr>
              <a:spLocks noChangeShapeType="1"/>
            </p:cNvSpPr>
            <p:nvPr/>
          </p:nvSpPr>
          <p:spPr bwMode="auto">
            <a:xfrm>
              <a:off x="864" y="1392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56" name="Line 62"/>
            <p:cNvSpPr>
              <a:spLocks noChangeShapeType="1"/>
            </p:cNvSpPr>
            <p:nvPr/>
          </p:nvSpPr>
          <p:spPr bwMode="auto">
            <a:xfrm>
              <a:off x="2824" y="1392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57" name="Line 63"/>
            <p:cNvSpPr>
              <a:spLocks noChangeShapeType="1"/>
            </p:cNvSpPr>
            <p:nvPr/>
          </p:nvSpPr>
          <p:spPr bwMode="auto">
            <a:xfrm>
              <a:off x="864" y="225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58" name="Line 64"/>
            <p:cNvSpPr>
              <a:spLocks noChangeShapeType="1"/>
            </p:cNvSpPr>
            <p:nvPr/>
          </p:nvSpPr>
          <p:spPr bwMode="auto">
            <a:xfrm>
              <a:off x="864" y="1392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59" name="Line 65"/>
            <p:cNvSpPr>
              <a:spLocks noChangeShapeType="1"/>
            </p:cNvSpPr>
            <p:nvPr/>
          </p:nvSpPr>
          <p:spPr bwMode="auto">
            <a:xfrm>
              <a:off x="2160" y="139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60" name="Line 66"/>
            <p:cNvSpPr>
              <a:spLocks noChangeShapeType="1"/>
            </p:cNvSpPr>
            <p:nvPr/>
          </p:nvSpPr>
          <p:spPr bwMode="auto">
            <a:xfrm>
              <a:off x="2544" y="225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659" name="Group 67"/>
          <p:cNvGrpSpPr>
            <a:grpSpLocks/>
          </p:cNvGrpSpPr>
          <p:nvPr/>
        </p:nvGrpSpPr>
        <p:grpSpPr bwMode="auto">
          <a:xfrm>
            <a:off x="4724400" y="3175000"/>
            <a:ext cx="1371600" cy="3048000"/>
            <a:chOff x="3504" y="1824"/>
            <a:chExt cx="864" cy="1920"/>
          </a:xfrm>
        </p:grpSpPr>
        <p:sp>
          <p:nvSpPr>
            <p:cNvPr id="32953" name="Line 68"/>
            <p:cNvSpPr>
              <a:spLocks noChangeShapeType="1"/>
            </p:cNvSpPr>
            <p:nvPr/>
          </p:nvSpPr>
          <p:spPr bwMode="auto">
            <a:xfrm>
              <a:off x="3504" y="1824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54" name="Line 69"/>
            <p:cNvSpPr>
              <a:spLocks noChangeShapeType="1"/>
            </p:cNvSpPr>
            <p:nvPr/>
          </p:nvSpPr>
          <p:spPr bwMode="auto">
            <a:xfrm>
              <a:off x="4368" y="1824"/>
              <a:ext cx="0" cy="19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662" name="Group 70"/>
          <p:cNvGrpSpPr>
            <a:grpSpLocks/>
          </p:cNvGrpSpPr>
          <p:nvPr/>
        </p:nvGrpSpPr>
        <p:grpSpPr bwMode="auto">
          <a:xfrm>
            <a:off x="533400" y="4851400"/>
            <a:ext cx="5562600" cy="1371600"/>
            <a:chOff x="864" y="2880"/>
            <a:chExt cx="3504" cy="864"/>
          </a:xfrm>
        </p:grpSpPr>
        <p:sp>
          <p:nvSpPr>
            <p:cNvPr id="32951" name="Line 71"/>
            <p:cNvSpPr>
              <a:spLocks noChangeShapeType="1"/>
            </p:cNvSpPr>
            <p:nvPr/>
          </p:nvSpPr>
          <p:spPr bwMode="auto">
            <a:xfrm flipH="1">
              <a:off x="864" y="288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52" name="Line 72"/>
            <p:cNvSpPr>
              <a:spLocks noChangeShapeType="1"/>
            </p:cNvSpPr>
            <p:nvPr/>
          </p:nvSpPr>
          <p:spPr bwMode="auto">
            <a:xfrm flipH="1">
              <a:off x="864" y="3744"/>
              <a:ext cx="35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665" name="Group 73"/>
          <p:cNvGrpSpPr>
            <a:grpSpLocks/>
          </p:cNvGrpSpPr>
          <p:nvPr/>
        </p:nvGrpSpPr>
        <p:grpSpPr bwMode="auto">
          <a:xfrm>
            <a:off x="533400" y="4851400"/>
            <a:ext cx="3098800" cy="1371600"/>
            <a:chOff x="864" y="2880"/>
            <a:chExt cx="1952" cy="864"/>
          </a:xfrm>
        </p:grpSpPr>
        <p:sp>
          <p:nvSpPr>
            <p:cNvPr id="32949" name="Line 74"/>
            <p:cNvSpPr>
              <a:spLocks noChangeShapeType="1"/>
            </p:cNvSpPr>
            <p:nvPr/>
          </p:nvSpPr>
          <p:spPr bwMode="auto">
            <a:xfrm>
              <a:off x="864" y="2880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50" name="Line 75"/>
            <p:cNvSpPr>
              <a:spLocks noChangeShapeType="1"/>
            </p:cNvSpPr>
            <p:nvPr/>
          </p:nvSpPr>
          <p:spPr bwMode="auto">
            <a:xfrm>
              <a:off x="2816" y="2880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50668" name="Line 76"/>
          <p:cNvSpPr>
            <a:spLocks noChangeShapeType="1"/>
          </p:cNvSpPr>
          <p:nvPr/>
        </p:nvSpPr>
        <p:spPr bwMode="auto">
          <a:xfrm flipV="1">
            <a:off x="4422775" y="1270000"/>
            <a:ext cx="987425" cy="2743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50669" name="Line 77"/>
          <p:cNvSpPr>
            <a:spLocks noChangeShapeType="1"/>
          </p:cNvSpPr>
          <p:nvPr/>
        </p:nvSpPr>
        <p:spPr bwMode="auto">
          <a:xfrm>
            <a:off x="4419600" y="4013200"/>
            <a:ext cx="0" cy="533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50670" name="Line 78"/>
          <p:cNvSpPr>
            <a:spLocks noChangeShapeType="1"/>
          </p:cNvSpPr>
          <p:nvPr/>
        </p:nvSpPr>
        <p:spPr bwMode="auto">
          <a:xfrm flipH="1">
            <a:off x="1524000" y="4546600"/>
            <a:ext cx="2895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50671" name="Group 79"/>
          <p:cNvGrpSpPr>
            <a:grpSpLocks/>
          </p:cNvGrpSpPr>
          <p:nvPr/>
        </p:nvGrpSpPr>
        <p:grpSpPr bwMode="auto">
          <a:xfrm>
            <a:off x="1473200" y="4546600"/>
            <a:ext cx="1295400" cy="1981200"/>
            <a:chOff x="1456" y="2688"/>
            <a:chExt cx="816" cy="1248"/>
          </a:xfrm>
        </p:grpSpPr>
        <p:sp>
          <p:nvSpPr>
            <p:cNvPr id="32947" name="Line 80"/>
            <p:cNvSpPr>
              <a:spLocks noChangeShapeType="1"/>
            </p:cNvSpPr>
            <p:nvPr/>
          </p:nvSpPr>
          <p:spPr bwMode="auto">
            <a:xfrm rot="99942">
              <a:off x="1456" y="2712"/>
              <a:ext cx="816" cy="1200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48" name="Line 81"/>
            <p:cNvSpPr>
              <a:spLocks noChangeShapeType="1"/>
            </p:cNvSpPr>
            <p:nvPr/>
          </p:nvSpPr>
          <p:spPr bwMode="auto">
            <a:xfrm flipH="1">
              <a:off x="1488" y="2688"/>
              <a:ext cx="720" cy="1248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674" name="Group 82"/>
          <p:cNvGrpSpPr>
            <a:grpSpLocks/>
          </p:cNvGrpSpPr>
          <p:nvPr/>
        </p:nvGrpSpPr>
        <p:grpSpPr bwMode="auto">
          <a:xfrm>
            <a:off x="1524000" y="4013200"/>
            <a:ext cx="1143000" cy="533400"/>
            <a:chOff x="1488" y="2352"/>
            <a:chExt cx="720" cy="336"/>
          </a:xfrm>
        </p:grpSpPr>
        <p:sp>
          <p:nvSpPr>
            <p:cNvPr id="32945" name="Line 83"/>
            <p:cNvSpPr>
              <a:spLocks noChangeShapeType="1"/>
            </p:cNvSpPr>
            <p:nvPr/>
          </p:nvSpPr>
          <p:spPr bwMode="auto">
            <a:xfrm flipV="1">
              <a:off x="1488" y="2352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46" name="Line 84"/>
            <p:cNvSpPr>
              <a:spLocks noChangeShapeType="1"/>
            </p:cNvSpPr>
            <p:nvPr/>
          </p:nvSpPr>
          <p:spPr bwMode="auto">
            <a:xfrm flipV="1">
              <a:off x="2208" y="2352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50677" name="Line 85"/>
          <p:cNvSpPr>
            <a:spLocks noChangeShapeType="1"/>
          </p:cNvSpPr>
          <p:nvPr/>
        </p:nvSpPr>
        <p:spPr bwMode="auto">
          <a:xfrm flipH="1" flipV="1">
            <a:off x="2057400" y="1193800"/>
            <a:ext cx="609600" cy="2819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50678" name="Line 86"/>
          <p:cNvSpPr>
            <a:spLocks noChangeShapeType="1"/>
          </p:cNvSpPr>
          <p:nvPr/>
        </p:nvSpPr>
        <p:spPr bwMode="auto">
          <a:xfrm rot="21508590" flipH="1">
            <a:off x="1495425" y="1117600"/>
            <a:ext cx="558800" cy="2895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50679" name="Group 87"/>
          <p:cNvGrpSpPr>
            <a:grpSpLocks/>
          </p:cNvGrpSpPr>
          <p:nvPr/>
        </p:nvGrpSpPr>
        <p:grpSpPr bwMode="auto">
          <a:xfrm>
            <a:off x="1536700" y="2438400"/>
            <a:ext cx="1104900" cy="82550"/>
            <a:chOff x="1496" y="1360"/>
            <a:chExt cx="696" cy="52"/>
          </a:xfrm>
        </p:grpSpPr>
        <p:sp>
          <p:nvSpPr>
            <p:cNvPr id="32943" name="Oval 88"/>
            <p:cNvSpPr>
              <a:spLocks noChangeArrowheads="1"/>
            </p:cNvSpPr>
            <p:nvPr/>
          </p:nvSpPr>
          <p:spPr bwMode="auto">
            <a:xfrm>
              <a:off x="2144" y="136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44" name="Oval 89"/>
            <p:cNvSpPr>
              <a:spLocks noChangeArrowheads="1"/>
            </p:cNvSpPr>
            <p:nvPr/>
          </p:nvSpPr>
          <p:spPr bwMode="auto">
            <a:xfrm>
              <a:off x="1496" y="136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50682" name="Group 90"/>
          <p:cNvGrpSpPr>
            <a:grpSpLocks/>
          </p:cNvGrpSpPr>
          <p:nvPr/>
        </p:nvGrpSpPr>
        <p:grpSpPr bwMode="auto">
          <a:xfrm>
            <a:off x="1631950" y="2603500"/>
            <a:ext cx="920750" cy="82550"/>
            <a:chOff x="1556" y="1464"/>
            <a:chExt cx="580" cy="52"/>
          </a:xfrm>
        </p:grpSpPr>
        <p:sp>
          <p:nvSpPr>
            <p:cNvPr id="32941" name="Oval 91"/>
            <p:cNvSpPr>
              <a:spLocks noChangeArrowheads="1"/>
            </p:cNvSpPr>
            <p:nvPr/>
          </p:nvSpPr>
          <p:spPr bwMode="auto">
            <a:xfrm>
              <a:off x="2088" y="146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42" name="Oval 92"/>
            <p:cNvSpPr>
              <a:spLocks noChangeArrowheads="1"/>
            </p:cNvSpPr>
            <p:nvPr/>
          </p:nvSpPr>
          <p:spPr bwMode="auto">
            <a:xfrm>
              <a:off x="1556" y="14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50685" name="Group 93"/>
          <p:cNvGrpSpPr>
            <a:grpSpLocks/>
          </p:cNvGrpSpPr>
          <p:nvPr/>
        </p:nvGrpSpPr>
        <p:grpSpPr bwMode="auto">
          <a:xfrm>
            <a:off x="1663700" y="3124200"/>
            <a:ext cx="869950" cy="82550"/>
            <a:chOff x="1576" y="1792"/>
            <a:chExt cx="548" cy="52"/>
          </a:xfrm>
        </p:grpSpPr>
        <p:sp>
          <p:nvSpPr>
            <p:cNvPr id="32939" name="Oval 94"/>
            <p:cNvSpPr>
              <a:spLocks noChangeArrowheads="1"/>
            </p:cNvSpPr>
            <p:nvPr/>
          </p:nvSpPr>
          <p:spPr bwMode="auto">
            <a:xfrm>
              <a:off x="2076" y="179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40" name="Oval 95"/>
            <p:cNvSpPr>
              <a:spLocks noChangeArrowheads="1"/>
            </p:cNvSpPr>
            <p:nvPr/>
          </p:nvSpPr>
          <p:spPr bwMode="auto">
            <a:xfrm>
              <a:off x="1576" y="179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50688" name="Group 96"/>
          <p:cNvGrpSpPr>
            <a:grpSpLocks/>
          </p:cNvGrpSpPr>
          <p:nvPr/>
        </p:nvGrpSpPr>
        <p:grpSpPr bwMode="auto">
          <a:xfrm>
            <a:off x="1409700" y="3365500"/>
            <a:ext cx="1371600" cy="76200"/>
            <a:chOff x="1416" y="1944"/>
            <a:chExt cx="864" cy="48"/>
          </a:xfrm>
        </p:grpSpPr>
        <p:sp>
          <p:nvSpPr>
            <p:cNvPr id="32937" name="Oval 97"/>
            <p:cNvSpPr>
              <a:spLocks noChangeArrowheads="1"/>
            </p:cNvSpPr>
            <p:nvPr/>
          </p:nvSpPr>
          <p:spPr bwMode="auto">
            <a:xfrm>
              <a:off x="2232" y="194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38" name="Oval 98"/>
            <p:cNvSpPr>
              <a:spLocks noChangeArrowheads="1"/>
            </p:cNvSpPr>
            <p:nvPr/>
          </p:nvSpPr>
          <p:spPr bwMode="auto">
            <a:xfrm>
              <a:off x="1416" y="194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50691" name="Group 99"/>
          <p:cNvGrpSpPr>
            <a:grpSpLocks/>
          </p:cNvGrpSpPr>
          <p:nvPr/>
        </p:nvGrpSpPr>
        <p:grpSpPr bwMode="auto">
          <a:xfrm>
            <a:off x="990600" y="2489200"/>
            <a:ext cx="2209800" cy="1352550"/>
            <a:chOff x="1152" y="1392"/>
            <a:chExt cx="1392" cy="852"/>
          </a:xfrm>
        </p:grpSpPr>
        <p:sp>
          <p:nvSpPr>
            <p:cNvPr id="32935" name="Line 100"/>
            <p:cNvSpPr>
              <a:spLocks noChangeShapeType="1"/>
            </p:cNvSpPr>
            <p:nvPr/>
          </p:nvSpPr>
          <p:spPr bwMode="auto">
            <a:xfrm>
              <a:off x="1536" y="1392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36" name="Line 101"/>
            <p:cNvSpPr>
              <a:spLocks noChangeShapeType="1"/>
            </p:cNvSpPr>
            <p:nvPr/>
          </p:nvSpPr>
          <p:spPr bwMode="auto">
            <a:xfrm>
              <a:off x="1152" y="2244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694" name="Group 102"/>
          <p:cNvGrpSpPr>
            <a:grpSpLocks/>
          </p:cNvGrpSpPr>
          <p:nvPr/>
        </p:nvGrpSpPr>
        <p:grpSpPr bwMode="auto">
          <a:xfrm>
            <a:off x="914400" y="1168400"/>
            <a:ext cx="2362200" cy="2825750"/>
            <a:chOff x="1104" y="560"/>
            <a:chExt cx="1488" cy="1780"/>
          </a:xfrm>
        </p:grpSpPr>
        <p:sp>
          <p:nvSpPr>
            <p:cNvPr id="32930" name="Line 103"/>
            <p:cNvSpPr>
              <a:spLocks noChangeShapeType="1"/>
            </p:cNvSpPr>
            <p:nvPr/>
          </p:nvSpPr>
          <p:spPr bwMode="auto">
            <a:xfrm flipH="1">
              <a:off x="1524" y="560"/>
              <a:ext cx="288" cy="816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31" name="Line 104"/>
            <p:cNvSpPr>
              <a:spLocks noChangeShapeType="1"/>
            </p:cNvSpPr>
            <p:nvPr/>
          </p:nvSpPr>
          <p:spPr bwMode="auto">
            <a:xfrm>
              <a:off x="1832" y="560"/>
              <a:ext cx="336" cy="816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32" name="Line 105"/>
            <p:cNvSpPr>
              <a:spLocks noChangeShapeType="1"/>
            </p:cNvSpPr>
            <p:nvPr/>
          </p:nvSpPr>
          <p:spPr bwMode="auto">
            <a:xfrm>
              <a:off x="2520" y="2228"/>
              <a:ext cx="48" cy="96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33" name="Line 106"/>
            <p:cNvSpPr>
              <a:spLocks noChangeShapeType="1"/>
            </p:cNvSpPr>
            <p:nvPr/>
          </p:nvSpPr>
          <p:spPr bwMode="auto">
            <a:xfrm flipH="1">
              <a:off x="1104" y="2228"/>
              <a:ext cx="48" cy="96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34" name="Line 107"/>
            <p:cNvSpPr>
              <a:spLocks noChangeShapeType="1"/>
            </p:cNvSpPr>
            <p:nvPr/>
          </p:nvSpPr>
          <p:spPr bwMode="auto">
            <a:xfrm>
              <a:off x="1104" y="2340"/>
              <a:ext cx="148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700" name="Group 108"/>
          <p:cNvGrpSpPr>
            <a:grpSpLocks/>
          </p:cNvGrpSpPr>
          <p:nvPr/>
        </p:nvGrpSpPr>
        <p:grpSpPr bwMode="auto">
          <a:xfrm>
            <a:off x="965200" y="3784600"/>
            <a:ext cx="2228850" cy="76200"/>
            <a:chOff x="1136" y="2208"/>
            <a:chExt cx="1404" cy="48"/>
          </a:xfrm>
        </p:grpSpPr>
        <p:sp>
          <p:nvSpPr>
            <p:cNvPr id="32928" name="Oval 109"/>
            <p:cNvSpPr>
              <a:spLocks noChangeArrowheads="1"/>
            </p:cNvSpPr>
            <p:nvPr/>
          </p:nvSpPr>
          <p:spPr bwMode="auto">
            <a:xfrm>
              <a:off x="2492" y="220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29" name="Oval 110"/>
            <p:cNvSpPr>
              <a:spLocks noChangeArrowheads="1"/>
            </p:cNvSpPr>
            <p:nvPr/>
          </p:nvSpPr>
          <p:spPr bwMode="auto">
            <a:xfrm>
              <a:off x="1136" y="220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50703" name="Group 111"/>
          <p:cNvGrpSpPr>
            <a:grpSpLocks/>
          </p:cNvGrpSpPr>
          <p:nvPr/>
        </p:nvGrpSpPr>
        <p:grpSpPr bwMode="auto">
          <a:xfrm>
            <a:off x="1400175" y="4918075"/>
            <a:ext cx="1381125" cy="1219200"/>
            <a:chOff x="1410" y="2922"/>
            <a:chExt cx="870" cy="768"/>
          </a:xfrm>
        </p:grpSpPr>
        <p:sp>
          <p:nvSpPr>
            <p:cNvPr id="32924" name="Oval 112"/>
            <p:cNvSpPr>
              <a:spLocks noChangeArrowheads="1"/>
            </p:cNvSpPr>
            <p:nvPr/>
          </p:nvSpPr>
          <p:spPr bwMode="auto">
            <a:xfrm>
              <a:off x="1416" y="292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25" name="Oval 113"/>
            <p:cNvSpPr>
              <a:spLocks noChangeArrowheads="1"/>
            </p:cNvSpPr>
            <p:nvPr/>
          </p:nvSpPr>
          <p:spPr bwMode="auto">
            <a:xfrm>
              <a:off x="2232" y="294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26" name="Oval 114"/>
            <p:cNvSpPr>
              <a:spLocks noChangeArrowheads="1"/>
            </p:cNvSpPr>
            <p:nvPr/>
          </p:nvSpPr>
          <p:spPr bwMode="auto">
            <a:xfrm>
              <a:off x="1410" y="364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27" name="Oval 115"/>
            <p:cNvSpPr>
              <a:spLocks noChangeArrowheads="1"/>
            </p:cNvSpPr>
            <p:nvPr/>
          </p:nvSpPr>
          <p:spPr bwMode="auto">
            <a:xfrm>
              <a:off x="2232" y="361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50708" name="Group 116"/>
          <p:cNvGrpSpPr>
            <a:grpSpLocks/>
          </p:cNvGrpSpPr>
          <p:nvPr/>
        </p:nvGrpSpPr>
        <p:grpSpPr bwMode="auto">
          <a:xfrm>
            <a:off x="1638300" y="5118100"/>
            <a:ext cx="914400" cy="828675"/>
            <a:chOff x="1560" y="3048"/>
            <a:chExt cx="576" cy="522"/>
          </a:xfrm>
        </p:grpSpPr>
        <p:sp>
          <p:nvSpPr>
            <p:cNvPr id="32920" name="Oval 117"/>
            <p:cNvSpPr>
              <a:spLocks noChangeArrowheads="1"/>
            </p:cNvSpPr>
            <p:nvPr/>
          </p:nvSpPr>
          <p:spPr bwMode="auto">
            <a:xfrm>
              <a:off x="1560" y="304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21" name="Oval 118"/>
            <p:cNvSpPr>
              <a:spLocks noChangeArrowheads="1"/>
            </p:cNvSpPr>
            <p:nvPr/>
          </p:nvSpPr>
          <p:spPr bwMode="auto">
            <a:xfrm>
              <a:off x="2088" y="306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22" name="Oval 119"/>
            <p:cNvSpPr>
              <a:spLocks noChangeArrowheads="1"/>
            </p:cNvSpPr>
            <p:nvPr/>
          </p:nvSpPr>
          <p:spPr bwMode="auto">
            <a:xfrm>
              <a:off x="1560" y="352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23" name="Oval 120"/>
            <p:cNvSpPr>
              <a:spLocks noChangeArrowheads="1"/>
            </p:cNvSpPr>
            <p:nvPr/>
          </p:nvSpPr>
          <p:spPr bwMode="auto">
            <a:xfrm>
              <a:off x="2088" y="350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50713" name="Group 121"/>
          <p:cNvGrpSpPr>
            <a:grpSpLocks/>
          </p:cNvGrpSpPr>
          <p:nvPr/>
        </p:nvGrpSpPr>
        <p:grpSpPr bwMode="auto">
          <a:xfrm>
            <a:off x="1552575" y="5480050"/>
            <a:ext cx="1076325" cy="76200"/>
            <a:chOff x="1506" y="3276"/>
            <a:chExt cx="678" cy="48"/>
          </a:xfrm>
        </p:grpSpPr>
        <p:sp>
          <p:nvSpPr>
            <p:cNvPr id="32918" name="Oval 122"/>
            <p:cNvSpPr>
              <a:spLocks noChangeArrowheads="1"/>
            </p:cNvSpPr>
            <p:nvPr/>
          </p:nvSpPr>
          <p:spPr bwMode="auto">
            <a:xfrm>
              <a:off x="2136" y="32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19" name="Oval 123"/>
            <p:cNvSpPr>
              <a:spLocks noChangeArrowheads="1"/>
            </p:cNvSpPr>
            <p:nvPr/>
          </p:nvSpPr>
          <p:spPr bwMode="auto">
            <a:xfrm>
              <a:off x="1506" y="32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50716" name="Group 124"/>
          <p:cNvGrpSpPr>
            <a:grpSpLocks/>
          </p:cNvGrpSpPr>
          <p:nvPr/>
        </p:nvGrpSpPr>
        <p:grpSpPr bwMode="auto">
          <a:xfrm>
            <a:off x="1009650" y="5461000"/>
            <a:ext cx="2152650" cy="95250"/>
            <a:chOff x="1164" y="3264"/>
            <a:chExt cx="1356" cy="60"/>
          </a:xfrm>
        </p:grpSpPr>
        <p:sp>
          <p:nvSpPr>
            <p:cNvPr id="32916" name="Oval 125"/>
            <p:cNvSpPr>
              <a:spLocks noChangeArrowheads="1"/>
            </p:cNvSpPr>
            <p:nvPr/>
          </p:nvSpPr>
          <p:spPr bwMode="auto">
            <a:xfrm>
              <a:off x="2472" y="32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17" name="Oval 126"/>
            <p:cNvSpPr>
              <a:spLocks noChangeArrowheads="1"/>
            </p:cNvSpPr>
            <p:nvPr/>
          </p:nvSpPr>
          <p:spPr bwMode="auto">
            <a:xfrm>
              <a:off x="1164" y="326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50719" name="Group 127"/>
          <p:cNvGrpSpPr>
            <a:grpSpLocks/>
          </p:cNvGrpSpPr>
          <p:nvPr/>
        </p:nvGrpSpPr>
        <p:grpSpPr bwMode="auto">
          <a:xfrm>
            <a:off x="1038225" y="3841750"/>
            <a:ext cx="2085975" cy="1695450"/>
            <a:chOff x="1182" y="2244"/>
            <a:chExt cx="1314" cy="1068"/>
          </a:xfrm>
        </p:grpSpPr>
        <p:sp>
          <p:nvSpPr>
            <p:cNvPr id="32914" name="Line 128"/>
            <p:cNvSpPr>
              <a:spLocks noChangeShapeType="1"/>
            </p:cNvSpPr>
            <p:nvPr/>
          </p:nvSpPr>
          <p:spPr bwMode="auto">
            <a:xfrm>
              <a:off x="2496" y="2256"/>
              <a:ext cx="0" cy="105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15" name="Line 129"/>
            <p:cNvSpPr>
              <a:spLocks noChangeShapeType="1"/>
            </p:cNvSpPr>
            <p:nvPr/>
          </p:nvSpPr>
          <p:spPr bwMode="auto">
            <a:xfrm>
              <a:off x="1182" y="2244"/>
              <a:ext cx="0" cy="102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722" name="Group 130"/>
          <p:cNvGrpSpPr>
            <a:grpSpLocks/>
          </p:cNvGrpSpPr>
          <p:nvPr/>
        </p:nvGrpSpPr>
        <p:grpSpPr bwMode="auto">
          <a:xfrm>
            <a:off x="1447800" y="3403600"/>
            <a:ext cx="1295400" cy="2895600"/>
            <a:chOff x="1440" y="1968"/>
            <a:chExt cx="816" cy="1824"/>
          </a:xfrm>
        </p:grpSpPr>
        <p:sp>
          <p:nvSpPr>
            <p:cNvPr id="32912" name="Line 131"/>
            <p:cNvSpPr>
              <a:spLocks noChangeShapeType="1"/>
            </p:cNvSpPr>
            <p:nvPr/>
          </p:nvSpPr>
          <p:spPr bwMode="auto">
            <a:xfrm>
              <a:off x="2256" y="1968"/>
              <a:ext cx="0" cy="182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13" name="Line 132"/>
            <p:cNvSpPr>
              <a:spLocks noChangeShapeType="1"/>
            </p:cNvSpPr>
            <p:nvPr/>
          </p:nvSpPr>
          <p:spPr bwMode="auto">
            <a:xfrm>
              <a:off x="1440" y="1968"/>
              <a:ext cx="0" cy="172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725" name="Group 133"/>
          <p:cNvGrpSpPr>
            <a:grpSpLocks/>
          </p:cNvGrpSpPr>
          <p:nvPr/>
        </p:nvGrpSpPr>
        <p:grpSpPr bwMode="auto">
          <a:xfrm>
            <a:off x="1676400" y="2641600"/>
            <a:ext cx="838200" cy="3352800"/>
            <a:chOff x="1584" y="1488"/>
            <a:chExt cx="528" cy="2112"/>
          </a:xfrm>
        </p:grpSpPr>
        <p:sp>
          <p:nvSpPr>
            <p:cNvPr id="32910" name="Line 134"/>
            <p:cNvSpPr>
              <a:spLocks noChangeShapeType="1"/>
            </p:cNvSpPr>
            <p:nvPr/>
          </p:nvSpPr>
          <p:spPr bwMode="auto">
            <a:xfrm>
              <a:off x="2112" y="1488"/>
              <a:ext cx="0" cy="206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11" name="Line 135"/>
            <p:cNvSpPr>
              <a:spLocks noChangeShapeType="1"/>
            </p:cNvSpPr>
            <p:nvPr/>
          </p:nvSpPr>
          <p:spPr bwMode="auto">
            <a:xfrm>
              <a:off x="1584" y="1488"/>
              <a:ext cx="0" cy="211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728" name="Group 136"/>
          <p:cNvGrpSpPr>
            <a:grpSpLocks/>
          </p:cNvGrpSpPr>
          <p:nvPr/>
        </p:nvGrpSpPr>
        <p:grpSpPr bwMode="auto">
          <a:xfrm>
            <a:off x="1600200" y="2489200"/>
            <a:ext cx="990600" cy="3048000"/>
            <a:chOff x="1536" y="1392"/>
            <a:chExt cx="624" cy="1920"/>
          </a:xfrm>
        </p:grpSpPr>
        <p:sp>
          <p:nvSpPr>
            <p:cNvPr id="32908" name="Line 137"/>
            <p:cNvSpPr>
              <a:spLocks noChangeShapeType="1"/>
            </p:cNvSpPr>
            <p:nvPr/>
          </p:nvSpPr>
          <p:spPr bwMode="auto">
            <a:xfrm>
              <a:off x="2160" y="1392"/>
              <a:ext cx="0" cy="192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09" name="Line 138"/>
            <p:cNvSpPr>
              <a:spLocks noChangeShapeType="1"/>
            </p:cNvSpPr>
            <p:nvPr/>
          </p:nvSpPr>
          <p:spPr bwMode="auto">
            <a:xfrm>
              <a:off x="1536" y="1392"/>
              <a:ext cx="0" cy="192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731" name="Group 139"/>
          <p:cNvGrpSpPr>
            <a:grpSpLocks/>
          </p:cNvGrpSpPr>
          <p:nvPr/>
        </p:nvGrpSpPr>
        <p:grpSpPr bwMode="auto">
          <a:xfrm>
            <a:off x="1647825" y="4803775"/>
            <a:ext cx="942975" cy="1457325"/>
            <a:chOff x="1566" y="2850"/>
            <a:chExt cx="594" cy="918"/>
          </a:xfrm>
        </p:grpSpPr>
        <p:sp>
          <p:nvSpPr>
            <p:cNvPr id="32904" name="Oval 140"/>
            <p:cNvSpPr>
              <a:spLocks noChangeArrowheads="1"/>
            </p:cNvSpPr>
            <p:nvPr/>
          </p:nvSpPr>
          <p:spPr bwMode="auto">
            <a:xfrm>
              <a:off x="2076" y="285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05" name="Oval 141"/>
            <p:cNvSpPr>
              <a:spLocks noChangeArrowheads="1"/>
            </p:cNvSpPr>
            <p:nvPr/>
          </p:nvSpPr>
          <p:spPr bwMode="auto">
            <a:xfrm>
              <a:off x="1566" y="28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06" name="Oval 142"/>
            <p:cNvSpPr>
              <a:spLocks noChangeArrowheads="1"/>
            </p:cNvSpPr>
            <p:nvPr/>
          </p:nvSpPr>
          <p:spPr bwMode="auto">
            <a:xfrm>
              <a:off x="2112" y="372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907" name="Oval 143"/>
            <p:cNvSpPr>
              <a:spLocks noChangeArrowheads="1"/>
            </p:cNvSpPr>
            <p:nvPr/>
          </p:nvSpPr>
          <p:spPr bwMode="auto">
            <a:xfrm>
              <a:off x="1572" y="372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50736" name="Group 144"/>
          <p:cNvGrpSpPr>
            <a:grpSpLocks/>
          </p:cNvGrpSpPr>
          <p:nvPr/>
        </p:nvGrpSpPr>
        <p:grpSpPr bwMode="auto">
          <a:xfrm>
            <a:off x="533400" y="4851400"/>
            <a:ext cx="3124200" cy="1371600"/>
            <a:chOff x="864" y="2880"/>
            <a:chExt cx="1968" cy="864"/>
          </a:xfrm>
        </p:grpSpPr>
        <p:grpSp>
          <p:nvGrpSpPr>
            <p:cNvPr id="32895" name="Group 145"/>
            <p:cNvGrpSpPr>
              <a:grpSpLocks/>
            </p:cNvGrpSpPr>
            <p:nvPr/>
          </p:nvGrpSpPr>
          <p:grpSpPr bwMode="auto">
            <a:xfrm>
              <a:off x="864" y="2880"/>
              <a:ext cx="1950" cy="864"/>
              <a:chOff x="864" y="2880"/>
              <a:chExt cx="1950" cy="864"/>
            </a:xfrm>
          </p:grpSpPr>
          <p:sp>
            <p:nvSpPr>
              <p:cNvPr id="32902" name="Line 146"/>
              <p:cNvSpPr>
                <a:spLocks noChangeShapeType="1"/>
              </p:cNvSpPr>
              <p:nvPr/>
            </p:nvSpPr>
            <p:spPr bwMode="auto">
              <a:xfrm>
                <a:off x="864" y="2880"/>
                <a:ext cx="0" cy="8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903" name="Line 147"/>
              <p:cNvSpPr>
                <a:spLocks noChangeShapeType="1"/>
              </p:cNvSpPr>
              <p:nvPr/>
            </p:nvSpPr>
            <p:spPr bwMode="auto">
              <a:xfrm flipV="1">
                <a:off x="2814" y="2880"/>
                <a:ext cx="0" cy="8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896" name="Line 148"/>
            <p:cNvSpPr>
              <a:spLocks noChangeShapeType="1"/>
            </p:cNvSpPr>
            <p:nvPr/>
          </p:nvSpPr>
          <p:spPr bwMode="auto">
            <a:xfrm flipH="1">
              <a:off x="864" y="2880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97" name="Line 149"/>
            <p:cNvSpPr>
              <a:spLocks noChangeShapeType="1"/>
            </p:cNvSpPr>
            <p:nvPr/>
          </p:nvSpPr>
          <p:spPr bwMode="auto">
            <a:xfrm>
              <a:off x="864" y="3744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98" name="Line 150"/>
            <p:cNvSpPr>
              <a:spLocks noChangeShapeType="1"/>
            </p:cNvSpPr>
            <p:nvPr/>
          </p:nvSpPr>
          <p:spPr bwMode="auto">
            <a:xfrm flipH="1">
              <a:off x="2112" y="2880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99" name="Line 151"/>
            <p:cNvSpPr>
              <a:spLocks noChangeShapeType="1"/>
            </p:cNvSpPr>
            <p:nvPr/>
          </p:nvSpPr>
          <p:spPr bwMode="auto">
            <a:xfrm>
              <a:off x="1584" y="3744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00" name="Line 152"/>
            <p:cNvSpPr>
              <a:spLocks noChangeShapeType="1"/>
            </p:cNvSpPr>
            <p:nvPr/>
          </p:nvSpPr>
          <p:spPr bwMode="auto">
            <a:xfrm>
              <a:off x="2112" y="3744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901" name="Line 153"/>
            <p:cNvSpPr>
              <a:spLocks noChangeShapeType="1"/>
            </p:cNvSpPr>
            <p:nvPr/>
          </p:nvSpPr>
          <p:spPr bwMode="auto">
            <a:xfrm>
              <a:off x="1584" y="2880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746" name="Group 154"/>
          <p:cNvGrpSpPr>
            <a:grpSpLocks/>
          </p:cNvGrpSpPr>
          <p:nvPr/>
        </p:nvGrpSpPr>
        <p:grpSpPr bwMode="auto">
          <a:xfrm>
            <a:off x="914400" y="4800600"/>
            <a:ext cx="2344738" cy="1298575"/>
            <a:chOff x="1113" y="2854"/>
            <a:chExt cx="1477" cy="818"/>
          </a:xfrm>
        </p:grpSpPr>
        <p:sp>
          <p:nvSpPr>
            <p:cNvPr id="32893" name="Arc 155"/>
            <p:cNvSpPr>
              <a:spLocks/>
            </p:cNvSpPr>
            <p:nvPr/>
          </p:nvSpPr>
          <p:spPr bwMode="auto">
            <a:xfrm rot="5031888">
              <a:off x="1072" y="2895"/>
              <a:ext cx="816" cy="734"/>
            </a:xfrm>
            <a:custGeom>
              <a:avLst/>
              <a:gdLst>
                <a:gd name="T0" fmla="*/ 0 w 24000"/>
                <a:gd name="T1" fmla="*/ 0 h 21600"/>
                <a:gd name="T2" fmla="*/ 0 w 24000"/>
                <a:gd name="T3" fmla="*/ 0 h 21600"/>
                <a:gd name="T4" fmla="*/ 0 w 240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00" h="21600" fill="none" extrusionOk="0">
                  <a:moveTo>
                    <a:pt x="24000" y="19703"/>
                  </a:moveTo>
                  <a:cubicBezTo>
                    <a:pt x="21216" y="20953"/>
                    <a:pt x="18200" y="21600"/>
                    <a:pt x="15149" y="21600"/>
                  </a:cubicBezTo>
                  <a:cubicBezTo>
                    <a:pt x="9481" y="21600"/>
                    <a:pt x="4040" y="19372"/>
                    <a:pt x="-1" y="15397"/>
                  </a:cubicBezTo>
                </a:path>
                <a:path w="24000" h="21600" stroke="0" extrusionOk="0">
                  <a:moveTo>
                    <a:pt x="24000" y="19703"/>
                  </a:moveTo>
                  <a:cubicBezTo>
                    <a:pt x="21216" y="20953"/>
                    <a:pt x="18200" y="21600"/>
                    <a:pt x="15149" y="21600"/>
                  </a:cubicBezTo>
                  <a:cubicBezTo>
                    <a:pt x="9481" y="21600"/>
                    <a:pt x="4040" y="19372"/>
                    <a:pt x="-1" y="15397"/>
                  </a:cubicBezTo>
                  <a:lnTo>
                    <a:pt x="15149" y="0"/>
                  </a:lnTo>
                  <a:lnTo>
                    <a:pt x="24000" y="19703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894" name="Arc 156"/>
            <p:cNvSpPr>
              <a:spLocks/>
            </p:cNvSpPr>
            <p:nvPr/>
          </p:nvSpPr>
          <p:spPr bwMode="auto">
            <a:xfrm rot="16670084" flipH="1">
              <a:off x="1815" y="2897"/>
              <a:ext cx="816" cy="734"/>
            </a:xfrm>
            <a:custGeom>
              <a:avLst/>
              <a:gdLst>
                <a:gd name="T0" fmla="*/ 0 w 24000"/>
                <a:gd name="T1" fmla="*/ 0 h 21600"/>
                <a:gd name="T2" fmla="*/ 0 w 24000"/>
                <a:gd name="T3" fmla="*/ 0 h 21600"/>
                <a:gd name="T4" fmla="*/ 0 w 240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00" h="21600" fill="none" extrusionOk="0">
                  <a:moveTo>
                    <a:pt x="24000" y="19703"/>
                  </a:moveTo>
                  <a:cubicBezTo>
                    <a:pt x="21216" y="20953"/>
                    <a:pt x="18200" y="21600"/>
                    <a:pt x="15149" y="21600"/>
                  </a:cubicBezTo>
                  <a:cubicBezTo>
                    <a:pt x="9481" y="21600"/>
                    <a:pt x="4040" y="19372"/>
                    <a:pt x="-1" y="15397"/>
                  </a:cubicBezTo>
                </a:path>
                <a:path w="24000" h="21600" stroke="0" extrusionOk="0">
                  <a:moveTo>
                    <a:pt x="24000" y="19703"/>
                  </a:moveTo>
                  <a:cubicBezTo>
                    <a:pt x="21216" y="20953"/>
                    <a:pt x="18200" y="21600"/>
                    <a:pt x="15149" y="21600"/>
                  </a:cubicBezTo>
                  <a:cubicBezTo>
                    <a:pt x="9481" y="21600"/>
                    <a:pt x="4040" y="19372"/>
                    <a:pt x="-1" y="15397"/>
                  </a:cubicBezTo>
                  <a:lnTo>
                    <a:pt x="15149" y="0"/>
                  </a:lnTo>
                  <a:lnTo>
                    <a:pt x="24000" y="19703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750749" name="Group 157"/>
          <p:cNvGrpSpPr>
            <a:grpSpLocks/>
          </p:cNvGrpSpPr>
          <p:nvPr/>
        </p:nvGrpSpPr>
        <p:grpSpPr bwMode="auto">
          <a:xfrm>
            <a:off x="0" y="3708400"/>
            <a:ext cx="7340600" cy="349250"/>
            <a:chOff x="528" y="2152"/>
            <a:chExt cx="4624" cy="220"/>
          </a:xfrm>
        </p:grpSpPr>
        <p:sp>
          <p:nvSpPr>
            <p:cNvPr id="32890" name="Line 158"/>
            <p:cNvSpPr>
              <a:spLocks noChangeShapeType="1"/>
            </p:cNvSpPr>
            <p:nvPr/>
          </p:nvSpPr>
          <p:spPr bwMode="auto">
            <a:xfrm>
              <a:off x="597" y="2341"/>
              <a:ext cx="44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91" name="Text Box 159"/>
            <p:cNvSpPr txBox="1">
              <a:spLocks noChangeArrowheads="1"/>
            </p:cNvSpPr>
            <p:nvPr/>
          </p:nvSpPr>
          <p:spPr bwMode="auto">
            <a:xfrm>
              <a:off x="528" y="2160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32892" name="Text Box 160"/>
            <p:cNvSpPr txBox="1">
              <a:spLocks noChangeArrowheads="1"/>
            </p:cNvSpPr>
            <p:nvPr/>
          </p:nvSpPr>
          <p:spPr bwMode="auto">
            <a:xfrm>
              <a:off x="4944" y="2152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Y</a:t>
              </a:r>
            </a:p>
          </p:txBody>
        </p:sp>
      </p:grpSp>
      <p:sp>
        <p:nvSpPr>
          <p:cNvPr id="750753" name="Text Box 161"/>
          <p:cNvSpPr txBox="1">
            <a:spLocks noChangeArrowheads="1"/>
          </p:cNvSpPr>
          <p:nvPr/>
        </p:nvSpPr>
        <p:spPr bwMode="auto">
          <a:xfrm>
            <a:off x="5334000" y="965200"/>
            <a:ext cx="376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o”</a:t>
            </a:r>
          </a:p>
        </p:txBody>
      </p:sp>
      <p:sp>
        <p:nvSpPr>
          <p:cNvPr id="750754" name="Text Box 162"/>
          <p:cNvSpPr txBox="1">
            <a:spLocks noChangeArrowheads="1"/>
          </p:cNvSpPr>
          <p:nvPr/>
        </p:nvSpPr>
        <p:spPr bwMode="auto">
          <a:xfrm>
            <a:off x="1905000" y="935038"/>
            <a:ext cx="3540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o’</a:t>
            </a:r>
          </a:p>
        </p:txBody>
      </p:sp>
      <p:sp>
        <p:nvSpPr>
          <p:cNvPr id="750755" name="Freeform 163"/>
          <p:cNvSpPr>
            <a:spLocks noEditPoints="1"/>
          </p:cNvSpPr>
          <p:nvPr/>
        </p:nvSpPr>
        <p:spPr bwMode="auto">
          <a:xfrm>
            <a:off x="2425700" y="2451100"/>
            <a:ext cx="719138" cy="1381125"/>
          </a:xfrm>
          <a:custGeom>
            <a:avLst/>
            <a:gdLst>
              <a:gd name="T0" fmla="*/ 2147483646 w 453"/>
              <a:gd name="T1" fmla="*/ 2147483646 h 870"/>
              <a:gd name="T2" fmla="*/ 2147483646 w 453"/>
              <a:gd name="T3" fmla="*/ 2147483646 h 870"/>
              <a:gd name="T4" fmla="*/ 2147483646 w 453"/>
              <a:gd name="T5" fmla="*/ 2147483646 h 870"/>
              <a:gd name="T6" fmla="*/ 2147483646 w 453"/>
              <a:gd name="T7" fmla="*/ 2147483646 h 870"/>
              <a:gd name="T8" fmla="*/ 2147483646 w 453"/>
              <a:gd name="T9" fmla="*/ 0 h 870"/>
              <a:gd name="T10" fmla="*/ 2147483646 w 453"/>
              <a:gd name="T11" fmla="*/ 2147483646 h 870"/>
              <a:gd name="T12" fmla="*/ 2147483646 w 453"/>
              <a:gd name="T13" fmla="*/ 2147483646 h 870"/>
              <a:gd name="T14" fmla="*/ 2147483646 w 453"/>
              <a:gd name="T15" fmla="*/ 2147483646 h 870"/>
              <a:gd name="T16" fmla="*/ 2147483646 w 453"/>
              <a:gd name="T17" fmla="*/ 2147483646 h 870"/>
              <a:gd name="T18" fmla="*/ 2147483646 w 453"/>
              <a:gd name="T19" fmla="*/ 2147483646 h 870"/>
              <a:gd name="T20" fmla="*/ 2147483646 w 453"/>
              <a:gd name="T21" fmla="*/ 2147483646 h 870"/>
              <a:gd name="T22" fmla="*/ 0 w 453"/>
              <a:gd name="T23" fmla="*/ 2147483646 h 870"/>
              <a:gd name="T24" fmla="*/ 2147483646 w 453"/>
              <a:gd name="T25" fmla="*/ 2147483646 h 870"/>
              <a:gd name="T26" fmla="*/ 2147483646 w 453"/>
              <a:gd name="T27" fmla="*/ 2147483646 h 870"/>
              <a:gd name="T28" fmla="*/ 2147483646 w 453"/>
              <a:gd name="T29" fmla="*/ 2147483646 h 870"/>
              <a:gd name="T30" fmla="*/ 2147483646 w 453"/>
              <a:gd name="T31" fmla="*/ 2147483646 h 870"/>
              <a:gd name="T32" fmla="*/ 2147483646 w 453"/>
              <a:gd name="T33" fmla="*/ 2147483646 h 870"/>
              <a:gd name="T34" fmla="*/ 2147483646 w 453"/>
              <a:gd name="T35" fmla="*/ 2147483646 h 870"/>
              <a:gd name="T36" fmla="*/ 2147483646 w 453"/>
              <a:gd name="T37" fmla="*/ 2147483646 h 870"/>
              <a:gd name="T38" fmla="*/ 2147483646 w 453"/>
              <a:gd name="T39" fmla="*/ 2147483646 h 870"/>
              <a:gd name="T40" fmla="*/ 2147483646 w 453"/>
              <a:gd name="T41" fmla="*/ 2147483646 h 870"/>
              <a:gd name="T42" fmla="*/ 2147483646 w 453"/>
              <a:gd name="T43" fmla="*/ 2147483646 h 870"/>
              <a:gd name="T44" fmla="*/ 2147483646 w 453"/>
              <a:gd name="T45" fmla="*/ 2147483646 h 870"/>
              <a:gd name="T46" fmla="*/ 2147483646 w 453"/>
              <a:gd name="T47" fmla="*/ 2147483646 h 870"/>
              <a:gd name="T48" fmla="*/ 2147483646 w 453"/>
              <a:gd name="T49" fmla="*/ 2147483646 h 870"/>
              <a:gd name="T50" fmla="*/ 2147483646 w 453"/>
              <a:gd name="T51" fmla="*/ 2147483646 h 870"/>
              <a:gd name="T52" fmla="*/ 2147483646 w 453"/>
              <a:gd name="T53" fmla="*/ 2147483646 h 870"/>
              <a:gd name="T54" fmla="*/ 2147483646 w 453"/>
              <a:gd name="T55" fmla="*/ 2147483646 h 870"/>
              <a:gd name="T56" fmla="*/ 2147483646 w 453"/>
              <a:gd name="T57" fmla="*/ 2147483646 h 870"/>
              <a:gd name="T58" fmla="*/ 2147483646 w 453"/>
              <a:gd name="T59" fmla="*/ 2147483646 h 870"/>
              <a:gd name="T60" fmla="*/ 2147483646 w 453"/>
              <a:gd name="T61" fmla="*/ 2147483646 h 870"/>
              <a:gd name="T62" fmla="*/ 2147483646 w 453"/>
              <a:gd name="T63" fmla="*/ 2147483646 h 870"/>
              <a:gd name="T64" fmla="*/ 2147483646 w 453"/>
              <a:gd name="T65" fmla="*/ 2147483646 h 870"/>
              <a:gd name="T66" fmla="*/ 2147483646 w 453"/>
              <a:gd name="T67" fmla="*/ 2147483646 h 870"/>
              <a:gd name="T68" fmla="*/ 2147483646 w 453"/>
              <a:gd name="T69" fmla="*/ 2147483646 h 870"/>
              <a:gd name="T70" fmla="*/ 2147483646 w 453"/>
              <a:gd name="T71" fmla="*/ 2147483646 h 870"/>
              <a:gd name="T72" fmla="*/ 2147483646 w 453"/>
              <a:gd name="T73" fmla="*/ 2147483646 h 870"/>
              <a:gd name="T74" fmla="*/ 2147483646 w 453"/>
              <a:gd name="T75" fmla="*/ 2147483646 h 870"/>
              <a:gd name="T76" fmla="*/ 2147483646 w 453"/>
              <a:gd name="T77" fmla="*/ 2147483646 h 870"/>
              <a:gd name="T78" fmla="*/ 2147483646 w 453"/>
              <a:gd name="T79" fmla="*/ 2147483646 h 870"/>
              <a:gd name="T80" fmla="*/ 2147483646 w 453"/>
              <a:gd name="T81" fmla="*/ 2147483646 h 870"/>
              <a:gd name="T82" fmla="*/ 2147483646 w 453"/>
              <a:gd name="T83" fmla="*/ 2147483646 h 870"/>
              <a:gd name="T84" fmla="*/ 2147483646 w 453"/>
              <a:gd name="T85" fmla="*/ 2147483646 h 870"/>
              <a:gd name="T86" fmla="*/ 2147483646 w 453"/>
              <a:gd name="T87" fmla="*/ 2147483646 h 870"/>
              <a:gd name="T88" fmla="*/ 2147483646 w 453"/>
              <a:gd name="T89" fmla="*/ 2147483646 h 870"/>
              <a:gd name="T90" fmla="*/ 2147483646 w 453"/>
              <a:gd name="T91" fmla="*/ 2147483646 h 870"/>
              <a:gd name="T92" fmla="*/ 2147483646 w 453"/>
              <a:gd name="T93" fmla="*/ 2147483646 h 870"/>
              <a:gd name="T94" fmla="*/ 2147483646 w 453"/>
              <a:gd name="T95" fmla="*/ 2147483646 h 870"/>
              <a:gd name="T96" fmla="*/ 2147483646 w 453"/>
              <a:gd name="T97" fmla="*/ 2147483646 h 870"/>
              <a:gd name="T98" fmla="*/ 2147483646 w 453"/>
              <a:gd name="T99" fmla="*/ 2147483646 h 870"/>
              <a:gd name="T100" fmla="*/ 2147483646 w 453"/>
              <a:gd name="T101" fmla="*/ 2147483646 h 870"/>
              <a:gd name="T102" fmla="*/ 2147483646 w 453"/>
              <a:gd name="T103" fmla="*/ 2147483646 h 870"/>
              <a:gd name="T104" fmla="*/ 2147483646 w 453"/>
              <a:gd name="T105" fmla="*/ 2147483646 h 870"/>
              <a:gd name="T106" fmla="*/ 2147483646 w 453"/>
              <a:gd name="T107" fmla="*/ 2147483646 h 870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453" h="870">
                <a:moveTo>
                  <a:pt x="136" y="14"/>
                </a:moveTo>
                <a:lnTo>
                  <a:pt x="109" y="50"/>
                </a:lnTo>
                <a:lnTo>
                  <a:pt x="86" y="89"/>
                </a:lnTo>
                <a:lnTo>
                  <a:pt x="67" y="127"/>
                </a:lnTo>
                <a:lnTo>
                  <a:pt x="50" y="165"/>
                </a:lnTo>
                <a:lnTo>
                  <a:pt x="29" y="158"/>
                </a:lnTo>
                <a:lnTo>
                  <a:pt x="44" y="117"/>
                </a:lnTo>
                <a:lnTo>
                  <a:pt x="65" y="77"/>
                </a:lnTo>
                <a:lnTo>
                  <a:pt x="88" y="37"/>
                </a:lnTo>
                <a:lnTo>
                  <a:pt x="117" y="0"/>
                </a:lnTo>
                <a:lnTo>
                  <a:pt x="136" y="14"/>
                </a:lnTo>
                <a:close/>
                <a:moveTo>
                  <a:pt x="50" y="165"/>
                </a:moveTo>
                <a:lnTo>
                  <a:pt x="42" y="194"/>
                </a:lnTo>
                <a:lnTo>
                  <a:pt x="35" y="223"/>
                </a:lnTo>
                <a:lnTo>
                  <a:pt x="29" y="252"/>
                </a:lnTo>
                <a:lnTo>
                  <a:pt x="25" y="281"/>
                </a:lnTo>
                <a:lnTo>
                  <a:pt x="23" y="307"/>
                </a:lnTo>
                <a:lnTo>
                  <a:pt x="23" y="334"/>
                </a:lnTo>
                <a:lnTo>
                  <a:pt x="25" y="361"/>
                </a:lnTo>
                <a:lnTo>
                  <a:pt x="29" y="388"/>
                </a:lnTo>
                <a:lnTo>
                  <a:pt x="6" y="392"/>
                </a:lnTo>
                <a:lnTo>
                  <a:pt x="2" y="365"/>
                </a:lnTo>
                <a:lnTo>
                  <a:pt x="0" y="336"/>
                </a:lnTo>
                <a:lnTo>
                  <a:pt x="0" y="307"/>
                </a:lnTo>
                <a:lnTo>
                  <a:pt x="2" y="279"/>
                </a:lnTo>
                <a:lnTo>
                  <a:pt x="4" y="248"/>
                </a:lnTo>
                <a:lnTo>
                  <a:pt x="10" y="217"/>
                </a:lnTo>
                <a:lnTo>
                  <a:pt x="19" y="188"/>
                </a:lnTo>
                <a:lnTo>
                  <a:pt x="29" y="158"/>
                </a:lnTo>
                <a:lnTo>
                  <a:pt x="50" y="165"/>
                </a:lnTo>
                <a:close/>
                <a:moveTo>
                  <a:pt x="29" y="388"/>
                </a:moveTo>
                <a:lnTo>
                  <a:pt x="35" y="413"/>
                </a:lnTo>
                <a:lnTo>
                  <a:pt x="42" y="436"/>
                </a:lnTo>
                <a:lnTo>
                  <a:pt x="52" y="459"/>
                </a:lnTo>
                <a:lnTo>
                  <a:pt x="61" y="480"/>
                </a:lnTo>
                <a:lnTo>
                  <a:pt x="75" y="501"/>
                </a:lnTo>
                <a:lnTo>
                  <a:pt x="90" y="521"/>
                </a:lnTo>
                <a:lnTo>
                  <a:pt x="106" y="538"/>
                </a:lnTo>
                <a:lnTo>
                  <a:pt x="123" y="553"/>
                </a:lnTo>
                <a:lnTo>
                  <a:pt x="109" y="572"/>
                </a:lnTo>
                <a:lnTo>
                  <a:pt x="88" y="555"/>
                </a:lnTo>
                <a:lnTo>
                  <a:pt x="71" y="536"/>
                </a:lnTo>
                <a:lnTo>
                  <a:pt x="56" y="515"/>
                </a:lnTo>
                <a:lnTo>
                  <a:pt x="42" y="494"/>
                </a:lnTo>
                <a:lnTo>
                  <a:pt x="31" y="471"/>
                </a:lnTo>
                <a:lnTo>
                  <a:pt x="19" y="446"/>
                </a:lnTo>
                <a:lnTo>
                  <a:pt x="12" y="419"/>
                </a:lnTo>
                <a:lnTo>
                  <a:pt x="6" y="392"/>
                </a:lnTo>
                <a:lnTo>
                  <a:pt x="29" y="388"/>
                </a:lnTo>
                <a:close/>
                <a:moveTo>
                  <a:pt x="123" y="553"/>
                </a:moveTo>
                <a:lnTo>
                  <a:pt x="138" y="565"/>
                </a:lnTo>
                <a:lnTo>
                  <a:pt x="156" y="576"/>
                </a:lnTo>
                <a:lnTo>
                  <a:pt x="173" y="584"/>
                </a:lnTo>
                <a:lnTo>
                  <a:pt x="192" y="592"/>
                </a:lnTo>
                <a:lnTo>
                  <a:pt x="184" y="615"/>
                </a:lnTo>
                <a:lnTo>
                  <a:pt x="163" y="607"/>
                </a:lnTo>
                <a:lnTo>
                  <a:pt x="144" y="595"/>
                </a:lnTo>
                <a:lnTo>
                  <a:pt x="127" y="586"/>
                </a:lnTo>
                <a:lnTo>
                  <a:pt x="109" y="572"/>
                </a:lnTo>
                <a:lnTo>
                  <a:pt x="123" y="553"/>
                </a:lnTo>
                <a:close/>
                <a:moveTo>
                  <a:pt x="192" y="592"/>
                </a:moveTo>
                <a:lnTo>
                  <a:pt x="194" y="593"/>
                </a:lnTo>
                <a:lnTo>
                  <a:pt x="188" y="603"/>
                </a:lnTo>
                <a:lnTo>
                  <a:pt x="192" y="592"/>
                </a:lnTo>
                <a:close/>
                <a:moveTo>
                  <a:pt x="194" y="593"/>
                </a:moveTo>
                <a:lnTo>
                  <a:pt x="184" y="615"/>
                </a:lnTo>
                <a:lnTo>
                  <a:pt x="182" y="615"/>
                </a:lnTo>
                <a:lnTo>
                  <a:pt x="194" y="593"/>
                </a:lnTo>
                <a:close/>
                <a:moveTo>
                  <a:pt x="184" y="615"/>
                </a:moveTo>
                <a:lnTo>
                  <a:pt x="188" y="603"/>
                </a:lnTo>
                <a:lnTo>
                  <a:pt x="184" y="615"/>
                </a:lnTo>
                <a:close/>
                <a:moveTo>
                  <a:pt x="194" y="593"/>
                </a:moveTo>
                <a:lnTo>
                  <a:pt x="223" y="609"/>
                </a:lnTo>
                <a:lnTo>
                  <a:pt x="251" y="626"/>
                </a:lnTo>
                <a:lnTo>
                  <a:pt x="238" y="645"/>
                </a:lnTo>
                <a:lnTo>
                  <a:pt x="211" y="630"/>
                </a:lnTo>
                <a:lnTo>
                  <a:pt x="184" y="615"/>
                </a:lnTo>
                <a:lnTo>
                  <a:pt x="194" y="593"/>
                </a:lnTo>
                <a:close/>
                <a:moveTo>
                  <a:pt x="251" y="626"/>
                </a:moveTo>
                <a:lnTo>
                  <a:pt x="278" y="643"/>
                </a:lnTo>
                <a:lnTo>
                  <a:pt x="305" y="664"/>
                </a:lnTo>
                <a:lnTo>
                  <a:pt x="290" y="682"/>
                </a:lnTo>
                <a:lnTo>
                  <a:pt x="265" y="664"/>
                </a:lnTo>
                <a:lnTo>
                  <a:pt x="238" y="645"/>
                </a:lnTo>
                <a:lnTo>
                  <a:pt x="251" y="626"/>
                </a:lnTo>
                <a:close/>
                <a:moveTo>
                  <a:pt x="305" y="664"/>
                </a:moveTo>
                <a:lnTo>
                  <a:pt x="338" y="691"/>
                </a:lnTo>
                <a:lnTo>
                  <a:pt x="367" y="718"/>
                </a:lnTo>
                <a:lnTo>
                  <a:pt x="393" y="747"/>
                </a:lnTo>
                <a:lnTo>
                  <a:pt x="415" y="774"/>
                </a:lnTo>
                <a:lnTo>
                  <a:pt x="432" y="801"/>
                </a:lnTo>
                <a:lnTo>
                  <a:pt x="445" y="828"/>
                </a:lnTo>
                <a:lnTo>
                  <a:pt x="449" y="839"/>
                </a:lnTo>
                <a:lnTo>
                  <a:pt x="453" y="851"/>
                </a:lnTo>
                <a:lnTo>
                  <a:pt x="453" y="860"/>
                </a:lnTo>
                <a:lnTo>
                  <a:pt x="453" y="870"/>
                </a:lnTo>
                <a:lnTo>
                  <a:pt x="430" y="868"/>
                </a:lnTo>
                <a:lnTo>
                  <a:pt x="430" y="860"/>
                </a:lnTo>
                <a:lnTo>
                  <a:pt x="428" y="851"/>
                </a:lnTo>
                <a:lnTo>
                  <a:pt x="426" y="841"/>
                </a:lnTo>
                <a:lnTo>
                  <a:pt x="422" y="831"/>
                </a:lnTo>
                <a:lnTo>
                  <a:pt x="409" y="808"/>
                </a:lnTo>
                <a:lnTo>
                  <a:pt x="393" y="783"/>
                </a:lnTo>
                <a:lnTo>
                  <a:pt x="372" y="759"/>
                </a:lnTo>
                <a:lnTo>
                  <a:pt x="347" y="734"/>
                </a:lnTo>
                <a:lnTo>
                  <a:pt x="321" y="709"/>
                </a:lnTo>
                <a:lnTo>
                  <a:pt x="290" y="682"/>
                </a:lnTo>
                <a:lnTo>
                  <a:pt x="305" y="664"/>
                </a:lnTo>
                <a:close/>
              </a:path>
            </a:pathLst>
          </a:custGeom>
          <a:solidFill>
            <a:srgbClr val="DD137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50756" name="Freeform 164"/>
          <p:cNvSpPr>
            <a:spLocks noEditPoints="1"/>
          </p:cNvSpPr>
          <p:nvPr/>
        </p:nvSpPr>
        <p:spPr bwMode="auto">
          <a:xfrm>
            <a:off x="977900" y="2438400"/>
            <a:ext cx="779463" cy="1385888"/>
          </a:xfrm>
          <a:custGeom>
            <a:avLst/>
            <a:gdLst>
              <a:gd name="T0" fmla="*/ 2147483646 w 491"/>
              <a:gd name="T1" fmla="*/ 2147483646 h 873"/>
              <a:gd name="T2" fmla="*/ 2147483646 w 491"/>
              <a:gd name="T3" fmla="*/ 2147483646 h 873"/>
              <a:gd name="T4" fmla="*/ 2147483646 w 491"/>
              <a:gd name="T5" fmla="*/ 2147483646 h 873"/>
              <a:gd name="T6" fmla="*/ 2147483646 w 491"/>
              <a:gd name="T7" fmla="*/ 2147483646 h 873"/>
              <a:gd name="T8" fmla="*/ 2147483646 w 491"/>
              <a:gd name="T9" fmla="*/ 2147483646 h 873"/>
              <a:gd name="T10" fmla="*/ 2147483646 w 491"/>
              <a:gd name="T11" fmla="*/ 2147483646 h 873"/>
              <a:gd name="T12" fmla="*/ 2147483646 w 491"/>
              <a:gd name="T13" fmla="*/ 2147483646 h 873"/>
              <a:gd name="T14" fmla="*/ 2147483646 w 491"/>
              <a:gd name="T15" fmla="*/ 2147483646 h 873"/>
              <a:gd name="T16" fmla="*/ 2147483646 w 491"/>
              <a:gd name="T17" fmla="*/ 2147483646 h 873"/>
              <a:gd name="T18" fmla="*/ 2147483646 w 491"/>
              <a:gd name="T19" fmla="*/ 2147483646 h 873"/>
              <a:gd name="T20" fmla="*/ 2147483646 w 491"/>
              <a:gd name="T21" fmla="*/ 2147483646 h 873"/>
              <a:gd name="T22" fmla="*/ 2147483646 w 491"/>
              <a:gd name="T23" fmla="*/ 2147483646 h 873"/>
              <a:gd name="T24" fmla="*/ 2147483646 w 491"/>
              <a:gd name="T25" fmla="*/ 2147483646 h 873"/>
              <a:gd name="T26" fmla="*/ 2147483646 w 491"/>
              <a:gd name="T27" fmla="*/ 2147483646 h 873"/>
              <a:gd name="T28" fmla="*/ 2147483646 w 491"/>
              <a:gd name="T29" fmla="*/ 2147483646 h 873"/>
              <a:gd name="T30" fmla="*/ 2147483646 w 491"/>
              <a:gd name="T31" fmla="*/ 2147483646 h 873"/>
              <a:gd name="T32" fmla="*/ 2147483646 w 491"/>
              <a:gd name="T33" fmla="*/ 2147483646 h 873"/>
              <a:gd name="T34" fmla="*/ 2147483646 w 491"/>
              <a:gd name="T35" fmla="*/ 2147483646 h 873"/>
              <a:gd name="T36" fmla="*/ 2147483646 w 491"/>
              <a:gd name="T37" fmla="*/ 2147483646 h 873"/>
              <a:gd name="T38" fmla="*/ 2147483646 w 491"/>
              <a:gd name="T39" fmla="*/ 2147483646 h 873"/>
              <a:gd name="T40" fmla="*/ 2147483646 w 491"/>
              <a:gd name="T41" fmla="*/ 2147483646 h 873"/>
              <a:gd name="T42" fmla="*/ 2147483646 w 491"/>
              <a:gd name="T43" fmla="*/ 2147483646 h 873"/>
              <a:gd name="T44" fmla="*/ 2147483646 w 491"/>
              <a:gd name="T45" fmla="*/ 2147483646 h 873"/>
              <a:gd name="T46" fmla="*/ 2147483646 w 491"/>
              <a:gd name="T47" fmla="*/ 2147483646 h 873"/>
              <a:gd name="T48" fmla="*/ 2147483646 w 491"/>
              <a:gd name="T49" fmla="*/ 2147483646 h 873"/>
              <a:gd name="T50" fmla="*/ 2147483646 w 491"/>
              <a:gd name="T51" fmla="*/ 2147483646 h 873"/>
              <a:gd name="T52" fmla="*/ 2147483646 w 491"/>
              <a:gd name="T53" fmla="*/ 2147483646 h 873"/>
              <a:gd name="T54" fmla="*/ 2147483646 w 491"/>
              <a:gd name="T55" fmla="*/ 2147483646 h 873"/>
              <a:gd name="T56" fmla="*/ 2147483646 w 491"/>
              <a:gd name="T57" fmla="*/ 2147483646 h 873"/>
              <a:gd name="T58" fmla="*/ 2147483646 w 491"/>
              <a:gd name="T59" fmla="*/ 2147483646 h 873"/>
              <a:gd name="T60" fmla="*/ 2147483646 w 491"/>
              <a:gd name="T61" fmla="*/ 2147483646 h 873"/>
              <a:gd name="T62" fmla="*/ 2147483646 w 491"/>
              <a:gd name="T63" fmla="*/ 2147483646 h 873"/>
              <a:gd name="T64" fmla="*/ 2147483646 w 491"/>
              <a:gd name="T65" fmla="*/ 2147483646 h 873"/>
              <a:gd name="T66" fmla="*/ 2147483646 w 491"/>
              <a:gd name="T67" fmla="*/ 2147483646 h 873"/>
              <a:gd name="T68" fmla="*/ 2147483646 w 491"/>
              <a:gd name="T69" fmla="*/ 2147483646 h 873"/>
              <a:gd name="T70" fmla="*/ 2147483646 w 491"/>
              <a:gd name="T71" fmla="*/ 2147483646 h 873"/>
              <a:gd name="T72" fmla="*/ 2147483646 w 491"/>
              <a:gd name="T73" fmla="*/ 2147483646 h 873"/>
              <a:gd name="T74" fmla="*/ 2147483646 w 491"/>
              <a:gd name="T75" fmla="*/ 2147483646 h 873"/>
              <a:gd name="T76" fmla="*/ 2147483646 w 491"/>
              <a:gd name="T77" fmla="*/ 2147483646 h 873"/>
              <a:gd name="T78" fmla="*/ 2147483646 w 491"/>
              <a:gd name="T79" fmla="*/ 2147483646 h 873"/>
              <a:gd name="T80" fmla="*/ 2147483646 w 491"/>
              <a:gd name="T81" fmla="*/ 2147483646 h 873"/>
              <a:gd name="T82" fmla="*/ 2147483646 w 491"/>
              <a:gd name="T83" fmla="*/ 2147483646 h 873"/>
              <a:gd name="T84" fmla="*/ 2147483646 w 491"/>
              <a:gd name="T85" fmla="*/ 2147483646 h 873"/>
              <a:gd name="T86" fmla="*/ 2147483646 w 491"/>
              <a:gd name="T87" fmla="*/ 2147483646 h 873"/>
              <a:gd name="T88" fmla="*/ 2147483646 w 491"/>
              <a:gd name="T89" fmla="*/ 2147483646 h 873"/>
              <a:gd name="T90" fmla="*/ 2147483646 w 491"/>
              <a:gd name="T91" fmla="*/ 2147483646 h 873"/>
              <a:gd name="T92" fmla="*/ 2147483646 w 491"/>
              <a:gd name="T93" fmla="*/ 2147483646 h 873"/>
              <a:gd name="T94" fmla="*/ 2147483646 w 491"/>
              <a:gd name="T95" fmla="*/ 2147483646 h 873"/>
              <a:gd name="T96" fmla="*/ 2147483646 w 491"/>
              <a:gd name="T97" fmla="*/ 2147483646 h 873"/>
              <a:gd name="T98" fmla="*/ 2147483646 w 491"/>
              <a:gd name="T99" fmla="*/ 2147483646 h 873"/>
              <a:gd name="T100" fmla="*/ 2147483646 w 491"/>
              <a:gd name="T101" fmla="*/ 2147483646 h 873"/>
              <a:gd name="T102" fmla="*/ 2147483646 w 491"/>
              <a:gd name="T103" fmla="*/ 2147483646 h 873"/>
              <a:gd name="T104" fmla="*/ 2147483646 w 491"/>
              <a:gd name="T105" fmla="*/ 2147483646 h 873"/>
              <a:gd name="T106" fmla="*/ 2147483646 w 491"/>
              <a:gd name="T107" fmla="*/ 2147483646 h 873"/>
              <a:gd name="T108" fmla="*/ 2147483646 w 491"/>
              <a:gd name="T109" fmla="*/ 2147483646 h 873"/>
              <a:gd name="T110" fmla="*/ 0 w 491"/>
              <a:gd name="T111" fmla="*/ 2147483646 h 873"/>
              <a:gd name="T112" fmla="*/ 2147483646 w 491"/>
              <a:gd name="T113" fmla="*/ 2147483646 h 873"/>
              <a:gd name="T114" fmla="*/ 2147483646 w 491"/>
              <a:gd name="T115" fmla="*/ 2147483646 h 873"/>
              <a:gd name="T116" fmla="*/ 2147483646 w 491"/>
              <a:gd name="T117" fmla="*/ 2147483646 h 873"/>
              <a:gd name="T118" fmla="*/ 2147483646 w 491"/>
              <a:gd name="T119" fmla="*/ 2147483646 h 873"/>
              <a:gd name="T120" fmla="*/ 2147483646 w 491"/>
              <a:gd name="T121" fmla="*/ 2147483646 h 873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491" h="873">
                <a:moveTo>
                  <a:pt x="364" y="0"/>
                </a:moveTo>
                <a:lnTo>
                  <a:pt x="381" y="23"/>
                </a:lnTo>
                <a:lnTo>
                  <a:pt x="399" y="46"/>
                </a:lnTo>
                <a:lnTo>
                  <a:pt x="414" y="67"/>
                </a:lnTo>
                <a:lnTo>
                  <a:pt x="428" y="90"/>
                </a:lnTo>
                <a:lnTo>
                  <a:pt x="439" y="113"/>
                </a:lnTo>
                <a:lnTo>
                  <a:pt x="451" y="138"/>
                </a:lnTo>
                <a:lnTo>
                  <a:pt x="460" y="161"/>
                </a:lnTo>
                <a:lnTo>
                  <a:pt x="470" y="184"/>
                </a:lnTo>
                <a:lnTo>
                  <a:pt x="447" y="192"/>
                </a:lnTo>
                <a:lnTo>
                  <a:pt x="439" y="169"/>
                </a:lnTo>
                <a:lnTo>
                  <a:pt x="429" y="147"/>
                </a:lnTo>
                <a:lnTo>
                  <a:pt x="418" y="124"/>
                </a:lnTo>
                <a:lnTo>
                  <a:pt x="406" y="101"/>
                </a:lnTo>
                <a:lnTo>
                  <a:pt x="393" y="80"/>
                </a:lnTo>
                <a:lnTo>
                  <a:pt x="378" y="59"/>
                </a:lnTo>
                <a:lnTo>
                  <a:pt x="362" y="38"/>
                </a:lnTo>
                <a:lnTo>
                  <a:pt x="345" y="17"/>
                </a:lnTo>
                <a:lnTo>
                  <a:pt x="364" y="0"/>
                </a:lnTo>
                <a:close/>
                <a:moveTo>
                  <a:pt x="470" y="184"/>
                </a:moveTo>
                <a:lnTo>
                  <a:pt x="477" y="211"/>
                </a:lnTo>
                <a:lnTo>
                  <a:pt x="483" y="238"/>
                </a:lnTo>
                <a:lnTo>
                  <a:pt x="487" y="264"/>
                </a:lnTo>
                <a:lnTo>
                  <a:pt x="491" y="291"/>
                </a:lnTo>
                <a:lnTo>
                  <a:pt x="491" y="318"/>
                </a:lnTo>
                <a:lnTo>
                  <a:pt x="491" y="343"/>
                </a:lnTo>
                <a:lnTo>
                  <a:pt x="489" y="368"/>
                </a:lnTo>
                <a:lnTo>
                  <a:pt x="485" y="393"/>
                </a:lnTo>
                <a:lnTo>
                  <a:pt x="462" y="389"/>
                </a:lnTo>
                <a:lnTo>
                  <a:pt x="466" y="366"/>
                </a:lnTo>
                <a:lnTo>
                  <a:pt x="468" y="341"/>
                </a:lnTo>
                <a:lnTo>
                  <a:pt x="468" y="318"/>
                </a:lnTo>
                <a:lnTo>
                  <a:pt x="468" y="293"/>
                </a:lnTo>
                <a:lnTo>
                  <a:pt x="464" y="268"/>
                </a:lnTo>
                <a:lnTo>
                  <a:pt x="460" y="243"/>
                </a:lnTo>
                <a:lnTo>
                  <a:pt x="454" y="216"/>
                </a:lnTo>
                <a:lnTo>
                  <a:pt x="447" y="192"/>
                </a:lnTo>
                <a:lnTo>
                  <a:pt x="470" y="184"/>
                </a:lnTo>
                <a:close/>
                <a:moveTo>
                  <a:pt x="485" y="393"/>
                </a:moveTo>
                <a:lnTo>
                  <a:pt x="479" y="418"/>
                </a:lnTo>
                <a:lnTo>
                  <a:pt x="472" y="441"/>
                </a:lnTo>
                <a:lnTo>
                  <a:pt x="462" y="464"/>
                </a:lnTo>
                <a:lnTo>
                  <a:pt x="451" y="485"/>
                </a:lnTo>
                <a:lnTo>
                  <a:pt x="439" y="506"/>
                </a:lnTo>
                <a:lnTo>
                  <a:pt x="424" y="526"/>
                </a:lnTo>
                <a:lnTo>
                  <a:pt x="408" y="543"/>
                </a:lnTo>
                <a:lnTo>
                  <a:pt x="391" y="560"/>
                </a:lnTo>
                <a:lnTo>
                  <a:pt x="376" y="541"/>
                </a:lnTo>
                <a:lnTo>
                  <a:pt x="391" y="526"/>
                </a:lnTo>
                <a:lnTo>
                  <a:pt x="406" y="510"/>
                </a:lnTo>
                <a:lnTo>
                  <a:pt x="418" y="491"/>
                </a:lnTo>
                <a:lnTo>
                  <a:pt x="431" y="474"/>
                </a:lnTo>
                <a:lnTo>
                  <a:pt x="441" y="453"/>
                </a:lnTo>
                <a:lnTo>
                  <a:pt x="449" y="433"/>
                </a:lnTo>
                <a:lnTo>
                  <a:pt x="456" y="410"/>
                </a:lnTo>
                <a:lnTo>
                  <a:pt x="462" y="389"/>
                </a:lnTo>
                <a:lnTo>
                  <a:pt x="485" y="393"/>
                </a:lnTo>
                <a:close/>
                <a:moveTo>
                  <a:pt x="391" y="560"/>
                </a:moveTo>
                <a:lnTo>
                  <a:pt x="368" y="577"/>
                </a:lnTo>
                <a:lnTo>
                  <a:pt x="345" y="593"/>
                </a:lnTo>
                <a:lnTo>
                  <a:pt x="318" y="604"/>
                </a:lnTo>
                <a:lnTo>
                  <a:pt x="289" y="616"/>
                </a:lnTo>
                <a:lnTo>
                  <a:pt x="284" y="593"/>
                </a:lnTo>
                <a:lnTo>
                  <a:pt x="309" y="583"/>
                </a:lnTo>
                <a:lnTo>
                  <a:pt x="334" y="572"/>
                </a:lnTo>
                <a:lnTo>
                  <a:pt x="355" y="556"/>
                </a:lnTo>
                <a:lnTo>
                  <a:pt x="376" y="541"/>
                </a:lnTo>
                <a:lnTo>
                  <a:pt x="391" y="560"/>
                </a:lnTo>
                <a:close/>
                <a:moveTo>
                  <a:pt x="282" y="593"/>
                </a:moveTo>
                <a:lnTo>
                  <a:pt x="284" y="593"/>
                </a:lnTo>
                <a:lnTo>
                  <a:pt x="287" y="604"/>
                </a:lnTo>
                <a:lnTo>
                  <a:pt x="282" y="593"/>
                </a:lnTo>
                <a:close/>
                <a:moveTo>
                  <a:pt x="291" y="616"/>
                </a:moveTo>
                <a:lnTo>
                  <a:pt x="282" y="595"/>
                </a:lnTo>
                <a:lnTo>
                  <a:pt x="282" y="593"/>
                </a:lnTo>
                <a:lnTo>
                  <a:pt x="291" y="616"/>
                </a:lnTo>
                <a:close/>
                <a:moveTo>
                  <a:pt x="291" y="616"/>
                </a:moveTo>
                <a:lnTo>
                  <a:pt x="286" y="604"/>
                </a:lnTo>
                <a:lnTo>
                  <a:pt x="291" y="616"/>
                </a:lnTo>
                <a:close/>
                <a:moveTo>
                  <a:pt x="291" y="616"/>
                </a:moveTo>
                <a:lnTo>
                  <a:pt x="276" y="623"/>
                </a:lnTo>
                <a:lnTo>
                  <a:pt x="261" y="631"/>
                </a:lnTo>
                <a:lnTo>
                  <a:pt x="245" y="639"/>
                </a:lnTo>
                <a:lnTo>
                  <a:pt x="232" y="646"/>
                </a:lnTo>
                <a:lnTo>
                  <a:pt x="218" y="627"/>
                </a:lnTo>
                <a:lnTo>
                  <a:pt x="234" y="618"/>
                </a:lnTo>
                <a:lnTo>
                  <a:pt x="249" y="610"/>
                </a:lnTo>
                <a:lnTo>
                  <a:pt x="266" y="600"/>
                </a:lnTo>
                <a:lnTo>
                  <a:pt x="282" y="595"/>
                </a:lnTo>
                <a:lnTo>
                  <a:pt x="291" y="616"/>
                </a:lnTo>
                <a:close/>
                <a:moveTo>
                  <a:pt x="232" y="646"/>
                </a:moveTo>
                <a:lnTo>
                  <a:pt x="203" y="666"/>
                </a:lnTo>
                <a:lnTo>
                  <a:pt x="174" y="685"/>
                </a:lnTo>
                <a:lnTo>
                  <a:pt x="161" y="664"/>
                </a:lnTo>
                <a:lnTo>
                  <a:pt x="174" y="654"/>
                </a:lnTo>
                <a:lnTo>
                  <a:pt x="190" y="645"/>
                </a:lnTo>
                <a:lnTo>
                  <a:pt x="205" y="635"/>
                </a:lnTo>
                <a:lnTo>
                  <a:pt x="218" y="627"/>
                </a:lnTo>
                <a:lnTo>
                  <a:pt x="232" y="646"/>
                </a:lnTo>
                <a:close/>
                <a:moveTo>
                  <a:pt x="174" y="685"/>
                </a:moveTo>
                <a:lnTo>
                  <a:pt x="142" y="710"/>
                </a:lnTo>
                <a:lnTo>
                  <a:pt x="113" y="735"/>
                </a:lnTo>
                <a:lnTo>
                  <a:pt x="86" y="760"/>
                </a:lnTo>
                <a:lnTo>
                  <a:pt x="63" y="785"/>
                </a:lnTo>
                <a:lnTo>
                  <a:pt x="46" y="810"/>
                </a:lnTo>
                <a:lnTo>
                  <a:pt x="32" y="833"/>
                </a:lnTo>
                <a:lnTo>
                  <a:pt x="26" y="842"/>
                </a:lnTo>
                <a:lnTo>
                  <a:pt x="25" y="852"/>
                </a:lnTo>
                <a:lnTo>
                  <a:pt x="23" y="861"/>
                </a:lnTo>
                <a:lnTo>
                  <a:pt x="23" y="869"/>
                </a:lnTo>
                <a:lnTo>
                  <a:pt x="0" y="873"/>
                </a:lnTo>
                <a:lnTo>
                  <a:pt x="0" y="861"/>
                </a:lnTo>
                <a:lnTo>
                  <a:pt x="0" y="852"/>
                </a:lnTo>
                <a:lnTo>
                  <a:pt x="3" y="840"/>
                </a:lnTo>
                <a:lnTo>
                  <a:pt x="7" y="829"/>
                </a:lnTo>
                <a:lnTo>
                  <a:pt x="23" y="802"/>
                </a:lnTo>
                <a:lnTo>
                  <a:pt x="42" y="775"/>
                </a:lnTo>
                <a:lnTo>
                  <a:pt x="65" y="748"/>
                </a:lnTo>
                <a:lnTo>
                  <a:pt x="94" y="719"/>
                </a:lnTo>
                <a:lnTo>
                  <a:pt x="126" y="693"/>
                </a:lnTo>
                <a:lnTo>
                  <a:pt x="161" y="664"/>
                </a:lnTo>
                <a:lnTo>
                  <a:pt x="174" y="685"/>
                </a:lnTo>
                <a:close/>
              </a:path>
            </a:pathLst>
          </a:custGeom>
          <a:solidFill>
            <a:srgbClr val="DD137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50757" name="Group 165"/>
          <p:cNvGrpSpPr>
            <a:grpSpLocks/>
          </p:cNvGrpSpPr>
          <p:nvPr/>
        </p:nvGrpSpPr>
        <p:grpSpPr bwMode="auto">
          <a:xfrm>
            <a:off x="1044575" y="4799013"/>
            <a:ext cx="777875" cy="1441450"/>
            <a:chOff x="3840" y="2448"/>
            <a:chExt cx="490" cy="908"/>
          </a:xfrm>
        </p:grpSpPr>
        <p:sp>
          <p:nvSpPr>
            <p:cNvPr id="32872" name="Freeform 166"/>
            <p:cNvSpPr>
              <a:spLocks/>
            </p:cNvSpPr>
            <p:nvPr/>
          </p:nvSpPr>
          <p:spPr bwMode="auto">
            <a:xfrm>
              <a:off x="4069" y="2448"/>
              <a:ext cx="182" cy="119"/>
            </a:xfrm>
            <a:custGeom>
              <a:avLst/>
              <a:gdLst>
                <a:gd name="T0" fmla="*/ 11 w 182"/>
                <a:gd name="T1" fmla="*/ 119 h 119"/>
                <a:gd name="T2" fmla="*/ 48 w 182"/>
                <a:gd name="T3" fmla="*/ 92 h 119"/>
                <a:gd name="T4" fmla="*/ 90 w 182"/>
                <a:gd name="T5" fmla="*/ 67 h 119"/>
                <a:gd name="T6" fmla="*/ 134 w 182"/>
                <a:gd name="T7" fmla="*/ 42 h 119"/>
                <a:gd name="T8" fmla="*/ 182 w 182"/>
                <a:gd name="T9" fmla="*/ 19 h 119"/>
                <a:gd name="T10" fmla="*/ 174 w 182"/>
                <a:gd name="T11" fmla="*/ 0 h 119"/>
                <a:gd name="T12" fmla="*/ 124 w 182"/>
                <a:gd name="T13" fmla="*/ 25 h 119"/>
                <a:gd name="T14" fmla="*/ 80 w 182"/>
                <a:gd name="T15" fmla="*/ 50 h 119"/>
                <a:gd name="T16" fmla="*/ 38 w 182"/>
                <a:gd name="T17" fmla="*/ 75 h 119"/>
                <a:gd name="T18" fmla="*/ 0 w 182"/>
                <a:gd name="T19" fmla="*/ 101 h 119"/>
                <a:gd name="T20" fmla="*/ 11 w 182"/>
                <a:gd name="T21" fmla="*/ 119 h 11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2" h="119">
                  <a:moveTo>
                    <a:pt x="11" y="119"/>
                  </a:moveTo>
                  <a:lnTo>
                    <a:pt x="48" y="92"/>
                  </a:lnTo>
                  <a:lnTo>
                    <a:pt x="90" y="67"/>
                  </a:lnTo>
                  <a:lnTo>
                    <a:pt x="134" y="42"/>
                  </a:lnTo>
                  <a:lnTo>
                    <a:pt x="182" y="19"/>
                  </a:lnTo>
                  <a:lnTo>
                    <a:pt x="174" y="0"/>
                  </a:lnTo>
                  <a:lnTo>
                    <a:pt x="124" y="25"/>
                  </a:lnTo>
                  <a:lnTo>
                    <a:pt x="80" y="50"/>
                  </a:lnTo>
                  <a:lnTo>
                    <a:pt x="38" y="75"/>
                  </a:lnTo>
                  <a:lnTo>
                    <a:pt x="0" y="101"/>
                  </a:lnTo>
                  <a:lnTo>
                    <a:pt x="11" y="119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73" name="Freeform 167"/>
            <p:cNvSpPr>
              <a:spLocks/>
            </p:cNvSpPr>
            <p:nvPr/>
          </p:nvSpPr>
          <p:spPr bwMode="auto">
            <a:xfrm>
              <a:off x="3913" y="2563"/>
              <a:ext cx="152" cy="155"/>
            </a:xfrm>
            <a:custGeom>
              <a:avLst/>
              <a:gdLst>
                <a:gd name="T0" fmla="*/ 16 w 152"/>
                <a:gd name="T1" fmla="*/ 155 h 155"/>
                <a:gd name="T2" fmla="*/ 21 w 152"/>
                <a:gd name="T3" fmla="*/ 146 h 155"/>
                <a:gd name="T4" fmla="*/ 44 w 152"/>
                <a:gd name="T5" fmla="*/ 117 h 155"/>
                <a:gd name="T6" fmla="*/ 71 w 152"/>
                <a:gd name="T7" fmla="*/ 88 h 155"/>
                <a:gd name="T8" fmla="*/ 100 w 152"/>
                <a:gd name="T9" fmla="*/ 59 h 155"/>
                <a:gd name="T10" fmla="*/ 131 w 152"/>
                <a:gd name="T11" fmla="*/ 31 h 155"/>
                <a:gd name="T12" fmla="*/ 152 w 152"/>
                <a:gd name="T13" fmla="*/ 15 h 155"/>
                <a:gd name="T14" fmla="*/ 140 w 152"/>
                <a:gd name="T15" fmla="*/ 0 h 155"/>
                <a:gd name="T16" fmla="*/ 119 w 152"/>
                <a:gd name="T17" fmla="*/ 15 h 155"/>
                <a:gd name="T18" fmla="*/ 87 w 152"/>
                <a:gd name="T19" fmla="*/ 44 h 155"/>
                <a:gd name="T20" fmla="*/ 58 w 152"/>
                <a:gd name="T21" fmla="*/ 75 h 155"/>
                <a:gd name="T22" fmla="*/ 31 w 152"/>
                <a:gd name="T23" fmla="*/ 102 h 155"/>
                <a:gd name="T24" fmla="*/ 6 w 152"/>
                <a:gd name="T25" fmla="*/ 134 h 155"/>
                <a:gd name="T26" fmla="*/ 0 w 152"/>
                <a:gd name="T27" fmla="*/ 144 h 155"/>
                <a:gd name="T28" fmla="*/ 16 w 152"/>
                <a:gd name="T29" fmla="*/ 155 h 15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52" h="155">
                  <a:moveTo>
                    <a:pt x="16" y="155"/>
                  </a:moveTo>
                  <a:lnTo>
                    <a:pt x="21" y="146"/>
                  </a:lnTo>
                  <a:lnTo>
                    <a:pt x="44" y="117"/>
                  </a:lnTo>
                  <a:lnTo>
                    <a:pt x="71" y="88"/>
                  </a:lnTo>
                  <a:lnTo>
                    <a:pt x="100" y="59"/>
                  </a:lnTo>
                  <a:lnTo>
                    <a:pt x="131" y="31"/>
                  </a:lnTo>
                  <a:lnTo>
                    <a:pt x="152" y="15"/>
                  </a:lnTo>
                  <a:lnTo>
                    <a:pt x="140" y="0"/>
                  </a:lnTo>
                  <a:lnTo>
                    <a:pt x="119" y="15"/>
                  </a:lnTo>
                  <a:lnTo>
                    <a:pt x="87" y="44"/>
                  </a:lnTo>
                  <a:lnTo>
                    <a:pt x="58" y="75"/>
                  </a:lnTo>
                  <a:lnTo>
                    <a:pt x="31" y="102"/>
                  </a:lnTo>
                  <a:lnTo>
                    <a:pt x="6" y="134"/>
                  </a:lnTo>
                  <a:lnTo>
                    <a:pt x="0" y="144"/>
                  </a:lnTo>
                  <a:lnTo>
                    <a:pt x="16" y="155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74" name="Freeform 168"/>
            <p:cNvSpPr>
              <a:spLocks/>
            </p:cNvSpPr>
            <p:nvPr/>
          </p:nvSpPr>
          <p:spPr bwMode="auto">
            <a:xfrm>
              <a:off x="3840" y="2724"/>
              <a:ext cx="79" cy="196"/>
            </a:xfrm>
            <a:custGeom>
              <a:avLst/>
              <a:gdLst>
                <a:gd name="T0" fmla="*/ 23 w 79"/>
                <a:gd name="T1" fmla="*/ 196 h 196"/>
                <a:gd name="T2" fmla="*/ 25 w 79"/>
                <a:gd name="T3" fmla="*/ 167 h 196"/>
                <a:gd name="T4" fmla="*/ 27 w 79"/>
                <a:gd name="T5" fmla="*/ 136 h 196"/>
                <a:gd name="T6" fmla="*/ 37 w 79"/>
                <a:gd name="T7" fmla="*/ 106 h 196"/>
                <a:gd name="T8" fmla="*/ 44 w 79"/>
                <a:gd name="T9" fmla="*/ 75 h 196"/>
                <a:gd name="T10" fmla="*/ 60 w 79"/>
                <a:gd name="T11" fmla="*/ 46 h 196"/>
                <a:gd name="T12" fmla="*/ 75 w 79"/>
                <a:gd name="T13" fmla="*/ 14 h 196"/>
                <a:gd name="T14" fmla="*/ 79 w 79"/>
                <a:gd name="T15" fmla="*/ 12 h 196"/>
                <a:gd name="T16" fmla="*/ 64 w 79"/>
                <a:gd name="T17" fmla="*/ 0 h 196"/>
                <a:gd name="T18" fmla="*/ 60 w 79"/>
                <a:gd name="T19" fmla="*/ 6 h 196"/>
                <a:gd name="T20" fmla="*/ 43 w 79"/>
                <a:gd name="T21" fmla="*/ 35 h 196"/>
                <a:gd name="T22" fmla="*/ 27 w 79"/>
                <a:gd name="T23" fmla="*/ 69 h 196"/>
                <a:gd name="T24" fmla="*/ 16 w 79"/>
                <a:gd name="T25" fmla="*/ 100 h 196"/>
                <a:gd name="T26" fmla="*/ 10 w 79"/>
                <a:gd name="T27" fmla="*/ 131 h 196"/>
                <a:gd name="T28" fmla="*/ 4 w 79"/>
                <a:gd name="T29" fmla="*/ 165 h 196"/>
                <a:gd name="T30" fmla="*/ 0 w 79"/>
                <a:gd name="T31" fmla="*/ 194 h 196"/>
                <a:gd name="T32" fmla="*/ 23 w 79"/>
                <a:gd name="T33" fmla="*/ 196 h 1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9" h="196">
                  <a:moveTo>
                    <a:pt x="23" y="196"/>
                  </a:moveTo>
                  <a:lnTo>
                    <a:pt x="25" y="167"/>
                  </a:lnTo>
                  <a:lnTo>
                    <a:pt x="27" y="136"/>
                  </a:lnTo>
                  <a:lnTo>
                    <a:pt x="37" y="106"/>
                  </a:lnTo>
                  <a:lnTo>
                    <a:pt x="44" y="75"/>
                  </a:lnTo>
                  <a:lnTo>
                    <a:pt x="60" y="46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64" y="0"/>
                  </a:lnTo>
                  <a:lnTo>
                    <a:pt x="60" y="6"/>
                  </a:lnTo>
                  <a:lnTo>
                    <a:pt x="43" y="35"/>
                  </a:lnTo>
                  <a:lnTo>
                    <a:pt x="27" y="69"/>
                  </a:lnTo>
                  <a:lnTo>
                    <a:pt x="16" y="100"/>
                  </a:lnTo>
                  <a:lnTo>
                    <a:pt x="10" y="131"/>
                  </a:lnTo>
                  <a:lnTo>
                    <a:pt x="4" y="165"/>
                  </a:lnTo>
                  <a:lnTo>
                    <a:pt x="0" y="194"/>
                  </a:lnTo>
                  <a:lnTo>
                    <a:pt x="23" y="196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75" name="Freeform 169"/>
            <p:cNvSpPr>
              <a:spLocks/>
            </p:cNvSpPr>
            <p:nvPr/>
          </p:nvSpPr>
          <p:spPr bwMode="auto">
            <a:xfrm>
              <a:off x="3844" y="2939"/>
              <a:ext cx="85" cy="190"/>
            </a:xfrm>
            <a:custGeom>
              <a:avLst/>
              <a:gdLst>
                <a:gd name="T0" fmla="*/ 85 w 85"/>
                <a:gd name="T1" fmla="*/ 177 h 190"/>
                <a:gd name="T2" fmla="*/ 71 w 85"/>
                <a:gd name="T3" fmla="*/ 158 h 190"/>
                <a:gd name="T4" fmla="*/ 56 w 85"/>
                <a:gd name="T5" fmla="*/ 129 h 190"/>
                <a:gd name="T6" fmla="*/ 40 w 85"/>
                <a:gd name="T7" fmla="*/ 102 h 190"/>
                <a:gd name="T8" fmla="*/ 33 w 85"/>
                <a:gd name="T9" fmla="*/ 73 h 190"/>
                <a:gd name="T10" fmla="*/ 23 w 85"/>
                <a:gd name="T11" fmla="*/ 42 h 190"/>
                <a:gd name="T12" fmla="*/ 21 w 85"/>
                <a:gd name="T13" fmla="*/ 12 h 190"/>
                <a:gd name="T14" fmla="*/ 19 w 85"/>
                <a:gd name="T15" fmla="*/ 0 h 190"/>
                <a:gd name="T16" fmla="*/ 0 w 85"/>
                <a:gd name="T17" fmla="*/ 0 h 190"/>
                <a:gd name="T18" fmla="*/ 0 w 85"/>
                <a:gd name="T19" fmla="*/ 14 h 190"/>
                <a:gd name="T20" fmla="*/ 6 w 85"/>
                <a:gd name="T21" fmla="*/ 46 h 190"/>
                <a:gd name="T22" fmla="*/ 14 w 85"/>
                <a:gd name="T23" fmla="*/ 79 h 190"/>
                <a:gd name="T24" fmla="*/ 23 w 85"/>
                <a:gd name="T25" fmla="*/ 108 h 190"/>
                <a:gd name="T26" fmla="*/ 39 w 85"/>
                <a:gd name="T27" fmla="*/ 140 h 190"/>
                <a:gd name="T28" fmla="*/ 56 w 85"/>
                <a:gd name="T29" fmla="*/ 171 h 190"/>
                <a:gd name="T30" fmla="*/ 67 w 85"/>
                <a:gd name="T31" fmla="*/ 190 h 190"/>
                <a:gd name="T32" fmla="*/ 85 w 85"/>
                <a:gd name="T33" fmla="*/ 177 h 1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5" h="190">
                  <a:moveTo>
                    <a:pt x="85" y="177"/>
                  </a:moveTo>
                  <a:lnTo>
                    <a:pt x="71" y="158"/>
                  </a:lnTo>
                  <a:lnTo>
                    <a:pt x="56" y="129"/>
                  </a:lnTo>
                  <a:lnTo>
                    <a:pt x="40" y="102"/>
                  </a:lnTo>
                  <a:lnTo>
                    <a:pt x="33" y="73"/>
                  </a:lnTo>
                  <a:lnTo>
                    <a:pt x="23" y="42"/>
                  </a:lnTo>
                  <a:lnTo>
                    <a:pt x="21" y="12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14"/>
                  </a:lnTo>
                  <a:lnTo>
                    <a:pt x="6" y="46"/>
                  </a:lnTo>
                  <a:lnTo>
                    <a:pt x="14" y="79"/>
                  </a:lnTo>
                  <a:lnTo>
                    <a:pt x="23" y="108"/>
                  </a:lnTo>
                  <a:lnTo>
                    <a:pt x="39" y="140"/>
                  </a:lnTo>
                  <a:lnTo>
                    <a:pt x="56" y="171"/>
                  </a:lnTo>
                  <a:lnTo>
                    <a:pt x="67" y="190"/>
                  </a:lnTo>
                  <a:lnTo>
                    <a:pt x="85" y="177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76" name="Freeform 170"/>
            <p:cNvSpPr>
              <a:spLocks/>
            </p:cNvSpPr>
            <p:nvPr/>
          </p:nvSpPr>
          <p:spPr bwMode="auto">
            <a:xfrm>
              <a:off x="3927" y="3133"/>
              <a:ext cx="161" cy="144"/>
            </a:xfrm>
            <a:custGeom>
              <a:avLst/>
              <a:gdLst>
                <a:gd name="T0" fmla="*/ 161 w 161"/>
                <a:gd name="T1" fmla="*/ 125 h 144"/>
                <a:gd name="T2" fmla="*/ 151 w 161"/>
                <a:gd name="T3" fmla="*/ 121 h 144"/>
                <a:gd name="T4" fmla="*/ 117 w 161"/>
                <a:gd name="T5" fmla="*/ 98 h 144"/>
                <a:gd name="T6" fmla="*/ 84 w 161"/>
                <a:gd name="T7" fmla="*/ 73 h 144"/>
                <a:gd name="T8" fmla="*/ 55 w 161"/>
                <a:gd name="T9" fmla="*/ 46 h 144"/>
                <a:gd name="T10" fmla="*/ 30 w 161"/>
                <a:gd name="T11" fmla="*/ 21 h 144"/>
                <a:gd name="T12" fmla="*/ 15 w 161"/>
                <a:gd name="T13" fmla="*/ 0 h 144"/>
                <a:gd name="T14" fmla="*/ 0 w 161"/>
                <a:gd name="T15" fmla="*/ 10 h 144"/>
                <a:gd name="T16" fmla="*/ 17 w 161"/>
                <a:gd name="T17" fmla="*/ 33 h 144"/>
                <a:gd name="T18" fmla="*/ 44 w 161"/>
                <a:gd name="T19" fmla="*/ 59 h 144"/>
                <a:gd name="T20" fmla="*/ 75 w 161"/>
                <a:gd name="T21" fmla="*/ 88 h 144"/>
                <a:gd name="T22" fmla="*/ 105 w 161"/>
                <a:gd name="T23" fmla="*/ 113 h 144"/>
                <a:gd name="T24" fmla="*/ 142 w 161"/>
                <a:gd name="T25" fmla="*/ 138 h 144"/>
                <a:gd name="T26" fmla="*/ 151 w 161"/>
                <a:gd name="T27" fmla="*/ 144 h 144"/>
                <a:gd name="T28" fmla="*/ 161 w 161"/>
                <a:gd name="T29" fmla="*/ 125 h 1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1" h="144">
                  <a:moveTo>
                    <a:pt x="161" y="125"/>
                  </a:moveTo>
                  <a:lnTo>
                    <a:pt x="151" y="121"/>
                  </a:lnTo>
                  <a:lnTo>
                    <a:pt x="117" y="98"/>
                  </a:lnTo>
                  <a:lnTo>
                    <a:pt x="84" y="73"/>
                  </a:lnTo>
                  <a:lnTo>
                    <a:pt x="55" y="46"/>
                  </a:lnTo>
                  <a:lnTo>
                    <a:pt x="30" y="21"/>
                  </a:lnTo>
                  <a:lnTo>
                    <a:pt x="15" y="0"/>
                  </a:lnTo>
                  <a:lnTo>
                    <a:pt x="0" y="10"/>
                  </a:lnTo>
                  <a:lnTo>
                    <a:pt x="17" y="33"/>
                  </a:lnTo>
                  <a:lnTo>
                    <a:pt x="44" y="59"/>
                  </a:lnTo>
                  <a:lnTo>
                    <a:pt x="75" y="88"/>
                  </a:lnTo>
                  <a:lnTo>
                    <a:pt x="105" y="113"/>
                  </a:lnTo>
                  <a:lnTo>
                    <a:pt x="142" y="138"/>
                  </a:lnTo>
                  <a:lnTo>
                    <a:pt x="151" y="144"/>
                  </a:lnTo>
                  <a:lnTo>
                    <a:pt x="161" y="125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77" name="Freeform 171"/>
            <p:cNvSpPr>
              <a:spLocks/>
            </p:cNvSpPr>
            <p:nvPr/>
          </p:nvSpPr>
          <p:spPr bwMode="auto">
            <a:xfrm>
              <a:off x="4096" y="3269"/>
              <a:ext cx="155" cy="87"/>
            </a:xfrm>
            <a:custGeom>
              <a:avLst/>
              <a:gdLst>
                <a:gd name="T0" fmla="*/ 155 w 155"/>
                <a:gd name="T1" fmla="*/ 67 h 87"/>
                <a:gd name="T2" fmla="*/ 107 w 155"/>
                <a:gd name="T3" fmla="*/ 50 h 87"/>
                <a:gd name="T4" fmla="*/ 63 w 155"/>
                <a:gd name="T5" fmla="*/ 29 h 87"/>
                <a:gd name="T6" fmla="*/ 21 w 155"/>
                <a:gd name="T7" fmla="*/ 8 h 87"/>
                <a:gd name="T8" fmla="*/ 9 w 155"/>
                <a:gd name="T9" fmla="*/ 0 h 87"/>
                <a:gd name="T10" fmla="*/ 0 w 155"/>
                <a:gd name="T11" fmla="*/ 16 h 87"/>
                <a:gd name="T12" fmla="*/ 11 w 155"/>
                <a:gd name="T13" fmla="*/ 25 h 87"/>
                <a:gd name="T14" fmla="*/ 53 w 155"/>
                <a:gd name="T15" fmla="*/ 48 h 87"/>
                <a:gd name="T16" fmla="*/ 99 w 155"/>
                <a:gd name="T17" fmla="*/ 66 h 87"/>
                <a:gd name="T18" fmla="*/ 147 w 155"/>
                <a:gd name="T19" fmla="*/ 87 h 87"/>
                <a:gd name="T20" fmla="*/ 155 w 155"/>
                <a:gd name="T21" fmla="*/ 67 h 8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5" h="87">
                  <a:moveTo>
                    <a:pt x="155" y="67"/>
                  </a:moveTo>
                  <a:lnTo>
                    <a:pt x="107" y="50"/>
                  </a:lnTo>
                  <a:lnTo>
                    <a:pt x="63" y="29"/>
                  </a:lnTo>
                  <a:lnTo>
                    <a:pt x="21" y="8"/>
                  </a:lnTo>
                  <a:lnTo>
                    <a:pt x="9" y="0"/>
                  </a:lnTo>
                  <a:lnTo>
                    <a:pt x="0" y="16"/>
                  </a:lnTo>
                  <a:lnTo>
                    <a:pt x="11" y="25"/>
                  </a:lnTo>
                  <a:lnTo>
                    <a:pt x="53" y="48"/>
                  </a:lnTo>
                  <a:lnTo>
                    <a:pt x="99" y="66"/>
                  </a:lnTo>
                  <a:lnTo>
                    <a:pt x="147" y="87"/>
                  </a:lnTo>
                  <a:lnTo>
                    <a:pt x="155" y="67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78" name="Freeform 172"/>
            <p:cNvSpPr>
              <a:spLocks noEditPoints="1"/>
            </p:cNvSpPr>
            <p:nvPr/>
          </p:nvSpPr>
          <p:spPr bwMode="auto">
            <a:xfrm>
              <a:off x="4180" y="2655"/>
              <a:ext cx="84" cy="490"/>
            </a:xfrm>
            <a:custGeom>
              <a:avLst/>
              <a:gdLst>
                <a:gd name="T0" fmla="*/ 77 w 84"/>
                <a:gd name="T1" fmla="*/ 33 h 490"/>
                <a:gd name="T2" fmla="*/ 59 w 84"/>
                <a:gd name="T3" fmla="*/ 56 h 490"/>
                <a:gd name="T4" fmla="*/ 46 w 84"/>
                <a:gd name="T5" fmla="*/ 81 h 490"/>
                <a:gd name="T6" fmla="*/ 33 w 84"/>
                <a:gd name="T7" fmla="*/ 111 h 490"/>
                <a:gd name="T8" fmla="*/ 17 w 84"/>
                <a:gd name="T9" fmla="*/ 113 h 490"/>
                <a:gd name="T10" fmla="*/ 29 w 84"/>
                <a:gd name="T11" fmla="*/ 81 h 490"/>
                <a:gd name="T12" fmla="*/ 42 w 84"/>
                <a:gd name="T13" fmla="*/ 52 h 490"/>
                <a:gd name="T14" fmla="*/ 59 w 84"/>
                <a:gd name="T15" fmla="*/ 25 h 490"/>
                <a:gd name="T16" fmla="*/ 81 w 84"/>
                <a:gd name="T17" fmla="*/ 0 h 490"/>
                <a:gd name="T18" fmla="*/ 29 w 84"/>
                <a:gd name="T19" fmla="*/ 125 h 490"/>
                <a:gd name="T20" fmla="*/ 21 w 84"/>
                <a:gd name="T21" fmla="*/ 152 h 490"/>
                <a:gd name="T22" fmla="*/ 15 w 84"/>
                <a:gd name="T23" fmla="*/ 179 h 490"/>
                <a:gd name="T24" fmla="*/ 11 w 84"/>
                <a:gd name="T25" fmla="*/ 209 h 490"/>
                <a:gd name="T26" fmla="*/ 11 w 84"/>
                <a:gd name="T27" fmla="*/ 238 h 490"/>
                <a:gd name="T28" fmla="*/ 0 w 84"/>
                <a:gd name="T29" fmla="*/ 223 h 490"/>
                <a:gd name="T30" fmla="*/ 4 w 84"/>
                <a:gd name="T31" fmla="*/ 190 h 490"/>
                <a:gd name="T32" fmla="*/ 8 w 84"/>
                <a:gd name="T33" fmla="*/ 159 h 490"/>
                <a:gd name="T34" fmla="*/ 13 w 84"/>
                <a:gd name="T35" fmla="*/ 129 h 490"/>
                <a:gd name="T36" fmla="*/ 29 w 84"/>
                <a:gd name="T37" fmla="*/ 125 h 490"/>
                <a:gd name="T38" fmla="*/ 11 w 84"/>
                <a:gd name="T39" fmla="*/ 253 h 490"/>
                <a:gd name="T40" fmla="*/ 13 w 84"/>
                <a:gd name="T41" fmla="*/ 282 h 490"/>
                <a:gd name="T42" fmla="*/ 17 w 84"/>
                <a:gd name="T43" fmla="*/ 311 h 490"/>
                <a:gd name="T44" fmla="*/ 23 w 84"/>
                <a:gd name="T45" fmla="*/ 340 h 490"/>
                <a:gd name="T46" fmla="*/ 15 w 84"/>
                <a:gd name="T47" fmla="*/ 365 h 490"/>
                <a:gd name="T48" fmla="*/ 10 w 84"/>
                <a:gd name="T49" fmla="*/ 334 h 490"/>
                <a:gd name="T50" fmla="*/ 4 w 84"/>
                <a:gd name="T51" fmla="*/ 301 h 490"/>
                <a:gd name="T52" fmla="*/ 0 w 84"/>
                <a:gd name="T53" fmla="*/ 271 h 490"/>
                <a:gd name="T54" fmla="*/ 0 w 84"/>
                <a:gd name="T55" fmla="*/ 238 h 490"/>
                <a:gd name="T56" fmla="*/ 27 w 84"/>
                <a:gd name="T57" fmla="*/ 353 h 490"/>
                <a:gd name="T58" fmla="*/ 36 w 84"/>
                <a:gd name="T59" fmla="*/ 386 h 490"/>
                <a:gd name="T60" fmla="*/ 50 w 84"/>
                <a:gd name="T61" fmla="*/ 415 h 490"/>
                <a:gd name="T62" fmla="*/ 67 w 84"/>
                <a:gd name="T63" fmla="*/ 445 h 490"/>
                <a:gd name="T64" fmla="*/ 84 w 84"/>
                <a:gd name="T65" fmla="*/ 470 h 490"/>
                <a:gd name="T66" fmla="*/ 69 w 84"/>
                <a:gd name="T67" fmla="*/ 478 h 490"/>
                <a:gd name="T68" fmla="*/ 50 w 84"/>
                <a:gd name="T69" fmla="*/ 449 h 490"/>
                <a:gd name="T70" fmla="*/ 35 w 84"/>
                <a:gd name="T71" fmla="*/ 415 h 490"/>
                <a:gd name="T72" fmla="*/ 21 w 84"/>
                <a:gd name="T73" fmla="*/ 382 h 490"/>
                <a:gd name="T74" fmla="*/ 27 w 84"/>
                <a:gd name="T75" fmla="*/ 353 h 4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4" h="490">
                  <a:moveTo>
                    <a:pt x="84" y="21"/>
                  </a:moveTo>
                  <a:lnTo>
                    <a:pt x="77" y="33"/>
                  </a:lnTo>
                  <a:lnTo>
                    <a:pt x="69" y="44"/>
                  </a:lnTo>
                  <a:lnTo>
                    <a:pt x="59" y="56"/>
                  </a:lnTo>
                  <a:lnTo>
                    <a:pt x="52" y="69"/>
                  </a:lnTo>
                  <a:lnTo>
                    <a:pt x="46" y="81"/>
                  </a:lnTo>
                  <a:lnTo>
                    <a:pt x="38" y="96"/>
                  </a:lnTo>
                  <a:lnTo>
                    <a:pt x="33" y="111"/>
                  </a:lnTo>
                  <a:lnTo>
                    <a:pt x="29" y="125"/>
                  </a:lnTo>
                  <a:lnTo>
                    <a:pt x="17" y="113"/>
                  </a:lnTo>
                  <a:lnTo>
                    <a:pt x="23" y="98"/>
                  </a:lnTo>
                  <a:lnTo>
                    <a:pt x="29" y="81"/>
                  </a:lnTo>
                  <a:lnTo>
                    <a:pt x="36" y="65"/>
                  </a:lnTo>
                  <a:lnTo>
                    <a:pt x="42" y="52"/>
                  </a:lnTo>
                  <a:lnTo>
                    <a:pt x="52" y="38"/>
                  </a:lnTo>
                  <a:lnTo>
                    <a:pt x="59" y="25"/>
                  </a:lnTo>
                  <a:lnTo>
                    <a:pt x="71" y="10"/>
                  </a:lnTo>
                  <a:lnTo>
                    <a:pt x="81" y="0"/>
                  </a:lnTo>
                  <a:lnTo>
                    <a:pt x="84" y="21"/>
                  </a:lnTo>
                  <a:close/>
                  <a:moveTo>
                    <a:pt x="29" y="125"/>
                  </a:moveTo>
                  <a:lnTo>
                    <a:pt x="25" y="138"/>
                  </a:lnTo>
                  <a:lnTo>
                    <a:pt x="21" y="152"/>
                  </a:lnTo>
                  <a:lnTo>
                    <a:pt x="17" y="167"/>
                  </a:lnTo>
                  <a:lnTo>
                    <a:pt x="15" y="179"/>
                  </a:lnTo>
                  <a:lnTo>
                    <a:pt x="15" y="194"/>
                  </a:lnTo>
                  <a:lnTo>
                    <a:pt x="11" y="209"/>
                  </a:lnTo>
                  <a:lnTo>
                    <a:pt x="11" y="223"/>
                  </a:lnTo>
                  <a:lnTo>
                    <a:pt x="11" y="238"/>
                  </a:lnTo>
                  <a:lnTo>
                    <a:pt x="0" y="238"/>
                  </a:lnTo>
                  <a:lnTo>
                    <a:pt x="0" y="223"/>
                  </a:lnTo>
                  <a:lnTo>
                    <a:pt x="2" y="205"/>
                  </a:lnTo>
                  <a:lnTo>
                    <a:pt x="4" y="190"/>
                  </a:lnTo>
                  <a:lnTo>
                    <a:pt x="6" y="175"/>
                  </a:lnTo>
                  <a:lnTo>
                    <a:pt x="8" y="159"/>
                  </a:lnTo>
                  <a:lnTo>
                    <a:pt x="11" y="142"/>
                  </a:lnTo>
                  <a:lnTo>
                    <a:pt x="13" y="129"/>
                  </a:lnTo>
                  <a:lnTo>
                    <a:pt x="17" y="113"/>
                  </a:lnTo>
                  <a:lnTo>
                    <a:pt x="29" y="125"/>
                  </a:lnTo>
                  <a:close/>
                  <a:moveTo>
                    <a:pt x="11" y="238"/>
                  </a:moveTo>
                  <a:lnTo>
                    <a:pt x="11" y="253"/>
                  </a:lnTo>
                  <a:lnTo>
                    <a:pt x="11" y="267"/>
                  </a:lnTo>
                  <a:lnTo>
                    <a:pt x="13" y="282"/>
                  </a:lnTo>
                  <a:lnTo>
                    <a:pt x="15" y="294"/>
                  </a:lnTo>
                  <a:lnTo>
                    <a:pt x="17" y="311"/>
                  </a:lnTo>
                  <a:lnTo>
                    <a:pt x="19" y="323"/>
                  </a:lnTo>
                  <a:lnTo>
                    <a:pt x="23" y="340"/>
                  </a:lnTo>
                  <a:lnTo>
                    <a:pt x="27" y="353"/>
                  </a:lnTo>
                  <a:lnTo>
                    <a:pt x="15" y="365"/>
                  </a:lnTo>
                  <a:lnTo>
                    <a:pt x="11" y="349"/>
                  </a:lnTo>
                  <a:lnTo>
                    <a:pt x="10" y="334"/>
                  </a:lnTo>
                  <a:lnTo>
                    <a:pt x="6" y="319"/>
                  </a:lnTo>
                  <a:lnTo>
                    <a:pt x="4" y="301"/>
                  </a:lnTo>
                  <a:lnTo>
                    <a:pt x="2" y="286"/>
                  </a:lnTo>
                  <a:lnTo>
                    <a:pt x="0" y="271"/>
                  </a:lnTo>
                  <a:lnTo>
                    <a:pt x="0" y="253"/>
                  </a:lnTo>
                  <a:lnTo>
                    <a:pt x="0" y="238"/>
                  </a:lnTo>
                  <a:lnTo>
                    <a:pt x="11" y="238"/>
                  </a:lnTo>
                  <a:close/>
                  <a:moveTo>
                    <a:pt x="27" y="353"/>
                  </a:moveTo>
                  <a:lnTo>
                    <a:pt x="33" y="369"/>
                  </a:lnTo>
                  <a:lnTo>
                    <a:pt x="36" y="386"/>
                  </a:lnTo>
                  <a:lnTo>
                    <a:pt x="42" y="401"/>
                  </a:lnTo>
                  <a:lnTo>
                    <a:pt x="50" y="415"/>
                  </a:lnTo>
                  <a:lnTo>
                    <a:pt x="58" y="432"/>
                  </a:lnTo>
                  <a:lnTo>
                    <a:pt x="67" y="445"/>
                  </a:lnTo>
                  <a:lnTo>
                    <a:pt x="75" y="459"/>
                  </a:lnTo>
                  <a:lnTo>
                    <a:pt x="84" y="470"/>
                  </a:lnTo>
                  <a:lnTo>
                    <a:pt x="81" y="490"/>
                  </a:lnTo>
                  <a:lnTo>
                    <a:pt x="69" y="478"/>
                  </a:lnTo>
                  <a:lnTo>
                    <a:pt x="59" y="463"/>
                  </a:lnTo>
                  <a:lnTo>
                    <a:pt x="50" y="449"/>
                  </a:lnTo>
                  <a:lnTo>
                    <a:pt x="42" y="434"/>
                  </a:lnTo>
                  <a:lnTo>
                    <a:pt x="35" y="415"/>
                  </a:lnTo>
                  <a:lnTo>
                    <a:pt x="27" y="399"/>
                  </a:lnTo>
                  <a:lnTo>
                    <a:pt x="21" y="382"/>
                  </a:lnTo>
                  <a:lnTo>
                    <a:pt x="15" y="365"/>
                  </a:lnTo>
                  <a:lnTo>
                    <a:pt x="27" y="353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79" name="Freeform 173"/>
            <p:cNvSpPr>
              <a:spLocks noEditPoints="1"/>
            </p:cNvSpPr>
            <p:nvPr/>
          </p:nvSpPr>
          <p:spPr bwMode="auto">
            <a:xfrm>
              <a:off x="4257" y="2459"/>
              <a:ext cx="67" cy="206"/>
            </a:xfrm>
            <a:custGeom>
              <a:avLst/>
              <a:gdLst>
                <a:gd name="T0" fmla="*/ 19 w 67"/>
                <a:gd name="T1" fmla="*/ 0 h 206"/>
                <a:gd name="T2" fmla="*/ 32 w 67"/>
                <a:gd name="T3" fmla="*/ 12 h 206"/>
                <a:gd name="T4" fmla="*/ 46 w 67"/>
                <a:gd name="T5" fmla="*/ 27 h 206"/>
                <a:gd name="T6" fmla="*/ 27 w 67"/>
                <a:gd name="T7" fmla="*/ 39 h 206"/>
                <a:gd name="T8" fmla="*/ 17 w 67"/>
                <a:gd name="T9" fmla="*/ 29 h 206"/>
                <a:gd name="T10" fmla="*/ 4 w 67"/>
                <a:gd name="T11" fmla="*/ 19 h 206"/>
                <a:gd name="T12" fmla="*/ 19 w 67"/>
                <a:gd name="T13" fmla="*/ 0 h 206"/>
                <a:gd name="T14" fmla="*/ 46 w 67"/>
                <a:gd name="T15" fmla="*/ 27 h 206"/>
                <a:gd name="T16" fmla="*/ 53 w 67"/>
                <a:gd name="T17" fmla="*/ 44 h 206"/>
                <a:gd name="T18" fmla="*/ 63 w 67"/>
                <a:gd name="T19" fmla="*/ 62 h 206"/>
                <a:gd name="T20" fmla="*/ 67 w 67"/>
                <a:gd name="T21" fmla="*/ 81 h 206"/>
                <a:gd name="T22" fmla="*/ 67 w 67"/>
                <a:gd name="T23" fmla="*/ 102 h 206"/>
                <a:gd name="T24" fmla="*/ 46 w 67"/>
                <a:gd name="T25" fmla="*/ 102 h 206"/>
                <a:gd name="T26" fmla="*/ 44 w 67"/>
                <a:gd name="T27" fmla="*/ 85 h 206"/>
                <a:gd name="T28" fmla="*/ 38 w 67"/>
                <a:gd name="T29" fmla="*/ 69 h 206"/>
                <a:gd name="T30" fmla="*/ 32 w 67"/>
                <a:gd name="T31" fmla="*/ 54 h 206"/>
                <a:gd name="T32" fmla="*/ 27 w 67"/>
                <a:gd name="T33" fmla="*/ 39 h 206"/>
                <a:gd name="T34" fmla="*/ 46 w 67"/>
                <a:gd name="T35" fmla="*/ 27 h 206"/>
                <a:gd name="T36" fmla="*/ 67 w 67"/>
                <a:gd name="T37" fmla="*/ 102 h 206"/>
                <a:gd name="T38" fmla="*/ 65 w 67"/>
                <a:gd name="T39" fmla="*/ 121 h 206"/>
                <a:gd name="T40" fmla="*/ 63 w 67"/>
                <a:gd name="T41" fmla="*/ 140 h 206"/>
                <a:gd name="T42" fmla="*/ 53 w 67"/>
                <a:gd name="T43" fmla="*/ 158 h 206"/>
                <a:gd name="T44" fmla="*/ 44 w 67"/>
                <a:gd name="T45" fmla="*/ 179 h 206"/>
                <a:gd name="T46" fmla="*/ 23 w 67"/>
                <a:gd name="T47" fmla="*/ 163 h 206"/>
                <a:gd name="T48" fmla="*/ 30 w 67"/>
                <a:gd name="T49" fmla="*/ 150 h 206"/>
                <a:gd name="T50" fmla="*/ 38 w 67"/>
                <a:gd name="T51" fmla="*/ 135 h 206"/>
                <a:gd name="T52" fmla="*/ 44 w 67"/>
                <a:gd name="T53" fmla="*/ 117 h 206"/>
                <a:gd name="T54" fmla="*/ 46 w 67"/>
                <a:gd name="T55" fmla="*/ 102 h 206"/>
                <a:gd name="T56" fmla="*/ 67 w 67"/>
                <a:gd name="T57" fmla="*/ 102 h 206"/>
                <a:gd name="T58" fmla="*/ 44 w 67"/>
                <a:gd name="T59" fmla="*/ 179 h 206"/>
                <a:gd name="T60" fmla="*/ 29 w 67"/>
                <a:gd name="T61" fmla="*/ 194 h 206"/>
                <a:gd name="T62" fmla="*/ 11 w 67"/>
                <a:gd name="T63" fmla="*/ 206 h 206"/>
                <a:gd name="T64" fmla="*/ 0 w 67"/>
                <a:gd name="T65" fmla="*/ 188 h 206"/>
                <a:gd name="T66" fmla="*/ 11 w 67"/>
                <a:gd name="T67" fmla="*/ 177 h 206"/>
                <a:gd name="T68" fmla="*/ 23 w 67"/>
                <a:gd name="T69" fmla="*/ 163 h 206"/>
                <a:gd name="T70" fmla="*/ 44 w 67"/>
                <a:gd name="T71" fmla="*/ 179 h 2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7" h="206">
                  <a:moveTo>
                    <a:pt x="19" y="0"/>
                  </a:moveTo>
                  <a:lnTo>
                    <a:pt x="32" y="12"/>
                  </a:lnTo>
                  <a:lnTo>
                    <a:pt x="46" y="27"/>
                  </a:lnTo>
                  <a:lnTo>
                    <a:pt x="27" y="39"/>
                  </a:lnTo>
                  <a:lnTo>
                    <a:pt x="17" y="29"/>
                  </a:lnTo>
                  <a:lnTo>
                    <a:pt x="4" y="19"/>
                  </a:lnTo>
                  <a:lnTo>
                    <a:pt x="19" y="0"/>
                  </a:lnTo>
                  <a:close/>
                  <a:moveTo>
                    <a:pt x="46" y="27"/>
                  </a:moveTo>
                  <a:lnTo>
                    <a:pt x="53" y="44"/>
                  </a:lnTo>
                  <a:lnTo>
                    <a:pt x="63" y="62"/>
                  </a:lnTo>
                  <a:lnTo>
                    <a:pt x="67" y="81"/>
                  </a:lnTo>
                  <a:lnTo>
                    <a:pt x="67" y="102"/>
                  </a:lnTo>
                  <a:lnTo>
                    <a:pt x="46" y="102"/>
                  </a:lnTo>
                  <a:lnTo>
                    <a:pt x="44" y="85"/>
                  </a:lnTo>
                  <a:lnTo>
                    <a:pt x="38" y="69"/>
                  </a:lnTo>
                  <a:lnTo>
                    <a:pt x="32" y="54"/>
                  </a:lnTo>
                  <a:lnTo>
                    <a:pt x="27" y="39"/>
                  </a:lnTo>
                  <a:lnTo>
                    <a:pt x="46" y="27"/>
                  </a:lnTo>
                  <a:close/>
                  <a:moveTo>
                    <a:pt x="67" y="102"/>
                  </a:moveTo>
                  <a:lnTo>
                    <a:pt x="65" y="121"/>
                  </a:lnTo>
                  <a:lnTo>
                    <a:pt x="63" y="140"/>
                  </a:lnTo>
                  <a:lnTo>
                    <a:pt x="53" y="158"/>
                  </a:lnTo>
                  <a:lnTo>
                    <a:pt x="44" y="179"/>
                  </a:lnTo>
                  <a:lnTo>
                    <a:pt x="23" y="163"/>
                  </a:lnTo>
                  <a:lnTo>
                    <a:pt x="30" y="150"/>
                  </a:lnTo>
                  <a:lnTo>
                    <a:pt x="38" y="135"/>
                  </a:lnTo>
                  <a:lnTo>
                    <a:pt x="44" y="117"/>
                  </a:lnTo>
                  <a:lnTo>
                    <a:pt x="46" y="102"/>
                  </a:lnTo>
                  <a:lnTo>
                    <a:pt x="67" y="102"/>
                  </a:lnTo>
                  <a:close/>
                  <a:moveTo>
                    <a:pt x="44" y="179"/>
                  </a:moveTo>
                  <a:lnTo>
                    <a:pt x="29" y="194"/>
                  </a:lnTo>
                  <a:lnTo>
                    <a:pt x="11" y="206"/>
                  </a:lnTo>
                  <a:lnTo>
                    <a:pt x="0" y="188"/>
                  </a:lnTo>
                  <a:lnTo>
                    <a:pt x="11" y="177"/>
                  </a:lnTo>
                  <a:lnTo>
                    <a:pt x="23" y="163"/>
                  </a:lnTo>
                  <a:lnTo>
                    <a:pt x="44" y="179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80" name="Freeform 174"/>
            <p:cNvSpPr>
              <a:spLocks noEditPoints="1"/>
            </p:cNvSpPr>
            <p:nvPr/>
          </p:nvSpPr>
          <p:spPr bwMode="auto">
            <a:xfrm>
              <a:off x="4259" y="3125"/>
              <a:ext cx="71" cy="221"/>
            </a:xfrm>
            <a:custGeom>
              <a:avLst/>
              <a:gdLst>
                <a:gd name="T0" fmla="*/ 4 w 71"/>
                <a:gd name="T1" fmla="*/ 202 h 221"/>
                <a:gd name="T2" fmla="*/ 15 w 71"/>
                <a:gd name="T3" fmla="*/ 194 h 221"/>
                <a:gd name="T4" fmla="*/ 21 w 71"/>
                <a:gd name="T5" fmla="*/ 183 h 221"/>
                <a:gd name="T6" fmla="*/ 42 w 71"/>
                <a:gd name="T7" fmla="*/ 200 h 221"/>
                <a:gd name="T8" fmla="*/ 30 w 71"/>
                <a:gd name="T9" fmla="*/ 210 h 221"/>
                <a:gd name="T10" fmla="*/ 21 w 71"/>
                <a:gd name="T11" fmla="*/ 221 h 221"/>
                <a:gd name="T12" fmla="*/ 4 w 71"/>
                <a:gd name="T13" fmla="*/ 202 h 221"/>
                <a:gd name="T14" fmla="*/ 21 w 71"/>
                <a:gd name="T15" fmla="*/ 183 h 221"/>
                <a:gd name="T16" fmla="*/ 30 w 71"/>
                <a:gd name="T17" fmla="*/ 169 h 221"/>
                <a:gd name="T18" fmla="*/ 40 w 71"/>
                <a:gd name="T19" fmla="*/ 150 h 221"/>
                <a:gd name="T20" fmla="*/ 44 w 71"/>
                <a:gd name="T21" fmla="*/ 133 h 221"/>
                <a:gd name="T22" fmla="*/ 46 w 71"/>
                <a:gd name="T23" fmla="*/ 112 h 221"/>
                <a:gd name="T24" fmla="*/ 71 w 71"/>
                <a:gd name="T25" fmla="*/ 110 h 221"/>
                <a:gd name="T26" fmla="*/ 67 w 71"/>
                <a:gd name="T27" fmla="*/ 125 h 221"/>
                <a:gd name="T28" fmla="*/ 67 w 71"/>
                <a:gd name="T29" fmla="*/ 135 h 221"/>
                <a:gd name="T30" fmla="*/ 67 w 71"/>
                <a:gd name="T31" fmla="*/ 148 h 221"/>
                <a:gd name="T32" fmla="*/ 63 w 71"/>
                <a:gd name="T33" fmla="*/ 156 h 221"/>
                <a:gd name="T34" fmla="*/ 57 w 71"/>
                <a:gd name="T35" fmla="*/ 169 h 221"/>
                <a:gd name="T36" fmla="*/ 51 w 71"/>
                <a:gd name="T37" fmla="*/ 181 h 221"/>
                <a:gd name="T38" fmla="*/ 48 w 71"/>
                <a:gd name="T39" fmla="*/ 188 h 221"/>
                <a:gd name="T40" fmla="*/ 42 w 71"/>
                <a:gd name="T41" fmla="*/ 200 h 221"/>
                <a:gd name="T42" fmla="*/ 21 w 71"/>
                <a:gd name="T43" fmla="*/ 183 h 221"/>
                <a:gd name="T44" fmla="*/ 46 w 71"/>
                <a:gd name="T45" fmla="*/ 112 h 221"/>
                <a:gd name="T46" fmla="*/ 44 w 71"/>
                <a:gd name="T47" fmla="*/ 91 h 221"/>
                <a:gd name="T48" fmla="*/ 38 w 71"/>
                <a:gd name="T49" fmla="*/ 73 h 221"/>
                <a:gd name="T50" fmla="*/ 30 w 71"/>
                <a:gd name="T51" fmla="*/ 56 h 221"/>
                <a:gd name="T52" fmla="*/ 19 w 71"/>
                <a:gd name="T53" fmla="*/ 37 h 221"/>
                <a:gd name="T54" fmla="*/ 38 w 71"/>
                <a:gd name="T55" fmla="*/ 23 h 221"/>
                <a:gd name="T56" fmla="*/ 46 w 71"/>
                <a:gd name="T57" fmla="*/ 33 h 221"/>
                <a:gd name="T58" fmla="*/ 50 w 71"/>
                <a:gd name="T59" fmla="*/ 43 h 221"/>
                <a:gd name="T60" fmla="*/ 57 w 71"/>
                <a:gd name="T61" fmla="*/ 54 h 221"/>
                <a:gd name="T62" fmla="*/ 61 w 71"/>
                <a:gd name="T63" fmla="*/ 64 h 221"/>
                <a:gd name="T64" fmla="*/ 67 w 71"/>
                <a:gd name="T65" fmla="*/ 87 h 221"/>
                <a:gd name="T66" fmla="*/ 71 w 71"/>
                <a:gd name="T67" fmla="*/ 110 h 221"/>
                <a:gd name="T68" fmla="*/ 46 w 71"/>
                <a:gd name="T69" fmla="*/ 112 h 221"/>
                <a:gd name="T70" fmla="*/ 19 w 71"/>
                <a:gd name="T71" fmla="*/ 37 h 221"/>
                <a:gd name="T72" fmla="*/ 11 w 71"/>
                <a:gd name="T73" fmla="*/ 27 h 221"/>
                <a:gd name="T74" fmla="*/ 0 w 71"/>
                <a:gd name="T75" fmla="*/ 16 h 221"/>
                <a:gd name="T76" fmla="*/ 15 w 71"/>
                <a:gd name="T77" fmla="*/ 0 h 221"/>
                <a:gd name="T78" fmla="*/ 27 w 71"/>
                <a:gd name="T79" fmla="*/ 12 h 221"/>
                <a:gd name="T80" fmla="*/ 38 w 71"/>
                <a:gd name="T81" fmla="*/ 23 h 221"/>
                <a:gd name="T82" fmla="*/ 19 w 71"/>
                <a:gd name="T83" fmla="*/ 37 h 22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1" h="221">
                  <a:moveTo>
                    <a:pt x="4" y="202"/>
                  </a:moveTo>
                  <a:lnTo>
                    <a:pt x="15" y="194"/>
                  </a:lnTo>
                  <a:lnTo>
                    <a:pt x="21" y="183"/>
                  </a:lnTo>
                  <a:lnTo>
                    <a:pt x="42" y="200"/>
                  </a:lnTo>
                  <a:lnTo>
                    <a:pt x="30" y="210"/>
                  </a:lnTo>
                  <a:lnTo>
                    <a:pt x="21" y="221"/>
                  </a:lnTo>
                  <a:lnTo>
                    <a:pt x="4" y="202"/>
                  </a:lnTo>
                  <a:close/>
                  <a:moveTo>
                    <a:pt x="21" y="183"/>
                  </a:moveTo>
                  <a:lnTo>
                    <a:pt x="30" y="169"/>
                  </a:lnTo>
                  <a:lnTo>
                    <a:pt x="40" y="150"/>
                  </a:lnTo>
                  <a:lnTo>
                    <a:pt x="44" y="133"/>
                  </a:lnTo>
                  <a:lnTo>
                    <a:pt x="46" y="112"/>
                  </a:lnTo>
                  <a:lnTo>
                    <a:pt x="71" y="110"/>
                  </a:lnTo>
                  <a:lnTo>
                    <a:pt x="67" y="125"/>
                  </a:lnTo>
                  <a:lnTo>
                    <a:pt x="67" y="135"/>
                  </a:lnTo>
                  <a:lnTo>
                    <a:pt x="67" y="148"/>
                  </a:lnTo>
                  <a:lnTo>
                    <a:pt x="63" y="156"/>
                  </a:lnTo>
                  <a:lnTo>
                    <a:pt x="57" y="169"/>
                  </a:lnTo>
                  <a:lnTo>
                    <a:pt x="51" y="181"/>
                  </a:lnTo>
                  <a:lnTo>
                    <a:pt x="48" y="188"/>
                  </a:lnTo>
                  <a:lnTo>
                    <a:pt x="42" y="200"/>
                  </a:lnTo>
                  <a:lnTo>
                    <a:pt x="21" y="183"/>
                  </a:lnTo>
                  <a:close/>
                  <a:moveTo>
                    <a:pt x="46" y="112"/>
                  </a:moveTo>
                  <a:lnTo>
                    <a:pt x="44" y="91"/>
                  </a:lnTo>
                  <a:lnTo>
                    <a:pt x="38" y="73"/>
                  </a:lnTo>
                  <a:lnTo>
                    <a:pt x="30" y="56"/>
                  </a:lnTo>
                  <a:lnTo>
                    <a:pt x="19" y="37"/>
                  </a:lnTo>
                  <a:lnTo>
                    <a:pt x="38" y="23"/>
                  </a:lnTo>
                  <a:lnTo>
                    <a:pt x="46" y="33"/>
                  </a:lnTo>
                  <a:lnTo>
                    <a:pt x="50" y="43"/>
                  </a:lnTo>
                  <a:lnTo>
                    <a:pt x="57" y="54"/>
                  </a:lnTo>
                  <a:lnTo>
                    <a:pt x="61" y="64"/>
                  </a:lnTo>
                  <a:lnTo>
                    <a:pt x="67" y="87"/>
                  </a:lnTo>
                  <a:lnTo>
                    <a:pt x="71" y="110"/>
                  </a:lnTo>
                  <a:lnTo>
                    <a:pt x="46" y="112"/>
                  </a:lnTo>
                  <a:close/>
                  <a:moveTo>
                    <a:pt x="19" y="37"/>
                  </a:moveTo>
                  <a:lnTo>
                    <a:pt x="11" y="27"/>
                  </a:lnTo>
                  <a:lnTo>
                    <a:pt x="0" y="16"/>
                  </a:lnTo>
                  <a:lnTo>
                    <a:pt x="15" y="0"/>
                  </a:lnTo>
                  <a:lnTo>
                    <a:pt x="27" y="12"/>
                  </a:lnTo>
                  <a:lnTo>
                    <a:pt x="38" y="23"/>
                  </a:lnTo>
                  <a:lnTo>
                    <a:pt x="19" y="37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81" name="Freeform 175"/>
            <p:cNvSpPr>
              <a:spLocks/>
            </p:cNvSpPr>
            <p:nvPr/>
          </p:nvSpPr>
          <p:spPr bwMode="auto">
            <a:xfrm>
              <a:off x="4069" y="2448"/>
              <a:ext cx="182" cy="119"/>
            </a:xfrm>
            <a:custGeom>
              <a:avLst/>
              <a:gdLst>
                <a:gd name="T0" fmla="*/ 11 w 182"/>
                <a:gd name="T1" fmla="*/ 119 h 119"/>
                <a:gd name="T2" fmla="*/ 48 w 182"/>
                <a:gd name="T3" fmla="*/ 92 h 119"/>
                <a:gd name="T4" fmla="*/ 90 w 182"/>
                <a:gd name="T5" fmla="*/ 67 h 119"/>
                <a:gd name="T6" fmla="*/ 134 w 182"/>
                <a:gd name="T7" fmla="*/ 42 h 119"/>
                <a:gd name="T8" fmla="*/ 182 w 182"/>
                <a:gd name="T9" fmla="*/ 19 h 119"/>
                <a:gd name="T10" fmla="*/ 174 w 182"/>
                <a:gd name="T11" fmla="*/ 0 h 119"/>
                <a:gd name="T12" fmla="*/ 124 w 182"/>
                <a:gd name="T13" fmla="*/ 25 h 119"/>
                <a:gd name="T14" fmla="*/ 80 w 182"/>
                <a:gd name="T15" fmla="*/ 50 h 119"/>
                <a:gd name="T16" fmla="*/ 38 w 182"/>
                <a:gd name="T17" fmla="*/ 75 h 119"/>
                <a:gd name="T18" fmla="*/ 0 w 182"/>
                <a:gd name="T19" fmla="*/ 101 h 119"/>
                <a:gd name="T20" fmla="*/ 11 w 182"/>
                <a:gd name="T21" fmla="*/ 119 h 11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2" h="119">
                  <a:moveTo>
                    <a:pt x="11" y="119"/>
                  </a:moveTo>
                  <a:lnTo>
                    <a:pt x="48" y="92"/>
                  </a:lnTo>
                  <a:lnTo>
                    <a:pt x="90" y="67"/>
                  </a:lnTo>
                  <a:lnTo>
                    <a:pt x="134" y="42"/>
                  </a:lnTo>
                  <a:lnTo>
                    <a:pt x="182" y="19"/>
                  </a:lnTo>
                  <a:lnTo>
                    <a:pt x="174" y="0"/>
                  </a:lnTo>
                  <a:lnTo>
                    <a:pt x="124" y="25"/>
                  </a:lnTo>
                  <a:lnTo>
                    <a:pt x="80" y="50"/>
                  </a:lnTo>
                  <a:lnTo>
                    <a:pt x="38" y="75"/>
                  </a:lnTo>
                  <a:lnTo>
                    <a:pt x="0" y="101"/>
                  </a:lnTo>
                  <a:lnTo>
                    <a:pt x="11" y="119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82" name="Freeform 176"/>
            <p:cNvSpPr>
              <a:spLocks/>
            </p:cNvSpPr>
            <p:nvPr/>
          </p:nvSpPr>
          <p:spPr bwMode="auto">
            <a:xfrm>
              <a:off x="3913" y="2563"/>
              <a:ext cx="152" cy="155"/>
            </a:xfrm>
            <a:custGeom>
              <a:avLst/>
              <a:gdLst>
                <a:gd name="T0" fmla="*/ 16 w 152"/>
                <a:gd name="T1" fmla="*/ 155 h 155"/>
                <a:gd name="T2" fmla="*/ 21 w 152"/>
                <a:gd name="T3" fmla="*/ 146 h 155"/>
                <a:gd name="T4" fmla="*/ 44 w 152"/>
                <a:gd name="T5" fmla="*/ 117 h 155"/>
                <a:gd name="T6" fmla="*/ 71 w 152"/>
                <a:gd name="T7" fmla="*/ 88 h 155"/>
                <a:gd name="T8" fmla="*/ 100 w 152"/>
                <a:gd name="T9" fmla="*/ 59 h 155"/>
                <a:gd name="T10" fmla="*/ 131 w 152"/>
                <a:gd name="T11" fmla="*/ 31 h 155"/>
                <a:gd name="T12" fmla="*/ 152 w 152"/>
                <a:gd name="T13" fmla="*/ 15 h 155"/>
                <a:gd name="T14" fmla="*/ 140 w 152"/>
                <a:gd name="T15" fmla="*/ 0 h 155"/>
                <a:gd name="T16" fmla="*/ 119 w 152"/>
                <a:gd name="T17" fmla="*/ 15 h 155"/>
                <a:gd name="T18" fmla="*/ 87 w 152"/>
                <a:gd name="T19" fmla="*/ 44 h 155"/>
                <a:gd name="T20" fmla="*/ 58 w 152"/>
                <a:gd name="T21" fmla="*/ 75 h 155"/>
                <a:gd name="T22" fmla="*/ 31 w 152"/>
                <a:gd name="T23" fmla="*/ 102 h 155"/>
                <a:gd name="T24" fmla="*/ 6 w 152"/>
                <a:gd name="T25" fmla="*/ 134 h 155"/>
                <a:gd name="T26" fmla="*/ 0 w 152"/>
                <a:gd name="T27" fmla="*/ 144 h 155"/>
                <a:gd name="T28" fmla="*/ 16 w 152"/>
                <a:gd name="T29" fmla="*/ 155 h 15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52" h="155">
                  <a:moveTo>
                    <a:pt x="16" y="155"/>
                  </a:moveTo>
                  <a:lnTo>
                    <a:pt x="21" y="146"/>
                  </a:lnTo>
                  <a:lnTo>
                    <a:pt x="44" y="117"/>
                  </a:lnTo>
                  <a:lnTo>
                    <a:pt x="71" y="88"/>
                  </a:lnTo>
                  <a:lnTo>
                    <a:pt x="100" y="59"/>
                  </a:lnTo>
                  <a:lnTo>
                    <a:pt x="131" y="31"/>
                  </a:lnTo>
                  <a:lnTo>
                    <a:pt x="152" y="15"/>
                  </a:lnTo>
                  <a:lnTo>
                    <a:pt x="140" y="0"/>
                  </a:lnTo>
                  <a:lnTo>
                    <a:pt x="119" y="15"/>
                  </a:lnTo>
                  <a:lnTo>
                    <a:pt x="87" y="44"/>
                  </a:lnTo>
                  <a:lnTo>
                    <a:pt x="58" y="75"/>
                  </a:lnTo>
                  <a:lnTo>
                    <a:pt x="31" y="102"/>
                  </a:lnTo>
                  <a:lnTo>
                    <a:pt x="6" y="134"/>
                  </a:lnTo>
                  <a:lnTo>
                    <a:pt x="0" y="144"/>
                  </a:lnTo>
                  <a:lnTo>
                    <a:pt x="16" y="155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83" name="Freeform 177"/>
            <p:cNvSpPr>
              <a:spLocks/>
            </p:cNvSpPr>
            <p:nvPr/>
          </p:nvSpPr>
          <p:spPr bwMode="auto">
            <a:xfrm>
              <a:off x="3840" y="2724"/>
              <a:ext cx="79" cy="196"/>
            </a:xfrm>
            <a:custGeom>
              <a:avLst/>
              <a:gdLst>
                <a:gd name="T0" fmla="*/ 23 w 79"/>
                <a:gd name="T1" fmla="*/ 196 h 196"/>
                <a:gd name="T2" fmla="*/ 25 w 79"/>
                <a:gd name="T3" fmla="*/ 167 h 196"/>
                <a:gd name="T4" fmla="*/ 27 w 79"/>
                <a:gd name="T5" fmla="*/ 136 h 196"/>
                <a:gd name="T6" fmla="*/ 37 w 79"/>
                <a:gd name="T7" fmla="*/ 106 h 196"/>
                <a:gd name="T8" fmla="*/ 44 w 79"/>
                <a:gd name="T9" fmla="*/ 75 h 196"/>
                <a:gd name="T10" fmla="*/ 60 w 79"/>
                <a:gd name="T11" fmla="*/ 46 h 196"/>
                <a:gd name="T12" fmla="*/ 75 w 79"/>
                <a:gd name="T13" fmla="*/ 14 h 196"/>
                <a:gd name="T14" fmla="*/ 79 w 79"/>
                <a:gd name="T15" fmla="*/ 12 h 196"/>
                <a:gd name="T16" fmla="*/ 64 w 79"/>
                <a:gd name="T17" fmla="*/ 0 h 196"/>
                <a:gd name="T18" fmla="*/ 60 w 79"/>
                <a:gd name="T19" fmla="*/ 6 h 196"/>
                <a:gd name="T20" fmla="*/ 43 w 79"/>
                <a:gd name="T21" fmla="*/ 35 h 196"/>
                <a:gd name="T22" fmla="*/ 27 w 79"/>
                <a:gd name="T23" fmla="*/ 69 h 196"/>
                <a:gd name="T24" fmla="*/ 16 w 79"/>
                <a:gd name="T25" fmla="*/ 100 h 196"/>
                <a:gd name="T26" fmla="*/ 10 w 79"/>
                <a:gd name="T27" fmla="*/ 131 h 196"/>
                <a:gd name="T28" fmla="*/ 4 w 79"/>
                <a:gd name="T29" fmla="*/ 165 h 196"/>
                <a:gd name="T30" fmla="*/ 0 w 79"/>
                <a:gd name="T31" fmla="*/ 194 h 196"/>
                <a:gd name="T32" fmla="*/ 23 w 79"/>
                <a:gd name="T33" fmla="*/ 196 h 1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9" h="196">
                  <a:moveTo>
                    <a:pt x="23" y="196"/>
                  </a:moveTo>
                  <a:lnTo>
                    <a:pt x="25" y="167"/>
                  </a:lnTo>
                  <a:lnTo>
                    <a:pt x="27" y="136"/>
                  </a:lnTo>
                  <a:lnTo>
                    <a:pt x="37" y="106"/>
                  </a:lnTo>
                  <a:lnTo>
                    <a:pt x="44" y="75"/>
                  </a:lnTo>
                  <a:lnTo>
                    <a:pt x="60" y="46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64" y="0"/>
                  </a:lnTo>
                  <a:lnTo>
                    <a:pt x="60" y="6"/>
                  </a:lnTo>
                  <a:lnTo>
                    <a:pt x="43" y="35"/>
                  </a:lnTo>
                  <a:lnTo>
                    <a:pt x="27" y="69"/>
                  </a:lnTo>
                  <a:lnTo>
                    <a:pt x="16" y="100"/>
                  </a:lnTo>
                  <a:lnTo>
                    <a:pt x="10" y="131"/>
                  </a:lnTo>
                  <a:lnTo>
                    <a:pt x="4" y="165"/>
                  </a:lnTo>
                  <a:lnTo>
                    <a:pt x="0" y="194"/>
                  </a:lnTo>
                  <a:lnTo>
                    <a:pt x="23" y="196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84" name="Freeform 178"/>
            <p:cNvSpPr>
              <a:spLocks/>
            </p:cNvSpPr>
            <p:nvPr/>
          </p:nvSpPr>
          <p:spPr bwMode="auto">
            <a:xfrm>
              <a:off x="3844" y="2939"/>
              <a:ext cx="85" cy="190"/>
            </a:xfrm>
            <a:custGeom>
              <a:avLst/>
              <a:gdLst>
                <a:gd name="T0" fmla="*/ 85 w 85"/>
                <a:gd name="T1" fmla="*/ 177 h 190"/>
                <a:gd name="T2" fmla="*/ 71 w 85"/>
                <a:gd name="T3" fmla="*/ 158 h 190"/>
                <a:gd name="T4" fmla="*/ 56 w 85"/>
                <a:gd name="T5" fmla="*/ 129 h 190"/>
                <a:gd name="T6" fmla="*/ 40 w 85"/>
                <a:gd name="T7" fmla="*/ 102 h 190"/>
                <a:gd name="T8" fmla="*/ 33 w 85"/>
                <a:gd name="T9" fmla="*/ 73 h 190"/>
                <a:gd name="T10" fmla="*/ 23 w 85"/>
                <a:gd name="T11" fmla="*/ 42 h 190"/>
                <a:gd name="T12" fmla="*/ 21 w 85"/>
                <a:gd name="T13" fmla="*/ 12 h 190"/>
                <a:gd name="T14" fmla="*/ 19 w 85"/>
                <a:gd name="T15" fmla="*/ 0 h 190"/>
                <a:gd name="T16" fmla="*/ 0 w 85"/>
                <a:gd name="T17" fmla="*/ 0 h 190"/>
                <a:gd name="T18" fmla="*/ 0 w 85"/>
                <a:gd name="T19" fmla="*/ 14 h 190"/>
                <a:gd name="T20" fmla="*/ 6 w 85"/>
                <a:gd name="T21" fmla="*/ 46 h 190"/>
                <a:gd name="T22" fmla="*/ 14 w 85"/>
                <a:gd name="T23" fmla="*/ 79 h 190"/>
                <a:gd name="T24" fmla="*/ 23 w 85"/>
                <a:gd name="T25" fmla="*/ 108 h 190"/>
                <a:gd name="T26" fmla="*/ 39 w 85"/>
                <a:gd name="T27" fmla="*/ 140 h 190"/>
                <a:gd name="T28" fmla="*/ 56 w 85"/>
                <a:gd name="T29" fmla="*/ 171 h 190"/>
                <a:gd name="T30" fmla="*/ 67 w 85"/>
                <a:gd name="T31" fmla="*/ 190 h 190"/>
                <a:gd name="T32" fmla="*/ 85 w 85"/>
                <a:gd name="T33" fmla="*/ 177 h 1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5" h="190">
                  <a:moveTo>
                    <a:pt x="85" y="177"/>
                  </a:moveTo>
                  <a:lnTo>
                    <a:pt x="71" y="158"/>
                  </a:lnTo>
                  <a:lnTo>
                    <a:pt x="56" y="129"/>
                  </a:lnTo>
                  <a:lnTo>
                    <a:pt x="40" y="102"/>
                  </a:lnTo>
                  <a:lnTo>
                    <a:pt x="33" y="73"/>
                  </a:lnTo>
                  <a:lnTo>
                    <a:pt x="23" y="42"/>
                  </a:lnTo>
                  <a:lnTo>
                    <a:pt x="21" y="12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14"/>
                  </a:lnTo>
                  <a:lnTo>
                    <a:pt x="6" y="46"/>
                  </a:lnTo>
                  <a:lnTo>
                    <a:pt x="14" y="79"/>
                  </a:lnTo>
                  <a:lnTo>
                    <a:pt x="23" y="108"/>
                  </a:lnTo>
                  <a:lnTo>
                    <a:pt x="39" y="140"/>
                  </a:lnTo>
                  <a:lnTo>
                    <a:pt x="56" y="171"/>
                  </a:lnTo>
                  <a:lnTo>
                    <a:pt x="67" y="190"/>
                  </a:lnTo>
                  <a:lnTo>
                    <a:pt x="85" y="177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85" name="Freeform 179"/>
            <p:cNvSpPr>
              <a:spLocks/>
            </p:cNvSpPr>
            <p:nvPr/>
          </p:nvSpPr>
          <p:spPr bwMode="auto">
            <a:xfrm>
              <a:off x="3927" y="3133"/>
              <a:ext cx="161" cy="144"/>
            </a:xfrm>
            <a:custGeom>
              <a:avLst/>
              <a:gdLst>
                <a:gd name="T0" fmla="*/ 161 w 161"/>
                <a:gd name="T1" fmla="*/ 125 h 144"/>
                <a:gd name="T2" fmla="*/ 151 w 161"/>
                <a:gd name="T3" fmla="*/ 121 h 144"/>
                <a:gd name="T4" fmla="*/ 117 w 161"/>
                <a:gd name="T5" fmla="*/ 98 h 144"/>
                <a:gd name="T6" fmla="*/ 84 w 161"/>
                <a:gd name="T7" fmla="*/ 73 h 144"/>
                <a:gd name="T8" fmla="*/ 55 w 161"/>
                <a:gd name="T9" fmla="*/ 46 h 144"/>
                <a:gd name="T10" fmla="*/ 30 w 161"/>
                <a:gd name="T11" fmla="*/ 21 h 144"/>
                <a:gd name="T12" fmla="*/ 15 w 161"/>
                <a:gd name="T13" fmla="*/ 0 h 144"/>
                <a:gd name="T14" fmla="*/ 0 w 161"/>
                <a:gd name="T15" fmla="*/ 10 h 144"/>
                <a:gd name="T16" fmla="*/ 17 w 161"/>
                <a:gd name="T17" fmla="*/ 33 h 144"/>
                <a:gd name="T18" fmla="*/ 44 w 161"/>
                <a:gd name="T19" fmla="*/ 59 h 144"/>
                <a:gd name="T20" fmla="*/ 75 w 161"/>
                <a:gd name="T21" fmla="*/ 88 h 144"/>
                <a:gd name="T22" fmla="*/ 105 w 161"/>
                <a:gd name="T23" fmla="*/ 113 h 144"/>
                <a:gd name="T24" fmla="*/ 142 w 161"/>
                <a:gd name="T25" fmla="*/ 138 h 144"/>
                <a:gd name="T26" fmla="*/ 151 w 161"/>
                <a:gd name="T27" fmla="*/ 144 h 144"/>
                <a:gd name="T28" fmla="*/ 161 w 161"/>
                <a:gd name="T29" fmla="*/ 125 h 1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1" h="144">
                  <a:moveTo>
                    <a:pt x="161" y="125"/>
                  </a:moveTo>
                  <a:lnTo>
                    <a:pt x="151" y="121"/>
                  </a:lnTo>
                  <a:lnTo>
                    <a:pt x="117" y="98"/>
                  </a:lnTo>
                  <a:lnTo>
                    <a:pt x="84" y="73"/>
                  </a:lnTo>
                  <a:lnTo>
                    <a:pt x="55" y="46"/>
                  </a:lnTo>
                  <a:lnTo>
                    <a:pt x="30" y="21"/>
                  </a:lnTo>
                  <a:lnTo>
                    <a:pt x="15" y="0"/>
                  </a:lnTo>
                  <a:lnTo>
                    <a:pt x="0" y="10"/>
                  </a:lnTo>
                  <a:lnTo>
                    <a:pt x="17" y="33"/>
                  </a:lnTo>
                  <a:lnTo>
                    <a:pt x="44" y="59"/>
                  </a:lnTo>
                  <a:lnTo>
                    <a:pt x="75" y="88"/>
                  </a:lnTo>
                  <a:lnTo>
                    <a:pt x="105" y="113"/>
                  </a:lnTo>
                  <a:lnTo>
                    <a:pt x="142" y="138"/>
                  </a:lnTo>
                  <a:lnTo>
                    <a:pt x="151" y="144"/>
                  </a:lnTo>
                  <a:lnTo>
                    <a:pt x="161" y="125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86" name="Freeform 180"/>
            <p:cNvSpPr>
              <a:spLocks/>
            </p:cNvSpPr>
            <p:nvPr/>
          </p:nvSpPr>
          <p:spPr bwMode="auto">
            <a:xfrm>
              <a:off x="4096" y="3269"/>
              <a:ext cx="155" cy="87"/>
            </a:xfrm>
            <a:custGeom>
              <a:avLst/>
              <a:gdLst>
                <a:gd name="T0" fmla="*/ 155 w 155"/>
                <a:gd name="T1" fmla="*/ 67 h 87"/>
                <a:gd name="T2" fmla="*/ 107 w 155"/>
                <a:gd name="T3" fmla="*/ 50 h 87"/>
                <a:gd name="T4" fmla="*/ 63 w 155"/>
                <a:gd name="T5" fmla="*/ 29 h 87"/>
                <a:gd name="T6" fmla="*/ 21 w 155"/>
                <a:gd name="T7" fmla="*/ 8 h 87"/>
                <a:gd name="T8" fmla="*/ 9 w 155"/>
                <a:gd name="T9" fmla="*/ 0 h 87"/>
                <a:gd name="T10" fmla="*/ 0 w 155"/>
                <a:gd name="T11" fmla="*/ 16 h 87"/>
                <a:gd name="T12" fmla="*/ 11 w 155"/>
                <a:gd name="T13" fmla="*/ 25 h 87"/>
                <a:gd name="T14" fmla="*/ 53 w 155"/>
                <a:gd name="T15" fmla="*/ 48 h 87"/>
                <a:gd name="T16" fmla="*/ 99 w 155"/>
                <a:gd name="T17" fmla="*/ 66 h 87"/>
                <a:gd name="T18" fmla="*/ 147 w 155"/>
                <a:gd name="T19" fmla="*/ 87 h 87"/>
                <a:gd name="T20" fmla="*/ 155 w 155"/>
                <a:gd name="T21" fmla="*/ 67 h 8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5" h="87">
                  <a:moveTo>
                    <a:pt x="155" y="67"/>
                  </a:moveTo>
                  <a:lnTo>
                    <a:pt x="107" y="50"/>
                  </a:lnTo>
                  <a:lnTo>
                    <a:pt x="63" y="29"/>
                  </a:lnTo>
                  <a:lnTo>
                    <a:pt x="21" y="8"/>
                  </a:lnTo>
                  <a:lnTo>
                    <a:pt x="9" y="0"/>
                  </a:lnTo>
                  <a:lnTo>
                    <a:pt x="0" y="16"/>
                  </a:lnTo>
                  <a:lnTo>
                    <a:pt x="11" y="25"/>
                  </a:lnTo>
                  <a:lnTo>
                    <a:pt x="53" y="48"/>
                  </a:lnTo>
                  <a:lnTo>
                    <a:pt x="99" y="66"/>
                  </a:lnTo>
                  <a:lnTo>
                    <a:pt x="147" y="87"/>
                  </a:lnTo>
                  <a:lnTo>
                    <a:pt x="155" y="67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87" name="Freeform 181"/>
            <p:cNvSpPr>
              <a:spLocks noEditPoints="1"/>
            </p:cNvSpPr>
            <p:nvPr/>
          </p:nvSpPr>
          <p:spPr bwMode="auto">
            <a:xfrm>
              <a:off x="4180" y="2655"/>
              <a:ext cx="84" cy="490"/>
            </a:xfrm>
            <a:custGeom>
              <a:avLst/>
              <a:gdLst>
                <a:gd name="T0" fmla="*/ 77 w 84"/>
                <a:gd name="T1" fmla="*/ 33 h 490"/>
                <a:gd name="T2" fmla="*/ 59 w 84"/>
                <a:gd name="T3" fmla="*/ 56 h 490"/>
                <a:gd name="T4" fmla="*/ 46 w 84"/>
                <a:gd name="T5" fmla="*/ 81 h 490"/>
                <a:gd name="T6" fmla="*/ 33 w 84"/>
                <a:gd name="T7" fmla="*/ 111 h 490"/>
                <a:gd name="T8" fmla="*/ 17 w 84"/>
                <a:gd name="T9" fmla="*/ 113 h 490"/>
                <a:gd name="T10" fmla="*/ 29 w 84"/>
                <a:gd name="T11" fmla="*/ 81 h 490"/>
                <a:gd name="T12" fmla="*/ 42 w 84"/>
                <a:gd name="T13" fmla="*/ 52 h 490"/>
                <a:gd name="T14" fmla="*/ 59 w 84"/>
                <a:gd name="T15" fmla="*/ 25 h 490"/>
                <a:gd name="T16" fmla="*/ 81 w 84"/>
                <a:gd name="T17" fmla="*/ 0 h 490"/>
                <a:gd name="T18" fmla="*/ 29 w 84"/>
                <a:gd name="T19" fmla="*/ 125 h 490"/>
                <a:gd name="T20" fmla="*/ 21 w 84"/>
                <a:gd name="T21" fmla="*/ 152 h 490"/>
                <a:gd name="T22" fmla="*/ 15 w 84"/>
                <a:gd name="T23" fmla="*/ 179 h 490"/>
                <a:gd name="T24" fmla="*/ 11 w 84"/>
                <a:gd name="T25" fmla="*/ 209 h 490"/>
                <a:gd name="T26" fmla="*/ 11 w 84"/>
                <a:gd name="T27" fmla="*/ 238 h 490"/>
                <a:gd name="T28" fmla="*/ 0 w 84"/>
                <a:gd name="T29" fmla="*/ 223 h 490"/>
                <a:gd name="T30" fmla="*/ 4 w 84"/>
                <a:gd name="T31" fmla="*/ 190 h 490"/>
                <a:gd name="T32" fmla="*/ 8 w 84"/>
                <a:gd name="T33" fmla="*/ 159 h 490"/>
                <a:gd name="T34" fmla="*/ 13 w 84"/>
                <a:gd name="T35" fmla="*/ 129 h 490"/>
                <a:gd name="T36" fmla="*/ 29 w 84"/>
                <a:gd name="T37" fmla="*/ 125 h 490"/>
                <a:gd name="T38" fmla="*/ 11 w 84"/>
                <a:gd name="T39" fmla="*/ 253 h 490"/>
                <a:gd name="T40" fmla="*/ 13 w 84"/>
                <a:gd name="T41" fmla="*/ 282 h 490"/>
                <a:gd name="T42" fmla="*/ 17 w 84"/>
                <a:gd name="T43" fmla="*/ 311 h 490"/>
                <a:gd name="T44" fmla="*/ 23 w 84"/>
                <a:gd name="T45" fmla="*/ 340 h 490"/>
                <a:gd name="T46" fmla="*/ 15 w 84"/>
                <a:gd name="T47" fmla="*/ 365 h 490"/>
                <a:gd name="T48" fmla="*/ 10 w 84"/>
                <a:gd name="T49" fmla="*/ 334 h 490"/>
                <a:gd name="T50" fmla="*/ 4 w 84"/>
                <a:gd name="T51" fmla="*/ 301 h 490"/>
                <a:gd name="T52" fmla="*/ 0 w 84"/>
                <a:gd name="T53" fmla="*/ 271 h 490"/>
                <a:gd name="T54" fmla="*/ 0 w 84"/>
                <a:gd name="T55" fmla="*/ 238 h 490"/>
                <a:gd name="T56" fmla="*/ 27 w 84"/>
                <a:gd name="T57" fmla="*/ 353 h 490"/>
                <a:gd name="T58" fmla="*/ 36 w 84"/>
                <a:gd name="T59" fmla="*/ 386 h 490"/>
                <a:gd name="T60" fmla="*/ 50 w 84"/>
                <a:gd name="T61" fmla="*/ 415 h 490"/>
                <a:gd name="T62" fmla="*/ 67 w 84"/>
                <a:gd name="T63" fmla="*/ 445 h 490"/>
                <a:gd name="T64" fmla="*/ 84 w 84"/>
                <a:gd name="T65" fmla="*/ 470 h 490"/>
                <a:gd name="T66" fmla="*/ 69 w 84"/>
                <a:gd name="T67" fmla="*/ 478 h 490"/>
                <a:gd name="T68" fmla="*/ 50 w 84"/>
                <a:gd name="T69" fmla="*/ 449 h 490"/>
                <a:gd name="T70" fmla="*/ 35 w 84"/>
                <a:gd name="T71" fmla="*/ 415 h 490"/>
                <a:gd name="T72" fmla="*/ 21 w 84"/>
                <a:gd name="T73" fmla="*/ 382 h 490"/>
                <a:gd name="T74" fmla="*/ 27 w 84"/>
                <a:gd name="T75" fmla="*/ 353 h 4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4" h="490">
                  <a:moveTo>
                    <a:pt x="84" y="21"/>
                  </a:moveTo>
                  <a:lnTo>
                    <a:pt x="77" y="33"/>
                  </a:lnTo>
                  <a:lnTo>
                    <a:pt x="69" y="44"/>
                  </a:lnTo>
                  <a:lnTo>
                    <a:pt x="59" y="56"/>
                  </a:lnTo>
                  <a:lnTo>
                    <a:pt x="52" y="69"/>
                  </a:lnTo>
                  <a:lnTo>
                    <a:pt x="46" y="81"/>
                  </a:lnTo>
                  <a:lnTo>
                    <a:pt x="38" y="96"/>
                  </a:lnTo>
                  <a:lnTo>
                    <a:pt x="33" y="111"/>
                  </a:lnTo>
                  <a:lnTo>
                    <a:pt x="29" y="125"/>
                  </a:lnTo>
                  <a:lnTo>
                    <a:pt x="17" y="113"/>
                  </a:lnTo>
                  <a:lnTo>
                    <a:pt x="23" y="98"/>
                  </a:lnTo>
                  <a:lnTo>
                    <a:pt x="29" y="81"/>
                  </a:lnTo>
                  <a:lnTo>
                    <a:pt x="36" y="65"/>
                  </a:lnTo>
                  <a:lnTo>
                    <a:pt x="42" y="52"/>
                  </a:lnTo>
                  <a:lnTo>
                    <a:pt x="52" y="38"/>
                  </a:lnTo>
                  <a:lnTo>
                    <a:pt x="59" y="25"/>
                  </a:lnTo>
                  <a:lnTo>
                    <a:pt x="71" y="10"/>
                  </a:lnTo>
                  <a:lnTo>
                    <a:pt x="81" y="0"/>
                  </a:lnTo>
                  <a:lnTo>
                    <a:pt x="84" y="21"/>
                  </a:lnTo>
                  <a:close/>
                  <a:moveTo>
                    <a:pt x="29" y="125"/>
                  </a:moveTo>
                  <a:lnTo>
                    <a:pt x="25" y="138"/>
                  </a:lnTo>
                  <a:lnTo>
                    <a:pt x="21" y="152"/>
                  </a:lnTo>
                  <a:lnTo>
                    <a:pt x="17" y="167"/>
                  </a:lnTo>
                  <a:lnTo>
                    <a:pt x="15" y="179"/>
                  </a:lnTo>
                  <a:lnTo>
                    <a:pt x="15" y="194"/>
                  </a:lnTo>
                  <a:lnTo>
                    <a:pt x="11" y="209"/>
                  </a:lnTo>
                  <a:lnTo>
                    <a:pt x="11" y="223"/>
                  </a:lnTo>
                  <a:lnTo>
                    <a:pt x="11" y="238"/>
                  </a:lnTo>
                  <a:lnTo>
                    <a:pt x="0" y="238"/>
                  </a:lnTo>
                  <a:lnTo>
                    <a:pt x="0" y="223"/>
                  </a:lnTo>
                  <a:lnTo>
                    <a:pt x="2" y="205"/>
                  </a:lnTo>
                  <a:lnTo>
                    <a:pt x="4" y="190"/>
                  </a:lnTo>
                  <a:lnTo>
                    <a:pt x="6" y="175"/>
                  </a:lnTo>
                  <a:lnTo>
                    <a:pt x="8" y="159"/>
                  </a:lnTo>
                  <a:lnTo>
                    <a:pt x="11" y="142"/>
                  </a:lnTo>
                  <a:lnTo>
                    <a:pt x="13" y="129"/>
                  </a:lnTo>
                  <a:lnTo>
                    <a:pt x="17" y="113"/>
                  </a:lnTo>
                  <a:lnTo>
                    <a:pt x="29" y="125"/>
                  </a:lnTo>
                  <a:close/>
                  <a:moveTo>
                    <a:pt x="11" y="238"/>
                  </a:moveTo>
                  <a:lnTo>
                    <a:pt x="11" y="253"/>
                  </a:lnTo>
                  <a:lnTo>
                    <a:pt x="11" y="267"/>
                  </a:lnTo>
                  <a:lnTo>
                    <a:pt x="13" y="282"/>
                  </a:lnTo>
                  <a:lnTo>
                    <a:pt x="15" y="294"/>
                  </a:lnTo>
                  <a:lnTo>
                    <a:pt x="17" y="311"/>
                  </a:lnTo>
                  <a:lnTo>
                    <a:pt x="19" y="323"/>
                  </a:lnTo>
                  <a:lnTo>
                    <a:pt x="23" y="340"/>
                  </a:lnTo>
                  <a:lnTo>
                    <a:pt x="27" y="353"/>
                  </a:lnTo>
                  <a:lnTo>
                    <a:pt x="15" y="365"/>
                  </a:lnTo>
                  <a:lnTo>
                    <a:pt x="11" y="349"/>
                  </a:lnTo>
                  <a:lnTo>
                    <a:pt x="10" y="334"/>
                  </a:lnTo>
                  <a:lnTo>
                    <a:pt x="6" y="319"/>
                  </a:lnTo>
                  <a:lnTo>
                    <a:pt x="4" y="301"/>
                  </a:lnTo>
                  <a:lnTo>
                    <a:pt x="2" y="286"/>
                  </a:lnTo>
                  <a:lnTo>
                    <a:pt x="0" y="271"/>
                  </a:lnTo>
                  <a:lnTo>
                    <a:pt x="0" y="253"/>
                  </a:lnTo>
                  <a:lnTo>
                    <a:pt x="0" y="238"/>
                  </a:lnTo>
                  <a:lnTo>
                    <a:pt x="11" y="238"/>
                  </a:lnTo>
                  <a:close/>
                  <a:moveTo>
                    <a:pt x="27" y="353"/>
                  </a:moveTo>
                  <a:lnTo>
                    <a:pt x="33" y="369"/>
                  </a:lnTo>
                  <a:lnTo>
                    <a:pt x="36" y="386"/>
                  </a:lnTo>
                  <a:lnTo>
                    <a:pt x="42" y="401"/>
                  </a:lnTo>
                  <a:lnTo>
                    <a:pt x="50" y="415"/>
                  </a:lnTo>
                  <a:lnTo>
                    <a:pt x="58" y="432"/>
                  </a:lnTo>
                  <a:lnTo>
                    <a:pt x="67" y="445"/>
                  </a:lnTo>
                  <a:lnTo>
                    <a:pt x="75" y="459"/>
                  </a:lnTo>
                  <a:lnTo>
                    <a:pt x="84" y="470"/>
                  </a:lnTo>
                  <a:lnTo>
                    <a:pt x="81" y="490"/>
                  </a:lnTo>
                  <a:lnTo>
                    <a:pt x="69" y="478"/>
                  </a:lnTo>
                  <a:lnTo>
                    <a:pt x="59" y="463"/>
                  </a:lnTo>
                  <a:lnTo>
                    <a:pt x="50" y="449"/>
                  </a:lnTo>
                  <a:lnTo>
                    <a:pt x="42" y="434"/>
                  </a:lnTo>
                  <a:lnTo>
                    <a:pt x="35" y="415"/>
                  </a:lnTo>
                  <a:lnTo>
                    <a:pt x="27" y="399"/>
                  </a:lnTo>
                  <a:lnTo>
                    <a:pt x="21" y="382"/>
                  </a:lnTo>
                  <a:lnTo>
                    <a:pt x="15" y="365"/>
                  </a:lnTo>
                  <a:lnTo>
                    <a:pt x="27" y="353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88" name="Freeform 182"/>
            <p:cNvSpPr>
              <a:spLocks noEditPoints="1"/>
            </p:cNvSpPr>
            <p:nvPr/>
          </p:nvSpPr>
          <p:spPr bwMode="auto">
            <a:xfrm>
              <a:off x="4257" y="2459"/>
              <a:ext cx="67" cy="206"/>
            </a:xfrm>
            <a:custGeom>
              <a:avLst/>
              <a:gdLst>
                <a:gd name="T0" fmla="*/ 19 w 67"/>
                <a:gd name="T1" fmla="*/ 0 h 206"/>
                <a:gd name="T2" fmla="*/ 32 w 67"/>
                <a:gd name="T3" fmla="*/ 12 h 206"/>
                <a:gd name="T4" fmla="*/ 46 w 67"/>
                <a:gd name="T5" fmla="*/ 27 h 206"/>
                <a:gd name="T6" fmla="*/ 27 w 67"/>
                <a:gd name="T7" fmla="*/ 39 h 206"/>
                <a:gd name="T8" fmla="*/ 17 w 67"/>
                <a:gd name="T9" fmla="*/ 29 h 206"/>
                <a:gd name="T10" fmla="*/ 4 w 67"/>
                <a:gd name="T11" fmla="*/ 19 h 206"/>
                <a:gd name="T12" fmla="*/ 19 w 67"/>
                <a:gd name="T13" fmla="*/ 0 h 206"/>
                <a:gd name="T14" fmla="*/ 46 w 67"/>
                <a:gd name="T15" fmla="*/ 27 h 206"/>
                <a:gd name="T16" fmla="*/ 53 w 67"/>
                <a:gd name="T17" fmla="*/ 44 h 206"/>
                <a:gd name="T18" fmla="*/ 63 w 67"/>
                <a:gd name="T19" fmla="*/ 62 h 206"/>
                <a:gd name="T20" fmla="*/ 67 w 67"/>
                <a:gd name="T21" fmla="*/ 81 h 206"/>
                <a:gd name="T22" fmla="*/ 67 w 67"/>
                <a:gd name="T23" fmla="*/ 102 h 206"/>
                <a:gd name="T24" fmla="*/ 46 w 67"/>
                <a:gd name="T25" fmla="*/ 102 h 206"/>
                <a:gd name="T26" fmla="*/ 44 w 67"/>
                <a:gd name="T27" fmla="*/ 85 h 206"/>
                <a:gd name="T28" fmla="*/ 38 w 67"/>
                <a:gd name="T29" fmla="*/ 69 h 206"/>
                <a:gd name="T30" fmla="*/ 32 w 67"/>
                <a:gd name="T31" fmla="*/ 54 h 206"/>
                <a:gd name="T32" fmla="*/ 27 w 67"/>
                <a:gd name="T33" fmla="*/ 39 h 206"/>
                <a:gd name="T34" fmla="*/ 46 w 67"/>
                <a:gd name="T35" fmla="*/ 27 h 206"/>
                <a:gd name="T36" fmla="*/ 67 w 67"/>
                <a:gd name="T37" fmla="*/ 102 h 206"/>
                <a:gd name="T38" fmla="*/ 65 w 67"/>
                <a:gd name="T39" fmla="*/ 121 h 206"/>
                <a:gd name="T40" fmla="*/ 63 w 67"/>
                <a:gd name="T41" fmla="*/ 140 h 206"/>
                <a:gd name="T42" fmla="*/ 53 w 67"/>
                <a:gd name="T43" fmla="*/ 158 h 206"/>
                <a:gd name="T44" fmla="*/ 44 w 67"/>
                <a:gd name="T45" fmla="*/ 179 h 206"/>
                <a:gd name="T46" fmla="*/ 23 w 67"/>
                <a:gd name="T47" fmla="*/ 163 h 206"/>
                <a:gd name="T48" fmla="*/ 30 w 67"/>
                <a:gd name="T49" fmla="*/ 150 h 206"/>
                <a:gd name="T50" fmla="*/ 38 w 67"/>
                <a:gd name="T51" fmla="*/ 135 h 206"/>
                <a:gd name="T52" fmla="*/ 44 w 67"/>
                <a:gd name="T53" fmla="*/ 117 h 206"/>
                <a:gd name="T54" fmla="*/ 46 w 67"/>
                <a:gd name="T55" fmla="*/ 102 h 206"/>
                <a:gd name="T56" fmla="*/ 67 w 67"/>
                <a:gd name="T57" fmla="*/ 102 h 206"/>
                <a:gd name="T58" fmla="*/ 44 w 67"/>
                <a:gd name="T59" fmla="*/ 179 h 206"/>
                <a:gd name="T60" fmla="*/ 29 w 67"/>
                <a:gd name="T61" fmla="*/ 194 h 206"/>
                <a:gd name="T62" fmla="*/ 11 w 67"/>
                <a:gd name="T63" fmla="*/ 206 h 206"/>
                <a:gd name="T64" fmla="*/ 0 w 67"/>
                <a:gd name="T65" fmla="*/ 188 h 206"/>
                <a:gd name="T66" fmla="*/ 11 w 67"/>
                <a:gd name="T67" fmla="*/ 177 h 206"/>
                <a:gd name="T68" fmla="*/ 23 w 67"/>
                <a:gd name="T69" fmla="*/ 163 h 206"/>
                <a:gd name="T70" fmla="*/ 44 w 67"/>
                <a:gd name="T71" fmla="*/ 179 h 2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7" h="206">
                  <a:moveTo>
                    <a:pt x="19" y="0"/>
                  </a:moveTo>
                  <a:lnTo>
                    <a:pt x="32" y="12"/>
                  </a:lnTo>
                  <a:lnTo>
                    <a:pt x="46" y="27"/>
                  </a:lnTo>
                  <a:lnTo>
                    <a:pt x="27" y="39"/>
                  </a:lnTo>
                  <a:lnTo>
                    <a:pt x="17" y="29"/>
                  </a:lnTo>
                  <a:lnTo>
                    <a:pt x="4" y="19"/>
                  </a:lnTo>
                  <a:lnTo>
                    <a:pt x="19" y="0"/>
                  </a:lnTo>
                  <a:close/>
                  <a:moveTo>
                    <a:pt x="46" y="27"/>
                  </a:moveTo>
                  <a:lnTo>
                    <a:pt x="53" y="44"/>
                  </a:lnTo>
                  <a:lnTo>
                    <a:pt x="63" y="62"/>
                  </a:lnTo>
                  <a:lnTo>
                    <a:pt x="67" y="81"/>
                  </a:lnTo>
                  <a:lnTo>
                    <a:pt x="67" y="102"/>
                  </a:lnTo>
                  <a:lnTo>
                    <a:pt x="46" y="102"/>
                  </a:lnTo>
                  <a:lnTo>
                    <a:pt x="44" y="85"/>
                  </a:lnTo>
                  <a:lnTo>
                    <a:pt x="38" y="69"/>
                  </a:lnTo>
                  <a:lnTo>
                    <a:pt x="32" y="54"/>
                  </a:lnTo>
                  <a:lnTo>
                    <a:pt x="27" y="39"/>
                  </a:lnTo>
                  <a:lnTo>
                    <a:pt x="46" y="27"/>
                  </a:lnTo>
                  <a:close/>
                  <a:moveTo>
                    <a:pt x="67" y="102"/>
                  </a:moveTo>
                  <a:lnTo>
                    <a:pt x="65" y="121"/>
                  </a:lnTo>
                  <a:lnTo>
                    <a:pt x="63" y="140"/>
                  </a:lnTo>
                  <a:lnTo>
                    <a:pt x="53" y="158"/>
                  </a:lnTo>
                  <a:lnTo>
                    <a:pt x="44" y="179"/>
                  </a:lnTo>
                  <a:lnTo>
                    <a:pt x="23" y="163"/>
                  </a:lnTo>
                  <a:lnTo>
                    <a:pt x="30" y="150"/>
                  </a:lnTo>
                  <a:lnTo>
                    <a:pt x="38" y="135"/>
                  </a:lnTo>
                  <a:lnTo>
                    <a:pt x="44" y="117"/>
                  </a:lnTo>
                  <a:lnTo>
                    <a:pt x="46" y="102"/>
                  </a:lnTo>
                  <a:lnTo>
                    <a:pt x="67" y="102"/>
                  </a:lnTo>
                  <a:close/>
                  <a:moveTo>
                    <a:pt x="44" y="179"/>
                  </a:moveTo>
                  <a:lnTo>
                    <a:pt x="29" y="194"/>
                  </a:lnTo>
                  <a:lnTo>
                    <a:pt x="11" y="206"/>
                  </a:lnTo>
                  <a:lnTo>
                    <a:pt x="0" y="188"/>
                  </a:lnTo>
                  <a:lnTo>
                    <a:pt x="11" y="177"/>
                  </a:lnTo>
                  <a:lnTo>
                    <a:pt x="23" y="163"/>
                  </a:lnTo>
                  <a:lnTo>
                    <a:pt x="44" y="179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89" name="Freeform 183"/>
            <p:cNvSpPr>
              <a:spLocks noEditPoints="1"/>
            </p:cNvSpPr>
            <p:nvPr/>
          </p:nvSpPr>
          <p:spPr bwMode="auto">
            <a:xfrm>
              <a:off x="4259" y="3125"/>
              <a:ext cx="71" cy="221"/>
            </a:xfrm>
            <a:custGeom>
              <a:avLst/>
              <a:gdLst>
                <a:gd name="T0" fmla="*/ 4 w 71"/>
                <a:gd name="T1" fmla="*/ 202 h 221"/>
                <a:gd name="T2" fmla="*/ 15 w 71"/>
                <a:gd name="T3" fmla="*/ 194 h 221"/>
                <a:gd name="T4" fmla="*/ 21 w 71"/>
                <a:gd name="T5" fmla="*/ 183 h 221"/>
                <a:gd name="T6" fmla="*/ 42 w 71"/>
                <a:gd name="T7" fmla="*/ 200 h 221"/>
                <a:gd name="T8" fmla="*/ 30 w 71"/>
                <a:gd name="T9" fmla="*/ 210 h 221"/>
                <a:gd name="T10" fmla="*/ 21 w 71"/>
                <a:gd name="T11" fmla="*/ 221 h 221"/>
                <a:gd name="T12" fmla="*/ 4 w 71"/>
                <a:gd name="T13" fmla="*/ 202 h 221"/>
                <a:gd name="T14" fmla="*/ 21 w 71"/>
                <a:gd name="T15" fmla="*/ 183 h 221"/>
                <a:gd name="T16" fmla="*/ 30 w 71"/>
                <a:gd name="T17" fmla="*/ 169 h 221"/>
                <a:gd name="T18" fmla="*/ 40 w 71"/>
                <a:gd name="T19" fmla="*/ 150 h 221"/>
                <a:gd name="T20" fmla="*/ 44 w 71"/>
                <a:gd name="T21" fmla="*/ 133 h 221"/>
                <a:gd name="T22" fmla="*/ 46 w 71"/>
                <a:gd name="T23" fmla="*/ 112 h 221"/>
                <a:gd name="T24" fmla="*/ 71 w 71"/>
                <a:gd name="T25" fmla="*/ 110 h 221"/>
                <a:gd name="T26" fmla="*/ 67 w 71"/>
                <a:gd name="T27" fmla="*/ 125 h 221"/>
                <a:gd name="T28" fmla="*/ 67 w 71"/>
                <a:gd name="T29" fmla="*/ 135 h 221"/>
                <a:gd name="T30" fmla="*/ 67 w 71"/>
                <a:gd name="T31" fmla="*/ 148 h 221"/>
                <a:gd name="T32" fmla="*/ 63 w 71"/>
                <a:gd name="T33" fmla="*/ 156 h 221"/>
                <a:gd name="T34" fmla="*/ 57 w 71"/>
                <a:gd name="T35" fmla="*/ 169 h 221"/>
                <a:gd name="T36" fmla="*/ 51 w 71"/>
                <a:gd name="T37" fmla="*/ 181 h 221"/>
                <a:gd name="T38" fmla="*/ 48 w 71"/>
                <a:gd name="T39" fmla="*/ 188 h 221"/>
                <a:gd name="T40" fmla="*/ 42 w 71"/>
                <a:gd name="T41" fmla="*/ 200 h 221"/>
                <a:gd name="T42" fmla="*/ 21 w 71"/>
                <a:gd name="T43" fmla="*/ 183 h 221"/>
                <a:gd name="T44" fmla="*/ 46 w 71"/>
                <a:gd name="T45" fmla="*/ 112 h 221"/>
                <a:gd name="T46" fmla="*/ 44 w 71"/>
                <a:gd name="T47" fmla="*/ 91 h 221"/>
                <a:gd name="T48" fmla="*/ 38 w 71"/>
                <a:gd name="T49" fmla="*/ 73 h 221"/>
                <a:gd name="T50" fmla="*/ 30 w 71"/>
                <a:gd name="T51" fmla="*/ 56 h 221"/>
                <a:gd name="T52" fmla="*/ 19 w 71"/>
                <a:gd name="T53" fmla="*/ 37 h 221"/>
                <a:gd name="T54" fmla="*/ 38 w 71"/>
                <a:gd name="T55" fmla="*/ 23 h 221"/>
                <a:gd name="T56" fmla="*/ 46 w 71"/>
                <a:gd name="T57" fmla="*/ 33 h 221"/>
                <a:gd name="T58" fmla="*/ 50 w 71"/>
                <a:gd name="T59" fmla="*/ 43 h 221"/>
                <a:gd name="T60" fmla="*/ 57 w 71"/>
                <a:gd name="T61" fmla="*/ 54 h 221"/>
                <a:gd name="T62" fmla="*/ 61 w 71"/>
                <a:gd name="T63" fmla="*/ 64 h 221"/>
                <a:gd name="T64" fmla="*/ 67 w 71"/>
                <a:gd name="T65" fmla="*/ 87 h 221"/>
                <a:gd name="T66" fmla="*/ 71 w 71"/>
                <a:gd name="T67" fmla="*/ 110 h 221"/>
                <a:gd name="T68" fmla="*/ 46 w 71"/>
                <a:gd name="T69" fmla="*/ 112 h 221"/>
                <a:gd name="T70" fmla="*/ 19 w 71"/>
                <a:gd name="T71" fmla="*/ 37 h 221"/>
                <a:gd name="T72" fmla="*/ 11 w 71"/>
                <a:gd name="T73" fmla="*/ 27 h 221"/>
                <a:gd name="T74" fmla="*/ 0 w 71"/>
                <a:gd name="T75" fmla="*/ 16 h 221"/>
                <a:gd name="T76" fmla="*/ 15 w 71"/>
                <a:gd name="T77" fmla="*/ 0 h 221"/>
                <a:gd name="T78" fmla="*/ 27 w 71"/>
                <a:gd name="T79" fmla="*/ 12 h 221"/>
                <a:gd name="T80" fmla="*/ 38 w 71"/>
                <a:gd name="T81" fmla="*/ 23 h 221"/>
                <a:gd name="T82" fmla="*/ 19 w 71"/>
                <a:gd name="T83" fmla="*/ 37 h 22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1" h="221">
                  <a:moveTo>
                    <a:pt x="4" y="202"/>
                  </a:moveTo>
                  <a:lnTo>
                    <a:pt x="15" y="194"/>
                  </a:lnTo>
                  <a:lnTo>
                    <a:pt x="21" y="183"/>
                  </a:lnTo>
                  <a:lnTo>
                    <a:pt x="42" y="200"/>
                  </a:lnTo>
                  <a:lnTo>
                    <a:pt x="30" y="210"/>
                  </a:lnTo>
                  <a:lnTo>
                    <a:pt x="21" y="221"/>
                  </a:lnTo>
                  <a:lnTo>
                    <a:pt x="4" y="202"/>
                  </a:lnTo>
                  <a:close/>
                  <a:moveTo>
                    <a:pt x="21" y="183"/>
                  </a:moveTo>
                  <a:lnTo>
                    <a:pt x="30" y="169"/>
                  </a:lnTo>
                  <a:lnTo>
                    <a:pt x="40" y="150"/>
                  </a:lnTo>
                  <a:lnTo>
                    <a:pt x="44" y="133"/>
                  </a:lnTo>
                  <a:lnTo>
                    <a:pt x="46" y="112"/>
                  </a:lnTo>
                  <a:lnTo>
                    <a:pt x="71" y="110"/>
                  </a:lnTo>
                  <a:lnTo>
                    <a:pt x="67" y="125"/>
                  </a:lnTo>
                  <a:lnTo>
                    <a:pt x="67" y="135"/>
                  </a:lnTo>
                  <a:lnTo>
                    <a:pt x="67" y="148"/>
                  </a:lnTo>
                  <a:lnTo>
                    <a:pt x="63" y="156"/>
                  </a:lnTo>
                  <a:lnTo>
                    <a:pt x="57" y="169"/>
                  </a:lnTo>
                  <a:lnTo>
                    <a:pt x="51" y="181"/>
                  </a:lnTo>
                  <a:lnTo>
                    <a:pt x="48" y="188"/>
                  </a:lnTo>
                  <a:lnTo>
                    <a:pt x="42" y="200"/>
                  </a:lnTo>
                  <a:lnTo>
                    <a:pt x="21" y="183"/>
                  </a:lnTo>
                  <a:close/>
                  <a:moveTo>
                    <a:pt x="46" y="112"/>
                  </a:moveTo>
                  <a:lnTo>
                    <a:pt x="44" y="91"/>
                  </a:lnTo>
                  <a:lnTo>
                    <a:pt x="38" y="73"/>
                  </a:lnTo>
                  <a:lnTo>
                    <a:pt x="30" y="56"/>
                  </a:lnTo>
                  <a:lnTo>
                    <a:pt x="19" y="37"/>
                  </a:lnTo>
                  <a:lnTo>
                    <a:pt x="38" y="23"/>
                  </a:lnTo>
                  <a:lnTo>
                    <a:pt x="46" y="33"/>
                  </a:lnTo>
                  <a:lnTo>
                    <a:pt x="50" y="43"/>
                  </a:lnTo>
                  <a:lnTo>
                    <a:pt x="57" y="54"/>
                  </a:lnTo>
                  <a:lnTo>
                    <a:pt x="61" y="64"/>
                  </a:lnTo>
                  <a:lnTo>
                    <a:pt x="67" y="87"/>
                  </a:lnTo>
                  <a:lnTo>
                    <a:pt x="71" y="110"/>
                  </a:lnTo>
                  <a:lnTo>
                    <a:pt x="46" y="112"/>
                  </a:lnTo>
                  <a:close/>
                  <a:moveTo>
                    <a:pt x="19" y="37"/>
                  </a:moveTo>
                  <a:lnTo>
                    <a:pt x="11" y="27"/>
                  </a:lnTo>
                  <a:lnTo>
                    <a:pt x="0" y="16"/>
                  </a:lnTo>
                  <a:lnTo>
                    <a:pt x="15" y="0"/>
                  </a:lnTo>
                  <a:lnTo>
                    <a:pt x="27" y="12"/>
                  </a:lnTo>
                  <a:lnTo>
                    <a:pt x="38" y="23"/>
                  </a:lnTo>
                  <a:lnTo>
                    <a:pt x="19" y="37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776" name="Group 184"/>
          <p:cNvGrpSpPr>
            <a:grpSpLocks/>
          </p:cNvGrpSpPr>
          <p:nvPr/>
        </p:nvGrpSpPr>
        <p:grpSpPr bwMode="auto">
          <a:xfrm>
            <a:off x="2376488" y="4808538"/>
            <a:ext cx="773112" cy="1439862"/>
            <a:chOff x="4679" y="2454"/>
            <a:chExt cx="487" cy="907"/>
          </a:xfrm>
        </p:grpSpPr>
        <p:sp>
          <p:nvSpPr>
            <p:cNvPr id="32854" name="Freeform 185"/>
            <p:cNvSpPr>
              <a:spLocks/>
            </p:cNvSpPr>
            <p:nvPr/>
          </p:nvSpPr>
          <p:spPr bwMode="auto">
            <a:xfrm>
              <a:off x="4758" y="2454"/>
              <a:ext cx="182" cy="119"/>
            </a:xfrm>
            <a:custGeom>
              <a:avLst/>
              <a:gdLst>
                <a:gd name="T0" fmla="*/ 169 w 182"/>
                <a:gd name="T1" fmla="*/ 119 h 119"/>
                <a:gd name="T2" fmla="*/ 134 w 182"/>
                <a:gd name="T3" fmla="*/ 92 h 119"/>
                <a:gd name="T4" fmla="*/ 92 w 182"/>
                <a:gd name="T5" fmla="*/ 67 h 119"/>
                <a:gd name="T6" fmla="*/ 48 w 182"/>
                <a:gd name="T7" fmla="*/ 42 h 119"/>
                <a:gd name="T8" fmla="*/ 0 w 182"/>
                <a:gd name="T9" fmla="*/ 19 h 119"/>
                <a:gd name="T10" fmla="*/ 7 w 182"/>
                <a:gd name="T11" fmla="*/ 0 h 119"/>
                <a:gd name="T12" fmla="*/ 57 w 182"/>
                <a:gd name="T13" fmla="*/ 24 h 119"/>
                <a:gd name="T14" fmla="*/ 101 w 182"/>
                <a:gd name="T15" fmla="*/ 49 h 119"/>
                <a:gd name="T16" fmla="*/ 144 w 182"/>
                <a:gd name="T17" fmla="*/ 76 h 119"/>
                <a:gd name="T18" fmla="*/ 182 w 182"/>
                <a:gd name="T19" fmla="*/ 101 h 119"/>
                <a:gd name="T20" fmla="*/ 169 w 182"/>
                <a:gd name="T21" fmla="*/ 119 h 11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2" h="119">
                  <a:moveTo>
                    <a:pt x="169" y="119"/>
                  </a:moveTo>
                  <a:lnTo>
                    <a:pt x="134" y="92"/>
                  </a:lnTo>
                  <a:lnTo>
                    <a:pt x="92" y="67"/>
                  </a:lnTo>
                  <a:lnTo>
                    <a:pt x="48" y="42"/>
                  </a:lnTo>
                  <a:lnTo>
                    <a:pt x="0" y="19"/>
                  </a:lnTo>
                  <a:lnTo>
                    <a:pt x="7" y="0"/>
                  </a:lnTo>
                  <a:lnTo>
                    <a:pt x="57" y="24"/>
                  </a:lnTo>
                  <a:lnTo>
                    <a:pt x="101" y="49"/>
                  </a:lnTo>
                  <a:lnTo>
                    <a:pt x="144" y="76"/>
                  </a:lnTo>
                  <a:lnTo>
                    <a:pt x="182" y="101"/>
                  </a:lnTo>
                  <a:lnTo>
                    <a:pt x="169" y="119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55" name="Freeform 186"/>
            <p:cNvSpPr>
              <a:spLocks/>
            </p:cNvSpPr>
            <p:nvPr/>
          </p:nvSpPr>
          <p:spPr bwMode="auto">
            <a:xfrm>
              <a:off x="4944" y="2569"/>
              <a:ext cx="149" cy="155"/>
            </a:xfrm>
            <a:custGeom>
              <a:avLst/>
              <a:gdLst>
                <a:gd name="T0" fmla="*/ 136 w 149"/>
                <a:gd name="T1" fmla="*/ 155 h 155"/>
                <a:gd name="T2" fmla="*/ 130 w 149"/>
                <a:gd name="T3" fmla="*/ 146 h 155"/>
                <a:gd name="T4" fmla="*/ 107 w 149"/>
                <a:gd name="T5" fmla="*/ 117 h 155"/>
                <a:gd name="T6" fmla="*/ 78 w 149"/>
                <a:gd name="T7" fmla="*/ 88 h 155"/>
                <a:gd name="T8" fmla="*/ 52 w 149"/>
                <a:gd name="T9" fmla="*/ 59 h 155"/>
                <a:gd name="T10" fmla="*/ 21 w 149"/>
                <a:gd name="T11" fmla="*/ 30 h 155"/>
                <a:gd name="T12" fmla="*/ 0 w 149"/>
                <a:gd name="T13" fmla="*/ 15 h 155"/>
                <a:gd name="T14" fmla="*/ 11 w 149"/>
                <a:gd name="T15" fmla="*/ 0 h 155"/>
                <a:gd name="T16" fmla="*/ 30 w 149"/>
                <a:gd name="T17" fmla="*/ 15 h 155"/>
                <a:gd name="T18" fmla="*/ 65 w 149"/>
                <a:gd name="T19" fmla="*/ 44 h 155"/>
                <a:gd name="T20" fmla="*/ 94 w 149"/>
                <a:gd name="T21" fmla="*/ 75 h 155"/>
                <a:gd name="T22" fmla="*/ 121 w 149"/>
                <a:gd name="T23" fmla="*/ 103 h 155"/>
                <a:gd name="T24" fmla="*/ 146 w 149"/>
                <a:gd name="T25" fmla="*/ 134 h 155"/>
                <a:gd name="T26" fmla="*/ 149 w 149"/>
                <a:gd name="T27" fmla="*/ 144 h 155"/>
                <a:gd name="T28" fmla="*/ 136 w 149"/>
                <a:gd name="T29" fmla="*/ 155 h 15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49" h="155">
                  <a:moveTo>
                    <a:pt x="136" y="155"/>
                  </a:moveTo>
                  <a:lnTo>
                    <a:pt x="130" y="146"/>
                  </a:lnTo>
                  <a:lnTo>
                    <a:pt x="107" y="117"/>
                  </a:lnTo>
                  <a:lnTo>
                    <a:pt x="78" y="88"/>
                  </a:lnTo>
                  <a:lnTo>
                    <a:pt x="52" y="59"/>
                  </a:lnTo>
                  <a:lnTo>
                    <a:pt x="21" y="30"/>
                  </a:lnTo>
                  <a:lnTo>
                    <a:pt x="0" y="15"/>
                  </a:lnTo>
                  <a:lnTo>
                    <a:pt x="11" y="0"/>
                  </a:lnTo>
                  <a:lnTo>
                    <a:pt x="30" y="15"/>
                  </a:lnTo>
                  <a:lnTo>
                    <a:pt x="65" y="44"/>
                  </a:lnTo>
                  <a:lnTo>
                    <a:pt x="94" y="75"/>
                  </a:lnTo>
                  <a:lnTo>
                    <a:pt x="121" y="103"/>
                  </a:lnTo>
                  <a:lnTo>
                    <a:pt x="146" y="134"/>
                  </a:lnTo>
                  <a:lnTo>
                    <a:pt x="149" y="144"/>
                  </a:lnTo>
                  <a:lnTo>
                    <a:pt x="136" y="155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56" name="Freeform 187"/>
            <p:cNvSpPr>
              <a:spLocks/>
            </p:cNvSpPr>
            <p:nvPr/>
          </p:nvSpPr>
          <p:spPr bwMode="auto">
            <a:xfrm>
              <a:off x="5090" y="2730"/>
              <a:ext cx="76" cy="196"/>
            </a:xfrm>
            <a:custGeom>
              <a:avLst/>
              <a:gdLst>
                <a:gd name="T0" fmla="*/ 55 w 76"/>
                <a:gd name="T1" fmla="*/ 196 h 196"/>
                <a:gd name="T2" fmla="*/ 53 w 76"/>
                <a:gd name="T3" fmla="*/ 167 h 196"/>
                <a:gd name="T4" fmla="*/ 50 w 76"/>
                <a:gd name="T5" fmla="*/ 136 h 196"/>
                <a:gd name="T6" fmla="*/ 42 w 76"/>
                <a:gd name="T7" fmla="*/ 105 h 196"/>
                <a:gd name="T8" fmla="*/ 34 w 76"/>
                <a:gd name="T9" fmla="*/ 75 h 196"/>
                <a:gd name="T10" fmla="*/ 19 w 76"/>
                <a:gd name="T11" fmla="*/ 46 h 196"/>
                <a:gd name="T12" fmla="*/ 2 w 76"/>
                <a:gd name="T13" fmla="*/ 15 h 196"/>
                <a:gd name="T14" fmla="*/ 0 w 76"/>
                <a:gd name="T15" fmla="*/ 11 h 196"/>
                <a:gd name="T16" fmla="*/ 15 w 76"/>
                <a:gd name="T17" fmla="*/ 0 h 196"/>
                <a:gd name="T18" fmla="*/ 19 w 76"/>
                <a:gd name="T19" fmla="*/ 6 h 196"/>
                <a:gd name="T20" fmla="*/ 36 w 76"/>
                <a:gd name="T21" fmla="*/ 36 h 196"/>
                <a:gd name="T22" fmla="*/ 50 w 76"/>
                <a:gd name="T23" fmla="*/ 69 h 196"/>
                <a:gd name="T24" fmla="*/ 63 w 76"/>
                <a:gd name="T25" fmla="*/ 100 h 196"/>
                <a:gd name="T26" fmla="*/ 69 w 76"/>
                <a:gd name="T27" fmla="*/ 132 h 196"/>
                <a:gd name="T28" fmla="*/ 74 w 76"/>
                <a:gd name="T29" fmla="*/ 165 h 196"/>
                <a:gd name="T30" fmla="*/ 76 w 76"/>
                <a:gd name="T31" fmla="*/ 194 h 196"/>
                <a:gd name="T32" fmla="*/ 55 w 76"/>
                <a:gd name="T33" fmla="*/ 196 h 1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6" h="196">
                  <a:moveTo>
                    <a:pt x="55" y="196"/>
                  </a:moveTo>
                  <a:lnTo>
                    <a:pt x="53" y="167"/>
                  </a:lnTo>
                  <a:lnTo>
                    <a:pt x="50" y="136"/>
                  </a:lnTo>
                  <a:lnTo>
                    <a:pt x="42" y="105"/>
                  </a:lnTo>
                  <a:lnTo>
                    <a:pt x="34" y="75"/>
                  </a:lnTo>
                  <a:lnTo>
                    <a:pt x="19" y="46"/>
                  </a:lnTo>
                  <a:lnTo>
                    <a:pt x="2" y="15"/>
                  </a:lnTo>
                  <a:lnTo>
                    <a:pt x="0" y="11"/>
                  </a:lnTo>
                  <a:lnTo>
                    <a:pt x="15" y="0"/>
                  </a:lnTo>
                  <a:lnTo>
                    <a:pt x="19" y="6"/>
                  </a:lnTo>
                  <a:lnTo>
                    <a:pt x="36" y="36"/>
                  </a:lnTo>
                  <a:lnTo>
                    <a:pt x="50" y="69"/>
                  </a:lnTo>
                  <a:lnTo>
                    <a:pt x="63" y="100"/>
                  </a:lnTo>
                  <a:lnTo>
                    <a:pt x="69" y="132"/>
                  </a:lnTo>
                  <a:lnTo>
                    <a:pt x="74" y="165"/>
                  </a:lnTo>
                  <a:lnTo>
                    <a:pt x="76" y="194"/>
                  </a:lnTo>
                  <a:lnTo>
                    <a:pt x="55" y="196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57" name="Freeform 188"/>
            <p:cNvSpPr>
              <a:spLocks/>
            </p:cNvSpPr>
            <p:nvPr/>
          </p:nvSpPr>
          <p:spPr bwMode="auto">
            <a:xfrm>
              <a:off x="5080" y="2945"/>
              <a:ext cx="84" cy="190"/>
            </a:xfrm>
            <a:custGeom>
              <a:avLst/>
              <a:gdLst>
                <a:gd name="T0" fmla="*/ 0 w 84"/>
                <a:gd name="T1" fmla="*/ 176 h 190"/>
                <a:gd name="T2" fmla="*/ 12 w 84"/>
                <a:gd name="T3" fmla="*/ 159 h 190"/>
                <a:gd name="T4" fmla="*/ 29 w 84"/>
                <a:gd name="T5" fmla="*/ 128 h 190"/>
                <a:gd name="T6" fmla="*/ 44 w 84"/>
                <a:gd name="T7" fmla="*/ 102 h 190"/>
                <a:gd name="T8" fmla="*/ 52 w 84"/>
                <a:gd name="T9" fmla="*/ 73 h 190"/>
                <a:gd name="T10" fmla="*/ 60 w 84"/>
                <a:gd name="T11" fmla="*/ 42 h 190"/>
                <a:gd name="T12" fmla="*/ 63 w 84"/>
                <a:gd name="T13" fmla="*/ 13 h 190"/>
                <a:gd name="T14" fmla="*/ 65 w 84"/>
                <a:gd name="T15" fmla="*/ 0 h 190"/>
                <a:gd name="T16" fmla="*/ 84 w 84"/>
                <a:gd name="T17" fmla="*/ 0 h 190"/>
                <a:gd name="T18" fmla="*/ 84 w 84"/>
                <a:gd name="T19" fmla="*/ 15 h 190"/>
                <a:gd name="T20" fmla="*/ 79 w 84"/>
                <a:gd name="T21" fmla="*/ 46 h 190"/>
                <a:gd name="T22" fmla="*/ 71 w 84"/>
                <a:gd name="T23" fmla="*/ 79 h 190"/>
                <a:gd name="T24" fmla="*/ 60 w 84"/>
                <a:gd name="T25" fmla="*/ 109 h 190"/>
                <a:gd name="T26" fmla="*/ 46 w 84"/>
                <a:gd name="T27" fmla="*/ 140 h 190"/>
                <a:gd name="T28" fmla="*/ 29 w 84"/>
                <a:gd name="T29" fmla="*/ 171 h 190"/>
                <a:gd name="T30" fmla="*/ 15 w 84"/>
                <a:gd name="T31" fmla="*/ 190 h 190"/>
                <a:gd name="T32" fmla="*/ 0 w 84"/>
                <a:gd name="T33" fmla="*/ 176 h 1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4" h="190">
                  <a:moveTo>
                    <a:pt x="0" y="176"/>
                  </a:moveTo>
                  <a:lnTo>
                    <a:pt x="12" y="159"/>
                  </a:lnTo>
                  <a:lnTo>
                    <a:pt x="29" y="128"/>
                  </a:lnTo>
                  <a:lnTo>
                    <a:pt x="44" y="102"/>
                  </a:lnTo>
                  <a:lnTo>
                    <a:pt x="52" y="73"/>
                  </a:lnTo>
                  <a:lnTo>
                    <a:pt x="60" y="42"/>
                  </a:lnTo>
                  <a:lnTo>
                    <a:pt x="63" y="13"/>
                  </a:lnTo>
                  <a:lnTo>
                    <a:pt x="65" y="0"/>
                  </a:lnTo>
                  <a:lnTo>
                    <a:pt x="84" y="0"/>
                  </a:lnTo>
                  <a:lnTo>
                    <a:pt x="84" y="15"/>
                  </a:lnTo>
                  <a:lnTo>
                    <a:pt x="79" y="46"/>
                  </a:lnTo>
                  <a:lnTo>
                    <a:pt x="71" y="79"/>
                  </a:lnTo>
                  <a:lnTo>
                    <a:pt x="60" y="109"/>
                  </a:lnTo>
                  <a:lnTo>
                    <a:pt x="46" y="140"/>
                  </a:lnTo>
                  <a:lnTo>
                    <a:pt x="29" y="171"/>
                  </a:lnTo>
                  <a:lnTo>
                    <a:pt x="15" y="190"/>
                  </a:lnTo>
                  <a:lnTo>
                    <a:pt x="0" y="176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58" name="Freeform 189"/>
            <p:cNvSpPr>
              <a:spLocks/>
            </p:cNvSpPr>
            <p:nvPr/>
          </p:nvSpPr>
          <p:spPr bwMode="auto">
            <a:xfrm>
              <a:off x="4921" y="3139"/>
              <a:ext cx="161" cy="144"/>
            </a:xfrm>
            <a:custGeom>
              <a:avLst/>
              <a:gdLst>
                <a:gd name="T0" fmla="*/ 0 w 161"/>
                <a:gd name="T1" fmla="*/ 125 h 144"/>
                <a:gd name="T2" fmla="*/ 7 w 161"/>
                <a:gd name="T3" fmla="*/ 121 h 144"/>
                <a:gd name="T4" fmla="*/ 44 w 161"/>
                <a:gd name="T5" fmla="*/ 98 h 144"/>
                <a:gd name="T6" fmla="*/ 75 w 161"/>
                <a:gd name="T7" fmla="*/ 73 h 144"/>
                <a:gd name="T8" fmla="*/ 103 w 161"/>
                <a:gd name="T9" fmla="*/ 46 h 144"/>
                <a:gd name="T10" fmla="*/ 130 w 161"/>
                <a:gd name="T11" fmla="*/ 21 h 144"/>
                <a:gd name="T12" fmla="*/ 146 w 161"/>
                <a:gd name="T13" fmla="*/ 0 h 144"/>
                <a:gd name="T14" fmla="*/ 161 w 161"/>
                <a:gd name="T15" fmla="*/ 11 h 144"/>
                <a:gd name="T16" fmla="*/ 144 w 161"/>
                <a:gd name="T17" fmla="*/ 34 h 144"/>
                <a:gd name="T18" fmla="*/ 117 w 161"/>
                <a:gd name="T19" fmla="*/ 61 h 144"/>
                <a:gd name="T20" fmla="*/ 86 w 161"/>
                <a:gd name="T21" fmla="*/ 88 h 144"/>
                <a:gd name="T22" fmla="*/ 53 w 161"/>
                <a:gd name="T23" fmla="*/ 113 h 144"/>
                <a:gd name="T24" fmla="*/ 19 w 161"/>
                <a:gd name="T25" fmla="*/ 138 h 144"/>
                <a:gd name="T26" fmla="*/ 7 w 161"/>
                <a:gd name="T27" fmla="*/ 144 h 144"/>
                <a:gd name="T28" fmla="*/ 0 w 161"/>
                <a:gd name="T29" fmla="*/ 125 h 1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1" h="144">
                  <a:moveTo>
                    <a:pt x="0" y="125"/>
                  </a:moveTo>
                  <a:lnTo>
                    <a:pt x="7" y="121"/>
                  </a:lnTo>
                  <a:lnTo>
                    <a:pt x="44" y="98"/>
                  </a:lnTo>
                  <a:lnTo>
                    <a:pt x="75" y="73"/>
                  </a:lnTo>
                  <a:lnTo>
                    <a:pt x="103" y="46"/>
                  </a:lnTo>
                  <a:lnTo>
                    <a:pt x="130" y="21"/>
                  </a:lnTo>
                  <a:lnTo>
                    <a:pt x="146" y="0"/>
                  </a:lnTo>
                  <a:lnTo>
                    <a:pt x="161" y="11"/>
                  </a:lnTo>
                  <a:lnTo>
                    <a:pt x="144" y="34"/>
                  </a:lnTo>
                  <a:lnTo>
                    <a:pt x="117" y="61"/>
                  </a:lnTo>
                  <a:lnTo>
                    <a:pt x="86" y="88"/>
                  </a:lnTo>
                  <a:lnTo>
                    <a:pt x="53" y="113"/>
                  </a:lnTo>
                  <a:lnTo>
                    <a:pt x="19" y="138"/>
                  </a:lnTo>
                  <a:lnTo>
                    <a:pt x="7" y="144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59" name="Freeform 190"/>
            <p:cNvSpPr>
              <a:spLocks/>
            </p:cNvSpPr>
            <p:nvPr/>
          </p:nvSpPr>
          <p:spPr bwMode="auto">
            <a:xfrm>
              <a:off x="4758" y="3275"/>
              <a:ext cx="155" cy="86"/>
            </a:xfrm>
            <a:custGeom>
              <a:avLst/>
              <a:gdLst>
                <a:gd name="T0" fmla="*/ 0 w 155"/>
                <a:gd name="T1" fmla="*/ 69 h 86"/>
                <a:gd name="T2" fmla="*/ 48 w 155"/>
                <a:gd name="T3" fmla="*/ 50 h 86"/>
                <a:gd name="T4" fmla="*/ 92 w 155"/>
                <a:gd name="T5" fmla="*/ 29 h 86"/>
                <a:gd name="T6" fmla="*/ 134 w 155"/>
                <a:gd name="T7" fmla="*/ 8 h 86"/>
                <a:gd name="T8" fmla="*/ 145 w 155"/>
                <a:gd name="T9" fmla="*/ 0 h 86"/>
                <a:gd name="T10" fmla="*/ 155 w 155"/>
                <a:gd name="T11" fmla="*/ 17 h 86"/>
                <a:gd name="T12" fmla="*/ 144 w 155"/>
                <a:gd name="T13" fmla="*/ 25 h 86"/>
                <a:gd name="T14" fmla="*/ 101 w 155"/>
                <a:gd name="T15" fmla="*/ 48 h 86"/>
                <a:gd name="T16" fmla="*/ 55 w 155"/>
                <a:gd name="T17" fmla="*/ 67 h 86"/>
                <a:gd name="T18" fmla="*/ 7 w 155"/>
                <a:gd name="T19" fmla="*/ 86 h 86"/>
                <a:gd name="T20" fmla="*/ 0 w 155"/>
                <a:gd name="T21" fmla="*/ 69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5" h="86">
                  <a:moveTo>
                    <a:pt x="0" y="69"/>
                  </a:moveTo>
                  <a:lnTo>
                    <a:pt x="48" y="50"/>
                  </a:lnTo>
                  <a:lnTo>
                    <a:pt x="92" y="29"/>
                  </a:lnTo>
                  <a:lnTo>
                    <a:pt x="134" y="8"/>
                  </a:lnTo>
                  <a:lnTo>
                    <a:pt x="145" y="0"/>
                  </a:lnTo>
                  <a:lnTo>
                    <a:pt x="155" y="17"/>
                  </a:lnTo>
                  <a:lnTo>
                    <a:pt x="144" y="25"/>
                  </a:lnTo>
                  <a:lnTo>
                    <a:pt x="101" y="48"/>
                  </a:lnTo>
                  <a:lnTo>
                    <a:pt x="55" y="67"/>
                  </a:lnTo>
                  <a:lnTo>
                    <a:pt x="7" y="86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60" name="Freeform 191"/>
            <p:cNvSpPr>
              <a:spLocks noEditPoints="1"/>
            </p:cNvSpPr>
            <p:nvPr/>
          </p:nvSpPr>
          <p:spPr bwMode="auto">
            <a:xfrm>
              <a:off x="4744" y="2661"/>
              <a:ext cx="85" cy="491"/>
            </a:xfrm>
            <a:custGeom>
              <a:avLst/>
              <a:gdLst>
                <a:gd name="T0" fmla="*/ 8 w 85"/>
                <a:gd name="T1" fmla="*/ 32 h 491"/>
                <a:gd name="T2" fmla="*/ 25 w 85"/>
                <a:gd name="T3" fmla="*/ 55 h 491"/>
                <a:gd name="T4" fmla="*/ 39 w 85"/>
                <a:gd name="T5" fmla="*/ 82 h 491"/>
                <a:gd name="T6" fmla="*/ 52 w 85"/>
                <a:gd name="T7" fmla="*/ 111 h 491"/>
                <a:gd name="T8" fmla="*/ 65 w 85"/>
                <a:gd name="T9" fmla="*/ 113 h 491"/>
                <a:gd name="T10" fmla="*/ 56 w 85"/>
                <a:gd name="T11" fmla="*/ 80 h 491"/>
                <a:gd name="T12" fmla="*/ 41 w 85"/>
                <a:gd name="T13" fmla="*/ 52 h 491"/>
                <a:gd name="T14" fmla="*/ 25 w 85"/>
                <a:gd name="T15" fmla="*/ 25 h 491"/>
                <a:gd name="T16" fmla="*/ 4 w 85"/>
                <a:gd name="T17" fmla="*/ 0 h 491"/>
                <a:gd name="T18" fmla="*/ 56 w 85"/>
                <a:gd name="T19" fmla="*/ 125 h 491"/>
                <a:gd name="T20" fmla="*/ 64 w 85"/>
                <a:gd name="T21" fmla="*/ 153 h 491"/>
                <a:gd name="T22" fmla="*/ 67 w 85"/>
                <a:gd name="T23" fmla="*/ 180 h 491"/>
                <a:gd name="T24" fmla="*/ 73 w 85"/>
                <a:gd name="T25" fmla="*/ 209 h 491"/>
                <a:gd name="T26" fmla="*/ 73 w 85"/>
                <a:gd name="T27" fmla="*/ 238 h 491"/>
                <a:gd name="T28" fmla="*/ 85 w 85"/>
                <a:gd name="T29" fmla="*/ 222 h 491"/>
                <a:gd name="T30" fmla="*/ 81 w 85"/>
                <a:gd name="T31" fmla="*/ 190 h 491"/>
                <a:gd name="T32" fmla="*/ 77 w 85"/>
                <a:gd name="T33" fmla="*/ 159 h 491"/>
                <a:gd name="T34" fmla="*/ 71 w 85"/>
                <a:gd name="T35" fmla="*/ 128 h 491"/>
                <a:gd name="T36" fmla="*/ 56 w 85"/>
                <a:gd name="T37" fmla="*/ 125 h 491"/>
                <a:gd name="T38" fmla="*/ 73 w 85"/>
                <a:gd name="T39" fmla="*/ 253 h 491"/>
                <a:gd name="T40" fmla="*/ 71 w 85"/>
                <a:gd name="T41" fmla="*/ 282 h 491"/>
                <a:gd name="T42" fmla="*/ 67 w 85"/>
                <a:gd name="T43" fmla="*/ 311 h 491"/>
                <a:gd name="T44" fmla="*/ 62 w 85"/>
                <a:gd name="T45" fmla="*/ 340 h 491"/>
                <a:gd name="T46" fmla="*/ 67 w 85"/>
                <a:gd name="T47" fmla="*/ 365 h 491"/>
                <a:gd name="T48" fmla="*/ 75 w 85"/>
                <a:gd name="T49" fmla="*/ 334 h 491"/>
                <a:gd name="T50" fmla="*/ 81 w 85"/>
                <a:gd name="T51" fmla="*/ 301 h 491"/>
                <a:gd name="T52" fmla="*/ 85 w 85"/>
                <a:gd name="T53" fmla="*/ 270 h 491"/>
                <a:gd name="T54" fmla="*/ 85 w 85"/>
                <a:gd name="T55" fmla="*/ 238 h 491"/>
                <a:gd name="T56" fmla="*/ 58 w 85"/>
                <a:gd name="T57" fmla="*/ 353 h 491"/>
                <a:gd name="T58" fmla="*/ 48 w 85"/>
                <a:gd name="T59" fmla="*/ 386 h 491"/>
                <a:gd name="T60" fmla="*/ 35 w 85"/>
                <a:gd name="T61" fmla="*/ 416 h 491"/>
                <a:gd name="T62" fmla="*/ 17 w 85"/>
                <a:gd name="T63" fmla="*/ 445 h 491"/>
                <a:gd name="T64" fmla="*/ 0 w 85"/>
                <a:gd name="T65" fmla="*/ 470 h 491"/>
                <a:gd name="T66" fmla="*/ 16 w 85"/>
                <a:gd name="T67" fmla="*/ 478 h 491"/>
                <a:gd name="T68" fmla="*/ 35 w 85"/>
                <a:gd name="T69" fmla="*/ 449 h 491"/>
                <a:gd name="T70" fmla="*/ 50 w 85"/>
                <a:gd name="T71" fmla="*/ 416 h 491"/>
                <a:gd name="T72" fmla="*/ 64 w 85"/>
                <a:gd name="T73" fmla="*/ 382 h 491"/>
                <a:gd name="T74" fmla="*/ 58 w 85"/>
                <a:gd name="T75" fmla="*/ 353 h 49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5" h="491">
                  <a:moveTo>
                    <a:pt x="0" y="21"/>
                  </a:moveTo>
                  <a:lnTo>
                    <a:pt x="8" y="32"/>
                  </a:lnTo>
                  <a:lnTo>
                    <a:pt x="16" y="44"/>
                  </a:lnTo>
                  <a:lnTo>
                    <a:pt x="25" y="55"/>
                  </a:lnTo>
                  <a:lnTo>
                    <a:pt x="33" y="69"/>
                  </a:lnTo>
                  <a:lnTo>
                    <a:pt x="39" y="82"/>
                  </a:lnTo>
                  <a:lnTo>
                    <a:pt x="44" y="96"/>
                  </a:lnTo>
                  <a:lnTo>
                    <a:pt x="52" y="111"/>
                  </a:lnTo>
                  <a:lnTo>
                    <a:pt x="56" y="125"/>
                  </a:lnTo>
                  <a:lnTo>
                    <a:pt x="65" y="113"/>
                  </a:lnTo>
                  <a:lnTo>
                    <a:pt x="62" y="98"/>
                  </a:lnTo>
                  <a:lnTo>
                    <a:pt x="56" y="80"/>
                  </a:lnTo>
                  <a:lnTo>
                    <a:pt x="48" y="65"/>
                  </a:lnTo>
                  <a:lnTo>
                    <a:pt x="41" y="52"/>
                  </a:lnTo>
                  <a:lnTo>
                    <a:pt x="33" y="38"/>
                  </a:lnTo>
                  <a:lnTo>
                    <a:pt x="25" y="25"/>
                  </a:lnTo>
                  <a:lnTo>
                    <a:pt x="14" y="11"/>
                  </a:lnTo>
                  <a:lnTo>
                    <a:pt x="4" y="0"/>
                  </a:lnTo>
                  <a:lnTo>
                    <a:pt x="0" y="21"/>
                  </a:lnTo>
                  <a:close/>
                  <a:moveTo>
                    <a:pt x="56" y="125"/>
                  </a:moveTo>
                  <a:lnTo>
                    <a:pt x="60" y="138"/>
                  </a:lnTo>
                  <a:lnTo>
                    <a:pt x="64" y="153"/>
                  </a:lnTo>
                  <a:lnTo>
                    <a:pt x="65" y="167"/>
                  </a:lnTo>
                  <a:lnTo>
                    <a:pt x="67" y="180"/>
                  </a:lnTo>
                  <a:lnTo>
                    <a:pt x="69" y="194"/>
                  </a:lnTo>
                  <a:lnTo>
                    <a:pt x="73" y="209"/>
                  </a:lnTo>
                  <a:lnTo>
                    <a:pt x="73" y="224"/>
                  </a:lnTo>
                  <a:lnTo>
                    <a:pt x="73" y="238"/>
                  </a:lnTo>
                  <a:lnTo>
                    <a:pt x="85" y="238"/>
                  </a:lnTo>
                  <a:lnTo>
                    <a:pt x="85" y="222"/>
                  </a:lnTo>
                  <a:lnTo>
                    <a:pt x="83" y="205"/>
                  </a:lnTo>
                  <a:lnTo>
                    <a:pt x="81" y="190"/>
                  </a:lnTo>
                  <a:lnTo>
                    <a:pt x="79" y="174"/>
                  </a:lnTo>
                  <a:lnTo>
                    <a:pt x="77" y="159"/>
                  </a:lnTo>
                  <a:lnTo>
                    <a:pt x="73" y="142"/>
                  </a:lnTo>
                  <a:lnTo>
                    <a:pt x="71" y="128"/>
                  </a:lnTo>
                  <a:lnTo>
                    <a:pt x="65" y="113"/>
                  </a:lnTo>
                  <a:lnTo>
                    <a:pt x="56" y="125"/>
                  </a:lnTo>
                  <a:close/>
                  <a:moveTo>
                    <a:pt x="73" y="238"/>
                  </a:moveTo>
                  <a:lnTo>
                    <a:pt x="73" y="253"/>
                  </a:lnTo>
                  <a:lnTo>
                    <a:pt x="73" y="267"/>
                  </a:lnTo>
                  <a:lnTo>
                    <a:pt x="71" y="282"/>
                  </a:lnTo>
                  <a:lnTo>
                    <a:pt x="67" y="295"/>
                  </a:lnTo>
                  <a:lnTo>
                    <a:pt x="67" y="311"/>
                  </a:lnTo>
                  <a:lnTo>
                    <a:pt x="64" y="324"/>
                  </a:lnTo>
                  <a:lnTo>
                    <a:pt x="62" y="340"/>
                  </a:lnTo>
                  <a:lnTo>
                    <a:pt x="58" y="353"/>
                  </a:lnTo>
                  <a:lnTo>
                    <a:pt x="67" y="365"/>
                  </a:lnTo>
                  <a:lnTo>
                    <a:pt x="73" y="349"/>
                  </a:lnTo>
                  <a:lnTo>
                    <a:pt x="75" y="334"/>
                  </a:lnTo>
                  <a:lnTo>
                    <a:pt x="79" y="318"/>
                  </a:lnTo>
                  <a:lnTo>
                    <a:pt x="81" y="301"/>
                  </a:lnTo>
                  <a:lnTo>
                    <a:pt x="83" y="286"/>
                  </a:lnTo>
                  <a:lnTo>
                    <a:pt x="85" y="270"/>
                  </a:lnTo>
                  <a:lnTo>
                    <a:pt x="85" y="253"/>
                  </a:lnTo>
                  <a:lnTo>
                    <a:pt x="85" y="238"/>
                  </a:lnTo>
                  <a:lnTo>
                    <a:pt x="73" y="238"/>
                  </a:lnTo>
                  <a:close/>
                  <a:moveTo>
                    <a:pt x="58" y="353"/>
                  </a:moveTo>
                  <a:lnTo>
                    <a:pt x="52" y="370"/>
                  </a:lnTo>
                  <a:lnTo>
                    <a:pt x="48" y="386"/>
                  </a:lnTo>
                  <a:lnTo>
                    <a:pt x="41" y="401"/>
                  </a:lnTo>
                  <a:lnTo>
                    <a:pt x="35" y="416"/>
                  </a:lnTo>
                  <a:lnTo>
                    <a:pt x="27" y="432"/>
                  </a:lnTo>
                  <a:lnTo>
                    <a:pt x="17" y="445"/>
                  </a:lnTo>
                  <a:lnTo>
                    <a:pt x="10" y="459"/>
                  </a:lnTo>
                  <a:lnTo>
                    <a:pt x="0" y="470"/>
                  </a:lnTo>
                  <a:lnTo>
                    <a:pt x="4" y="491"/>
                  </a:lnTo>
                  <a:lnTo>
                    <a:pt x="16" y="478"/>
                  </a:lnTo>
                  <a:lnTo>
                    <a:pt x="25" y="464"/>
                  </a:lnTo>
                  <a:lnTo>
                    <a:pt x="35" y="449"/>
                  </a:lnTo>
                  <a:lnTo>
                    <a:pt x="42" y="434"/>
                  </a:lnTo>
                  <a:lnTo>
                    <a:pt x="50" y="416"/>
                  </a:lnTo>
                  <a:lnTo>
                    <a:pt x="58" y="399"/>
                  </a:lnTo>
                  <a:lnTo>
                    <a:pt x="64" y="382"/>
                  </a:lnTo>
                  <a:lnTo>
                    <a:pt x="67" y="365"/>
                  </a:lnTo>
                  <a:lnTo>
                    <a:pt x="58" y="353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61" name="Freeform 192"/>
            <p:cNvSpPr>
              <a:spLocks noEditPoints="1"/>
            </p:cNvSpPr>
            <p:nvPr/>
          </p:nvSpPr>
          <p:spPr bwMode="auto">
            <a:xfrm>
              <a:off x="4685" y="2465"/>
              <a:ext cx="67" cy="207"/>
            </a:xfrm>
            <a:custGeom>
              <a:avLst/>
              <a:gdLst>
                <a:gd name="T0" fmla="*/ 48 w 67"/>
                <a:gd name="T1" fmla="*/ 0 h 207"/>
                <a:gd name="T2" fmla="*/ 32 w 67"/>
                <a:gd name="T3" fmla="*/ 12 h 207"/>
                <a:gd name="T4" fmla="*/ 21 w 67"/>
                <a:gd name="T5" fmla="*/ 27 h 207"/>
                <a:gd name="T6" fmla="*/ 40 w 67"/>
                <a:gd name="T7" fmla="*/ 40 h 207"/>
                <a:gd name="T8" fmla="*/ 50 w 67"/>
                <a:gd name="T9" fmla="*/ 29 h 207"/>
                <a:gd name="T10" fmla="*/ 63 w 67"/>
                <a:gd name="T11" fmla="*/ 19 h 207"/>
                <a:gd name="T12" fmla="*/ 48 w 67"/>
                <a:gd name="T13" fmla="*/ 0 h 207"/>
                <a:gd name="T14" fmla="*/ 21 w 67"/>
                <a:gd name="T15" fmla="*/ 27 h 207"/>
                <a:gd name="T16" fmla="*/ 13 w 67"/>
                <a:gd name="T17" fmla="*/ 44 h 207"/>
                <a:gd name="T18" fmla="*/ 4 w 67"/>
                <a:gd name="T19" fmla="*/ 61 h 207"/>
                <a:gd name="T20" fmla="*/ 0 w 67"/>
                <a:gd name="T21" fmla="*/ 81 h 207"/>
                <a:gd name="T22" fmla="*/ 0 w 67"/>
                <a:gd name="T23" fmla="*/ 102 h 207"/>
                <a:gd name="T24" fmla="*/ 21 w 67"/>
                <a:gd name="T25" fmla="*/ 102 h 207"/>
                <a:gd name="T26" fmla="*/ 23 w 67"/>
                <a:gd name="T27" fmla="*/ 84 h 207"/>
                <a:gd name="T28" fmla="*/ 28 w 67"/>
                <a:gd name="T29" fmla="*/ 69 h 207"/>
                <a:gd name="T30" fmla="*/ 32 w 67"/>
                <a:gd name="T31" fmla="*/ 54 h 207"/>
                <a:gd name="T32" fmla="*/ 40 w 67"/>
                <a:gd name="T33" fmla="*/ 40 h 207"/>
                <a:gd name="T34" fmla="*/ 21 w 67"/>
                <a:gd name="T35" fmla="*/ 27 h 207"/>
                <a:gd name="T36" fmla="*/ 0 w 67"/>
                <a:gd name="T37" fmla="*/ 102 h 207"/>
                <a:gd name="T38" fmla="*/ 2 w 67"/>
                <a:gd name="T39" fmla="*/ 121 h 207"/>
                <a:gd name="T40" fmla="*/ 4 w 67"/>
                <a:gd name="T41" fmla="*/ 140 h 207"/>
                <a:gd name="T42" fmla="*/ 13 w 67"/>
                <a:gd name="T43" fmla="*/ 159 h 207"/>
                <a:gd name="T44" fmla="*/ 23 w 67"/>
                <a:gd name="T45" fmla="*/ 179 h 207"/>
                <a:gd name="T46" fmla="*/ 44 w 67"/>
                <a:gd name="T47" fmla="*/ 163 h 207"/>
                <a:gd name="T48" fmla="*/ 36 w 67"/>
                <a:gd name="T49" fmla="*/ 150 h 207"/>
                <a:gd name="T50" fmla="*/ 28 w 67"/>
                <a:gd name="T51" fmla="*/ 134 h 207"/>
                <a:gd name="T52" fmla="*/ 23 w 67"/>
                <a:gd name="T53" fmla="*/ 117 h 207"/>
                <a:gd name="T54" fmla="*/ 21 w 67"/>
                <a:gd name="T55" fmla="*/ 102 h 207"/>
                <a:gd name="T56" fmla="*/ 0 w 67"/>
                <a:gd name="T57" fmla="*/ 102 h 207"/>
                <a:gd name="T58" fmla="*/ 23 w 67"/>
                <a:gd name="T59" fmla="*/ 179 h 207"/>
                <a:gd name="T60" fmla="*/ 38 w 67"/>
                <a:gd name="T61" fmla="*/ 194 h 207"/>
                <a:gd name="T62" fmla="*/ 53 w 67"/>
                <a:gd name="T63" fmla="*/ 207 h 207"/>
                <a:gd name="T64" fmla="*/ 67 w 67"/>
                <a:gd name="T65" fmla="*/ 188 h 207"/>
                <a:gd name="T66" fmla="*/ 53 w 67"/>
                <a:gd name="T67" fmla="*/ 177 h 207"/>
                <a:gd name="T68" fmla="*/ 44 w 67"/>
                <a:gd name="T69" fmla="*/ 163 h 207"/>
                <a:gd name="T70" fmla="*/ 23 w 67"/>
                <a:gd name="T71" fmla="*/ 179 h 20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7" h="207">
                  <a:moveTo>
                    <a:pt x="48" y="0"/>
                  </a:moveTo>
                  <a:lnTo>
                    <a:pt x="32" y="12"/>
                  </a:lnTo>
                  <a:lnTo>
                    <a:pt x="21" y="27"/>
                  </a:lnTo>
                  <a:lnTo>
                    <a:pt x="40" y="40"/>
                  </a:lnTo>
                  <a:lnTo>
                    <a:pt x="50" y="29"/>
                  </a:lnTo>
                  <a:lnTo>
                    <a:pt x="63" y="19"/>
                  </a:lnTo>
                  <a:lnTo>
                    <a:pt x="48" y="0"/>
                  </a:lnTo>
                  <a:close/>
                  <a:moveTo>
                    <a:pt x="21" y="27"/>
                  </a:moveTo>
                  <a:lnTo>
                    <a:pt x="13" y="44"/>
                  </a:lnTo>
                  <a:lnTo>
                    <a:pt x="4" y="61"/>
                  </a:lnTo>
                  <a:lnTo>
                    <a:pt x="0" y="81"/>
                  </a:lnTo>
                  <a:lnTo>
                    <a:pt x="0" y="102"/>
                  </a:lnTo>
                  <a:lnTo>
                    <a:pt x="21" y="102"/>
                  </a:lnTo>
                  <a:lnTo>
                    <a:pt x="23" y="84"/>
                  </a:lnTo>
                  <a:lnTo>
                    <a:pt x="28" y="69"/>
                  </a:lnTo>
                  <a:lnTo>
                    <a:pt x="32" y="54"/>
                  </a:lnTo>
                  <a:lnTo>
                    <a:pt x="40" y="40"/>
                  </a:lnTo>
                  <a:lnTo>
                    <a:pt x="21" y="27"/>
                  </a:lnTo>
                  <a:close/>
                  <a:moveTo>
                    <a:pt x="0" y="102"/>
                  </a:moveTo>
                  <a:lnTo>
                    <a:pt x="2" y="121"/>
                  </a:lnTo>
                  <a:lnTo>
                    <a:pt x="4" y="140"/>
                  </a:lnTo>
                  <a:lnTo>
                    <a:pt x="13" y="159"/>
                  </a:lnTo>
                  <a:lnTo>
                    <a:pt x="23" y="179"/>
                  </a:lnTo>
                  <a:lnTo>
                    <a:pt x="44" y="163"/>
                  </a:lnTo>
                  <a:lnTo>
                    <a:pt x="36" y="150"/>
                  </a:lnTo>
                  <a:lnTo>
                    <a:pt x="28" y="134"/>
                  </a:lnTo>
                  <a:lnTo>
                    <a:pt x="23" y="117"/>
                  </a:lnTo>
                  <a:lnTo>
                    <a:pt x="21" y="102"/>
                  </a:lnTo>
                  <a:lnTo>
                    <a:pt x="0" y="102"/>
                  </a:lnTo>
                  <a:close/>
                  <a:moveTo>
                    <a:pt x="23" y="179"/>
                  </a:moveTo>
                  <a:lnTo>
                    <a:pt x="38" y="194"/>
                  </a:lnTo>
                  <a:lnTo>
                    <a:pt x="53" y="207"/>
                  </a:lnTo>
                  <a:lnTo>
                    <a:pt x="67" y="188"/>
                  </a:lnTo>
                  <a:lnTo>
                    <a:pt x="53" y="177"/>
                  </a:lnTo>
                  <a:lnTo>
                    <a:pt x="44" y="163"/>
                  </a:lnTo>
                  <a:lnTo>
                    <a:pt x="23" y="179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62" name="Freeform 193"/>
            <p:cNvSpPr>
              <a:spLocks noEditPoints="1"/>
            </p:cNvSpPr>
            <p:nvPr/>
          </p:nvSpPr>
          <p:spPr bwMode="auto">
            <a:xfrm>
              <a:off x="4679" y="3131"/>
              <a:ext cx="71" cy="221"/>
            </a:xfrm>
            <a:custGeom>
              <a:avLst/>
              <a:gdLst>
                <a:gd name="T0" fmla="*/ 67 w 71"/>
                <a:gd name="T1" fmla="*/ 202 h 221"/>
                <a:gd name="T2" fmla="*/ 56 w 71"/>
                <a:gd name="T3" fmla="*/ 194 h 221"/>
                <a:gd name="T4" fmla="*/ 50 w 71"/>
                <a:gd name="T5" fmla="*/ 182 h 221"/>
                <a:gd name="T6" fmla="*/ 29 w 71"/>
                <a:gd name="T7" fmla="*/ 200 h 221"/>
                <a:gd name="T8" fmla="*/ 38 w 71"/>
                <a:gd name="T9" fmla="*/ 211 h 221"/>
                <a:gd name="T10" fmla="*/ 50 w 71"/>
                <a:gd name="T11" fmla="*/ 221 h 221"/>
                <a:gd name="T12" fmla="*/ 67 w 71"/>
                <a:gd name="T13" fmla="*/ 202 h 221"/>
                <a:gd name="T14" fmla="*/ 50 w 71"/>
                <a:gd name="T15" fmla="*/ 182 h 221"/>
                <a:gd name="T16" fmla="*/ 38 w 71"/>
                <a:gd name="T17" fmla="*/ 169 h 221"/>
                <a:gd name="T18" fmla="*/ 31 w 71"/>
                <a:gd name="T19" fmla="*/ 150 h 221"/>
                <a:gd name="T20" fmla="*/ 27 w 71"/>
                <a:gd name="T21" fmla="*/ 133 h 221"/>
                <a:gd name="T22" fmla="*/ 25 w 71"/>
                <a:gd name="T23" fmla="*/ 113 h 221"/>
                <a:gd name="T24" fmla="*/ 0 w 71"/>
                <a:gd name="T25" fmla="*/ 109 h 221"/>
                <a:gd name="T26" fmla="*/ 4 w 71"/>
                <a:gd name="T27" fmla="*/ 125 h 221"/>
                <a:gd name="T28" fmla="*/ 4 w 71"/>
                <a:gd name="T29" fmla="*/ 134 h 221"/>
                <a:gd name="T30" fmla="*/ 4 w 71"/>
                <a:gd name="T31" fmla="*/ 148 h 221"/>
                <a:gd name="T32" fmla="*/ 8 w 71"/>
                <a:gd name="T33" fmla="*/ 156 h 221"/>
                <a:gd name="T34" fmla="*/ 11 w 71"/>
                <a:gd name="T35" fmla="*/ 169 h 221"/>
                <a:gd name="T36" fmla="*/ 19 w 71"/>
                <a:gd name="T37" fmla="*/ 180 h 221"/>
                <a:gd name="T38" fmla="*/ 23 w 71"/>
                <a:gd name="T39" fmla="*/ 190 h 221"/>
                <a:gd name="T40" fmla="*/ 29 w 71"/>
                <a:gd name="T41" fmla="*/ 200 h 221"/>
                <a:gd name="T42" fmla="*/ 50 w 71"/>
                <a:gd name="T43" fmla="*/ 182 h 221"/>
                <a:gd name="T44" fmla="*/ 25 w 71"/>
                <a:gd name="T45" fmla="*/ 113 h 221"/>
                <a:gd name="T46" fmla="*/ 27 w 71"/>
                <a:gd name="T47" fmla="*/ 92 h 221"/>
                <a:gd name="T48" fmla="*/ 33 w 71"/>
                <a:gd name="T49" fmla="*/ 73 h 221"/>
                <a:gd name="T50" fmla="*/ 40 w 71"/>
                <a:gd name="T51" fmla="*/ 56 h 221"/>
                <a:gd name="T52" fmla="*/ 52 w 71"/>
                <a:gd name="T53" fmla="*/ 37 h 221"/>
                <a:gd name="T54" fmla="*/ 33 w 71"/>
                <a:gd name="T55" fmla="*/ 23 h 221"/>
                <a:gd name="T56" fmla="*/ 25 w 71"/>
                <a:gd name="T57" fmla="*/ 33 h 221"/>
                <a:gd name="T58" fmla="*/ 21 w 71"/>
                <a:gd name="T59" fmla="*/ 44 h 221"/>
                <a:gd name="T60" fmla="*/ 13 w 71"/>
                <a:gd name="T61" fmla="*/ 54 h 221"/>
                <a:gd name="T62" fmla="*/ 10 w 71"/>
                <a:gd name="T63" fmla="*/ 65 h 221"/>
                <a:gd name="T64" fmla="*/ 4 w 71"/>
                <a:gd name="T65" fmla="*/ 86 h 221"/>
                <a:gd name="T66" fmla="*/ 0 w 71"/>
                <a:gd name="T67" fmla="*/ 109 h 221"/>
                <a:gd name="T68" fmla="*/ 25 w 71"/>
                <a:gd name="T69" fmla="*/ 113 h 221"/>
                <a:gd name="T70" fmla="*/ 52 w 71"/>
                <a:gd name="T71" fmla="*/ 37 h 221"/>
                <a:gd name="T72" fmla="*/ 59 w 71"/>
                <a:gd name="T73" fmla="*/ 27 h 221"/>
                <a:gd name="T74" fmla="*/ 71 w 71"/>
                <a:gd name="T75" fmla="*/ 17 h 221"/>
                <a:gd name="T76" fmla="*/ 56 w 71"/>
                <a:gd name="T77" fmla="*/ 0 h 221"/>
                <a:gd name="T78" fmla="*/ 44 w 71"/>
                <a:gd name="T79" fmla="*/ 12 h 221"/>
                <a:gd name="T80" fmla="*/ 33 w 71"/>
                <a:gd name="T81" fmla="*/ 23 h 221"/>
                <a:gd name="T82" fmla="*/ 52 w 71"/>
                <a:gd name="T83" fmla="*/ 37 h 22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1" h="221">
                  <a:moveTo>
                    <a:pt x="67" y="202"/>
                  </a:moveTo>
                  <a:lnTo>
                    <a:pt x="56" y="194"/>
                  </a:lnTo>
                  <a:lnTo>
                    <a:pt x="50" y="182"/>
                  </a:lnTo>
                  <a:lnTo>
                    <a:pt x="29" y="200"/>
                  </a:lnTo>
                  <a:lnTo>
                    <a:pt x="38" y="211"/>
                  </a:lnTo>
                  <a:lnTo>
                    <a:pt x="50" y="221"/>
                  </a:lnTo>
                  <a:lnTo>
                    <a:pt x="67" y="202"/>
                  </a:lnTo>
                  <a:close/>
                  <a:moveTo>
                    <a:pt x="50" y="182"/>
                  </a:moveTo>
                  <a:lnTo>
                    <a:pt x="38" y="169"/>
                  </a:lnTo>
                  <a:lnTo>
                    <a:pt x="31" y="150"/>
                  </a:lnTo>
                  <a:lnTo>
                    <a:pt x="27" y="133"/>
                  </a:lnTo>
                  <a:lnTo>
                    <a:pt x="25" y="113"/>
                  </a:lnTo>
                  <a:lnTo>
                    <a:pt x="0" y="109"/>
                  </a:lnTo>
                  <a:lnTo>
                    <a:pt x="4" y="125"/>
                  </a:lnTo>
                  <a:lnTo>
                    <a:pt x="4" y="134"/>
                  </a:lnTo>
                  <a:lnTo>
                    <a:pt x="4" y="148"/>
                  </a:lnTo>
                  <a:lnTo>
                    <a:pt x="8" y="156"/>
                  </a:lnTo>
                  <a:lnTo>
                    <a:pt x="11" y="169"/>
                  </a:lnTo>
                  <a:lnTo>
                    <a:pt x="19" y="180"/>
                  </a:lnTo>
                  <a:lnTo>
                    <a:pt x="23" y="190"/>
                  </a:lnTo>
                  <a:lnTo>
                    <a:pt x="29" y="200"/>
                  </a:lnTo>
                  <a:lnTo>
                    <a:pt x="50" y="182"/>
                  </a:lnTo>
                  <a:close/>
                  <a:moveTo>
                    <a:pt x="25" y="113"/>
                  </a:moveTo>
                  <a:lnTo>
                    <a:pt x="27" y="92"/>
                  </a:lnTo>
                  <a:lnTo>
                    <a:pt x="33" y="73"/>
                  </a:lnTo>
                  <a:lnTo>
                    <a:pt x="40" y="56"/>
                  </a:lnTo>
                  <a:lnTo>
                    <a:pt x="52" y="37"/>
                  </a:lnTo>
                  <a:lnTo>
                    <a:pt x="33" y="23"/>
                  </a:lnTo>
                  <a:lnTo>
                    <a:pt x="25" y="33"/>
                  </a:lnTo>
                  <a:lnTo>
                    <a:pt x="21" y="44"/>
                  </a:lnTo>
                  <a:lnTo>
                    <a:pt x="13" y="54"/>
                  </a:lnTo>
                  <a:lnTo>
                    <a:pt x="10" y="65"/>
                  </a:lnTo>
                  <a:lnTo>
                    <a:pt x="4" y="86"/>
                  </a:lnTo>
                  <a:lnTo>
                    <a:pt x="0" y="109"/>
                  </a:lnTo>
                  <a:lnTo>
                    <a:pt x="25" y="113"/>
                  </a:lnTo>
                  <a:close/>
                  <a:moveTo>
                    <a:pt x="52" y="37"/>
                  </a:moveTo>
                  <a:lnTo>
                    <a:pt x="59" y="27"/>
                  </a:lnTo>
                  <a:lnTo>
                    <a:pt x="71" y="17"/>
                  </a:lnTo>
                  <a:lnTo>
                    <a:pt x="56" y="0"/>
                  </a:lnTo>
                  <a:lnTo>
                    <a:pt x="44" y="12"/>
                  </a:lnTo>
                  <a:lnTo>
                    <a:pt x="33" y="23"/>
                  </a:lnTo>
                  <a:lnTo>
                    <a:pt x="52" y="37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63" name="Freeform 194"/>
            <p:cNvSpPr>
              <a:spLocks/>
            </p:cNvSpPr>
            <p:nvPr/>
          </p:nvSpPr>
          <p:spPr bwMode="auto">
            <a:xfrm>
              <a:off x="4758" y="2454"/>
              <a:ext cx="182" cy="119"/>
            </a:xfrm>
            <a:custGeom>
              <a:avLst/>
              <a:gdLst>
                <a:gd name="T0" fmla="*/ 169 w 182"/>
                <a:gd name="T1" fmla="*/ 119 h 119"/>
                <a:gd name="T2" fmla="*/ 134 w 182"/>
                <a:gd name="T3" fmla="*/ 92 h 119"/>
                <a:gd name="T4" fmla="*/ 92 w 182"/>
                <a:gd name="T5" fmla="*/ 67 h 119"/>
                <a:gd name="T6" fmla="*/ 48 w 182"/>
                <a:gd name="T7" fmla="*/ 42 h 119"/>
                <a:gd name="T8" fmla="*/ 0 w 182"/>
                <a:gd name="T9" fmla="*/ 19 h 119"/>
                <a:gd name="T10" fmla="*/ 7 w 182"/>
                <a:gd name="T11" fmla="*/ 0 h 119"/>
                <a:gd name="T12" fmla="*/ 57 w 182"/>
                <a:gd name="T13" fmla="*/ 24 h 119"/>
                <a:gd name="T14" fmla="*/ 101 w 182"/>
                <a:gd name="T15" fmla="*/ 49 h 119"/>
                <a:gd name="T16" fmla="*/ 144 w 182"/>
                <a:gd name="T17" fmla="*/ 76 h 119"/>
                <a:gd name="T18" fmla="*/ 182 w 182"/>
                <a:gd name="T19" fmla="*/ 101 h 119"/>
                <a:gd name="T20" fmla="*/ 169 w 182"/>
                <a:gd name="T21" fmla="*/ 119 h 11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2" h="119">
                  <a:moveTo>
                    <a:pt x="169" y="119"/>
                  </a:moveTo>
                  <a:lnTo>
                    <a:pt x="134" y="92"/>
                  </a:lnTo>
                  <a:lnTo>
                    <a:pt x="92" y="67"/>
                  </a:lnTo>
                  <a:lnTo>
                    <a:pt x="48" y="42"/>
                  </a:lnTo>
                  <a:lnTo>
                    <a:pt x="0" y="19"/>
                  </a:lnTo>
                  <a:lnTo>
                    <a:pt x="7" y="0"/>
                  </a:lnTo>
                  <a:lnTo>
                    <a:pt x="57" y="24"/>
                  </a:lnTo>
                  <a:lnTo>
                    <a:pt x="101" y="49"/>
                  </a:lnTo>
                  <a:lnTo>
                    <a:pt x="144" y="76"/>
                  </a:lnTo>
                  <a:lnTo>
                    <a:pt x="182" y="101"/>
                  </a:lnTo>
                  <a:lnTo>
                    <a:pt x="169" y="119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64" name="Freeform 195"/>
            <p:cNvSpPr>
              <a:spLocks/>
            </p:cNvSpPr>
            <p:nvPr/>
          </p:nvSpPr>
          <p:spPr bwMode="auto">
            <a:xfrm>
              <a:off x="4944" y="2569"/>
              <a:ext cx="149" cy="155"/>
            </a:xfrm>
            <a:custGeom>
              <a:avLst/>
              <a:gdLst>
                <a:gd name="T0" fmla="*/ 136 w 149"/>
                <a:gd name="T1" fmla="*/ 155 h 155"/>
                <a:gd name="T2" fmla="*/ 130 w 149"/>
                <a:gd name="T3" fmla="*/ 146 h 155"/>
                <a:gd name="T4" fmla="*/ 107 w 149"/>
                <a:gd name="T5" fmla="*/ 117 h 155"/>
                <a:gd name="T6" fmla="*/ 78 w 149"/>
                <a:gd name="T7" fmla="*/ 88 h 155"/>
                <a:gd name="T8" fmla="*/ 52 w 149"/>
                <a:gd name="T9" fmla="*/ 59 h 155"/>
                <a:gd name="T10" fmla="*/ 21 w 149"/>
                <a:gd name="T11" fmla="*/ 30 h 155"/>
                <a:gd name="T12" fmla="*/ 0 w 149"/>
                <a:gd name="T13" fmla="*/ 15 h 155"/>
                <a:gd name="T14" fmla="*/ 11 w 149"/>
                <a:gd name="T15" fmla="*/ 0 h 155"/>
                <a:gd name="T16" fmla="*/ 30 w 149"/>
                <a:gd name="T17" fmla="*/ 15 h 155"/>
                <a:gd name="T18" fmla="*/ 65 w 149"/>
                <a:gd name="T19" fmla="*/ 44 h 155"/>
                <a:gd name="T20" fmla="*/ 94 w 149"/>
                <a:gd name="T21" fmla="*/ 75 h 155"/>
                <a:gd name="T22" fmla="*/ 121 w 149"/>
                <a:gd name="T23" fmla="*/ 103 h 155"/>
                <a:gd name="T24" fmla="*/ 146 w 149"/>
                <a:gd name="T25" fmla="*/ 134 h 155"/>
                <a:gd name="T26" fmla="*/ 149 w 149"/>
                <a:gd name="T27" fmla="*/ 144 h 155"/>
                <a:gd name="T28" fmla="*/ 136 w 149"/>
                <a:gd name="T29" fmla="*/ 155 h 15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49" h="155">
                  <a:moveTo>
                    <a:pt x="136" y="155"/>
                  </a:moveTo>
                  <a:lnTo>
                    <a:pt x="130" y="146"/>
                  </a:lnTo>
                  <a:lnTo>
                    <a:pt x="107" y="117"/>
                  </a:lnTo>
                  <a:lnTo>
                    <a:pt x="78" y="88"/>
                  </a:lnTo>
                  <a:lnTo>
                    <a:pt x="52" y="59"/>
                  </a:lnTo>
                  <a:lnTo>
                    <a:pt x="21" y="30"/>
                  </a:lnTo>
                  <a:lnTo>
                    <a:pt x="0" y="15"/>
                  </a:lnTo>
                  <a:lnTo>
                    <a:pt x="11" y="0"/>
                  </a:lnTo>
                  <a:lnTo>
                    <a:pt x="30" y="15"/>
                  </a:lnTo>
                  <a:lnTo>
                    <a:pt x="65" y="44"/>
                  </a:lnTo>
                  <a:lnTo>
                    <a:pt x="94" y="75"/>
                  </a:lnTo>
                  <a:lnTo>
                    <a:pt x="121" y="103"/>
                  </a:lnTo>
                  <a:lnTo>
                    <a:pt x="146" y="134"/>
                  </a:lnTo>
                  <a:lnTo>
                    <a:pt x="149" y="144"/>
                  </a:lnTo>
                  <a:lnTo>
                    <a:pt x="136" y="155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65" name="Freeform 196"/>
            <p:cNvSpPr>
              <a:spLocks/>
            </p:cNvSpPr>
            <p:nvPr/>
          </p:nvSpPr>
          <p:spPr bwMode="auto">
            <a:xfrm>
              <a:off x="5090" y="2730"/>
              <a:ext cx="76" cy="196"/>
            </a:xfrm>
            <a:custGeom>
              <a:avLst/>
              <a:gdLst>
                <a:gd name="T0" fmla="*/ 55 w 76"/>
                <a:gd name="T1" fmla="*/ 196 h 196"/>
                <a:gd name="T2" fmla="*/ 53 w 76"/>
                <a:gd name="T3" fmla="*/ 167 h 196"/>
                <a:gd name="T4" fmla="*/ 50 w 76"/>
                <a:gd name="T5" fmla="*/ 136 h 196"/>
                <a:gd name="T6" fmla="*/ 42 w 76"/>
                <a:gd name="T7" fmla="*/ 105 h 196"/>
                <a:gd name="T8" fmla="*/ 34 w 76"/>
                <a:gd name="T9" fmla="*/ 75 h 196"/>
                <a:gd name="T10" fmla="*/ 19 w 76"/>
                <a:gd name="T11" fmla="*/ 46 h 196"/>
                <a:gd name="T12" fmla="*/ 2 w 76"/>
                <a:gd name="T13" fmla="*/ 15 h 196"/>
                <a:gd name="T14" fmla="*/ 0 w 76"/>
                <a:gd name="T15" fmla="*/ 11 h 196"/>
                <a:gd name="T16" fmla="*/ 15 w 76"/>
                <a:gd name="T17" fmla="*/ 0 h 196"/>
                <a:gd name="T18" fmla="*/ 19 w 76"/>
                <a:gd name="T19" fmla="*/ 6 h 196"/>
                <a:gd name="T20" fmla="*/ 36 w 76"/>
                <a:gd name="T21" fmla="*/ 36 h 196"/>
                <a:gd name="T22" fmla="*/ 50 w 76"/>
                <a:gd name="T23" fmla="*/ 69 h 196"/>
                <a:gd name="T24" fmla="*/ 63 w 76"/>
                <a:gd name="T25" fmla="*/ 100 h 196"/>
                <a:gd name="T26" fmla="*/ 69 w 76"/>
                <a:gd name="T27" fmla="*/ 132 h 196"/>
                <a:gd name="T28" fmla="*/ 74 w 76"/>
                <a:gd name="T29" fmla="*/ 165 h 196"/>
                <a:gd name="T30" fmla="*/ 76 w 76"/>
                <a:gd name="T31" fmla="*/ 194 h 196"/>
                <a:gd name="T32" fmla="*/ 55 w 76"/>
                <a:gd name="T33" fmla="*/ 196 h 1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6" h="196">
                  <a:moveTo>
                    <a:pt x="55" y="196"/>
                  </a:moveTo>
                  <a:lnTo>
                    <a:pt x="53" y="167"/>
                  </a:lnTo>
                  <a:lnTo>
                    <a:pt x="50" y="136"/>
                  </a:lnTo>
                  <a:lnTo>
                    <a:pt x="42" y="105"/>
                  </a:lnTo>
                  <a:lnTo>
                    <a:pt x="34" y="75"/>
                  </a:lnTo>
                  <a:lnTo>
                    <a:pt x="19" y="46"/>
                  </a:lnTo>
                  <a:lnTo>
                    <a:pt x="2" y="15"/>
                  </a:lnTo>
                  <a:lnTo>
                    <a:pt x="0" y="11"/>
                  </a:lnTo>
                  <a:lnTo>
                    <a:pt x="15" y="0"/>
                  </a:lnTo>
                  <a:lnTo>
                    <a:pt x="19" y="6"/>
                  </a:lnTo>
                  <a:lnTo>
                    <a:pt x="36" y="36"/>
                  </a:lnTo>
                  <a:lnTo>
                    <a:pt x="50" y="69"/>
                  </a:lnTo>
                  <a:lnTo>
                    <a:pt x="63" y="100"/>
                  </a:lnTo>
                  <a:lnTo>
                    <a:pt x="69" y="132"/>
                  </a:lnTo>
                  <a:lnTo>
                    <a:pt x="74" y="165"/>
                  </a:lnTo>
                  <a:lnTo>
                    <a:pt x="76" y="194"/>
                  </a:lnTo>
                  <a:lnTo>
                    <a:pt x="55" y="196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66" name="Freeform 197"/>
            <p:cNvSpPr>
              <a:spLocks/>
            </p:cNvSpPr>
            <p:nvPr/>
          </p:nvSpPr>
          <p:spPr bwMode="auto">
            <a:xfrm>
              <a:off x="5080" y="2945"/>
              <a:ext cx="84" cy="190"/>
            </a:xfrm>
            <a:custGeom>
              <a:avLst/>
              <a:gdLst>
                <a:gd name="T0" fmla="*/ 0 w 84"/>
                <a:gd name="T1" fmla="*/ 176 h 190"/>
                <a:gd name="T2" fmla="*/ 12 w 84"/>
                <a:gd name="T3" fmla="*/ 159 h 190"/>
                <a:gd name="T4" fmla="*/ 29 w 84"/>
                <a:gd name="T5" fmla="*/ 128 h 190"/>
                <a:gd name="T6" fmla="*/ 44 w 84"/>
                <a:gd name="T7" fmla="*/ 102 h 190"/>
                <a:gd name="T8" fmla="*/ 52 w 84"/>
                <a:gd name="T9" fmla="*/ 73 h 190"/>
                <a:gd name="T10" fmla="*/ 60 w 84"/>
                <a:gd name="T11" fmla="*/ 42 h 190"/>
                <a:gd name="T12" fmla="*/ 63 w 84"/>
                <a:gd name="T13" fmla="*/ 13 h 190"/>
                <a:gd name="T14" fmla="*/ 65 w 84"/>
                <a:gd name="T15" fmla="*/ 0 h 190"/>
                <a:gd name="T16" fmla="*/ 84 w 84"/>
                <a:gd name="T17" fmla="*/ 0 h 190"/>
                <a:gd name="T18" fmla="*/ 84 w 84"/>
                <a:gd name="T19" fmla="*/ 15 h 190"/>
                <a:gd name="T20" fmla="*/ 79 w 84"/>
                <a:gd name="T21" fmla="*/ 46 h 190"/>
                <a:gd name="T22" fmla="*/ 71 w 84"/>
                <a:gd name="T23" fmla="*/ 79 h 190"/>
                <a:gd name="T24" fmla="*/ 60 w 84"/>
                <a:gd name="T25" fmla="*/ 109 h 190"/>
                <a:gd name="T26" fmla="*/ 46 w 84"/>
                <a:gd name="T27" fmla="*/ 140 h 190"/>
                <a:gd name="T28" fmla="*/ 29 w 84"/>
                <a:gd name="T29" fmla="*/ 171 h 190"/>
                <a:gd name="T30" fmla="*/ 15 w 84"/>
                <a:gd name="T31" fmla="*/ 190 h 190"/>
                <a:gd name="T32" fmla="*/ 0 w 84"/>
                <a:gd name="T33" fmla="*/ 176 h 1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4" h="190">
                  <a:moveTo>
                    <a:pt x="0" y="176"/>
                  </a:moveTo>
                  <a:lnTo>
                    <a:pt x="12" y="159"/>
                  </a:lnTo>
                  <a:lnTo>
                    <a:pt x="29" y="128"/>
                  </a:lnTo>
                  <a:lnTo>
                    <a:pt x="44" y="102"/>
                  </a:lnTo>
                  <a:lnTo>
                    <a:pt x="52" y="73"/>
                  </a:lnTo>
                  <a:lnTo>
                    <a:pt x="60" y="42"/>
                  </a:lnTo>
                  <a:lnTo>
                    <a:pt x="63" y="13"/>
                  </a:lnTo>
                  <a:lnTo>
                    <a:pt x="65" y="0"/>
                  </a:lnTo>
                  <a:lnTo>
                    <a:pt x="84" y="0"/>
                  </a:lnTo>
                  <a:lnTo>
                    <a:pt x="84" y="15"/>
                  </a:lnTo>
                  <a:lnTo>
                    <a:pt x="79" y="46"/>
                  </a:lnTo>
                  <a:lnTo>
                    <a:pt x="71" y="79"/>
                  </a:lnTo>
                  <a:lnTo>
                    <a:pt x="60" y="109"/>
                  </a:lnTo>
                  <a:lnTo>
                    <a:pt x="46" y="140"/>
                  </a:lnTo>
                  <a:lnTo>
                    <a:pt x="29" y="171"/>
                  </a:lnTo>
                  <a:lnTo>
                    <a:pt x="15" y="190"/>
                  </a:lnTo>
                  <a:lnTo>
                    <a:pt x="0" y="176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67" name="Freeform 198"/>
            <p:cNvSpPr>
              <a:spLocks/>
            </p:cNvSpPr>
            <p:nvPr/>
          </p:nvSpPr>
          <p:spPr bwMode="auto">
            <a:xfrm>
              <a:off x="4921" y="3139"/>
              <a:ext cx="161" cy="144"/>
            </a:xfrm>
            <a:custGeom>
              <a:avLst/>
              <a:gdLst>
                <a:gd name="T0" fmla="*/ 0 w 161"/>
                <a:gd name="T1" fmla="*/ 125 h 144"/>
                <a:gd name="T2" fmla="*/ 7 w 161"/>
                <a:gd name="T3" fmla="*/ 121 h 144"/>
                <a:gd name="T4" fmla="*/ 44 w 161"/>
                <a:gd name="T5" fmla="*/ 98 h 144"/>
                <a:gd name="T6" fmla="*/ 75 w 161"/>
                <a:gd name="T7" fmla="*/ 73 h 144"/>
                <a:gd name="T8" fmla="*/ 103 w 161"/>
                <a:gd name="T9" fmla="*/ 46 h 144"/>
                <a:gd name="T10" fmla="*/ 130 w 161"/>
                <a:gd name="T11" fmla="*/ 21 h 144"/>
                <a:gd name="T12" fmla="*/ 146 w 161"/>
                <a:gd name="T13" fmla="*/ 0 h 144"/>
                <a:gd name="T14" fmla="*/ 161 w 161"/>
                <a:gd name="T15" fmla="*/ 11 h 144"/>
                <a:gd name="T16" fmla="*/ 144 w 161"/>
                <a:gd name="T17" fmla="*/ 34 h 144"/>
                <a:gd name="T18" fmla="*/ 117 w 161"/>
                <a:gd name="T19" fmla="*/ 61 h 144"/>
                <a:gd name="T20" fmla="*/ 86 w 161"/>
                <a:gd name="T21" fmla="*/ 88 h 144"/>
                <a:gd name="T22" fmla="*/ 53 w 161"/>
                <a:gd name="T23" fmla="*/ 113 h 144"/>
                <a:gd name="T24" fmla="*/ 19 w 161"/>
                <a:gd name="T25" fmla="*/ 138 h 144"/>
                <a:gd name="T26" fmla="*/ 7 w 161"/>
                <a:gd name="T27" fmla="*/ 144 h 144"/>
                <a:gd name="T28" fmla="*/ 0 w 161"/>
                <a:gd name="T29" fmla="*/ 125 h 1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1" h="144">
                  <a:moveTo>
                    <a:pt x="0" y="125"/>
                  </a:moveTo>
                  <a:lnTo>
                    <a:pt x="7" y="121"/>
                  </a:lnTo>
                  <a:lnTo>
                    <a:pt x="44" y="98"/>
                  </a:lnTo>
                  <a:lnTo>
                    <a:pt x="75" y="73"/>
                  </a:lnTo>
                  <a:lnTo>
                    <a:pt x="103" y="46"/>
                  </a:lnTo>
                  <a:lnTo>
                    <a:pt x="130" y="21"/>
                  </a:lnTo>
                  <a:lnTo>
                    <a:pt x="146" y="0"/>
                  </a:lnTo>
                  <a:lnTo>
                    <a:pt x="161" y="11"/>
                  </a:lnTo>
                  <a:lnTo>
                    <a:pt x="144" y="34"/>
                  </a:lnTo>
                  <a:lnTo>
                    <a:pt x="117" y="61"/>
                  </a:lnTo>
                  <a:lnTo>
                    <a:pt x="86" y="88"/>
                  </a:lnTo>
                  <a:lnTo>
                    <a:pt x="53" y="113"/>
                  </a:lnTo>
                  <a:lnTo>
                    <a:pt x="19" y="138"/>
                  </a:lnTo>
                  <a:lnTo>
                    <a:pt x="7" y="144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68" name="Freeform 199"/>
            <p:cNvSpPr>
              <a:spLocks/>
            </p:cNvSpPr>
            <p:nvPr/>
          </p:nvSpPr>
          <p:spPr bwMode="auto">
            <a:xfrm>
              <a:off x="4758" y="3275"/>
              <a:ext cx="155" cy="86"/>
            </a:xfrm>
            <a:custGeom>
              <a:avLst/>
              <a:gdLst>
                <a:gd name="T0" fmla="*/ 0 w 155"/>
                <a:gd name="T1" fmla="*/ 69 h 86"/>
                <a:gd name="T2" fmla="*/ 48 w 155"/>
                <a:gd name="T3" fmla="*/ 50 h 86"/>
                <a:gd name="T4" fmla="*/ 92 w 155"/>
                <a:gd name="T5" fmla="*/ 29 h 86"/>
                <a:gd name="T6" fmla="*/ 134 w 155"/>
                <a:gd name="T7" fmla="*/ 8 h 86"/>
                <a:gd name="T8" fmla="*/ 145 w 155"/>
                <a:gd name="T9" fmla="*/ 0 h 86"/>
                <a:gd name="T10" fmla="*/ 155 w 155"/>
                <a:gd name="T11" fmla="*/ 17 h 86"/>
                <a:gd name="T12" fmla="*/ 144 w 155"/>
                <a:gd name="T13" fmla="*/ 25 h 86"/>
                <a:gd name="T14" fmla="*/ 101 w 155"/>
                <a:gd name="T15" fmla="*/ 48 h 86"/>
                <a:gd name="T16" fmla="*/ 55 w 155"/>
                <a:gd name="T17" fmla="*/ 67 h 86"/>
                <a:gd name="T18" fmla="*/ 7 w 155"/>
                <a:gd name="T19" fmla="*/ 86 h 86"/>
                <a:gd name="T20" fmla="*/ 0 w 155"/>
                <a:gd name="T21" fmla="*/ 69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5" h="86">
                  <a:moveTo>
                    <a:pt x="0" y="69"/>
                  </a:moveTo>
                  <a:lnTo>
                    <a:pt x="48" y="50"/>
                  </a:lnTo>
                  <a:lnTo>
                    <a:pt x="92" y="29"/>
                  </a:lnTo>
                  <a:lnTo>
                    <a:pt x="134" y="8"/>
                  </a:lnTo>
                  <a:lnTo>
                    <a:pt x="145" y="0"/>
                  </a:lnTo>
                  <a:lnTo>
                    <a:pt x="155" y="17"/>
                  </a:lnTo>
                  <a:lnTo>
                    <a:pt x="144" y="25"/>
                  </a:lnTo>
                  <a:lnTo>
                    <a:pt x="101" y="48"/>
                  </a:lnTo>
                  <a:lnTo>
                    <a:pt x="55" y="67"/>
                  </a:lnTo>
                  <a:lnTo>
                    <a:pt x="7" y="86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69" name="Freeform 200"/>
            <p:cNvSpPr>
              <a:spLocks noEditPoints="1"/>
            </p:cNvSpPr>
            <p:nvPr/>
          </p:nvSpPr>
          <p:spPr bwMode="auto">
            <a:xfrm>
              <a:off x="4744" y="2661"/>
              <a:ext cx="85" cy="491"/>
            </a:xfrm>
            <a:custGeom>
              <a:avLst/>
              <a:gdLst>
                <a:gd name="T0" fmla="*/ 8 w 85"/>
                <a:gd name="T1" fmla="*/ 32 h 491"/>
                <a:gd name="T2" fmla="*/ 25 w 85"/>
                <a:gd name="T3" fmla="*/ 55 h 491"/>
                <a:gd name="T4" fmla="*/ 39 w 85"/>
                <a:gd name="T5" fmla="*/ 82 h 491"/>
                <a:gd name="T6" fmla="*/ 52 w 85"/>
                <a:gd name="T7" fmla="*/ 111 h 491"/>
                <a:gd name="T8" fmla="*/ 65 w 85"/>
                <a:gd name="T9" fmla="*/ 113 h 491"/>
                <a:gd name="T10" fmla="*/ 56 w 85"/>
                <a:gd name="T11" fmla="*/ 80 h 491"/>
                <a:gd name="T12" fmla="*/ 41 w 85"/>
                <a:gd name="T13" fmla="*/ 52 h 491"/>
                <a:gd name="T14" fmla="*/ 25 w 85"/>
                <a:gd name="T15" fmla="*/ 25 h 491"/>
                <a:gd name="T16" fmla="*/ 4 w 85"/>
                <a:gd name="T17" fmla="*/ 0 h 491"/>
                <a:gd name="T18" fmla="*/ 56 w 85"/>
                <a:gd name="T19" fmla="*/ 125 h 491"/>
                <a:gd name="T20" fmla="*/ 64 w 85"/>
                <a:gd name="T21" fmla="*/ 153 h 491"/>
                <a:gd name="T22" fmla="*/ 67 w 85"/>
                <a:gd name="T23" fmla="*/ 180 h 491"/>
                <a:gd name="T24" fmla="*/ 73 w 85"/>
                <a:gd name="T25" fmla="*/ 209 h 491"/>
                <a:gd name="T26" fmla="*/ 73 w 85"/>
                <a:gd name="T27" fmla="*/ 238 h 491"/>
                <a:gd name="T28" fmla="*/ 85 w 85"/>
                <a:gd name="T29" fmla="*/ 222 h 491"/>
                <a:gd name="T30" fmla="*/ 81 w 85"/>
                <a:gd name="T31" fmla="*/ 190 h 491"/>
                <a:gd name="T32" fmla="*/ 77 w 85"/>
                <a:gd name="T33" fmla="*/ 159 h 491"/>
                <a:gd name="T34" fmla="*/ 71 w 85"/>
                <a:gd name="T35" fmla="*/ 128 h 491"/>
                <a:gd name="T36" fmla="*/ 56 w 85"/>
                <a:gd name="T37" fmla="*/ 125 h 491"/>
                <a:gd name="T38" fmla="*/ 73 w 85"/>
                <a:gd name="T39" fmla="*/ 253 h 491"/>
                <a:gd name="T40" fmla="*/ 71 w 85"/>
                <a:gd name="T41" fmla="*/ 282 h 491"/>
                <a:gd name="T42" fmla="*/ 67 w 85"/>
                <a:gd name="T43" fmla="*/ 311 h 491"/>
                <a:gd name="T44" fmla="*/ 62 w 85"/>
                <a:gd name="T45" fmla="*/ 340 h 491"/>
                <a:gd name="T46" fmla="*/ 67 w 85"/>
                <a:gd name="T47" fmla="*/ 365 h 491"/>
                <a:gd name="T48" fmla="*/ 75 w 85"/>
                <a:gd name="T49" fmla="*/ 334 h 491"/>
                <a:gd name="T50" fmla="*/ 81 w 85"/>
                <a:gd name="T51" fmla="*/ 301 h 491"/>
                <a:gd name="T52" fmla="*/ 85 w 85"/>
                <a:gd name="T53" fmla="*/ 270 h 491"/>
                <a:gd name="T54" fmla="*/ 85 w 85"/>
                <a:gd name="T55" fmla="*/ 238 h 491"/>
                <a:gd name="T56" fmla="*/ 58 w 85"/>
                <a:gd name="T57" fmla="*/ 353 h 491"/>
                <a:gd name="T58" fmla="*/ 48 w 85"/>
                <a:gd name="T59" fmla="*/ 386 h 491"/>
                <a:gd name="T60" fmla="*/ 35 w 85"/>
                <a:gd name="T61" fmla="*/ 416 h 491"/>
                <a:gd name="T62" fmla="*/ 17 w 85"/>
                <a:gd name="T63" fmla="*/ 445 h 491"/>
                <a:gd name="T64" fmla="*/ 0 w 85"/>
                <a:gd name="T65" fmla="*/ 470 h 491"/>
                <a:gd name="T66" fmla="*/ 16 w 85"/>
                <a:gd name="T67" fmla="*/ 478 h 491"/>
                <a:gd name="T68" fmla="*/ 35 w 85"/>
                <a:gd name="T69" fmla="*/ 449 h 491"/>
                <a:gd name="T70" fmla="*/ 50 w 85"/>
                <a:gd name="T71" fmla="*/ 416 h 491"/>
                <a:gd name="T72" fmla="*/ 64 w 85"/>
                <a:gd name="T73" fmla="*/ 382 h 491"/>
                <a:gd name="T74" fmla="*/ 58 w 85"/>
                <a:gd name="T75" fmla="*/ 353 h 49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5" h="491">
                  <a:moveTo>
                    <a:pt x="0" y="21"/>
                  </a:moveTo>
                  <a:lnTo>
                    <a:pt x="8" y="32"/>
                  </a:lnTo>
                  <a:lnTo>
                    <a:pt x="16" y="44"/>
                  </a:lnTo>
                  <a:lnTo>
                    <a:pt x="25" y="55"/>
                  </a:lnTo>
                  <a:lnTo>
                    <a:pt x="33" y="69"/>
                  </a:lnTo>
                  <a:lnTo>
                    <a:pt x="39" y="82"/>
                  </a:lnTo>
                  <a:lnTo>
                    <a:pt x="44" y="96"/>
                  </a:lnTo>
                  <a:lnTo>
                    <a:pt x="52" y="111"/>
                  </a:lnTo>
                  <a:lnTo>
                    <a:pt x="56" y="125"/>
                  </a:lnTo>
                  <a:lnTo>
                    <a:pt x="65" y="113"/>
                  </a:lnTo>
                  <a:lnTo>
                    <a:pt x="62" y="98"/>
                  </a:lnTo>
                  <a:lnTo>
                    <a:pt x="56" y="80"/>
                  </a:lnTo>
                  <a:lnTo>
                    <a:pt x="48" y="65"/>
                  </a:lnTo>
                  <a:lnTo>
                    <a:pt x="41" y="52"/>
                  </a:lnTo>
                  <a:lnTo>
                    <a:pt x="33" y="38"/>
                  </a:lnTo>
                  <a:lnTo>
                    <a:pt x="25" y="25"/>
                  </a:lnTo>
                  <a:lnTo>
                    <a:pt x="14" y="11"/>
                  </a:lnTo>
                  <a:lnTo>
                    <a:pt x="4" y="0"/>
                  </a:lnTo>
                  <a:lnTo>
                    <a:pt x="0" y="21"/>
                  </a:lnTo>
                  <a:close/>
                  <a:moveTo>
                    <a:pt x="56" y="125"/>
                  </a:moveTo>
                  <a:lnTo>
                    <a:pt x="60" y="138"/>
                  </a:lnTo>
                  <a:lnTo>
                    <a:pt x="64" y="153"/>
                  </a:lnTo>
                  <a:lnTo>
                    <a:pt x="65" y="167"/>
                  </a:lnTo>
                  <a:lnTo>
                    <a:pt x="67" y="180"/>
                  </a:lnTo>
                  <a:lnTo>
                    <a:pt x="69" y="194"/>
                  </a:lnTo>
                  <a:lnTo>
                    <a:pt x="73" y="209"/>
                  </a:lnTo>
                  <a:lnTo>
                    <a:pt x="73" y="224"/>
                  </a:lnTo>
                  <a:lnTo>
                    <a:pt x="73" y="238"/>
                  </a:lnTo>
                  <a:lnTo>
                    <a:pt x="85" y="238"/>
                  </a:lnTo>
                  <a:lnTo>
                    <a:pt x="85" y="222"/>
                  </a:lnTo>
                  <a:lnTo>
                    <a:pt x="83" y="205"/>
                  </a:lnTo>
                  <a:lnTo>
                    <a:pt x="81" y="190"/>
                  </a:lnTo>
                  <a:lnTo>
                    <a:pt x="79" y="174"/>
                  </a:lnTo>
                  <a:lnTo>
                    <a:pt x="77" y="159"/>
                  </a:lnTo>
                  <a:lnTo>
                    <a:pt x="73" y="142"/>
                  </a:lnTo>
                  <a:lnTo>
                    <a:pt x="71" y="128"/>
                  </a:lnTo>
                  <a:lnTo>
                    <a:pt x="65" y="113"/>
                  </a:lnTo>
                  <a:lnTo>
                    <a:pt x="56" y="125"/>
                  </a:lnTo>
                  <a:close/>
                  <a:moveTo>
                    <a:pt x="73" y="238"/>
                  </a:moveTo>
                  <a:lnTo>
                    <a:pt x="73" y="253"/>
                  </a:lnTo>
                  <a:lnTo>
                    <a:pt x="73" y="267"/>
                  </a:lnTo>
                  <a:lnTo>
                    <a:pt x="71" y="282"/>
                  </a:lnTo>
                  <a:lnTo>
                    <a:pt x="67" y="295"/>
                  </a:lnTo>
                  <a:lnTo>
                    <a:pt x="67" y="311"/>
                  </a:lnTo>
                  <a:lnTo>
                    <a:pt x="64" y="324"/>
                  </a:lnTo>
                  <a:lnTo>
                    <a:pt x="62" y="340"/>
                  </a:lnTo>
                  <a:lnTo>
                    <a:pt x="58" y="353"/>
                  </a:lnTo>
                  <a:lnTo>
                    <a:pt x="67" y="365"/>
                  </a:lnTo>
                  <a:lnTo>
                    <a:pt x="73" y="349"/>
                  </a:lnTo>
                  <a:lnTo>
                    <a:pt x="75" y="334"/>
                  </a:lnTo>
                  <a:lnTo>
                    <a:pt x="79" y="318"/>
                  </a:lnTo>
                  <a:lnTo>
                    <a:pt x="81" y="301"/>
                  </a:lnTo>
                  <a:lnTo>
                    <a:pt x="83" y="286"/>
                  </a:lnTo>
                  <a:lnTo>
                    <a:pt x="85" y="270"/>
                  </a:lnTo>
                  <a:lnTo>
                    <a:pt x="85" y="253"/>
                  </a:lnTo>
                  <a:lnTo>
                    <a:pt x="85" y="238"/>
                  </a:lnTo>
                  <a:lnTo>
                    <a:pt x="73" y="238"/>
                  </a:lnTo>
                  <a:close/>
                  <a:moveTo>
                    <a:pt x="58" y="353"/>
                  </a:moveTo>
                  <a:lnTo>
                    <a:pt x="52" y="370"/>
                  </a:lnTo>
                  <a:lnTo>
                    <a:pt x="48" y="386"/>
                  </a:lnTo>
                  <a:lnTo>
                    <a:pt x="41" y="401"/>
                  </a:lnTo>
                  <a:lnTo>
                    <a:pt x="35" y="416"/>
                  </a:lnTo>
                  <a:lnTo>
                    <a:pt x="27" y="432"/>
                  </a:lnTo>
                  <a:lnTo>
                    <a:pt x="17" y="445"/>
                  </a:lnTo>
                  <a:lnTo>
                    <a:pt x="10" y="459"/>
                  </a:lnTo>
                  <a:lnTo>
                    <a:pt x="0" y="470"/>
                  </a:lnTo>
                  <a:lnTo>
                    <a:pt x="4" y="491"/>
                  </a:lnTo>
                  <a:lnTo>
                    <a:pt x="16" y="478"/>
                  </a:lnTo>
                  <a:lnTo>
                    <a:pt x="25" y="464"/>
                  </a:lnTo>
                  <a:lnTo>
                    <a:pt x="35" y="449"/>
                  </a:lnTo>
                  <a:lnTo>
                    <a:pt x="42" y="434"/>
                  </a:lnTo>
                  <a:lnTo>
                    <a:pt x="50" y="416"/>
                  </a:lnTo>
                  <a:lnTo>
                    <a:pt x="58" y="399"/>
                  </a:lnTo>
                  <a:lnTo>
                    <a:pt x="64" y="382"/>
                  </a:lnTo>
                  <a:lnTo>
                    <a:pt x="67" y="365"/>
                  </a:lnTo>
                  <a:lnTo>
                    <a:pt x="58" y="353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70" name="Freeform 201"/>
            <p:cNvSpPr>
              <a:spLocks noEditPoints="1"/>
            </p:cNvSpPr>
            <p:nvPr/>
          </p:nvSpPr>
          <p:spPr bwMode="auto">
            <a:xfrm>
              <a:off x="4685" y="2465"/>
              <a:ext cx="67" cy="207"/>
            </a:xfrm>
            <a:custGeom>
              <a:avLst/>
              <a:gdLst>
                <a:gd name="T0" fmla="*/ 48 w 67"/>
                <a:gd name="T1" fmla="*/ 0 h 207"/>
                <a:gd name="T2" fmla="*/ 32 w 67"/>
                <a:gd name="T3" fmla="*/ 12 h 207"/>
                <a:gd name="T4" fmla="*/ 21 w 67"/>
                <a:gd name="T5" fmla="*/ 27 h 207"/>
                <a:gd name="T6" fmla="*/ 40 w 67"/>
                <a:gd name="T7" fmla="*/ 40 h 207"/>
                <a:gd name="T8" fmla="*/ 50 w 67"/>
                <a:gd name="T9" fmla="*/ 29 h 207"/>
                <a:gd name="T10" fmla="*/ 63 w 67"/>
                <a:gd name="T11" fmla="*/ 19 h 207"/>
                <a:gd name="T12" fmla="*/ 48 w 67"/>
                <a:gd name="T13" fmla="*/ 0 h 207"/>
                <a:gd name="T14" fmla="*/ 21 w 67"/>
                <a:gd name="T15" fmla="*/ 27 h 207"/>
                <a:gd name="T16" fmla="*/ 13 w 67"/>
                <a:gd name="T17" fmla="*/ 44 h 207"/>
                <a:gd name="T18" fmla="*/ 4 w 67"/>
                <a:gd name="T19" fmla="*/ 61 h 207"/>
                <a:gd name="T20" fmla="*/ 0 w 67"/>
                <a:gd name="T21" fmla="*/ 81 h 207"/>
                <a:gd name="T22" fmla="*/ 0 w 67"/>
                <a:gd name="T23" fmla="*/ 102 h 207"/>
                <a:gd name="T24" fmla="*/ 21 w 67"/>
                <a:gd name="T25" fmla="*/ 102 h 207"/>
                <a:gd name="T26" fmla="*/ 23 w 67"/>
                <a:gd name="T27" fmla="*/ 84 h 207"/>
                <a:gd name="T28" fmla="*/ 28 w 67"/>
                <a:gd name="T29" fmla="*/ 69 h 207"/>
                <a:gd name="T30" fmla="*/ 32 w 67"/>
                <a:gd name="T31" fmla="*/ 54 h 207"/>
                <a:gd name="T32" fmla="*/ 40 w 67"/>
                <a:gd name="T33" fmla="*/ 40 h 207"/>
                <a:gd name="T34" fmla="*/ 21 w 67"/>
                <a:gd name="T35" fmla="*/ 27 h 207"/>
                <a:gd name="T36" fmla="*/ 0 w 67"/>
                <a:gd name="T37" fmla="*/ 102 h 207"/>
                <a:gd name="T38" fmla="*/ 2 w 67"/>
                <a:gd name="T39" fmla="*/ 121 h 207"/>
                <a:gd name="T40" fmla="*/ 4 w 67"/>
                <a:gd name="T41" fmla="*/ 140 h 207"/>
                <a:gd name="T42" fmla="*/ 13 w 67"/>
                <a:gd name="T43" fmla="*/ 159 h 207"/>
                <a:gd name="T44" fmla="*/ 23 w 67"/>
                <a:gd name="T45" fmla="*/ 179 h 207"/>
                <a:gd name="T46" fmla="*/ 44 w 67"/>
                <a:gd name="T47" fmla="*/ 163 h 207"/>
                <a:gd name="T48" fmla="*/ 36 w 67"/>
                <a:gd name="T49" fmla="*/ 150 h 207"/>
                <a:gd name="T50" fmla="*/ 28 w 67"/>
                <a:gd name="T51" fmla="*/ 134 h 207"/>
                <a:gd name="T52" fmla="*/ 23 w 67"/>
                <a:gd name="T53" fmla="*/ 117 h 207"/>
                <a:gd name="T54" fmla="*/ 21 w 67"/>
                <a:gd name="T55" fmla="*/ 102 h 207"/>
                <a:gd name="T56" fmla="*/ 0 w 67"/>
                <a:gd name="T57" fmla="*/ 102 h 207"/>
                <a:gd name="T58" fmla="*/ 23 w 67"/>
                <a:gd name="T59" fmla="*/ 179 h 207"/>
                <a:gd name="T60" fmla="*/ 38 w 67"/>
                <a:gd name="T61" fmla="*/ 194 h 207"/>
                <a:gd name="T62" fmla="*/ 53 w 67"/>
                <a:gd name="T63" fmla="*/ 207 h 207"/>
                <a:gd name="T64" fmla="*/ 67 w 67"/>
                <a:gd name="T65" fmla="*/ 188 h 207"/>
                <a:gd name="T66" fmla="*/ 53 w 67"/>
                <a:gd name="T67" fmla="*/ 177 h 207"/>
                <a:gd name="T68" fmla="*/ 44 w 67"/>
                <a:gd name="T69" fmla="*/ 163 h 207"/>
                <a:gd name="T70" fmla="*/ 23 w 67"/>
                <a:gd name="T71" fmla="*/ 179 h 20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7" h="207">
                  <a:moveTo>
                    <a:pt x="48" y="0"/>
                  </a:moveTo>
                  <a:lnTo>
                    <a:pt x="32" y="12"/>
                  </a:lnTo>
                  <a:lnTo>
                    <a:pt x="21" y="27"/>
                  </a:lnTo>
                  <a:lnTo>
                    <a:pt x="40" y="40"/>
                  </a:lnTo>
                  <a:lnTo>
                    <a:pt x="50" y="29"/>
                  </a:lnTo>
                  <a:lnTo>
                    <a:pt x="63" y="19"/>
                  </a:lnTo>
                  <a:lnTo>
                    <a:pt x="48" y="0"/>
                  </a:lnTo>
                  <a:close/>
                  <a:moveTo>
                    <a:pt x="21" y="27"/>
                  </a:moveTo>
                  <a:lnTo>
                    <a:pt x="13" y="44"/>
                  </a:lnTo>
                  <a:lnTo>
                    <a:pt x="4" y="61"/>
                  </a:lnTo>
                  <a:lnTo>
                    <a:pt x="0" y="81"/>
                  </a:lnTo>
                  <a:lnTo>
                    <a:pt x="0" y="102"/>
                  </a:lnTo>
                  <a:lnTo>
                    <a:pt x="21" y="102"/>
                  </a:lnTo>
                  <a:lnTo>
                    <a:pt x="23" y="84"/>
                  </a:lnTo>
                  <a:lnTo>
                    <a:pt x="28" y="69"/>
                  </a:lnTo>
                  <a:lnTo>
                    <a:pt x="32" y="54"/>
                  </a:lnTo>
                  <a:lnTo>
                    <a:pt x="40" y="40"/>
                  </a:lnTo>
                  <a:lnTo>
                    <a:pt x="21" y="27"/>
                  </a:lnTo>
                  <a:close/>
                  <a:moveTo>
                    <a:pt x="0" y="102"/>
                  </a:moveTo>
                  <a:lnTo>
                    <a:pt x="2" y="121"/>
                  </a:lnTo>
                  <a:lnTo>
                    <a:pt x="4" y="140"/>
                  </a:lnTo>
                  <a:lnTo>
                    <a:pt x="13" y="159"/>
                  </a:lnTo>
                  <a:lnTo>
                    <a:pt x="23" y="179"/>
                  </a:lnTo>
                  <a:lnTo>
                    <a:pt x="44" y="163"/>
                  </a:lnTo>
                  <a:lnTo>
                    <a:pt x="36" y="150"/>
                  </a:lnTo>
                  <a:lnTo>
                    <a:pt x="28" y="134"/>
                  </a:lnTo>
                  <a:lnTo>
                    <a:pt x="23" y="117"/>
                  </a:lnTo>
                  <a:lnTo>
                    <a:pt x="21" y="102"/>
                  </a:lnTo>
                  <a:lnTo>
                    <a:pt x="0" y="102"/>
                  </a:lnTo>
                  <a:close/>
                  <a:moveTo>
                    <a:pt x="23" y="179"/>
                  </a:moveTo>
                  <a:lnTo>
                    <a:pt x="38" y="194"/>
                  </a:lnTo>
                  <a:lnTo>
                    <a:pt x="53" y="207"/>
                  </a:lnTo>
                  <a:lnTo>
                    <a:pt x="67" y="188"/>
                  </a:lnTo>
                  <a:lnTo>
                    <a:pt x="53" y="177"/>
                  </a:lnTo>
                  <a:lnTo>
                    <a:pt x="44" y="163"/>
                  </a:lnTo>
                  <a:lnTo>
                    <a:pt x="23" y="179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71" name="Freeform 202"/>
            <p:cNvSpPr>
              <a:spLocks noEditPoints="1"/>
            </p:cNvSpPr>
            <p:nvPr/>
          </p:nvSpPr>
          <p:spPr bwMode="auto">
            <a:xfrm>
              <a:off x="4679" y="3131"/>
              <a:ext cx="71" cy="221"/>
            </a:xfrm>
            <a:custGeom>
              <a:avLst/>
              <a:gdLst>
                <a:gd name="T0" fmla="*/ 67 w 71"/>
                <a:gd name="T1" fmla="*/ 202 h 221"/>
                <a:gd name="T2" fmla="*/ 56 w 71"/>
                <a:gd name="T3" fmla="*/ 194 h 221"/>
                <a:gd name="T4" fmla="*/ 50 w 71"/>
                <a:gd name="T5" fmla="*/ 182 h 221"/>
                <a:gd name="T6" fmla="*/ 29 w 71"/>
                <a:gd name="T7" fmla="*/ 200 h 221"/>
                <a:gd name="T8" fmla="*/ 38 w 71"/>
                <a:gd name="T9" fmla="*/ 211 h 221"/>
                <a:gd name="T10" fmla="*/ 50 w 71"/>
                <a:gd name="T11" fmla="*/ 221 h 221"/>
                <a:gd name="T12" fmla="*/ 67 w 71"/>
                <a:gd name="T13" fmla="*/ 202 h 221"/>
                <a:gd name="T14" fmla="*/ 50 w 71"/>
                <a:gd name="T15" fmla="*/ 182 h 221"/>
                <a:gd name="T16" fmla="*/ 38 w 71"/>
                <a:gd name="T17" fmla="*/ 169 h 221"/>
                <a:gd name="T18" fmla="*/ 31 w 71"/>
                <a:gd name="T19" fmla="*/ 150 h 221"/>
                <a:gd name="T20" fmla="*/ 27 w 71"/>
                <a:gd name="T21" fmla="*/ 133 h 221"/>
                <a:gd name="T22" fmla="*/ 25 w 71"/>
                <a:gd name="T23" fmla="*/ 113 h 221"/>
                <a:gd name="T24" fmla="*/ 0 w 71"/>
                <a:gd name="T25" fmla="*/ 109 h 221"/>
                <a:gd name="T26" fmla="*/ 4 w 71"/>
                <a:gd name="T27" fmla="*/ 125 h 221"/>
                <a:gd name="T28" fmla="*/ 4 w 71"/>
                <a:gd name="T29" fmla="*/ 134 h 221"/>
                <a:gd name="T30" fmla="*/ 4 w 71"/>
                <a:gd name="T31" fmla="*/ 148 h 221"/>
                <a:gd name="T32" fmla="*/ 8 w 71"/>
                <a:gd name="T33" fmla="*/ 156 h 221"/>
                <a:gd name="T34" fmla="*/ 11 w 71"/>
                <a:gd name="T35" fmla="*/ 169 h 221"/>
                <a:gd name="T36" fmla="*/ 19 w 71"/>
                <a:gd name="T37" fmla="*/ 180 h 221"/>
                <a:gd name="T38" fmla="*/ 23 w 71"/>
                <a:gd name="T39" fmla="*/ 190 h 221"/>
                <a:gd name="T40" fmla="*/ 29 w 71"/>
                <a:gd name="T41" fmla="*/ 200 h 221"/>
                <a:gd name="T42" fmla="*/ 50 w 71"/>
                <a:gd name="T43" fmla="*/ 182 h 221"/>
                <a:gd name="T44" fmla="*/ 25 w 71"/>
                <a:gd name="T45" fmla="*/ 113 h 221"/>
                <a:gd name="T46" fmla="*/ 27 w 71"/>
                <a:gd name="T47" fmla="*/ 92 h 221"/>
                <a:gd name="T48" fmla="*/ 33 w 71"/>
                <a:gd name="T49" fmla="*/ 73 h 221"/>
                <a:gd name="T50" fmla="*/ 40 w 71"/>
                <a:gd name="T51" fmla="*/ 56 h 221"/>
                <a:gd name="T52" fmla="*/ 52 w 71"/>
                <a:gd name="T53" fmla="*/ 37 h 221"/>
                <a:gd name="T54" fmla="*/ 33 w 71"/>
                <a:gd name="T55" fmla="*/ 23 h 221"/>
                <a:gd name="T56" fmla="*/ 25 w 71"/>
                <a:gd name="T57" fmla="*/ 33 h 221"/>
                <a:gd name="T58" fmla="*/ 21 w 71"/>
                <a:gd name="T59" fmla="*/ 44 h 221"/>
                <a:gd name="T60" fmla="*/ 13 w 71"/>
                <a:gd name="T61" fmla="*/ 54 h 221"/>
                <a:gd name="T62" fmla="*/ 10 w 71"/>
                <a:gd name="T63" fmla="*/ 65 h 221"/>
                <a:gd name="T64" fmla="*/ 4 w 71"/>
                <a:gd name="T65" fmla="*/ 86 h 221"/>
                <a:gd name="T66" fmla="*/ 0 w 71"/>
                <a:gd name="T67" fmla="*/ 109 h 221"/>
                <a:gd name="T68" fmla="*/ 25 w 71"/>
                <a:gd name="T69" fmla="*/ 113 h 221"/>
                <a:gd name="T70" fmla="*/ 52 w 71"/>
                <a:gd name="T71" fmla="*/ 37 h 221"/>
                <a:gd name="T72" fmla="*/ 59 w 71"/>
                <a:gd name="T73" fmla="*/ 27 h 221"/>
                <a:gd name="T74" fmla="*/ 71 w 71"/>
                <a:gd name="T75" fmla="*/ 17 h 221"/>
                <a:gd name="T76" fmla="*/ 56 w 71"/>
                <a:gd name="T77" fmla="*/ 0 h 221"/>
                <a:gd name="T78" fmla="*/ 44 w 71"/>
                <a:gd name="T79" fmla="*/ 12 h 221"/>
                <a:gd name="T80" fmla="*/ 33 w 71"/>
                <a:gd name="T81" fmla="*/ 23 h 221"/>
                <a:gd name="T82" fmla="*/ 52 w 71"/>
                <a:gd name="T83" fmla="*/ 37 h 22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1" h="221">
                  <a:moveTo>
                    <a:pt x="67" y="202"/>
                  </a:moveTo>
                  <a:lnTo>
                    <a:pt x="56" y="194"/>
                  </a:lnTo>
                  <a:lnTo>
                    <a:pt x="50" y="182"/>
                  </a:lnTo>
                  <a:lnTo>
                    <a:pt x="29" y="200"/>
                  </a:lnTo>
                  <a:lnTo>
                    <a:pt x="38" y="211"/>
                  </a:lnTo>
                  <a:lnTo>
                    <a:pt x="50" y="221"/>
                  </a:lnTo>
                  <a:lnTo>
                    <a:pt x="67" y="202"/>
                  </a:lnTo>
                  <a:close/>
                  <a:moveTo>
                    <a:pt x="50" y="182"/>
                  </a:moveTo>
                  <a:lnTo>
                    <a:pt x="38" y="169"/>
                  </a:lnTo>
                  <a:lnTo>
                    <a:pt x="31" y="150"/>
                  </a:lnTo>
                  <a:lnTo>
                    <a:pt x="27" y="133"/>
                  </a:lnTo>
                  <a:lnTo>
                    <a:pt x="25" y="113"/>
                  </a:lnTo>
                  <a:lnTo>
                    <a:pt x="0" y="109"/>
                  </a:lnTo>
                  <a:lnTo>
                    <a:pt x="4" y="125"/>
                  </a:lnTo>
                  <a:lnTo>
                    <a:pt x="4" y="134"/>
                  </a:lnTo>
                  <a:lnTo>
                    <a:pt x="4" y="148"/>
                  </a:lnTo>
                  <a:lnTo>
                    <a:pt x="8" y="156"/>
                  </a:lnTo>
                  <a:lnTo>
                    <a:pt x="11" y="169"/>
                  </a:lnTo>
                  <a:lnTo>
                    <a:pt x="19" y="180"/>
                  </a:lnTo>
                  <a:lnTo>
                    <a:pt x="23" y="190"/>
                  </a:lnTo>
                  <a:lnTo>
                    <a:pt x="29" y="200"/>
                  </a:lnTo>
                  <a:lnTo>
                    <a:pt x="50" y="182"/>
                  </a:lnTo>
                  <a:close/>
                  <a:moveTo>
                    <a:pt x="25" y="113"/>
                  </a:moveTo>
                  <a:lnTo>
                    <a:pt x="27" y="92"/>
                  </a:lnTo>
                  <a:lnTo>
                    <a:pt x="33" y="73"/>
                  </a:lnTo>
                  <a:lnTo>
                    <a:pt x="40" y="56"/>
                  </a:lnTo>
                  <a:lnTo>
                    <a:pt x="52" y="37"/>
                  </a:lnTo>
                  <a:lnTo>
                    <a:pt x="33" y="23"/>
                  </a:lnTo>
                  <a:lnTo>
                    <a:pt x="25" y="33"/>
                  </a:lnTo>
                  <a:lnTo>
                    <a:pt x="21" y="44"/>
                  </a:lnTo>
                  <a:lnTo>
                    <a:pt x="13" y="54"/>
                  </a:lnTo>
                  <a:lnTo>
                    <a:pt x="10" y="65"/>
                  </a:lnTo>
                  <a:lnTo>
                    <a:pt x="4" y="86"/>
                  </a:lnTo>
                  <a:lnTo>
                    <a:pt x="0" y="109"/>
                  </a:lnTo>
                  <a:lnTo>
                    <a:pt x="25" y="113"/>
                  </a:lnTo>
                  <a:close/>
                  <a:moveTo>
                    <a:pt x="52" y="37"/>
                  </a:moveTo>
                  <a:lnTo>
                    <a:pt x="59" y="27"/>
                  </a:lnTo>
                  <a:lnTo>
                    <a:pt x="71" y="17"/>
                  </a:lnTo>
                  <a:lnTo>
                    <a:pt x="56" y="0"/>
                  </a:lnTo>
                  <a:lnTo>
                    <a:pt x="44" y="12"/>
                  </a:lnTo>
                  <a:lnTo>
                    <a:pt x="33" y="23"/>
                  </a:lnTo>
                  <a:lnTo>
                    <a:pt x="52" y="37"/>
                  </a:lnTo>
                  <a:close/>
                </a:path>
              </a:pathLst>
            </a:custGeom>
            <a:solidFill>
              <a:srgbClr val="DD1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795" name="Group 203"/>
          <p:cNvGrpSpPr>
            <a:grpSpLocks/>
          </p:cNvGrpSpPr>
          <p:nvPr/>
        </p:nvGrpSpPr>
        <p:grpSpPr bwMode="auto">
          <a:xfrm>
            <a:off x="4573588" y="1212850"/>
            <a:ext cx="1666875" cy="2786063"/>
            <a:chOff x="3409" y="588"/>
            <a:chExt cx="1050" cy="1755"/>
          </a:xfrm>
        </p:grpSpPr>
        <p:sp>
          <p:nvSpPr>
            <p:cNvPr id="32851" name="Line 204"/>
            <p:cNvSpPr>
              <a:spLocks noChangeShapeType="1"/>
            </p:cNvSpPr>
            <p:nvPr/>
          </p:nvSpPr>
          <p:spPr bwMode="auto">
            <a:xfrm flipV="1">
              <a:off x="3409" y="588"/>
              <a:ext cx="532" cy="1755"/>
            </a:xfrm>
            <a:prstGeom prst="line">
              <a:avLst/>
            </a:prstGeom>
            <a:noFill/>
            <a:ln w="63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52" name="Line 205"/>
            <p:cNvSpPr>
              <a:spLocks noChangeShapeType="1"/>
            </p:cNvSpPr>
            <p:nvPr/>
          </p:nvSpPr>
          <p:spPr bwMode="auto">
            <a:xfrm flipH="1" flipV="1">
              <a:off x="3927" y="588"/>
              <a:ext cx="532" cy="1755"/>
            </a:xfrm>
            <a:prstGeom prst="line">
              <a:avLst/>
            </a:prstGeom>
            <a:noFill/>
            <a:ln w="63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853" name="Line 206"/>
            <p:cNvSpPr>
              <a:spLocks noChangeShapeType="1"/>
            </p:cNvSpPr>
            <p:nvPr/>
          </p:nvSpPr>
          <p:spPr bwMode="auto">
            <a:xfrm flipV="1">
              <a:off x="3941" y="588"/>
              <a:ext cx="0" cy="1755"/>
            </a:xfrm>
            <a:prstGeom prst="line">
              <a:avLst/>
            </a:prstGeom>
            <a:noFill/>
            <a:ln w="6350">
              <a:solidFill>
                <a:schemeClr val="folHlink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0799" name="Group 207"/>
          <p:cNvGrpSpPr>
            <a:grpSpLocks/>
          </p:cNvGrpSpPr>
          <p:nvPr/>
        </p:nvGrpSpPr>
        <p:grpSpPr bwMode="auto">
          <a:xfrm>
            <a:off x="1358900" y="2197100"/>
            <a:ext cx="1454150" cy="317500"/>
            <a:chOff x="1384" y="1208"/>
            <a:chExt cx="916" cy="200"/>
          </a:xfrm>
        </p:grpSpPr>
        <p:sp>
          <p:nvSpPr>
            <p:cNvPr id="32849" name="Text Box 208"/>
            <p:cNvSpPr txBox="1">
              <a:spLocks noChangeArrowheads="1"/>
            </p:cNvSpPr>
            <p:nvPr/>
          </p:nvSpPr>
          <p:spPr bwMode="auto">
            <a:xfrm>
              <a:off x="2128" y="121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2850" name="Text Box 209"/>
            <p:cNvSpPr txBox="1">
              <a:spLocks noChangeArrowheads="1"/>
            </p:cNvSpPr>
            <p:nvPr/>
          </p:nvSpPr>
          <p:spPr bwMode="auto">
            <a:xfrm>
              <a:off x="1384" y="120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1</a:t>
              </a:r>
            </a:p>
          </p:txBody>
        </p:sp>
      </p:grpSp>
      <p:grpSp>
        <p:nvGrpSpPr>
          <p:cNvPr id="750802" name="Group 210"/>
          <p:cNvGrpSpPr>
            <a:grpSpLocks/>
          </p:cNvGrpSpPr>
          <p:nvPr/>
        </p:nvGrpSpPr>
        <p:grpSpPr bwMode="auto">
          <a:xfrm>
            <a:off x="1676400" y="3022600"/>
            <a:ext cx="857250" cy="304800"/>
            <a:chOff x="1584" y="1728"/>
            <a:chExt cx="540" cy="192"/>
          </a:xfrm>
        </p:grpSpPr>
        <p:sp>
          <p:nvSpPr>
            <p:cNvPr id="32847" name="Text Box 211"/>
            <p:cNvSpPr txBox="1">
              <a:spLocks noChangeArrowheads="1"/>
            </p:cNvSpPr>
            <p:nvPr/>
          </p:nvSpPr>
          <p:spPr bwMode="auto">
            <a:xfrm>
              <a:off x="1952" y="172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2848" name="Text Box 212"/>
            <p:cNvSpPr txBox="1">
              <a:spLocks noChangeArrowheads="1"/>
            </p:cNvSpPr>
            <p:nvPr/>
          </p:nvSpPr>
          <p:spPr bwMode="auto">
            <a:xfrm>
              <a:off x="1584" y="172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3</a:t>
              </a:r>
            </a:p>
          </p:txBody>
        </p:sp>
      </p:grpSp>
      <p:grpSp>
        <p:nvGrpSpPr>
          <p:cNvPr id="750805" name="Group 213"/>
          <p:cNvGrpSpPr>
            <a:grpSpLocks/>
          </p:cNvGrpSpPr>
          <p:nvPr/>
        </p:nvGrpSpPr>
        <p:grpSpPr bwMode="auto">
          <a:xfrm>
            <a:off x="774700" y="3568700"/>
            <a:ext cx="2622550" cy="317500"/>
            <a:chOff x="1016" y="2080"/>
            <a:chExt cx="1652" cy="200"/>
          </a:xfrm>
        </p:grpSpPr>
        <p:sp>
          <p:nvSpPr>
            <p:cNvPr id="32845" name="Text Box 214"/>
            <p:cNvSpPr txBox="1">
              <a:spLocks noChangeArrowheads="1"/>
            </p:cNvSpPr>
            <p:nvPr/>
          </p:nvSpPr>
          <p:spPr bwMode="auto">
            <a:xfrm>
              <a:off x="1016" y="208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2846" name="Text Box 215"/>
            <p:cNvSpPr txBox="1">
              <a:spLocks noChangeArrowheads="1"/>
            </p:cNvSpPr>
            <p:nvPr/>
          </p:nvSpPr>
          <p:spPr bwMode="auto">
            <a:xfrm>
              <a:off x="2496" y="208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5</a:t>
              </a:r>
            </a:p>
          </p:txBody>
        </p:sp>
      </p:grpSp>
      <p:grpSp>
        <p:nvGrpSpPr>
          <p:cNvPr id="750808" name="Group 216"/>
          <p:cNvGrpSpPr>
            <a:grpSpLocks/>
          </p:cNvGrpSpPr>
          <p:nvPr/>
        </p:nvGrpSpPr>
        <p:grpSpPr bwMode="auto">
          <a:xfrm>
            <a:off x="2095500" y="2540000"/>
            <a:ext cx="539750" cy="1168400"/>
            <a:chOff x="1848" y="1424"/>
            <a:chExt cx="340" cy="736"/>
          </a:xfrm>
        </p:grpSpPr>
        <p:sp>
          <p:nvSpPr>
            <p:cNvPr id="32842" name="Text Box 217"/>
            <p:cNvSpPr txBox="1">
              <a:spLocks noChangeArrowheads="1"/>
            </p:cNvSpPr>
            <p:nvPr/>
          </p:nvSpPr>
          <p:spPr bwMode="auto">
            <a:xfrm>
              <a:off x="2016" y="196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2843" name="Text Box 218"/>
            <p:cNvSpPr txBox="1">
              <a:spLocks noChangeArrowheads="1"/>
            </p:cNvSpPr>
            <p:nvPr/>
          </p:nvSpPr>
          <p:spPr bwMode="auto">
            <a:xfrm>
              <a:off x="1888" y="1792"/>
              <a:ext cx="20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7,</a:t>
              </a:r>
            </a:p>
          </p:txBody>
        </p:sp>
        <p:sp>
          <p:nvSpPr>
            <p:cNvPr id="32844" name="Text Box 219"/>
            <p:cNvSpPr txBox="1">
              <a:spLocks noChangeArrowheads="1"/>
            </p:cNvSpPr>
            <p:nvPr/>
          </p:nvSpPr>
          <p:spPr bwMode="auto">
            <a:xfrm>
              <a:off x="1848" y="1424"/>
              <a:ext cx="20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8,</a:t>
              </a:r>
            </a:p>
          </p:txBody>
        </p:sp>
      </p:grpSp>
      <p:grpSp>
        <p:nvGrpSpPr>
          <p:cNvPr id="750812" name="Group 220"/>
          <p:cNvGrpSpPr>
            <a:grpSpLocks/>
          </p:cNvGrpSpPr>
          <p:nvPr/>
        </p:nvGrpSpPr>
        <p:grpSpPr bwMode="auto">
          <a:xfrm>
            <a:off x="1676400" y="2489200"/>
            <a:ext cx="806450" cy="304800"/>
            <a:chOff x="1584" y="1392"/>
            <a:chExt cx="508" cy="192"/>
          </a:xfrm>
        </p:grpSpPr>
        <p:sp>
          <p:nvSpPr>
            <p:cNvPr id="32840" name="Text Box 221"/>
            <p:cNvSpPr txBox="1">
              <a:spLocks noChangeArrowheads="1"/>
            </p:cNvSpPr>
            <p:nvPr/>
          </p:nvSpPr>
          <p:spPr bwMode="auto">
            <a:xfrm>
              <a:off x="1920" y="139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2841" name="Text Box 222"/>
            <p:cNvSpPr txBox="1">
              <a:spLocks noChangeArrowheads="1"/>
            </p:cNvSpPr>
            <p:nvPr/>
          </p:nvSpPr>
          <p:spPr bwMode="auto">
            <a:xfrm>
              <a:off x="1584" y="139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0000"/>
                  </a:solidFill>
                </a:rPr>
                <a:t>2</a:t>
              </a:r>
            </a:p>
          </p:txBody>
        </p:sp>
      </p:grpSp>
      <p:grpSp>
        <p:nvGrpSpPr>
          <p:cNvPr id="750815" name="Group 223"/>
          <p:cNvGrpSpPr>
            <a:grpSpLocks/>
          </p:cNvGrpSpPr>
          <p:nvPr/>
        </p:nvGrpSpPr>
        <p:grpSpPr bwMode="auto">
          <a:xfrm>
            <a:off x="1371600" y="3327400"/>
            <a:ext cx="1416050" cy="381000"/>
            <a:chOff x="1392" y="1920"/>
            <a:chExt cx="892" cy="240"/>
          </a:xfrm>
        </p:grpSpPr>
        <p:sp>
          <p:nvSpPr>
            <p:cNvPr id="32838" name="Text Box 224"/>
            <p:cNvSpPr txBox="1">
              <a:spLocks noChangeArrowheads="1"/>
            </p:cNvSpPr>
            <p:nvPr/>
          </p:nvSpPr>
          <p:spPr bwMode="auto">
            <a:xfrm>
              <a:off x="1392" y="196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2839" name="Text Box 225"/>
            <p:cNvSpPr txBox="1">
              <a:spLocks noChangeArrowheads="1"/>
            </p:cNvSpPr>
            <p:nvPr/>
          </p:nvSpPr>
          <p:spPr bwMode="auto">
            <a:xfrm>
              <a:off x="2112" y="192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</a:rPr>
                <a:t>4</a:t>
              </a:r>
            </a:p>
          </p:txBody>
        </p:sp>
      </p:grpSp>
      <p:graphicFrame>
        <p:nvGraphicFramePr>
          <p:cNvPr id="750818" name="Object 226"/>
          <p:cNvGraphicFramePr>
            <a:graphicFrameLocks noChangeAspect="1"/>
          </p:cNvGraphicFramePr>
          <p:nvPr/>
        </p:nvGraphicFramePr>
        <p:xfrm>
          <a:off x="6629400" y="1219200"/>
          <a:ext cx="2209800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3" name="Bitmap Image" r:id="rId4" imgW="2809524" imgH="2657846" progId="Paint.Picture">
                  <p:embed/>
                </p:oleObj>
              </mc:Choice>
              <mc:Fallback>
                <p:oleObj name="Bitmap Image" r:id="rId4" imgW="2809524" imgH="2657846" progId="Paint.Picture">
                  <p:embed/>
                  <p:pic>
                    <p:nvPicPr>
                      <p:cNvPr id="0" name="Object 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219200"/>
                        <a:ext cx="2209800" cy="208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819" name="Text Box 227"/>
          <p:cNvSpPr txBox="1">
            <a:spLocks noChangeArrowheads="1"/>
          </p:cNvSpPr>
          <p:nvPr/>
        </p:nvSpPr>
        <p:spPr bwMode="auto">
          <a:xfrm>
            <a:off x="0" y="0"/>
            <a:ext cx="6280150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3300"/>
                </a:solidFill>
              </a:rPr>
              <a:t>Problem:</a:t>
            </a:r>
            <a:r>
              <a:rPr lang="en-US" altLang="en-US" sz="1600">
                <a:solidFill>
                  <a:srgbClr val="000000"/>
                </a:solidFill>
              </a:rPr>
              <a:t> A vertical cone, base diameter 75 mm and axis 100 mm long,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is completely penetrated by a cylinder of 45 mm diameter. The axis of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cylinder is parallel to HP and VP and intersects axis of the cone at a point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28 mm above the base. Draw projections showing curves of intersection.</a:t>
            </a:r>
          </a:p>
        </p:txBody>
      </p:sp>
      <p:grpSp>
        <p:nvGrpSpPr>
          <p:cNvPr id="32831" name="Group 235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32832" name="AutoShape 236">
              <a:hlinkClick r:id="rId6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33" name="AutoShape 237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34" name="AutoShape 238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35" name="AutoShape 239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36" name="AutoShape 240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37" name="AutoShape 241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0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0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50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50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50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50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50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50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50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0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50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50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50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50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50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50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50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50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50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50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50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50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50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50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75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50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50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50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50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50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50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50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50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50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50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50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50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50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50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50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50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50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50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750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50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50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50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750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750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50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50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50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50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50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750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750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750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506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7506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750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750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50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50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750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750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50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750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750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50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50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750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50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750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750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50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50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750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750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750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8" dur="500"/>
                                        <p:tgtEl>
                                          <p:spTgt spid="75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750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750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750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750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750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750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750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750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750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750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750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750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750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750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33" dur="500"/>
                                        <p:tgtEl>
                                          <p:spTgt spid="75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8" dur="500"/>
                                        <p:tgtEl>
                                          <p:spTgt spid="75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750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750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750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750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 nodeType="clickPar">
                      <p:stCondLst>
                        <p:cond delay="indefinite"/>
                      </p:stCondLst>
                      <p:childTnLst>
                        <p:par>
                          <p:cTn id="2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750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750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750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750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750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750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 nodeType="clickPar">
                      <p:stCondLst>
                        <p:cond delay="indefinite"/>
                      </p:stCondLst>
                      <p:childTnLst>
                        <p:par>
                          <p:cTn id="2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750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750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9" dur="500"/>
                                        <p:tgtEl>
                                          <p:spTgt spid="75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 nodeType="clickPar">
                      <p:stCondLst>
                        <p:cond delay="indefinite"/>
                      </p:stCondLst>
                      <p:childTnLst>
                        <p:par>
                          <p:cTn id="2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4" dur="500"/>
                                        <p:tgtEl>
                                          <p:spTgt spid="75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Par">
                      <p:stCondLst>
                        <p:cond delay="indefinite"/>
                      </p:stCondLst>
                      <p:childTnLst>
                        <p:par>
                          <p:cTn id="2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9" dur="500"/>
                                        <p:tgtEl>
                                          <p:spTgt spid="75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 nodeType="clickPar">
                      <p:stCondLst>
                        <p:cond delay="indefinite"/>
                      </p:stCondLst>
                      <p:childTnLst>
                        <p:par>
                          <p:cTn id="2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750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750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 nodeType="clickPar">
                      <p:stCondLst>
                        <p:cond delay="indefinite"/>
                      </p:stCondLst>
                      <p:childTnLst>
                        <p:par>
                          <p:cTn id="2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750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750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750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750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Par">
                      <p:stCondLst>
                        <p:cond delay="indefinite"/>
                      </p:stCondLst>
                      <p:childTnLst>
                        <p:par>
                          <p:cTn id="3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750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750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750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750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 nodeType="clickPar">
                      <p:stCondLst>
                        <p:cond delay="indefinite"/>
                      </p:stCondLst>
                      <p:childTnLst>
                        <p:par>
                          <p:cTn id="3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750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750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75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75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500" fill="hold"/>
                                        <p:tgtEl>
                                          <p:spTgt spid="7507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500" fill="hold"/>
                                        <p:tgtEl>
                                          <p:spTgt spid="7507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 nodeType="clickPar">
                      <p:stCondLst>
                        <p:cond delay="indefinite"/>
                      </p:stCondLst>
                      <p:childTnLst>
                        <p:par>
                          <p:cTn id="3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750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750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 nodeType="clickPar">
                      <p:stCondLst>
                        <p:cond delay="indefinite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75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75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500" fill="hold"/>
                                        <p:tgtEl>
                                          <p:spTgt spid="750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500" fill="hold"/>
                                        <p:tgtEl>
                                          <p:spTgt spid="750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 nodeType="clickPar">
                      <p:stCondLst>
                        <p:cond delay="indefinite"/>
                      </p:stCondLst>
                      <p:childTnLst>
                        <p:par>
                          <p:cTn id="3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4" dur="500" fill="hold"/>
                                        <p:tgtEl>
                                          <p:spTgt spid="750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500" fill="hold"/>
                                        <p:tgtEl>
                                          <p:spTgt spid="750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 nodeType="clickPar">
                      <p:stCondLst>
                        <p:cond delay="indefinite"/>
                      </p:stCondLst>
                      <p:childTnLst>
                        <p:par>
                          <p:cTn id="3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500" fill="hold"/>
                                        <p:tgtEl>
                                          <p:spTgt spid="75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75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750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750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 nodeType="clickPar">
                      <p:stCondLst>
                        <p:cond delay="indefinite"/>
                      </p:stCondLst>
                      <p:childTnLst>
                        <p:par>
                          <p:cTn id="3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7507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7507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 nodeType="clickPar">
                      <p:stCondLst>
                        <p:cond delay="indefinite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500" fill="hold"/>
                                        <p:tgtEl>
                                          <p:spTgt spid="750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750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 nodeType="clickPar">
                      <p:stCondLst>
                        <p:cond delay="indefinite"/>
                      </p:stCondLst>
                      <p:childTnLst>
                        <p:par>
                          <p:cTn id="3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0" dur="500" fill="hold"/>
                                        <p:tgtEl>
                                          <p:spTgt spid="750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750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 nodeType="clickPar">
                      <p:stCondLst>
                        <p:cond delay="indefinite"/>
                      </p:stCondLst>
                      <p:childTnLst>
                        <p:par>
                          <p:cTn id="3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6" dur="500" fill="hold"/>
                                        <p:tgtEl>
                                          <p:spTgt spid="750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750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 nodeType="clickPar">
                      <p:stCondLst>
                        <p:cond delay="indefinite"/>
                      </p:stCondLst>
                      <p:childTnLst>
                        <p:par>
                          <p:cTn id="3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2" dur="500" fill="hold"/>
                                        <p:tgtEl>
                                          <p:spTgt spid="750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500" fill="hold"/>
                                        <p:tgtEl>
                                          <p:spTgt spid="750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 nodeType="clickPar">
                      <p:stCondLst>
                        <p:cond delay="indefinite"/>
                      </p:stCondLst>
                      <p:childTnLst>
                        <p:par>
                          <p:cTn id="3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750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00" fill="hold"/>
                                        <p:tgtEl>
                                          <p:spTgt spid="750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 nodeType="clickPar">
                      <p:stCondLst>
                        <p:cond delay="indefinite"/>
                      </p:stCondLst>
                      <p:childTnLst>
                        <p:par>
                          <p:cTn id="3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4" dur="500" fill="hold"/>
                                        <p:tgtEl>
                                          <p:spTgt spid="750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5" dur="500" fill="hold"/>
                                        <p:tgtEl>
                                          <p:spTgt spid="750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 nodeType="clickPar">
                      <p:stCondLst>
                        <p:cond delay="indefinite"/>
                      </p:stCondLst>
                      <p:childTnLst>
                        <p:par>
                          <p:cTn id="3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0" dur="500" fill="hold"/>
                                        <p:tgtEl>
                                          <p:spTgt spid="750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1" dur="500" fill="hold"/>
                                        <p:tgtEl>
                                          <p:spTgt spid="750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0594" grpId="0" animBg="1"/>
      <p:bldP spid="750595" grpId="0" animBg="1"/>
      <p:bldP spid="750596" grpId="0" animBg="1"/>
      <p:bldP spid="750597" grpId="0" autoUpdateAnimBg="0"/>
      <p:bldP spid="750617" grpId="0" autoUpdateAnimBg="0"/>
      <p:bldP spid="750618" grpId="0" animBg="1"/>
      <p:bldP spid="750626" grpId="0" autoUpdateAnimBg="0"/>
      <p:bldP spid="750627" grpId="0" animBg="1"/>
      <p:bldP spid="750753" grpId="0" autoUpdateAnimBg="0"/>
      <p:bldP spid="750754" grpId="0" autoUpdateAnimBg="0"/>
      <p:bldP spid="75081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477838"/>
          </a:xfrm>
        </p:spPr>
        <p:txBody>
          <a:bodyPr/>
          <a:lstStyle/>
          <a:p>
            <a:endParaRPr lang="en-US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1816100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458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600200"/>
            <a:ext cx="6172200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505200" y="3810000"/>
            <a:ext cx="5867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i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Thank You for Patient Hearing</a:t>
            </a:r>
          </a:p>
        </p:txBody>
      </p:sp>
    </p:spTree>
    <p:extLst>
      <p:ext uri="{BB962C8B-B14F-4D97-AF65-F5344CB8AC3E}">
        <p14:creationId xmlns:p14="http://schemas.microsoft.com/office/powerpoint/2010/main" val="2622322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1.85185E-6 C 0.06511 -0.05139 0.13038 -0.10278 0.10365 -0.14514 C 0.07708 -0.1875 -0.11232 -0.20741 -0.15972 -0.25324 C -0.20712 -0.29908 -0.19444 -0.35972 -0.18177 -0.42037 " pathEditMode="relative" rAng="0" ptsTypes="aaaA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00" y="-21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1970</TotalTime>
  <Words>1458</Words>
  <Application>Microsoft Office PowerPoint</Application>
  <PresentationFormat>On-screen Show (4:3)</PresentationFormat>
  <Paragraphs>393</Paragraphs>
  <Slides>20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Adobe Garamond Pro Bold</vt:lpstr>
      <vt:lpstr>Arial</vt:lpstr>
      <vt:lpstr>Calibri</vt:lpstr>
      <vt:lpstr>Garamond</vt:lpstr>
      <vt:lpstr>Tahoma</vt:lpstr>
      <vt:lpstr>Times</vt:lpstr>
      <vt:lpstr>Times New Roman</vt:lpstr>
      <vt:lpstr>Default Design</vt:lpstr>
      <vt:lpstr>1_Default Design</vt:lpstr>
      <vt:lpstr>Photo Editor Photo</vt:lpstr>
      <vt:lpstr>CorelPhotoPaint.Image.11</vt:lpstr>
      <vt:lpstr>Bitmap Image</vt:lpstr>
      <vt:lpstr>CE101  Engineering Drawing  Intersection of Solids</vt:lpstr>
      <vt:lpstr>PowerPoint Presentation</vt:lpstr>
      <vt:lpstr>Introduction</vt:lpstr>
      <vt:lpstr>PowerPoint Presentation</vt:lpstr>
      <vt:lpstr>PowerPoint Presentation</vt:lpstr>
      <vt:lpstr>PowerPoint Presentation</vt:lpstr>
      <vt:lpstr>Cases of Intersection</vt:lpstr>
      <vt:lpstr>Cases of Intersection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m2</dc:creator>
  <cp:lastModifiedBy>sharmi</cp:lastModifiedBy>
  <cp:revision>185</cp:revision>
  <dcterms:created xsi:type="dcterms:W3CDTF">2007-08-18T14:38:34Z</dcterms:created>
  <dcterms:modified xsi:type="dcterms:W3CDTF">2023-10-14T13:20:22Z</dcterms:modified>
</cp:coreProperties>
</file>