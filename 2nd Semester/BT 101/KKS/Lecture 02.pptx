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5"/>
  </p:notesMasterIdLst>
  <p:sldIdLst>
    <p:sldId id="259" r:id="rId5"/>
    <p:sldId id="306" r:id="rId6"/>
    <p:sldId id="307" r:id="rId7"/>
    <p:sldId id="390" r:id="rId8"/>
    <p:sldId id="359" r:id="rId9"/>
    <p:sldId id="362" r:id="rId10"/>
    <p:sldId id="360" r:id="rId11"/>
    <p:sldId id="361" r:id="rId12"/>
    <p:sldId id="365" r:id="rId13"/>
    <p:sldId id="366" r:id="rId14"/>
    <p:sldId id="375" r:id="rId15"/>
    <p:sldId id="374" r:id="rId16"/>
    <p:sldId id="372" r:id="rId17"/>
    <p:sldId id="368" r:id="rId18"/>
    <p:sldId id="369" r:id="rId19"/>
    <p:sldId id="367" r:id="rId20"/>
    <p:sldId id="370" r:id="rId21"/>
    <p:sldId id="373" r:id="rId22"/>
    <p:sldId id="379" r:id="rId23"/>
    <p:sldId id="380" r:id="rId24"/>
    <p:sldId id="381" r:id="rId25"/>
    <p:sldId id="382" r:id="rId26"/>
    <p:sldId id="376" r:id="rId27"/>
    <p:sldId id="377" r:id="rId28"/>
    <p:sldId id="378" r:id="rId29"/>
    <p:sldId id="383" r:id="rId30"/>
    <p:sldId id="384" r:id="rId31"/>
    <p:sldId id="385" r:id="rId32"/>
    <p:sldId id="386" r:id="rId33"/>
    <p:sldId id="345" r:id="rId34"/>
    <p:sldId id="387" r:id="rId35"/>
    <p:sldId id="350" r:id="rId36"/>
    <p:sldId id="351" r:id="rId37"/>
    <p:sldId id="352" r:id="rId38"/>
    <p:sldId id="353" r:id="rId39"/>
    <p:sldId id="354" r:id="rId40"/>
    <p:sldId id="389" r:id="rId41"/>
    <p:sldId id="273" r:id="rId42"/>
    <p:sldId id="343" r:id="rId43"/>
    <p:sldId id="388"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93AC"/>
    <a:srgbClr val="EAB200"/>
    <a:srgbClr val="FF0000"/>
    <a:srgbClr val="0000FF"/>
    <a:srgbClr val="E0E9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D7B2C1-F19B-2EDA-FA32-F1571E9F2D51}" v="2" dt="2024-01-16T16:16:28.395"/>
    <p1510:client id="{65A2E390-01A2-E11A-FA3E-9367BE3CACA1}" v="1" dt="2024-01-18T09:23:47.480"/>
    <p1510:client id="{7C128765-8ABC-4F59-BCB4-B593AF149D96}" v="6" dt="2024-01-18T10:04:21.276"/>
    <p1510:client id="{88E905C0-6D1E-3BD0-8D7B-458762C016E4}" v="6" dt="2024-01-18T06:41:09.941"/>
    <p1510:client id="{8D048448-9B4F-4528-A246-CEBD21EAA010}" v="1" dt="2024-01-17T04:56:49.478"/>
    <p1510:client id="{92B93CB7-1418-475E-874A-DAB254BAC92B}" v="7" dt="2024-01-17T18:50:15.684"/>
    <p1510:client id="{AEBE83B8-4C7B-5760-3D13-C441769699EF}" v="9" dt="2024-01-16T10:48:52.690"/>
    <p1510:client id="{D6552A45-E911-4B19-891B-EDEFC7F4B4E1}" v="3" dt="2024-01-18T06:09:53.4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RIDDHI VARSHNEY" userId="S::v.samriddhi@iitg.ac.in::508cb72d-a42e-4b91-b239-189e1e8e4313" providerId="AD" clId="Web-{88E905C0-6D1E-3BD0-8D7B-458762C016E4}"/>
    <pc:docChg chg="modSld">
      <pc:chgData name="SAMRIDDHI VARSHNEY" userId="S::v.samriddhi@iitg.ac.in::508cb72d-a42e-4b91-b239-189e1e8e4313" providerId="AD" clId="Web-{88E905C0-6D1E-3BD0-8D7B-458762C016E4}" dt="2024-01-18T06:41:07.503" v="4" actId="20577"/>
      <pc:docMkLst>
        <pc:docMk/>
      </pc:docMkLst>
      <pc:sldChg chg="modSp">
        <pc:chgData name="SAMRIDDHI VARSHNEY" userId="S::v.samriddhi@iitg.ac.in::508cb72d-a42e-4b91-b239-189e1e8e4313" providerId="AD" clId="Web-{88E905C0-6D1E-3BD0-8D7B-458762C016E4}" dt="2024-01-18T06:34:40.340" v="3" actId="14100"/>
        <pc:sldMkLst>
          <pc:docMk/>
          <pc:sldMk cId="4005536637" sldId="362"/>
        </pc:sldMkLst>
        <pc:picChg chg="mod">
          <ac:chgData name="SAMRIDDHI VARSHNEY" userId="S::v.samriddhi@iitg.ac.in::508cb72d-a42e-4b91-b239-189e1e8e4313" providerId="AD" clId="Web-{88E905C0-6D1E-3BD0-8D7B-458762C016E4}" dt="2024-01-18T06:34:40.340" v="3" actId="14100"/>
          <ac:picMkLst>
            <pc:docMk/>
            <pc:sldMk cId="4005536637" sldId="362"/>
            <ac:picMk id="4" creationId="{00000000-0000-0000-0000-000000000000}"/>
          </ac:picMkLst>
        </pc:picChg>
      </pc:sldChg>
      <pc:sldChg chg="modSp">
        <pc:chgData name="SAMRIDDHI VARSHNEY" userId="S::v.samriddhi@iitg.ac.in::508cb72d-a42e-4b91-b239-189e1e8e4313" providerId="AD" clId="Web-{88E905C0-6D1E-3BD0-8D7B-458762C016E4}" dt="2024-01-18T06:41:07.503" v="4" actId="20577"/>
        <pc:sldMkLst>
          <pc:docMk/>
          <pc:sldMk cId="3489127498" sldId="384"/>
        </pc:sldMkLst>
        <pc:spChg chg="mod">
          <ac:chgData name="SAMRIDDHI VARSHNEY" userId="S::v.samriddhi@iitg.ac.in::508cb72d-a42e-4b91-b239-189e1e8e4313" providerId="AD" clId="Web-{88E905C0-6D1E-3BD0-8D7B-458762C016E4}" dt="2024-01-18T06:41:07.503" v="4" actId="20577"/>
          <ac:spMkLst>
            <pc:docMk/>
            <pc:sldMk cId="3489127498" sldId="384"/>
            <ac:spMk id="13" creationId="{00000000-0000-0000-0000-000000000000}"/>
          </ac:spMkLst>
        </pc:spChg>
      </pc:sldChg>
    </pc:docChg>
  </pc:docChgLst>
  <pc:docChgLst>
    <pc:chgData name="TANISHA VIJAYVARGIYA" userId="S::v.tanisha@iitg.ac.in::7e60b497-03b9-4cd4-bb57-09888e4b6f21" providerId="AD" clId="Web-{65A2E390-01A2-E11A-FA3E-9367BE3CACA1}"/>
    <pc:docChg chg="modSld">
      <pc:chgData name="TANISHA VIJAYVARGIYA" userId="S::v.tanisha@iitg.ac.in::7e60b497-03b9-4cd4-bb57-09888e4b6f21" providerId="AD" clId="Web-{65A2E390-01A2-E11A-FA3E-9367BE3CACA1}" dt="2024-01-18T09:23:47.480" v="0" actId="1076"/>
      <pc:docMkLst>
        <pc:docMk/>
      </pc:docMkLst>
      <pc:sldChg chg="modSp">
        <pc:chgData name="TANISHA VIJAYVARGIYA" userId="S::v.tanisha@iitg.ac.in::7e60b497-03b9-4cd4-bb57-09888e4b6f21" providerId="AD" clId="Web-{65A2E390-01A2-E11A-FA3E-9367BE3CACA1}" dt="2024-01-18T09:23:47.480" v="0" actId="1076"/>
        <pc:sldMkLst>
          <pc:docMk/>
          <pc:sldMk cId="1769002199" sldId="360"/>
        </pc:sldMkLst>
        <pc:picChg chg="mod">
          <ac:chgData name="TANISHA VIJAYVARGIYA" userId="S::v.tanisha@iitg.ac.in::7e60b497-03b9-4cd4-bb57-09888e4b6f21" providerId="AD" clId="Web-{65A2E390-01A2-E11A-FA3E-9367BE3CACA1}" dt="2024-01-18T09:23:47.480" v="0" actId="1076"/>
          <ac:picMkLst>
            <pc:docMk/>
            <pc:sldMk cId="1769002199" sldId="360"/>
            <ac:picMk id="2052" creationId="{00000000-0000-0000-0000-000000000000}"/>
          </ac:picMkLst>
        </pc:picChg>
      </pc:sldChg>
    </pc:docChg>
  </pc:docChgLst>
  <pc:docChgLst>
    <pc:chgData name="JARUPULA ROOPESH" userId="S::r.jarupula@iitg.ac.in::b897c0fe-3390-40b9-beb5-f522125584d8" providerId="AD" clId="Web-{0DD7B2C1-F19B-2EDA-FA32-F1571E9F2D51}"/>
    <pc:docChg chg="addSld delSld">
      <pc:chgData name="JARUPULA ROOPESH" userId="S::r.jarupula@iitg.ac.in::b897c0fe-3390-40b9-beb5-f522125584d8" providerId="AD" clId="Web-{0DD7B2C1-F19B-2EDA-FA32-F1571E9F2D51}" dt="2024-01-16T16:16:28.395" v="1"/>
      <pc:docMkLst>
        <pc:docMk/>
      </pc:docMkLst>
      <pc:sldChg chg="new del">
        <pc:chgData name="JARUPULA ROOPESH" userId="S::r.jarupula@iitg.ac.in::b897c0fe-3390-40b9-beb5-f522125584d8" providerId="AD" clId="Web-{0DD7B2C1-F19B-2EDA-FA32-F1571E9F2D51}" dt="2024-01-16T16:16:28.395" v="1"/>
        <pc:sldMkLst>
          <pc:docMk/>
          <pc:sldMk cId="713644904" sldId="391"/>
        </pc:sldMkLst>
      </pc:sldChg>
    </pc:docChg>
  </pc:docChgLst>
  <pc:docChgLst>
    <pc:chgData name="TANISHA VIJAYVARGIYA" userId="S::v.tanisha@iitg.ac.in::7e60b497-03b9-4cd4-bb57-09888e4b6f21" providerId="AD" clId="Web-{D6552A45-E911-4B19-891B-EDEFC7F4B4E1}"/>
    <pc:docChg chg="addSld delSld">
      <pc:chgData name="TANISHA VIJAYVARGIYA" userId="S::v.tanisha@iitg.ac.in::7e60b497-03b9-4cd4-bb57-09888e4b6f21" providerId="AD" clId="Web-{D6552A45-E911-4B19-891B-EDEFC7F4B4E1}" dt="2024-01-18T06:09:52.308" v="1"/>
      <pc:docMkLst>
        <pc:docMk/>
      </pc:docMkLst>
      <pc:sldChg chg="new del">
        <pc:chgData name="TANISHA VIJAYVARGIYA" userId="S::v.tanisha@iitg.ac.in::7e60b497-03b9-4cd4-bb57-09888e4b6f21" providerId="AD" clId="Web-{D6552A45-E911-4B19-891B-EDEFC7F4B4E1}" dt="2024-01-18T06:09:52.308" v="1"/>
        <pc:sldMkLst>
          <pc:docMk/>
          <pc:sldMk cId="3182401600" sldId="391"/>
        </pc:sldMkLst>
      </pc:sldChg>
    </pc:docChg>
  </pc:docChgLst>
  <pc:docChgLst>
    <pc:chgData name="SITANSHU MOHAPATRA" userId="S::s.mohapatra@iitg.ac.in::83768700-06a6-4ce9-b093-4862ba0d859f" providerId="AD" clId="Web-{92B93CB7-1418-475E-874A-DAB254BAC92B}"/>
    <pc:docChg chg="modSld sldOrd">
      <pc:chgData name="SITANSHU MOHAPATRA" userId="S::s.mohapatra@iitg.ac.in::83768700-06a6-4ce9-b093-4862ba0d859f" providerId="AD" clId="Web-{92B93CB7-1418-475E-874A-DAB254BAC92B}" dt="2024-01-17T18:50:15.684" v="6" actId="1076"/>
      <pc:docMkLst>
        <pc:docMk/>
      </pc:docMkLst>
      <pc:sldChg chg="modSp">
        <pc:chgData name="SITANSHU MOHAPATRA" userId="S::s.mohapatra@iitg.ac.in::83768700-06a6-4ce9-b093-4862ba0d859f" providerId="AD" clId="Web-{92B93CB7-1418-475E-874A-DAB254BAC92B}" dt="2024-01-17T18:50:15.684" v="6" actId="1076"/>
        <pc:sldMkLst>
          <pc:docMk/>
          <pc:sldMk cId="4151867967" sldId="351"/>
        </pc:sldMkLst>
        <pc:picChg chg="mod">
          <ac:chgData name="SITANSHU MOHAPATRA" userId="S::s.mohapatra@iitg.ac.in::83768700-06a6-4ce9-b093-4862ba0d859f" providerId="AD" clId="Web-{92B93CB7-1418-475E-874A-DAB254BAC92B}" dt="2024-01-17T18:50:15.684" v="6" actId="1076"/>
          <ac:picMkLst>
            <pc:docMk/>
            <pc:sldMk cId="4151867967" sldId="351"/>
            <ac:picMk id="2051" creationId="{00000000-0000-0000-0000-000000000000}"/>
          </ac:picMkLst>
        </pc:picChg>
      </pc:sldChg>
      <pc:sldChg chg="ord">
        <pc:chgData name="SITANSHU MOHAPATRA" userId="S::s.mohapatra@iitg.ac.in::83768700-06a6-4ce9-b093-4862ba0d859f" providerId="AD" clId="Web-{92B93CB7-1418-475E-874A-DAB254BAC92B}" dt="2024-01-17T18:27:09.742" v="0"/>
        <pc:sldMkLst>
          <pc:docMk/>
          <pc:sldMk cId="1125900113" sldId="374"/>
        </pc:sldMkLst>
      </pc:sldChg>
    </pc:docChg>
  </pc:docChgLst>
  <pc:docChgLst>
    <pc:chgData name="RITVIJ GOPAL" userId="S::g.ritvij@iitg.ac.in::0a28ebae-2239-4f6e-8e19-6bd55a3ca159" providerId="AD" clId="Web-{8D048448-9B4F-4528-A246-CEBD21EAA010}"/>
    <pc:docChg chg="modSld">
      <pc:chgData name="RITVIJ GOPAL" userId="S::g.ritvij@iitg.ac.in::0a28ebae-2239-4f6e-8e19-6bd55a3ca159" providerId="AD" clId="Web-{8D048448-9B4F-4528-A246-CEBD21EAA010}" dt="2024-01-17T04:56:49.478" v="0" actId="1076"/>
      <pc:docMkLst>
        <pc:docMk/>
      </pc:docMkLst>
      <pc:sldChg chg="modSp">
        <pc:chgData name="RITVIJ GOPAL" userId="S::g.ritvij@iitg.ac.in::0a28ebae-2239-4f6e-8e19-6bd55a3ca159" providerId="AD" clId="Web-{8D048448-9B4F-4528-A246-CEBD21EAA010}" dt="2024-01-17T04:56:49.478" v="0" actId="1076"/>
        <pc:sldMkLst>
          <pc:docMk/>
          <pc:sldMk cId="4005536637" sldId="362"/>
        </pc:sldMkLst>
        <pc:picChg chg="mod">
          <ac:chgData name="RITVIJ GOPAL" userId="S::g.ritvij@iitg.ac.in::0a28ebae-2239-4f6e-8e19-6bd55a3ca159" providerId="AD" clId="Web-{8D048448-9B4F-4528-A246-CEBD21EAA010}" dt="2024-01-17T04:56:49.478" v="0" actId="1076"/>
          <ac:picMkLst>
            <pc:docMk/>
            <pc:sldMk cId="4005536637" sldId="362"/>
            <ac:picMk id="4" creationId="{00000000-0000-0000-0000-000000000000}"/>
          </ac:picMkLst>
        </pc:picChg>
      </pc:sldChg>
    </pc:docChg>
  </pc:docChgLst>
  <pc:docChgLst>
    <pc:chgData name="RUDRAKSH TATWAL" userId="S::t.rudraksh@iitg.ac.in::a3e0cc8d-f4a5-446d-8ad2-2c27576f0af1" providerId="AD" clId="Web-{7C128765-8ABC-4F59-BCB4-B593AF149D96}"/>
    <pc:docChg chg="modSld">
      <pc:chgData name="RUDRAKSH TATWAL" userId="S::t.rudraksh@iitg.ac.in::a3e0cc8d-f4a5-446d-8ad2-2c27576f0af1" providerId="AD" clId="Web-{7C128765-8ABC-4F59-BCB4-B593AF149D96}" dt="2024-01-18T10:04:21.276" v="5" actId="1076"/>
      <pc:docMkLst>
        <pc:docMk/>
      </pc:docMkLst>
      <pc:sldChg chg="modSp">
        <pc:chgData name="RUDRAKSH TATWAL" userId="S::t.rudraksh@iitg.ac.in::a3e0cc8d-f4a5-446d-8ad2-2c27576f0af1" providerId="AD" clId="Web-{7C128765-8ABC-4F59-BCB4-B593AF149D96}" dt="2024-01-18T09:59:12.074" v="4" actId="1076"/>
        <pc:sldMkLst>
          <pc:docMk/>
          <pc:sldMk cId="4005536637" sldId="362"/>
        </pc:sldMkLst>
        <pc:picChg chg="mod">
          <ac:chgData name="RUDRAKSH TATWAL" userId="S::t.rudraksh@iitg.ac.in::a3e0cc8d-f4a5-446d-8ad2-2c27576f0af1" providerId="AD" clId="Web-{7C128765-8ABC-4F59-BCB4-B593AF149D96}" dt="2024-01-18T09:59:12.074" v="4" actId="1076"/>
          <ac:picMkLst>
            <pc:docMk/>
            <pc:sldMk cId="4005536637" sldId="362"/>
            <ac:picMk id="4" creationId="{00000000-0000-0000-0000-000000000000}"/>
          </ac:picMkLst>
        </pc:picChg>
      </pc:sldChg>
      <pc:sldChg chg="modSp">
        <pc:chgData name="RUDRAKSH TATWAL" userId="S::t.rudraksh@iitg.ac.in::a3e0cc8d-f4a5-446d-8ad2-2c27576f0af1" providerId="AD" clId="Web-{7C128765-8ABC-4F59-BCB4-B593AF149D96}" dt="2024-01-18T10:04:21.276" v="5" actId="1076"/>
        <pc:sldMkLst>
          <pc:docMk/>
          <pc:sldMk cId="1153338948" sldId="368"/>
        </pc:sldMkLst>
        <pc:picChg chg="mod">
          <ac:chgData name="RUDRAKSH TATWAL" userId="S::t.rudraksh@iitg.ac.in::a3e0cc8d-f4a5-446d-8ad2-2c27576f0af1" providerId="AD" clId="Web-{7C128765-8ABC-4F59-BCB4-B593AF149D96}" dt="2024-01-18T10:04:21.276" v="5" actId="1076"/>
          <ac:picMkLst>
            <pc:docMk/>
            <pc:sldMk cId="1153338948" sldId="368"/>
            <ac:picMk id="5122" creationId="{00000000-0000-0000-0000-000000000000}"/>
          </ac:picMkLst>
        </pc:picChg>
      </pc:sldChg>
    </pc:docChg>
  </pc:docChgLst>
  <pc:docChgLst>
    <pc:chgData name="AYUSH KUMAR" userId="S::ayushk.4022@iitg.ac.in::3375db3d-597a-4997-87de-995d8c88d259" providerId="AD" clId="Web-{AEBE83B8-4C7B-5760-3D13-C441769699EF}"/>
    <pc:docChg chg="modSld">
      <pc:chgData name="AYUSH KUMAR" userId="S::ayushk.4022@iitg.ac.in::3375db3d-597a-4997-87de-995d8c88d259" providerId="AD" clId="Web-{AEBE83B8-4C7B-5760-3D13-C441769699EF}" dt="2024-01-16T10:48:52.690" v="8" actId="1076"/>
      <pc:docMkLst>
        <pc:docMk/>
      </pc:docMkLst>
      <pc:sldChg chg="modSp">
        <pc:chgData name="AYUSH KUMAR" userId="S::ayushk.4022@iitg.ac.in::3375db3d-597a-4997-87de-995d8c88d259" providerId="AD" clId="Web-{AEBE83B8-4C7B-5760-3D13-C441769699EF}" dt="2024-01-16T09:45:28.181" v="0" actId="1076"/>
        <pc:sldMkLst>
          <pc:docMk/>
          <pc:sldMk cId="4005536637" sldId="362"/>
        </pc:sldMkLst>
        <pc:picChg chg="mod">
          <ac:chgData name="AYUSH KUMAR" userId="S::ayushk.4022@iitg.ac.in::3375db3d-597a-4997-87de-995d8c88d259" providerId="AD" clId="Web-{AEBE83B8-4C7B-5760-3D13-C441769699EF}" dt="2024-01-16T09:45:28.181" v="0" actId="1076"/>
          <ac:picMkLst>
            <pc:docMk/>
            <pc:sldMk cId="4005536637" sldId="362"/>
            <ac:picMk id="4" creationId="{00000000-0000-0000-0000-000000000000}"/>
          </ac:picMkLst>
        </pc:picChg>
      </pc:sldChg>
      <pc:sldChg chg="delSp modSp delAnim">
        <pc:chgData name="AYUSH KUMAR" userId="S::ayushk.4022@iitg.ac.in::3375db3d-597a-4997-87de-995d8c88d259" providerId="AD" clId="Web-{AEBE83B8-4C7B-5760-3D13-C441769699EF}" dt="2024-01-16T10:15:06.588" v="5" actId="1076"/>
        <pc:sldMkLst>
          <pc:docMk/>
          <pc:sldMk cId="794502127" sldId="373"/>
        </pc:sldMkLst>
        <pc:picChg chg="mod">
          <ac:chgData name="AYUSH KUMAR" userId="S::ayushk.4022@iitg.ac.in::3375db3d-597a-4997-87de-995d8c88d259" providerId="AD" clId="Web-{AEBE83B8-4C7B-5760-3D13-C441769699EF}" dt="2024-01-16T10:15:06.588" v="5" actId="1076"/>
          <ac:picMkLst>
            <pc:docMk/>
            <pc:sldMk cId="794502127" sldId="373"/>
            <ac:picMk id="1026" creationId="{00000000-0000-0000-0000-000000000000}"/>
          </ac:picMkLst>
        </pc:picChg>
        <pc:picChg chg="del mod">
          <ac:chgData name="AYUSH KUMAR" userId="S::ayushk.4022@iitg.ac.in::3375db3d-597a-4997-87de-995d8c88d259" providerId="AD" clId="Web-{AEBE83B8-4C7B-5760-3D13-C441769699EF}" dt="2024-01-16T10:14:09.133" v="2"/>
          <ac:picMkLst>
            <pc:docMk/>
            <pc:sldMk cId="794502127" sldId="373"/>
            <ac:picMk id="1028" creationId="{00000000-0000-0000-0000-000000000000}"/>
          </ac:picMkLst>
        </pc:picChg>
      </pc:sldChg>
      <pc:sldChg chg="modSp">
        <pc:chgData name="AYUSH KUMAR" userId="S::ayushk.4022@iitg.ac.in::3375db3d-597a-4997-87de-995d8c88d259" providerId="AD" clId="Web-{AEBE83B8-4C7B-5760-3D13-C441769699EF}" dt="2024-01-16T10:48:52.690" v="8" actId="1076"/>
        <pc:sldMkLst>
          <pc:docMk/>
          <pc:sldMk cId="1549731346" sldId="379"/>
        </pc:sldMkLst>
        <pc:picChg chg="mod">
          <ac:chgData name="AYUSH KUMAR" userId="S::ayushk.4022@iitg.ac.in::3375db3d-597a-4997-87de-995d8c88d259" providerId="AD" clId="Web-{AEBE83B8-4C7B-5760-3D13-C441769699EF}" dt="2024-01-16T10:48:52.690" v="8" actId="1076"/>
          <ac:picMkLst>
            <pc:docMk/>
            <pc:sldMk cId="1549731346" sldId="379"/>
            <ac:picMk id="2050" creationId="{00000000-0000-0000-0000-000000000000}"/>
          </ac:picMkLst>
        </pc:picChg>
      </pc:sldChg>
    </pc:docChg>
  </pc:docChgLst>
  <pc:docChgLst>
    <pc:chgData name="NARODIA MIT MANISHBHAI" userId="S::m.narodia@iitg.ac.in::6645f221-42bf-419e-9d8a-844d8c8db69f" providerId="AD" clId="Web-{8A5000D7-6F35-4C02-A3A8-89DF441C30E8}"/>
    <pc:docChg chg="modSld sldOrd">
      <pc:chgData name="NARODIA MIT MANISHBHAI" userId="S::m.narodia@iitg.ac.in::6645f221-42bf-419e-9d8a-844d8c8db69f" providerId="AD" clId="Web-{8A5000D7-6F35-4C02-A3A8-89DF441C30E8}" dt="2024-01-16T06:27:00.173" v="4"/>
      <pc:docMkLst>
        <pc:docMk/>
      </pc:docMkLst>
      <pc:sldChg chg="modSp">
        <pc:chgData name="NARODIA MIT MANISHBHAI" userId="S::m.narodia@iitg.ac.in::6645f221-42bf-419e-9d8a-844d8c8db69f" providerId="AD" clId="Web-{8A5000D7-6F35-4C02-A3A8-89DF441C30E8}" dt="2024-01-16T05:54:33.128" v="1" actId="1076"/>
        <pc:sldMkLst>
          <pc:docMk/>
          <pc:sldMk cId="1661993758" sldId="307"/>
        </pc:sldMkLst>
        <pc:picChg chg="mod">
          <ac:chgData name="NARODIA MIT MANISHBHAI" userId="S::m.narodia@iitg.ac.in::6645f221-42bf-419e-9d8a-844d8c8db69f" providerId="AD" clId="Web-{8A5000D7-6F35-4C02-A3A8-89DF441C30E8}" dt="2024-01-16T05:54:33.128" v="1" actId="1076"/>
          <ac:picMkLst>
            <pc:docMk/>
            <pc:sldMk cId="1661993758" sldId="307"/>
            <ac:picMk id="4" creationId="{00000000-0000-0000-0000-000000000000}"/>
          </ac:picMkLst>
        </pc:picChg>
      </pc:sldChg>
      <pc:sldChg chg="ord">
        <pc:chgData name="NARODIA MIT MANISHBHAI" userId="S::m.narodia@iitg.ac.in::6645f221-42bf-419e-9d8a-844d8c8db69f" providerId="AD" clId="Web-{8A5000D7-6F35-4C02-A3A8-89DF441C30E8}" dt="2024-01-16T06:27:00.173" v="4"/>
        <pc:sldMkLst>
          <pc:docMk/>
          <pc:sldMk cId="4151867967" sldId="351"/>
        </pc:sldMkLst>
      </pc:sldChg>
      <pc:sldChg chg="ord">
        <pc:chgData name="NARODIA MIT MANISHBHAI" userId="S::m.narodia@iitg.ac.in::6645f221-42bf-419e-9d8a-844d8c8db69f" providerId="AD" clId="Web-{8A5000D7-6F35-4C02-A3A8-89DF441C30E8}" dt="2024-01-16T06:24:06.498" v="2"/>
        <pc:sldMkLst>
          <pc:docMk/>
          <pc:sldMk cId="1224833505" sldId="3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D7C8935-46DA-4180-A4BF-5CA8912CA9CA}" type="datetimeFigureOut">
              <a:rPr lang="en-US" smtClean="0"/>
              <a:t>1/18/2024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8E3214-151E-4189-B15F-6B86799C24E8}" type="slidenum">
              <a:rPr lang="en-US" smtClean="0"/>
              <a:t>‹#›</a:t>
            </a:fld>
            <a:endParaRPr lang="en-US"/>
          </a:p>
        </p:txBody>
      </p:sp>
    </p:spTree>
    <p:extLst>
      <p:ext uri="{BB962C8B-B14F-4D97-AF65-F5344CB8AC3E}">
        <p14:creationId xmlns:p14="http://schemas.microsoft.com/office/powerpoint/2010/main" val="1204816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0F055A2-B28D-4874-807F-8A5864F0402F}"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F00E51-5C1A-4BCB-8FAB-C2CC5154BB59}" type="slidenum">
              <a:rPr lang="en-US" smtClean="0"/>
              <a:t>‹#›</a:t>
            </a:fld>
            <a:endParaRPr lang="en-US"/>
          </a:p>
        </p:txBody>
      </p:sp>
    </p:spTree>
    <p:extLst>
      <p:ext uri="{BB962C8B-B14F-4D97-AF65-F5344CB8AC3E}">
        <p14:creationId xmlns:p14="http://schemas.microsoft.com/office/powerpoint/2010/main" val="3457277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78A497-7C91-43F8-AAFA-4DDAE7136A81}"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F00E51-5C1A-4BCB-8FAB-C2CC5154BB59}" type="slidenum">
              <a:rPr lang="en-US" smtClean="0"/>
              <a:t>‹#›</a:t>
            </a:fld>
            <a:endParaRPr lang="en-US"/>
          </a:p>
        </p:txBody>
      </p:sp>
    </p:spTree>
    <p:extLst>
      <p:ext uri="{BB962C8B-B14F-4D97-AF65-F5344CB8AC3E}">
        <p14:creationId xmlns:p14="http://schemas.microsoft.com/office/powerpoint/2010/main" val="674303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294F97-300C-491A-8058-D768B8E0C8C4}"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F00E51-5C1A-4BCB-8FAB-C2CC5154BB59}" type="slidenum">
              <a:rPr lang="en-US" smtClean="0"/>
              <a:t>‹#›</a:t>
            </a:fld>
            <a:endParaRPr lang="en-US"/>
          </a:p>
        </p:txBody>
      </p:sp>
    </p:spTree>
    <p:extLst>
      <p:ext uri="{BB962C8B-B14F-4D97-AF65-F5344CB8AC3E}">
        <p14:creationId xmlns:p14="http://schemas.microsoft.com/office/powerpoint/2010/main" val="106625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E4E123-C221-4CF2-98C5-072DDD73085B}" type="datetime1">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F00E51-5C1A-4BCB-8FAB-C2CC5154BB59}" type="slidenum">
              <a:rPr lang="en-US" smtClean="0"/>
              <a:t>‹#›</a:t>
            </a:fld>
            <a:endParaRPr lang="en-US"/>
          </a:p>
        </p:txBody>
      </p:sp>
    </p:spTree>
    <p:extLst>
      <p:ext uri="{BB962C8B-B14F-4D97-AF65-F5344CB8AC3E}">
        <p14:creationId xmlns:p14="http://schemas.microsoft.com/office/powerpoint/2010/main" val="2554449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8555EE-8659-437E-B116-48FDB2F6DB4D}" type="datetime1">
              <a:rPr lang="en-US" smtClean="0"/>
              <a:t>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F00E51-5C1A-4BCB-8FAB-C2CC5154BB59}" type="slidenum">
              <a:rPr lang="en-US" smtClean="0"/>
              <a:t>‹#›</a:t>
            </a:fld>
            <a:endParaRPr lang="en-US"/>
          </a:p>
        </p:txBody>
      </p:sp>
    </p:spTree>
    <p:extLst>
      <p:ext uri="{BB962C8B-B14F-4D97-AF65-F5344CB8AC3E}">
        <p14:creationId xmlns:p14="http://schemas.microsoft.com/office/powerpoint/2010/main" val="2456975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F779FD2-9AA2-466A-BBFB-3B308036A835}" type="datetime1">
              <a:rPr lang="en-US" smtClean="0"/>
              <a:t>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F00E51-5C1A-4BCB-8FAB-C2CC5154BB59}" type="slidenum">
              <a:rPr lang="en-US" smtClean="0"/>
              <a:t>‹#›</a:t>
            </a:fld>
            <a:endParaRPr lang="en-US"/>
          </a:p>
        </p:txBody>
      </p:sp>
    </p:spTree>
    <p:extLst>
      <p:ext uri="{BB962C8B-B14F-4D97-AF65-F5344CB8AC3E}">
        <p14:creationId xmlns:p14="http://schemas.microsoft.com/office/powerpoint/2010/main" val="976400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23521C-FBB4-4EB8-A787-D4D8ACD23B3C}" type="datetime1">
              <a:rPr lang="en-US" smtClean="0"/>
              <a:t>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F00E51-5C1A-4BCB-8FAB-C2CC5154BB59}" type="slidenum">
              <a:rPr lang="en-US" smtClean="0"/>
              <a:t>‹#›</a:t>
            </a:fld>
            <a:endParaRPr lang="en-US"/>
          </a:p>
        </p:txBody>
      </p:sp>
    </p:spTree>
    <p:extLst>
      <p:ext uri="{BB962C8B-B14F-4D97-AF65-F5344CB8AC3E}">
        <p14:creationId xmlns:p14="http://schemas.microsoft.com/office/powerpoint/2010/main" val="2232259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DF8FD8-BB77-4A28-8234-533CDE3A499C}" type="datetime1">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F00E51-5C1A-4BCB-8FAB-C2CC5154BB59}" type="slidenum">
              <a:rPr lang="en-US" smtClean="0"/>
              <a:t>‹#›</a:t>
            </a:fld>
            <a:endParaRPr lang="en-US"/>
          </a:p>
        </p:txBody>
      </p:sp>
    </p:spTree>
    <p:extLst>
      <p:ext uri="{BB962C8B-B14F-4D97-AF65-F5344CB8AC3E}">
        <p14:creationId xmlns:p14="http://schemas.microsoft.com/office/powerpoint/2010/main" val="3464181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0862B2-A315-4A54-B3E8-F354D66E7149}" type="datetime1">
              <a:rPr lang="en-US" smtClean="0"/>
              <a:t>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F00E51-5C1A-4BCB-8FAB-C2CC5154BB59}" type="slidenum">
              <a:rPr lang="en-US" smtClean="0"/>
              <a:t>‹#›</a:t>
            </a:fld>
            <a:endParaRPr lang="en-US"/>
          </a:p>
        </p:txBody>
      </p:sp>
    </p:spTree>
    <p:extLst>
      <p:ext uri="{BB962C8B-B14F-4D97-AF65-F5344CB8AC3E}">
        <p14:creationId xmlns:p14="http://schemas.microsoft.com/office/powerpoint/2010/main" val="3772930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A49167-24D4-4AE6-9316-A68B7A9E6B9F}"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F00E51-5C1A-4BCB-8FAB-C2CC5154BB59}" type="slidenum">
              <a:rPr lang="en-US" smtClean="0"/>
              <a:t>‹#›</a:t>
            </a:fld>
            <a:endParaRPr lang="en-US"/>
          </a:p>
        </p:txBody>
      </p:sp>
    </p:spTree>
    <p:extLst>
      <p:ext uri="{BB962C8B-B14F-4D97-AF65-F5344CB8AC3E}">
        <p14:creationId xmlns:p14="http://schemas.microsoft.com/office/powerpoint/2010/main" val="2010026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76B540-C653-4BC9-AF59-5B68BDE7BD60}" type="datetime1">
              <a:rPr lang="en-US" smtClean="0"/>
              <a:t>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F00E51-5C1A-4BCB-8FAB-C2CC5154BB59}" type="slidenum">
              <a:rPr lang="en-US" smtClean="0"/>
              <a:t>‹#›</a:t>
            </a:fld>
            <a:endParaRPr lang="en-US"/>
          </a:p>
        </p:txBody>
      </p:sp>
    </p:spTree>
    <p:extLst>
      <p:ext uri="{BB962C8B-B14F-4D97-AF65-F5344CB8AC3E}">
        <p14:creationId xmlns:p14="http://schemas.microsoft.com/office/powerpoint/2010/main" val="1012781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4726B0-6363-4D8A-8C06-307498A464FF}" type="datetime1">
              <a:rPr lang="en-US" smtClean="0"/>
              <a:t>1/18/2024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F00E51-5C1A-4BCB-8FAB-C2CC5154BB59}" type="slidenum">
              <a:rPr lang="en-US" smtClean="0"/>
              <a:t>‹#›</a:t>
            </a:fld>
            <a:endParaRPr lang="en-US"/>
          </a:p>
        </p:txBody>
      </p:sp>
    </p:spTree>
    <p:extLst>
      <p:ext uri="{BB962C8B-B14F-4D97-AF65-F5344CB8AC3E}">
        <p14:creationId xmlns:p14="http://schemas.microsoft.com/office/powerpoint/2010/main" val="20599575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435225"/>
            <a:ext cx="7772400" cy="1470025"/>
          </a:xfrm>
        </p:spPr>
        <p:txBody>
          <a:bodyPr/>
          <a:lstStyle/>
          <a:p>
            <a:r>
              <a:rPr lang="en-US" b="1"/>
              <a:t>LECTURE-2</a:t>
            </a:r>
          </a:p>
        </p:txBody>
      </p:sp>
      <p:sp>
        <p:nvSpPr>
          <p:cNvPr id="3" name="Subtitle 2"/>
          <p:cNvSpPr>
            <a:spLocks noGrp="1"/>
          </p:cNvSpPr>
          <p:nvPr>
            <p:ph type="subTitle" idx="1"/>
          </p:nvPr>
        </p:nvSpPr>
        <p:spPr>
          <a:xfrm>
            <a:off x="1371600" y="4191000"/>
            <a:ext cx="6400800" cy="1752600"/>
          </a:xfrm>
        </p:spPr>
        <p:txBody>
          <a:bodyPr>
            <a:normAutofit fontScale="77500" lnSpcReduction="20000"/>
          </a:bodyPr>
          <a:lstStyle/>
          <a:p>
            <a:pPr algn="just"/>
            <a:endParaRPr lang="en-US" b="1">
              <a:solidFill>
                <a:srgbClr val="C00000"/>
              </a:solidFill>
            </a:endParaRPr>
          </a:p>
          <a:p>
            <a:pPr algn="just"/>
            <a:r>
              <a:rPr lang="en-US" b="1">
                <a:solidFill>
                  <a:srgbClr val="C00000"/>
                </a:solidFill>
              </a:rPr>
              <a:t>Dr. Kusum K. Singh</a:t>
            </a:r>
          </a:p>
          <a:p>
            <a:pPr algn="just"/>
            <a:r>
              <a:rPr lang="en-US" b="1">
                <a:solidFill>
                  <a:srgbClr val="C00000"/>
                </a:solidFill>
              </a:rPr>
              <a:t>Department of Biosciences and Bioengineering</a:t>
            </a:r>
          </a:p>
          <a:p>
            <a:pPr algn="just"/>
            <a:r>
              <a:rPr lang="en-US" b="1">
                <a:solidFill>
                  <a:srgbClr val="C00000"/>
                </a:solidFill>
              </a:rPr>
              <a:t>Indian Institute of Technology Guwahati</a:t>
            </a:r>
          </a:p>
        </p:txBody>
      </p:sp>
      <p:sp>
        <p:nvSpPr>
          <p:cNvPr id="4" name="Title 1"/>
          <p:cNvSpPr txBox="1">
            <a:spLocks/>
          </p:cNvSpPr>
          <p:nvPr/>
        </p:nvSpPr>
        <p:spPr>
          <a:xfrm>
            <a:off x="533400" y="655677"/>
            <a:ext cx="6979920" cy="1064895"/>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en-US" sz="3600" b="1" u="sng">
                <a:solidFill>
                  <a:srgbClr val="0000FF"/>
                </a:solidFill>
              </a:rPr>
              <a:t>BT101- Introductory Biology</a:t>
            </a:r>
          </a:p>
        </p:txBody>
      </p:sp>
      <p:pic>
        <p:nvPicPr>
          <p:cNvPr id="11266"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4205" r="27385"/>
          <a:stretch/>
        </p:blipFill>
        <p:spPr bwMode="auto">
          <a:xfrm>
            <a:off x="7238999" y="481011"/>
            <a:ext cx="1383325" cy="15001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Slide Number Placeholder 4"/>
          <p:cNvSpPr>
            <a:spLocks noGrp="1"/>
          </p:cNvSpPr>
          <p:nvPr>
            <p:ph type="sldNum" sz="quarter" idx="12"/>
          </p:nvPr>
        </p:nvSpPr>
        <p:spPr/>
        <p:txBody>
          <a:bodyPr/>
          <a:lstStyle/>
          <a:p>
            <a:fld id="{84F00E51-5C1A-4BCB-8FAB-C2CC5154BB59}" type="slidenum">
              <a:rPr lang="en-US" smtClean="0"/>
              <a:t>1</a:t>
            </a:fld>
            <a:endParaRPr lang="en-US"/>
          </a:p>
        </p:txBody>
      </p:sp>
    </p:spTree>
    <p:extLst>
      <p:ext uri="{BB962C8B-B14F-4D97-AF65-F5344CB8AC3E}">
        <p14:creationId xmlns:p14="http://schemas.microsoft.com/office/powerpoint/2010/main" val="248049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b="1">
                <a:solidFill>
                  <a:srgbClr val="0000FF"/>
                </a:solidFill>
              </a:rPr>
              <a:t>Chromosomes</a:t>
            </a:r>
          </a:p>
        </p:txBody>
      </p:sp>
      <p:sp>
        <p:nvSpPr>
          <p:cNvPr id="5" name="Subtitle 2"/>
          <p:cNvSpPr txBox="1">
            <a:spLocks/>
          </p:cNvSpPr>
          <p:nvPr/>
        </p:nvSpPr>
        <p:spPr>
          <a:xfrm>
            <a:off x="381000" y="848298"/>
            <a:ext cx="81534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Contents:</a:t>
            </a:r>
          </a:p>
          <a:p>
            <a:pPr marL="514350" indent="-514350" algn="just">
              <a:lnSpc>
                <a:spcPct val="150000"/>
              </a:lnSpc>
              <a:buFont typeface="+mj-lt"/>
              <a:buAutoNum type="arabicPeriod"/>
            </a:pPr>
            <a:r>
              <a:rPr lang="en-US" sz="2800" err="1"/>
              <a:t>Gregor</a:t>
            </a:r>
            <a:r>
              <a:rPr lang="en-US" sz="2800"/>
              <a:t> Mendel (1865) inheritance factors.</a:t>
            </a:r>
          </a:p>
          <a:p>
            <a:pPr marL="514350" indent="-514350" algn="just">
              <a:lnSpc>
                <a:spcPct val="150000"/>
              </a:lnSpc>
              <a:buFont typeface="+mj-lt"/>
              <a:buAutoNum type="arabicPeriod"/>
            </a:pPr>
            <a:r>
              <a:rPr lang="en-US" sz="2800"/>
              <a:t>Walther </a:t>
            </a:r>
            <a:r>
              <a:rPr lang="en-US" sz="2800" err="1"/>
              <a:t>Flemming</a:t>
            </a:r>
            <a:r>
              <a:rPr lang="en-US" sz="2800"/>
              <a:t> “discovery of chromosomes”</a:t>
            </a:r>
          </a:p>
          <a:p>
            <a:pPr marL="514350" indent="-514350" algn="just">
              <a:lnSpc>
                <a:spcPct val="150000"/>
              </a:lnSpc>
              <a:buFont typeface="+mj-lt"/>
              <a:buAutoNum type="arabicPeriod"/>
            </a:pPr>
            <a:endParaRPr lang="en-US" sz="2800"/>
          </a:p>
          <a:p>
            <a:pPr marL="514350" indent="-514350" algn="just">
              <a:lnSpc>
                <a:spcPct val="150000"/>
              </a:lnSpc>
              <a:buFont typeface="+mj-lt"/>
              <a:buAutoNum type="arabicPeriod"/>
            </a:pPr>
            <a:r>
              <a:rPr lang="en-US" sz="2800"/>
              <a:t>Theodor </a:t>
            </a:r>
            <a:r>
              <a:rPr lang="en-US" sz="2800" err="1"/>
              <a:t>Boveri</a:t>
            </a:r>
            <a:r>
              <a:rPr lang="en-US" sz="2800"/>
              <a:t> “Chromosome diminution”</a:t>
            </a:r>
          </a:p>
          <a:p>
            <a:pPr marL="514350" indent="-514350" algn="just">
              <a:lnSpc>
                <a:spcPct val="150000"/>
              </a:lnSpc>
              <a:buFont typeface="+mj-lt"/>
              <a:buAutoNum type="arabicPeriod"/>
            </a:pPr>
            <a:r>
              <a:rPr lang="en-US" sz="2800"/>
              <a:t>Walter Sutton “Chromosome individuality”</a:t>
            </a:r>
          </a:p>
          <a:p>
            <a:pPr marL="514350" indent="-514350" algn="just">
              <a:lnSpc>
                <a:spcPct val="150000"/>
              </a:lnSpc>
              <a:buFont typeface="+mj-lt"/>
              <a:buAutoNum type="arabicPeriod"/>
            </a:pPr>
            <a:r>
              <a:rPr lang="en-US" sz="2800"/>
              <a:t>Thomas Hunt Morgan “Chromosomes: physical carriers of hereditary.”</a:t>
            </a:r>
          </a:p>
        </p:txBody>
      </p:sp>
      <p:sp>
        <p:nvSpPr>
          <p:cNvPr id="3" name="Right Brace 2"/>
          <p:cNvSpPr/>
          <p:nvPr/>
        </p:nvSpPr>
        <p:spPr>
          <a:xfrm rot="5400000">
            <a:off x="6610350" y="2000250"/>
            <a:ext cx="190500" cy="1981200"/>
          </a:xfrm>
          <a:prstGeom prst="rightBrace">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4" name="TextBox 3"/>
          <p:cNvSpPr txBox="1"/>
          <p:nvPr/>
        </p:nvSpPr>
        <p:spPr>
          <a:xfrm>
            <a:off x="5715000" y="3030520"/>
            <a:ext cx="1947777" cy="369332"/>
          </a:xfrm>
          <a:prstGeom prst="rect">
            <a:avLst/>
          </a:prstGeom>
          <a:noFill/>
        </p:spPr>
        <p:txBody>
          <a:bodyPr wrap="none" rtlCol="0">
            <a:spAutoFit/>
          </a:bodyPr>
          <a:lstStyle/>
          <a:p>
            <a:r>
              <a:rPr lang="en-US" b="1">
                <a:solidFill>
                  <a:srgbClr val="00B0F0"/>
                </a:solidFill>
              </a:rPr>
              <a:t>Heinrich </a:t>
            </a:r>
            <a:r>
              <a:rPr lang="en-US" b="1" err="1">
                <a:solidFill>
                  <a:srgbClr val="00B0F0"/>
                </a:solidFill>
              </a:rPr>
              <a:t>Waldeyer</a:t>
            </a:r>
            <a:endParaRPr lang="en-US" b="1">
              <a:solidFill>
                <a:srgbClr val="00B0F0"/>
              </a:solidFill>
            </a:endParaRPr>
          </a:p>
        </p:txBody>
      </p:sp>
      <p:sp>
        <p:nvSpPr>
          <p:cNvPr id="6" name="Right Brace 5"/>
          <p:cNvSpPr/>
          <p:nvPr/>
        </p:nvSpPr>
        <p:spPr>
          <a:xfrm>
            <a:off x="7152752" y="3992544"/>
            <a:ext cx="190500" cy="1143000"/>
          </a:xfrm>
          <a:prstGeom prst="rightBrace">
            <a:avLst/>
          </a:prstGeom>
          <a:ln/>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7" name="TextBox 6"/>
          <p:cNvSpPr txBox="1"/>
          <p:nvPr/>
        </p:nvSpPr>
        <p:spPr>
          <a:xfrm>
            <a:off x="7370048" y="4105870"/>
            <a:ext cx="1469151" cy="923330"/>
          </a:xfrm>
          <a:prstGeom prst="rect">
            <a:avLst/>
          </a:prstGeom>
          <a:noFill/>
        </p:spPr>
        <p:txBody>
          <a:bodyPr wrap="square" rtlCol="0">
            <a:spAutoFit/>
          </a:bodyPr>
          <a:lstStyle/>
          <a:p>
            <a:r>
              <a:rPr lang="en-US" b="1">
                <a:solidFill>
                  <a:srgbClr val="00B0F0"/>
                </a:solidFill>
              </a:rPr>
              <a:t>Chromosome theory of inheritance</a:t>
            </a:r>
          </a:p>
        </p:txBody>
      </p:sp>
      <p:sp>
        <p:nvSpPr>
          <p:cNvPr id="8" name="Slide Number Placeholder 7"/>
          <p:cNvSpPr>
            <a:spLocks noGrp="1"/>
          </p:cNvSpPr>
          <p:nvPr>
            <p:ph type="sldNum" sz="quarter" idx="12"/>
          </p:nvPr>
        </p:nvSpPr>
        <p:spPr/>
        <p:txBody>
          <a:bodyPr/>
          <a:lstStyle/>
          <a:p>
            <a:fld id="{84F00E51-5C1A-4BCB-8FAB-C2CC5154BB59}" type="slidenum">
              <a:rPr lang="en-US" dirty="0" smtClean="0"/>
              <a:t>2</a:t>
            </a:fld>
            <a:endParaRPr lang="en-US"/>
          </a:p>
        </p:txBody>
      </p:sp>
    </p:spTree>
    <p:extLst>
      <p:ext uri="{BB962C8B-B14F-4D97-AF65-F5344CB8AC3E}">
        <p14:creationId xmlns:p14="http://schemas.microsoft.com/office/powerpoint/2010/main" val="2517606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5">
                                            <p:txEl>
                                              <p:pRg st="1" end="1"/>
                                            </p:txEl>
                                          </p:spTgt>
                                        </p:tgtEl>
                                        <p:attrNameLst>
                                          <p:attrName>style.fontWeight</p:attrName>
                                        </p:attrNameLst>
                                      </p:cBhvr>
                                      <p:to>
                                        <p:strVal val="bold"/>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0"/>
                                  </p:iterate>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5" presetClass="emph" presetSubtype="0" nodeType="clickEffect">
                                  <p:stCondLst>
                                    <p:cond delay="0"/>
                                  </p:stCondLst>
                                  <p:iterate type="lt">
                                    <p:tmAbs val="25"/>
                                  </p:iterate>
                                  <p:childTnLst>
                                    <p:set>
                                      <p:cBhvr override="childStyle">
                                        <p:cTn id="14" dur="indefinite"/>
                                        <p:tgtEl>
                                          <p:spTgt spid="5">
                                            <p:txEl>
                                              <p:pRg st="2" end="2"/>
                                            </p:txEl>
                                          </p:spTgt>
                                        </p:tgtEl>
                                        <p:attrNameLst>
                                          <p:attrName>style.fontWeight</p:attrName>
                                        </p:attrNameLst>
                                      </p:cBhvr>
                                      <p:to>
                                        <p:strVal val="bold"/>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lt">
                                    <p:tmAbs val="0"/>
                                  </p:iterate>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5" presetClass="emph" presetSubtype="0" nodeType="clickEffect">
                                  <p:stCondLst>
                                    <p:cond delay="0"/>
                                  </p:stCondLst>
                                  <p:iterate type="lt">
                                    <p:tmAbs val="25"/>
                                  </p:iterate>
                                  <p:childTnLst>
                                    <p:set>
                                      <p:cBhvr override="childStyle">
                                        <p:cTn id="26" dur="indefinite"/>
                                        <p:tgtEl>
                                          <p:spTgt spid="5">
                                            <p:txEl>
                                              <p:pRg st="4" end="4"/>
                                            </p:txEl>
                                          </p:spTgt>
                                        </p:tgtEl>
                                        <p:attrNameLst>
                                          <p:attrName>style.fontWeight</p:attrName>
                                        </p:attrNameLst>
                                      </p:cBhvr>
                                      <p:to>
                                        <p:strVal val="bold"/>
                                      </p:to>
                                    </p:set>
                                  </p:childTnLst>
                                </p:cTn>
                              </p:par>
                              <p:par>
                                <p:cTn id="27" presetID="1" presetClass="entr" presetSubtype="0" fill="hold" nodeType="withEffect">
                                  <p:stCondLst>
                                    <p:cond delay="0"/>
                                  </p:stCondLst>
                                  <p:iterate type="lt">
                                    <p:tmAbs val="0"/>
                                  </p:iterate>
                                  <p:childTnLst>
                                    <p:set>
                                      <p:cBhvr>
                                        <p:cTn id="2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5" presetClass="emph" presetSubtype="0" nodeType="clickEffect">
                                  <p:stCondLst>
                                    <p:cond delay="0"/>
                                  </p:stCondLst>
                                  <p:iterate type="lt">
                                    <p:tmAbs val="25"/>
                                  </p:iterate>
                                  <p:childTnLst>
                                    <p:set>
                                      <p:cBhvr override="childStyle">
                                        <p:cTn id="32" dur="indefinite"/>
                                        <p:tgtEl>
                                          <p:spTgt spid="5">
                                            <p:txEl>
                                              <p:pRg st="5" end="5"/>
                                            </p:txEl>
                                          </p:spTgt>
                                        </p:tgtEl>
                                        <p:attrNameLst>
                                          <p:attrName>style.fontWeight</p:attrName>
                                        </p:attrNameLst>
                                      </p:cBhvr>
                                      <p:to>
                                        <p:strVal val="bold"/>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iterate type="lt">
                                    <p:tmAbs val="0"/>
                                  </p:iterate>
                                  <p:childTnLst>
                                    <p:set>
                                      <p:cBhvr>
                                        <p:cTn id="4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5" presetClass="emph" presetSubtype="0" nodeType="clickEffect">
                                  <p:stCondLst>
                                    <p:cond delay="0"/>
                                  </p:stCondLst>
                                  <p:iterate type="lt">
                                    <p:tmAbs val="25"/>
                                  </p:iterate>
                                  <p:childTnLst>
                                    <p:set>
                                      <p:cBhvr override="childStyle">
                                        <p:cTn id="44" dur="indefinite"/>
                                        <p:tgtEl>
                                          <p:spTgt spid="5">
                                            <p:txEl>
                                              <p:pRg st="6" end="6"/>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7281"/>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err="1">
                <a:solidFill>
                  <a:srgbClr val="0070C0"/>
                </a:solidFill>
              </a:rPr>
              <a:t>Gregor</a:t>
            </a:r>
            <a:r>
              <a:rPr lang="en-US" sz="2800" b="1" u="sng">
                <a:solidFill>
                  <a:srgbClr val="0070C0"/>
                </a:solidFill>
              </a:rPr>
              <a:t> Mendel 1865: “Principle of Inheritance”</a:t>
            </a:r>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83" t="11553" r="2937" b="3790"/>
          <a:stretch/>
        </p:blipFill>
        <p:spPr bwMode="auto">
          <a:xfrm>
            <a:off x="1151709" y="2174966"/>
            <a:ext cx="6705600" cy="410029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7" name="Title 1"/>
          <p:cNvSpPr>
            <a:spLocks noGrp="1"/>
          </p:cNvSpPr>
          <p:nvPr>
            <p:ph type="title"/>
          </p:nvPr>
        </p:nvSpPr>
        <p:spPr>
          <a:xfrm>
            <a:off x="457200" y="0"/>
            <a:ext cx="8229600" cy="1143000"/>
          </a:xfrm>
        </p:spPr>
        <p:txBody>
          <a:bodyPr>
            <a:normAutofit/>
          </a:bodyPr>
          <a:lstStyle/>
          <a:p>
            <a:r>
              <a:rPr lang="en-US" b="1">
                <a:solidFill>
                  <a:srgbClr val="0000FF"/>
                </a:solidFill>
              </a:rPr>
              <a:t>Chromosomes</a:t>
            </a:r>
          </a:p>
        </p:txBody>
      </p:sp>
      <p:sp>
        <p:nvSpPr>
          <p:cNvPr id="2" name="Slide Number Placeholder 1"/>
          <p:cNvSpPr>
            <a:spLocks noGrp="1"/>
          </p:cNvSpPr>
          <p:nvPr>
            <p:ph type="sldNum" sz="quarter" idx="12"/>
          </p:nvPr>
        </p:nvSpPr>
        <p:spPr/>
        <p:txBody>
          <a:bodyPr/>
          <a:lstStyle/>
          <a:p>
            <a:fld id="{84F00E51-5C1A-4BCB-8FAB-C2CC5154BB59}" type="slidenum">
              <a:rPr lang="en-US" smtClean="0"/>
              <a:t>3</a:t>
            </a:fld>
            <a:endParaRPr lang="en-US"/>
          </a:p>
        </p:txBody>
      </p:sp>
    </p:spTree>
    <p:extLst>
      <p:ext uri="{BB962C8B-B14F-4D97-AF65-F5344CB8AC3E}">
        <p14:creationId xmlns:p14="http://schemas.microsoft.com/office/powerpoint/2010/main" val="1661993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5">
                                            <p:txEl>
                                              <p:pRg st="0" end="0"/>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7281"/>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“Physical nature of Inheritance”</a:t>
            </a:r>
          </a:p>
        </p:txBody>
      </p:sp>
      <p:sp>
        <p:nvSpPr>
          <p:cNvPr id="7" name="Title 1"/>
          <p:cNvSpPr>
            <a:spLocks noGrp="1"/>
          </p:cNvSpPr>
          <p:nvPr>
            <p:ph type="title"/>
          </p:nvPr>
        </p:nvSpPr>
        <p:spPr>
          <a:xfrm>
            <a:off x="457200" y="0"/>
            <a:ext cx="8229600" cy="1143000"/>
          </a:xfrm>
        </p:spPr>
        <p:txBody>
          <a:bodyPr>
            <a:normAutofit/>
          </a:bodyPr>
          <a:lstStyle/>
          <a:p>
            <a:r>
              <a:rPr lang="en-US" b="1">
                <a:solidFill>
                  <a:srgbClr val="0000FF"/>
                </a:solidFill>
              </a:rPr>
              <a:t>Chromosomes</a:t>
            </a:r>
          </a:p>
        </p:txBody>
      </p:sp>
      <p:sp>
        <p:nvSpPr>
          <p:cNvPr id="6" name="Rectangle 1"/>
          <p:cNvSpPr/>
          <p:nvPr/>
        </p:nvSpPr>
        <p:spPr>
          <a:xfrm>
            <a:off x="457200" y="1828800"/>
            <a:ext cx="8610600" cy="5078313"/>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By 19</a:t>
            </a:r>
            <a:r>
              <a:rPr lang="en-US" altLang="en-US" sz="2400" baseline="30000">
                <a:solidFill>
                  <a:prstClr val="black"/>
                </a:solidFill>
                <a:latin typeface="Arial" panose="020B0604020202020204" pitchFamily="34" charset="0"/>
              </a:rPr>
              <a:t>th</a:t>
            </a:r>
            <a:r>
              <a:rPr lang="en-US" altLang="en-US" sz="2400">
                <a:solidFill>
                  <a:prstClr val="black"/>
                </a:solidFill>
                <a:latin typeface="Arial" panose="020B0604020202020204" pitchFamily="34" charset="0"/>
              </a:rPr>
              <a:t> century, cells from cells.</a:t>
            </a:r>
          </a:p>
          <a:p>
            <a:pPr marL="342900" indent="-342900" algn="just">
              <a:lnSpc>
                <a:spcPct val="150000"/>
              </a:lnSpc>
              <a:buFont typeface="Arial" panose="020B0604020202020204" pitchFamily="34" charset="0"/>
              <a:buChar char="•"/>
            </a:pPr>
            <a:r>
              <a:rPr lang="en-US" altLang="en-US" sz="2400">
                <a:solidFill>
                  <a:prstClr val="black"/>
                </a:solidFill>
                <a:latin typeface="Arial" panose="020B0604020202020204" pitchFamily="34" charset="0"/>
              </a:rPr>
              <a:t>Hereditary information = nucleus.</a:t>
            </a:r>
          </a:p>
          <a:p>
            <a:pPr marL="342900" indent="-342900" algn="just">
              <a:lnSpc>
                <a:spcPct val="150000"/>
              </a:lnSpc>
              <a:buFont typeface="Arial" panose="020B0604020202020204" pitchFamily="34" charset="0"/>
              <a:buChar char="•"/>
            </a:pPr>
            <a:r>
              <a:rPr lang="en-US" altLang="en-US" sz="2400">
                <a:solidFill>
                  <a:prstClr val="black"/>
                </a:solidFill>
                <a:latin typeface="Arial" panose="020B0604020202020204" pitchFamily="34" charset="0"/>
              </a:rPr>
              <a:t>Microscope provide= poor resolution= fix cells= stains.</a:t>
            </a:r>
          </a:p>
          <a:p>
            <a:pPr marL="342900" indent="-342900" algn="just">
              <a:lnSpc>
                <a:spcPct val="150000"/>
              </a:lnSpc>
              <a:buFont typeface="Arial" panose="020B0604020202020204" pitchFamily="34" charset="0"/>
              <a:buChar char="•"/>
            </a:pPr>
            <a:r>
              <a:rPr lang="en-US" altLang="en-US" sz="2400">
                <a:solidFill>
                  <a:prstClr val="black"/>
                </a:solidFill>
                <a:latin typeface="Arial" panose="020B0604020202020204" pitchFamily="34" charset="0"/>
              </a:rPr>
              <a:t>Stains= enhance contrast.</a:t>
            </a:r>
          </a:p>
          <a:p>
            <a:pPr marL="342900" indent="-342900" algn="just">
              <a:lnSpc>
                <a:spcPct val="150000"/>
              </a:lnSpc>
              <a:buFont typeface="Arial" panose="020B0604020202020204" pitchFamily="34" charset="0"/>
              <a:buChar char="•"/>
            </a:pPr>
            <a:r>
              <a:rPr lang="en-US" altLang="en-US" sz="2400">
                <a:solidFill>
                  <a:prstClr val="black"/>
                </a:solidFill>
                <a:latin typeface="Arial" panose="020B0604020202020204" pitchFamily="34" charset="0"/>
              </a:rPr>
              <a:t>Innovative microscopy technique = painstaking precision</a:t>
            </a:r>
          </a:p>
          <a:p>
            <a:pPr marL="342900" indent="-342900" algn="just">
              <a:lnSpc>
                <a:spcPct val="150000"/>
              </a:lnSpc>
              <a:buFont typeface="Arial" panose="020B0604020202020204" pitchFamily="34" charset="0"/>
              <a:buChar char="•"/>
            </a:pPr>
            <a:r>
              <a:rPr lang="en-US" altLang="en-US" sz="2400">
                <a:solidFill>
                  <a:prstClr val="black"/>
                </a:solidFill>
                <a:latin typeface="Arial" panose="020B0604020202020204" pitchFamily="34" charset="0"/>
              </a:rPr>
              <a:t>Walther </a:t>
            </a:r>
            <a:r>
              <a:rPr lang="en-US" altLang="en-US" sz="2400" err="1">
                <a:solidFill>
                  <a:prstClr val="black"/>
                </a:solidFill>
                <a:latin typeface="Arial" panose="020B0604020202020204" pitchFamily="34" charset="0"/>
              </a:rPr>
              <a:t>Flemming</a:t>
            </a:r>
            <a:r>
              <a:rPr lang="en-US" altLang="en-US" sz="2400">
                <a:solidFill>
                  <a:prstClr val="black"/>
                </a:solidFill>
                <a:latin typeface="Arial" panose="020B0604020202020204" pitchFamily="34" charset="0"/>
              </a:rPr>
              <a:t> = explored fibrous network &amp; named chromatin = stainable materials.</a:t>
            </a:r>
          </a:p>
          <a:p>
            <a:pPr marL="342900" indent="-342900" algn="just">
              <a:lnSpc>
                <a:spcPct val="150000"/>
              </a:lnSpc>
              <a:buFont typeface="Arial" panose="020B0604020202020204" pitchFamily="34" charset="0"/>
              <a:buChar char="•"/>
            </a:pPr>
            <a:r>
              <a:rPr lang="en-US" altLang="en-US" sz="2400">
                <a:solidFill>
                  <a:prstClr val="black"/>
                </a:solidFill>
                <a:latin typeface="Arial" panose="020B0604020202020204" pitchFamily="34" charset="0"/>
              </a:rPr>
              <a:t>Term “chromosomes” = “Heinrich </a:t>
            </a:r>
            <a:r>
              <a:rPr lang="en-US" altLang="en-US" sz="2400" err="1">
                <a:solidFill>
                  <a:prstClr val="black"/>
                </a:solidFill>
                <a:latin typeface="Arial" panose="020B0604020202020204" pitchFamily="34" charset="0"/>
              </a:rPr>
              <a:t>Waldeyer</a:t>
            </a:r>
            <a:r>
              <a:rPr lang="en-US" altLang="en-US" sz="2400">
                <a:solidFill>
                  <a:prstClr val="black"/>
                </a:solidFill>
                <a:latin typeface="Arial" panose="020B0604020202020204" pitchFamily="34" charset="0"/>
              </a:rPr>
              <a:t>”</a:t>
            </a:r>
          </a:p>
          <a:p>
            <a:pPr marL="342900" indent="-342900" algn="just">
              <a:lnSpc>
                <a:spcPct val="150000"/>
              </a:lnSpc>
              <a:buFont typeface="Arial" panose="020B0604020202020204" pitchFamily="34" charset="0"/>
              <a:buChar char="•"/>
            </a:pPr>
            <a:r>
              <a:rPr lang="en-US" altLang="en-US" sz="2400" err="1">
                <a:solidFill>
                  <a:prstClr val="black"/>
                </a:solidFill>
                <a:latin typeface="Arial" panose="020B0604020202020204" pitchFamily="34" charset="0"/>
              </a:rPr>
              <a:t>Chrom</a:t>
            </a:r>
            <a:r>
              <a:rPr lang="en-US" altLang="en-US" sz="2400">
                <a:solidFill>
                  <a:prstClr val="black"/>
                </a:solidFill>
                <a:latin typeface="Arial" panose="020B0604020202020204" pitchFamily="34" charset="0"/>
              </a:rPr>
              <a:t> = color </a:t>
            </a:r>
            <a:r>
              <a:rPr lang="en-US" altLang="en-US" sz="2400" err="1">
                <a:solidFill>
                  <a:prstClr val="black"/>
                </a:solidFill>
                <a:latin typeface="Arial" panose="020B0604020202020204" pitchFamily="34" charset="0"/>
              </a:rPr>
              <a:t>somes</a:t>
            </a:r>
            <a:r>
              <a:rPr lang="en-US" altLang="en-US" sz="2400">
                <a:solidFill>
                  <a:prstClr val="black"/>
                </a:solidFill>
                <a:latin typeface="Arial" panose="020B0604020202020204" pitchFamily="34" charset="0"/>
              </a:rPr>
              <a:t>= bodies (color bodies)</a:t>
            </a:r>
          </a:p>
        </p:txBody>
      </p:sp>
      <p:sp>
        <p:nvSpPr>
          <p:cNvPr id="2" name="Slide Number Placeholder 1"/>
          <p:cNvSpPr>
            <a:spLocks noGrp="1"/>
          </p:cNvSpPr>
          <p:nvPr>
            <p:ph type="sldNum" sz="quarter" idx="12"/>
          </p:nvPr>
        </p:nvSpPr>
        <p:spPr/>
        <p:txBody>
          <a:bodyPr/>
          <a:lstStyle/>
          <a:p>
            <a:fld id="{84F00E51-5C1A-4BCB-8FAB-C2CC5154BB59}" type="slidenum">
              <a:rPr lang="en-US" smtClean="0"/>
              <a:t>4</a:t>
            </a:fld>
            <a:endParaRPr lang="en-US"/>
          </a:p>
        </p:txBody>
      </p:sp>
    </p:spTree>
    <p:extLst>
      <p:ext uri="{BB962C8B-B14F-4D97-AF65-F5344CB8AC3E}">
        <p14:creationId xmlns:p14="http://schemas.microsoft.com/office/powerpoint/2010/main" val="1555555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
          <p:cNvSpPr/>
          <p:nvPr/>
        </p:nvSpPr>
        <p:spPr>
          <a:xfrm>
            <a:off x="2438400" y="1828800"/>
            <a:ext cx="6629400" cy="3970318"/>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German anatomist, born 1843 in </a:t>
            </a:r>
            <a:r>
              <a:rPr lang="en-US" altLang="en-US" sz="2400" err="1">
                <a:solidFill>
                  <a:prstClr val="black"/>
                </a:solidFill>
                <a:latin typeface="Arial" panose="020B0604020202020204" pitchFamily="34" charset="0"/>
              </a:rPr>
              <a:t>Mecklburg</a:t>
            </a:r>
            <a:r>
              <a:rPr lang="en-US" altLang="en-US" sz="2400">
                <a:solidFill>
                  <a:prstClr val="black"/>
                </a:solidFill>
                <a:latin typeface="Arial" panose="020B0604020202020204" pitchFamily="34" charset="0"/>
              </a:rPr>
              <a:t>.</a:t>
            </a:r>
          </a:p>
          <a:p>
            <a:pPr marL="342900" indent="-342900" algn="just">
              <a:lnSpc>
                <a:spcPct val="150000"/>
              </a:lnSpc>
              <a:buFont typeface="Arial" panose="020B0604020202020204" pitchFamily="34" charset="0"/>
              <a:buChar char="•"/>
            </a:pPr>
            <a:r>
              <a:rPr lang="en-US" altLang="en-US" sz="2400">
                <a:solidFill>
                  <a:prstClr val="black"/>
                </a:solidFill>
                <a:latin typeface="Arial" panose="020B0604020202020204" pitchFamily="34" charset="0"/>
              </a:rPr>
              <a:t>Discovered chromosomes 1874-1882.</a:t>
            </a:r>
          </a:p>
          <a:p>
            <a:pPr marL="342900" indent="-342900" algn="just">
              <a:lnSpc>
                <a:spcPct val="150000"/>
              </a:lnSpc>
              <a:buFont typeface="Arial" panose="020B0604020202020204" pitchFamily="34" charset="0"/>
              <a:buChar char="•"/>
            </a:pPr>
            <a:r>
              <a:rPr lang="en-US" altLang="en-US" sz="2400">
                <a:solidFill>
                  <a:prstClr val="black"/>
                </a:solidFill>
                <a:latin typeface="Arial" panose="020B0604020202020204" pitchFamily="34" charset="0"/>
              </a:rPr>
              <a:t>Scaffold &amp; networks transform in “threads”</a:t>
            </a:r>
          </a:p>
          <a:p>
            <a:pPr marL="342900" indent="-342900" algn="just">
              <a:lnSpc>
                <a:spcPct val="150000"/>
              </a:lnSpc>
              <a:buFont typeface="Arial" panose="020B0604020202020204" pitchFamily="34" charset="0"/>
              <a:buChar char="•"/>
            </a:pPr>
            <a:r>
              <a:rPr lang="en-US" altLang="en-US" sz="2400">
                <a:solidFill>
                  <a:prstClr val="black"/>
                </a:solidFill>
                <a:latin typeface="Arial" panose="020B0604020202020204" pitchFamily="34" charset="0"/>
              </a:rPr>
              <a:t>Studied cell division, mitosis.</a:t>
            </a:r>
          </a:p>
          <a:p>
            <a:pPr marL="342900" indent="-342900" algn="just">
              <a:lnSpc>
                <a:spcPct val="150000"/>
              </a:lnSpc>
              <a:buFont typeface="Arial" panose="020B0604020202020204" pitchFamily="34" charset="0"/>
              <a:buChar char="•"/>
            </a:pPr>
            <a:r>
              <a:rPr lang="en-US" altLang="en-US" sz="2400">
                <a:solidFill>
                  <a:prstClr val="black"/>
                </a:solidFill>
                <a:latin typeface="Arial" panose="020B0604020202020204" pitchFamily="34" charset="0"/>
              </a:rPr>
              <a:t>Described the cell division steps in detail.</a:t>
            </a:r>
          </a:p>
          <a:p>
            <a:pPr marL="342900" indent="-342900" algn="just">
              <a:lnSpc>
                <a:spcPct val="150000"/>
              </a:lnSpc>
              <a:buFont typeface="Arial" panose="020B0604020202020204" pitchFamily="34" charset="0"/>
              <a:buChar char="•"/>
            </a:pPr>
            <a:r>
              <a:rPr lang="en-US" altLang="en-US" sz="2400">
                <a:solidFill>
                  <a:prstClr val="black"/>
                </a:solidFill>
                <a:latin typeface="Arial" panose="020B0604020202020204" pitchFamily="34" charset="0"/>
              </a:rPr>
              <a:t>His drawings attracted students and made life visible on board.</a:t>
            </a:r>
          </a:p>
        </p:txBody>
      </p:sp>
      <p:sp>
        <p:nvSpPr>
          <p:cNvPr id="3" name="Rectangle 2"/>
          <p:cNvSpPr/>
          <p:nvPr/>
        </p:nvSpPr>
        <p:spPr>
          <a:xfrm>
            <a:off x="76200" y="5329535"/>
            <a:ext cx="2895600" cy="461665"/>
          </a:xfrm>
          <a:prstGeom prst="rect">
            <a:avLst/>
          </a:prstGeom>
        </p:spPr>
        <p:txBody>
          <a:bodyPr wrap="square">
            <a:spAutoFit/>
          </a:bodyPr>
          <a:lstStyle/>
          <a:p>
            <a:r>
              <a:rPr lang="en-US" altLang="en-US" sz="2400" b="1">
                <a:solidFill>
                  <a:srgbClr val="00B0F0"/>
                </a:solidFill>
                <a:latin typeface="Calibri" panose="020F0502020204030204" pitchFamily="34" charset="0"/>
              </a:rPr>
              <a:t>Walther </a:t>
            </a:r>
            <a:r>
              <a:rPr lang="en-US" altLang="en-US" sz="2400" b="1" err="1">
                <a:solidFill>
                  <a:srgbClr val="00B0F0"/>
                </a:solidFill>
                <a:latin typeface="Calibri" panose="020F0502020204030204" pitchFamily="34" charset="0"/>
              </a:rPr>
              <a:t>Flemming</a:t>
            </a:r>
            <a:endParaRPr lang="en-US" altLang="en-US" sz="2400" b="1">
              <a:solidFill>
                <a:srgbClr val="00B0F0"/>
              </a:solidFill>
              <a:latin typeface="Calibri" panose="020F0502020204030204" pitchFamily="34" charset="0"/>
            </a:endParaRPr>
          </a:p>
        </p:txBody>
      </p:sp>
      <p:sp>
        <p:nvSpPr>
          <p:cNvPr id="9" name="Title 1"/>
          <p:cNvSpPr txBox="1">
            <a:spLocks/>
          </p:cNvSpPr>
          <p:nvPr/>
        </p:nvSpPr>
        <p:spPr>
          <a:xfrm>
            <a:off x="457200" y="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solidFill>
                  <a:srgbClr val="0000FF"/>
                </a:solidFill>
              </a:rPr>
              <a:t>Discovery of Chromosome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 y="2011215"/>
            <a:ext cx="2486025" cy="33227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84F00E51-5C1A-4BCB-8FAB-C2CC5154BB59}" type="slidenum">
              <a:rPr lang="en-US" smtClean="0"/>
              <a:t>5</a:t>
            </a:fld>
            <a:endParaRPr lang="en-US"/>
          </a:p>
        </p:txBody>
      </p:sp>
    </p:spTree>
    <p:extLst>
      <p:ext uri="{BB962C8B-B14F-4D97-AF65-F5344CB8AC3E}">
        <p14:creationId xmlns:p14="http://schemas.microsoft.com/office/powerpoint/2010/main" val="3177390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457200" y="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solidFill>
                  <a:srgbClr val="0000FF"/>
                </a:solidFill>
              </a:rPr>
              <a:t>Progressive and Regressive phase </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2575" y="1224462"/>
            <a:ext cx="5770215" cy="5128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84F00E51-5C1A-4BCB-8FAB-C2CC5154BB59}" type="slidenum">
              <a:rPr lang="en-US" smtClean="0"/>
              <a:t>6</a:t>
            </a:fld>
            <a:endParaRPr lang="en-US"/>
          </a:p>
        </p:txBody>
      </p:sp>
    </p:spTree>
    <p:extLst>
      <p:ext uri="{BB962C8B-B14F-4D97-AF65-F5344CB8AC3E}">
        <p14:creationId xmlns:p14="http://schemas.microsoft.com/office/powerpoint/2010/main" val="4005536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457200" y="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solidFill>
                  <a:srgbClr val="0000FF"/>
                </a:solidFill>
              </a:rPr>
              <a:t>Mitosis (somatic cells)</a:t>
            </a:r>
          </a:p>
        </p:txBody>
      </p:sp>
      <p:pic>
        <p:nvPicPr>
          <p:cNvPr id="2052" name="Picture 4" descr="Image result for mitosis"/>
          <p:cNvPicPr>
            <a:picLocks noChangeAspect="1" noChangeArrowheads="1"/>
          </p:cNvPicPr>
          <p:nvPr/>
        </p:nvPicPr>
        <p:blipFill rotWithShape="1">
          <a:blip r:embed="rId2">
            <a:extLst>
              <a:ext uri="{28A0092B-C50C-407E-A947-70E740481C1C}">
                <a14:useLocalDpi xmlns:a14="http://schemas.microsoft.com/office/drawing/2010/main" val="0"/>
              </a:ext>
            </a:extLst>
          </a:blip>
          <a:srcRect b="12857"/>
          <a:stretch/>
        </p:blipFill>
        <p:spPr bwMode="auto">
          <a:xfrm>
            <a:off x="1350636" y="850845"/>
            <a:ext cx="6561591" cy="58674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84F00E51-5C1A-4BCB-8FAB-C2CC5154BB59}" type="slidenum">
              <a:rPr lang="en-US" smtClean="0"/>
              <a:t>7</a:t>
            </a:fld>
            <a:endParaRPr lang="en-US"/>
          </a:p>
        </p:txBody>
      </p:sp>
    </p:spTree>
    <p:extLst>
      <p:ext uri="{BB962C8B-B14F-4D97-AF65-F5344CB8AC3E}">
        <p14:creationId xmlns:p14="http://schemas.microsoft.com/office/powerpoint/2010/main" val="1769002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8200"/>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endParaRPr lang="en-US" sz="2800" b="1" u="sng">
              <a:solidFill>
                <a:srgbClr val="0070C0"/>
              </a:solidFill>
            </a:endParaRPr>
          </a:p>
        </p:txBody>
      </p:sp>
      <p:sp>
        <p:nvSpPr>
          <p:cNvPr id="10" name="Rectangle 1"/>
          <p:cNvSpPr/>
          <p:nvPr/>
        </p:nvSpPr>
        <p:spPr>
          <a:xfrm>
            <a:off x="2438400" y="1828800"/>
            <a:ext cx="6629400" cy="3970318"/>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en-US" sz="2400" err="1">
                <a:solidFill>
                  <a:prstClr val="black"/>
                </a:solidFill>
                <a:latin typeface="Arial" panose="020B0604020202020204" pitchFamily="34" charset="0"/>
              </a:rPr>
              <a:t>Flemming’s</a:t>
            </a:r>
            <a:r>
              <a:rPr lang="en-US" altLang="en-US" sz="2400">
                <a:solidFill>
                  <a:prstClr val="black"/>
                </a:solidFill>
                <a:latin typeface="Arial" panose="020B0604020202020204" pitchFamily="34" charset="0"/>
              </a:rPr>
              <a:t> solution for fixation.</a:t>
            </a:r>
          </a:p>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Many new field emerged mitosis research, cytology, kinetochores, telomeres, spindle formation etc.</a:t>
            </a:r>
          </a:p>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Died from neurological problem at the age of 65 in year 1905.</a:t>
            </a:r>
          </a:p>
          <a:p>
            <a:pPr marL="342900" indent="-342900">
              <a:lnSpc>
                <a:spcPct val="150000"/>
              </a:lnSpc>
              <a:buFont typeface="Arial" panose="020B0604020202020204" pitchFamily="34" charset="0"/>
              <a:buChar char="•"/>
            </a:pPr>
            <a:endParaRPr lang="en-US" altLang="en-US" sz="2400">
              <a:solidFill>
                <a:prstClr val="black"/>
              </a:solidFill>
              <a:latin typeface="Arial" panose="020B0604020202020204" pitchFamily="34" charset="0"/>
            </a:endParaRPr>
          </a:p>
        </p:txBody>
      </p:sp>
      <p:sp>
        <p:nvSpPr>
          <p:cNvPr id="3" name="Rectangle 2"/>
          <p:cNvSpPr/>
          <p:nvPr/>
        </p:nvSpPr>
        <p:spPr>
          <a:xfrm>
            <a:off x="76200" y="5329535"/>
            <a:ext cx="2895600" cy="461665"/>
          </a:xfrm>
          <a:prstGeom prst="rect">
            <a:avLst/>
          </a:prstGeom>
        </p:spPr>
        <p:txBody>
          <a:bodyPr wrap="square">
            <a:spAutoFit/>
          </a:bodyPr>
          <a:lstStyle/>
          <a:p>
            <a:r>
              <a:rPr lang="en-US" altLang="en-US" sz="2400" b="1">
                <a:solidFill>
                  <a:srgbClr val="00B0F0"/>
                </a:solidFill>
                <a:latin typeface="Calibri" panose="020F0502020204030204" pitchFamily="34" charset="0"/>
              </a:rPr>
              <a:t>Walther </a:t>
            </a:r>
            <a:r>
              <a:rPr lang="en-US" altLang="en-US" sz="2400" b="1" err="1">
                <a:solidFill>
                  <a:srgbClr val="00B0F0"/>
                </a:solidFill>
                <a:latin typeface="Calibri" panose="020F0502020204030204" pitchFamily="34" charset="0"/>
              </a:rPr>
              <a:t>Flemming</a:t>
            </a:r>
            <a:endParaRPr lang="en-US" altLang="en-US" sz="2400" b="1">
              <a:solidFill>
                <a:srgbClr val="00B0F0"/>
              </a:solidFill>
              <a:latin typeface="Calibri" panose="020F0502020204030204" pitchFamily="34" charset="0"/>
            </a:endParaRPr>
          </a:p>
        </p:txBody>
      </p:sp>
      <p:sp>
        <p:nvSpPr>
          <p:cNvPr id="9" name="Title 1"/>
          <p:cNvSpPr txBox="1">
            <a:spLocks/>
          </p:cNvSpPr>
          <p:nvPr/>
        </p:nvSpPr>
        <p:spPr>
          <a:xfrm>
            <a:off x="457200" y="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solidFill>
                  <a:srgbClr val="0000FF"/>
                </a:solidFill>
              </a:rPr>
              <a:t>Discovery of Chromosome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 y="2011215"/>
            <a:ext cx="2486025" cy="33227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84F00E51-5C1A-4BCB-8FAB-C2CC5154BB59}" type="slidenum">
              <a:rPr lang="en-US" smtClean="0"/>
              <a:t>8</a:t>
            </a:fld>
            <a:endParaRPr lang="en-US"/>
          </a:p>
        </p:txBody>
      </p:sp>
    </p:spTree>
    <p:extLst>
      <p:ext uri="{BB962C8B-B14F-4D97-AF65-F5344CB8AC3E}">
        <p14:creationId xmlns:p14="http://schemas.microsoft.com/office/powerpoint/2010/main" val="2434687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nodePh="1">
                                  <p:stCondLst>
                                    <p:cond delay="0"/>
                                  </p:stCondLst>
                                  <p:endCondLst>
                                    <p:cond evt="begin" delay="0">
                                      <p:tn val="5"/>
                                    </p:cond>
                                  </p:endCondLst>
                                  <p:iterate type="lt">
                                    <p:tmAbs val="25"/>
                                  </p:iterate>
                                  <p:childTnLst>
                                    <p:set>
                                      <p:cBhvr override="childStyle">
                                        <p:cTn id="6" dur="indefinite"/>
                                        <p:tgtEl>
                                          <p:spTgt spid="5">
                                            <p:txEl>
                                              <p:pRg st="0" end="0"/>
                                            </p:txEl>
                                          </p:spTgt>
                                        </p:tgtEl>
                                        <p:attrNameLst>
                                          <p:attrName>style.fontWeight</p:attrName>
                                        </p:attrNameLst>
                                      </p:cBhvr>
                                      <p:to>
                                        <p:strVal val="bold"/>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8200"/>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Chromosome theory of inheritance:</a:t>
            </a:r>
          </a:p>
          <a:p>
            <a:pPr marL="0" indent="0" algn="just">
              <a:lnSpc>
                <a:spcPct val="150000"/>
              </a:lnSpc>
              <a:buNone/>
            </a:pPr>
            <a:endParaRPr lang="en-US" sz="2800" b="1" u="sng">
              <a:solidFill>
                <a:srgbClr val="0070C0"/>
              </a:solidFill>
            </a:endParaRPr>
          </a:p>
        </p:txBody>
      </p:sp>
      <p:sp>
        <p:nvSpPr>
          <p:cNvPr id="10" name="Rectangle 1"/>
          <p:cNvSpPr/>
          <p:nvPr/>
        </p:nvSpPr>
        <p:spPr>
          <a:xfrm>
            <a:off x="2561648" y="1828800"/>
            <a:ext cx="6506152" cy="3416320"/>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German embryologist, 1862 in Bamberg.</a:t>
            </a:r>
          </a:p>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He studied chromosomes and followed its movement during cell division.</a:t>
            </a:r>
          </a:p>
          <a:p>
            <a:pPr marL="342900" indent="-342900">
              <a:lnSpc>
                <a:spcPct val="150000"/>
              </a:lnSpc>
              <a:buFont typeface="Arial" panose="020B0604020202020204" pitchFamily="34" charset="0"/>
              <a:buChar char="•"/>
            </a:pPr>
            <a:r>
              <a:rPr lang="en-US" altLang="en-US" sz="2400" err="1">
                <a:solidFill>
                  <a:prstClr val="black"/>
                </a:solidFill>
                <a:latin typeface="Arial" panose="020B0604020202020204" pitchFamily="34" charset="0"/>
              </a:rPr>
              <a:t>Ascaris</a:t>
            </a:r>
            <a:r>
              <a:rPr lang="en-US" altLang="en-US" sz="2400">
                <a:solidFill>
                  <a:prstClr val="black"/>
                </a:solidFill>
                <a:latin typeface="Arial" panose="020B0604020202020204" pitchFamily="34" charset="0"/>
              </a:rPr>
              <a:t> </a:t>
            </a:r>
            <a:r>
              <a:rPr lang="en-US" altLang="en-US" sz="2400" err="1">
                <a:solidFill>
                  <a:prstClr val="black"/>
                </a:solidFill>
                <a:latin typeface="Arial" panose="020B0604020202020204" pitchFamily="34" charset="0"/>
              </a:rPr>
              <a:t>megalocephala</a:t>
            </a:r>
            <a:r>
              <a:rPr lang="en-US" altLang="en-US" sz="2400">
                <a:solidFill>
                  <a:prstClr val="black"/>
                </a:solidFill>
                <a:latin typeface="Arial" panose="020B0604020202020204" pitchFamily="34" charset="0"/>
              </a:rPr>
              <a:t> </a:t>
            </a:r>
          </a:p>
          <a:p>
            <a:pPr marL="342900" indent="-342900">
              <a:lnSpc>
                <a:spcPct val="150000"/>
              </a:lnSpc>
              <a:buFont typeface="Arial" panose="020B0604020202020204" pitchFamily="34" charset="0"/>
              <a:buChar char="•"/>
            </a:pPr>
            <a:endParaRPr lang="en-US" altLang="en-US" sz="2400">
              <a:solidFill>
                <a:prstClr val="black"/>
              </a:solidFill>
              <a:latin typeface="Arial" panose="020B0604020202020204" pitchFamily="34" charset="0"/>
            </a:endParaRPr>
          </a:p>
          <a:p>
            <a:pPr marL="342900" indent="-342900">
              <a:lnSpc>
                <a:spcPct val="150000"/>
              </a:lnSpc>
              <a:buFont typeface="Arial" panose="020B0604020202020204" pitchFamily="34" charset="0"/>
              <a:buChar char="•"/>
            </a:pPr>
            <a:endParaRPr lang="en-US" altLang="en-US" sz="2400">
              <a:solidFill>
                <a:prstClr val="black"/>
              </a:solidFill>
              <a:latin typeface="Arial" panose="020B0604020202020204" pitchFamily="34" charset="0"/>
            </a:endParaRPr>
          </a:p>
        </p:txBody>
      </p:sp>
      <p:sp>
        <p:nvSpPr>
          <p:cNvPr id="3" name="Rectangle 2"/>
          <p:cNvSpPr/>
          <p:nvPr/>
        </p:nvSpPr>
        <p:spPr>
          <a:xfrm>
            <a:off x="145475" y="5315680"/>
            <a:ext cx="2362200" cy="461665"/>
          </a:xfrm>
          <a:prstGeom prst="rect">
            <a:avLst/>
          </a:prstGeom>
        </p:spPr>
        <p:txBody>
          <a:bodyPr wrap="square">
            <a:spAutoFit/>
          </a:bodyPr>
          <a:lstStyle/>
          <a:p>
            <a:r>
              <a:rPr lang="en-US" altLang="en-US" sz="2400" b="1" err="1">
                <a:solidFill>
                  <a:srgbClr val="00B0F0"/>
                </a:solidFill>
                <a:latin typeface="Calibri" panose="020F0502020204030204" pitchFamily="34" charset="0"/>
              </a:rPr>
              <a:t>Theoder</a:t>
            </a:r>
            <a:r>
              <a:rPr lang="en-US" altLang="en-US" sz="2400" b="1">
                <a:solidFill>
                  <a:srgbClr val="00B0F0"/>
                </a:solidFill>
                <a:latin typeface="Calibri" panose="020F0502020204030204" pitchFamily="34" charset="0"/>
              </a:rPr>
              <a:t> </a:t>
            </a:r>
            <a:r>
              <a:rPr lang="en-US" altLang="en-US" sz="2400" b="1" err="1">
                <a:solidFill>
                  <a:srgbClr val="00B0F0"/>
                </a:solidFill>
                <a:latin typeface="Calibri" panose="020F0502020204030204" pitchFamily="34" charset="0"/>
              </a:rPr>
              <a:t>Boveri</a:t>
            </a:r>
            <a:endParaRPr lang="en-US" altLang="en-US" sz="2400" b="1">
              <a:solidFill>
                <a:srgbClr val="00B0F0"/>
              </a:solidFill>
              <a:latin typeface="Calibri" panose="020F0502020204030204" pitchFamily="34" charset="0"/>
            </a:endParaRPr>
          </a:p>
        </p:txBody>
      </p:sp>
      <p:sp>
        <p:nvSpPr>
          <p:cNvPr id="9" name="Title 1"/>
          <p:cNvSpPr txBox="1">
            <a:spLocks/>
          </p:cNvSpPr>
          <p:nvPr/>
        </p:nvSpPr>
        <p:spPr>
          <a:xfrm>
            <a:off x="457200" y="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solidFill>
                  <a:srgbClr val="0000FF"/>
                </a:solidFill>
              </a:rPr>
              <a:t>Chromosomes</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36" y="1828800"/>
            <a:ext cx="2527012" cy="34006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AutoShape 4" descr="Image result for Ascaris megalocephal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Image result for Ascaris megalocephal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176" name="Picture 8" descr="Image result for Ascaris megalocephal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3527" y="3419276"/>
            <a:ext cx="1634836" cy="1762324"/>
          </a:xfrm>
          <a:prstGeom prst="rect">
            <a:avLst/>
          </a:prstGeom>
          <a:noFill/>
          <a:extLst>
            <a:ext uri="{909E8E84-426E-40DD-AFC4-6F175D3DCCD1}">
              <a14:hiddenFill xmlns:a14="http://schemas.microsoft.com/office/drawing/2010/main">
                <a:solidFill>
                  <a:srgbClr val="FFFFFF"/>
                </a:solidFill>
              </a14:hiddenFill>
            </a:ext>
          </a:extLst>
        </p:spPr>
      </p:pic>
      <p:pic>
        <p:nvPicPr>
          <p:cNvPr id="7177"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4062845"/>
            <a:ext cx="4543425" cy="2781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Slide Number Placeholder 5"/>
          <p:cNvSpPr>
            <a:spLocks noGrp="1"/>
          </p:cNvSpPr>
          <p:nvPr>
            <p:ph type="sldNum" sz="quarter" idx="12"/>
          </p:nvPr>
        </p:nvSpPr>
        <p:spPr/>
        <p:txBody>
          <a:bodyPr/>
          <a:lstStyle/>
          <a:p>
            <a:fld id="{84F00E51-5C1A-4BCB-8FAB-C2CC5154BB59}" type="slidenum">
              <a:rPr lang="en-US" smtClean="0"/>
              <a:t>9</a:t>
            </a:fld>
            <a:endParaRPr lang="en-US"/>
          </a:p>
        </p:txBody>
      </p:sp>
    </p:spTree>
    <p:extLst>
      <p:ext uri="{BB962C8B-B14F-4D97-AF65-F5344CB8AC3E}">
        <p14:creationId xmlns:p14="http://schemas.microsoft.com/office/powerpoint/2010/main" val="3698519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1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8200"/>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Chromosome theory of inheritance:</a:t>
            </a:r>
          </a:p>
          <a:p>
            <a:pPr marL="0" indent="0" algn="just">
              <a:lnSpc>
                <a:spcPct val="150000"/>
              </a:lnSpc>
              <a:buNone/>
            </a:pPr>
            <a:endParaRPr lang="en-US" sz="2800" b="1" u="sng">
              <a:solidFill>
                <a:srgbClr val="0070C0"/>
              </a:solidFill>
            </a:endParaRPr>
          </a:p>
        </p:txBody>
      </p:sp>
      <p:sp>
        <p:nvSpPr>
          <p:cNvPr id="3" name="Rectangle 2"/>
          <p:cNvSpPr/>
          <p:nvPr/>
        </p:nvSpPr>
        <p:spPr>
          <a:xfrm>
            <a:off x="145475" y="5315680"/>
            <a:ext cx="2362200" cy="461665"/>
          </a:xfrm>
          <a:prstGeom prst="rect">
            <a:avLst/>
          </a:prstGeom>
        </p:spPr>
        <p:txBody>
          <a:bodyPr wrap="square">
            <a:spAutoFit/>
          </a:bodyPr>
          <a:lstStyle/>
          <a:p>
            <a:r>
              <a:rPr lang="en-US" altLang="en-US" sz="2400" b="1" err="1">
                <a:solidFill>
                  <a:srgbClr val="00B0F0"/>
                </a:solidFill>
                <a:latin typeface="Calibri" panose="020F0502020204030204" pitchFamily="34" charset="0"/>
              </a:rPr>
              <a:t>Theoder</a:t>
            </a:r>
            <a:r>
              <a:rPr lang="en-US" altLang="en-US" sz="2400" b="1">
                <a:solidFill>
                  <a:srgbClr val="00B0F0"/>
                </a:solidFill>
                <a:latin typeface="Calibri" panose="020F0502020204030204" pitchFamily="34" charset="0"/>
              </a:rPr>
              <a:t> </a:t>
            </a:r>
            <a:r>
              <a:rPr lang="en-US" altLang="en-US" sz="2400" b="1" err="1">
                <a:solidFill>
                  <a:srgbClr val="00B0F0"/>
                </a:solidFill>
                <a:latin typeface="Calibri" panose="020F0502020204030204" pitchFamily="34" charset="0"/>
              </a:rPr>
              <a:t>Boveri</a:t>
            </a:r>
            <a:endParaRPr lang="en-US" altLang="en-US" sz="2400" b="1">
              <a:solidFill>
                <a:srgbClr val="00B0F0"/>
              </a:solidFill>
              <a:latin typeface="Calibri" panose="020F0502020204030204" pitchFamily="34" charset="0"/>
            </a:endParaRPr>
          </a:p>
        </p:txBody>
      </p:sp>
      <p:sp>
        <p:nvSpPr>
          <p:cNvPr id="9" name="Title 1"/>
          <p:cNvSpPr txBox="1">
            <a:spLocks/>
          </p:cNvSpPr>
          <p:nvPr/>
        </p:nvSpPr>
        <p:spPr>
          <a:xfrm>
            <a:off x="457200" y="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solidFill>
                  <a:srgbClr val="0000FF"/>
                </a:solidFill>
              </a:rPr>
              <a:t>Chromosomes</a:t>
            </a:r>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0817"/>
          <a:stretch/>
        </p:blipFill>
        <p:spPr bwMode="auto">
          <a:xfrm>
            <a:off x="0" y="1828800"/>
            <a:ext cx="2253673" cy="34006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AutoShape 4" descr="Image result for Ascaris megalocephal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Image result for Ascaris megalocephal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Rectangle 1"/>
          <p:cNvSpPr/>
          <p:nvPr/>
        </p:nvSpPr>
        <p:spPr>
          <a:xfrm>
            <a:off x="2133600" y="1752600"/>
            <a:ext cx="7239000" cy="1754326"/>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en-US" sz="2400" err="1">
                <a:solidFill>
                  <a:prstClr val="black"/>
                </a:solidFill>
                <a:latin typeface="Arial" panose="020B0604020202020204" pitchFamily="34" charset="0"/>
              </a:rPr>
              <a:t>Ascaris</a:t>
            </a:r>
            <a:r>
              <a:rPr lang="en-US" altLang="en-US" sz="2400">
                <a:solidFill>
                  <a:prstClr val="black"/>
                </a:solidFill>
                <a:latin typeface="Arial" panose="020B0604020202020204" pitchFamily="34" charset="0"/>
              </a:rPr>
              <a:t> develop distinct somatic and germ cells.</a:t>
            </a:r>
          </a:p>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Full complement of </a:t>
            </a:r>
            <a:r>
              <a:rPr lang="en-US" altLang="en-US" sz="2400" err="1">
                <a:solidFill>
                  <a:prstClr val="black"/>
                </a:solidFill>
                <a:latin typeface="Arial" panose="020B0604020202020204" pitchFamily="34" charset="0"/>
              </a:rPr>
              <a:t>chr.</a:t>
            </a:r>
            <a:r>
              <a:rPr lang="en-US" altLang="en-US" sz="2400">
                <a:solidFill>
                  <a:prstClr val="black"/>
                </a:solidFill>
                <a:latin typeface="Arial" panose="020B0604020202020204" pitchFamily="34" charset="0"/>
              </a:rPr>
              <a:t> retained in somatic cells.</a:t>
            </a:r>
          </a:p>
          <a:p>
            <a:pPr>
              <a:lnSpc>
                <a:spcPct val="150000"/>
              </a:lnSpc>
            </a:pPr>
            <a:endParaRPr lang="en-US" altLang="en-US" sz="2400">
              <a:solidFill>
                <a:prstClr val="black"/>
              </a:solidFill>
              <a:latin typeface="Arial" panose="020B0604020202020204" pitchFamily="34" charset="0"/>
            </a:endParaRPr>
          </a:p>
        </p:txBody>
      </p:sp>
      <p:grpSp>
        <p:nvGrpSpPr>
          <p:cNvPr id="8" name="Group 7"/>
          <p:cNvGrpSpPr/>
          <p:nvPr/>
        </p:nvGrpSpPr>
        <p:grpSpPr>
          <a:xfrm>
            <a:off x="4343400" y="3346482"/>
            <a:ext cx="1143000" cy="1086597"/>
            <a:chOff x="4343400" y="3346482"/>
            <a:chExt cx="1143000" cy="1086597"/>
          </a:xfrm>
        </p:grpSpPr>
        <p:pic>
          <p:nvPicPr>
            <p:cNvPr id="6" name="Picture 5"/>
            <p:cNvPicPr>
              <a:picLocks noChangeAspect="1"/>
            </p:cNvPicPr>
            <p:nvPr/>
          </p:nvPicPr>
          <p:blipFill rotWithShape="1">
            <a:blip r:embed="rId3"/>
            <a:srcRect l="21225" t="593" r="43400" b="74858"/>
            <a:stretch/>
          </p:blipFill>
          <p:spPr>
            <a:xfrm>
              <a:off x="4343400" y="3346482"/>
              <a:ext cx="1143000" cy="1073118"/>
            </a:xfrm>
            <a:prstGeom prst="rect">
              <a:avLst/>
            </a:prstGeom>
          </p:spPr>
        </p:pic>
        <p:sp>
          <p:nvSpPr>
            <p:cNvPr id="7" name="Rectangle 6"/>
            <p:cNvSpPr/>
            <p:nvPr/>
          </p:nvSpPr>
          <p:spPr>
            <a:xfrm>
              <a:off x="4648200" y="4387360"/>
              <a:ext cx="533400" cy="457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1" name="Slide Number Placeholder 10"/>
          <p:cNvSpPr>
            <a:spLocks noGrp="1"/>
          </p:cNvSpPr>
          <p:nvPr>
            <p:ph type="sldNum" sz="quarter" idx="12"/>
          </p:nvPr>
        </p:nvSpPr>
        <p:spPr/>
        <p:txBody>
          <a:bodyPr/>
          <a:lstStyle/>
          <a:p>
            <a:fld id="{84F00E51-5C1A-4BCB-8FAB-C2CC5154BB59}" type="slidenum">
              <a:rPr lang="en-US" smtClean="0"/>
              <a:t>10</a:t>
            </a:fld>
            <a:endParaRPr lang="en-US"/>
          </a:p>
        </p:txBody>
      </p:sp>
    </p:spTree>
    <p:extLst>
      <p:ext uri="{BB962C8B-B14F-4D97-AF65-F5344CB8AC3E}">
        <p14:creationId xmlns:p14="http://schemas.microsoft.com/office/powerpoint/2010/main" val="130065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5">
                                            <p:txEl>
                                              <p:pRg st="0" end="0"/>
                                            </p:txEl>
                                          </p:spTgt>
                                        </p:tgtEl>
                                        <p:attrNameLst>
                                          <p:attrName>style.fontWeight</p:attrName>
                                        </p:attrNameLst>
                                      </p:cBhvr>
                                      <p:to>
                                        <p:strVal val="bold"/>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8200"/>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Chromosome theory of inheritance:</a:t>
            </a:r>
          </a:p>
          <a:p>
            <a:pPr marL="0" indent="0" algn="just">
              <a:lnSpc>
                <a:spcPct val="150000"/>
              </a:lnSpc>
              <a:buNone/>
            </a:pPr>
            <a:endParaRPr lang="en-US" sz="2800" b="1" u="sng">
              <a:solidFill>
                <a:srgbClr val="0070C0"/>
              </a:solidFill>
            </a:endParaRPr>
          </a:p>
        </p:txBody>
      </p:sp>
      <p:sp>
        <p:nvSpPr>
          <p:cNvPr id="3" name="Rectangle 2"/>
          <p:cNvSpPr/>
          <p:nvPr/>
        </p:nvSpPr>
        <p:spPr>
          <a:xfrm>
            <a:off x="145475" y="5315680"/>
            <a:ext cx="2362200" cy="461665"/>
          </a:xfrm>
          <a:prstGeom prst="rect">
            <a:avLst/>
          </a:prstGeom>
        </p:spPr>
        <p:txBody>
          <a:bodyPr wrap="square">
            <a:spAutoFit/>
          </a:bodyPr>
          <a:lstStyle/>
          <a:p>
            <a:r>
              <a:rPr lang="en-US" altLang="en-US" sz="2400" b="1" err="1">
                <a:solidFill>
                  <a:srgbClr val="00B0F0"/>
                </a:solidFill>
                <a:latin typeface="Calibri" panose="020F0502020204030204" pitchFamily="34" charset="0"/>
              </a:rPr>
              <a:t>Theoder</a:t>
            </a:r>
            <a:r>
              <a:rPr lang="en-US" altLang="en-US" sz="2400" b="1">
                <a:solidFill>
                  <a:srgbClr val="00B0F0"/>
                </a:solidFill>
                <a:latin typeface="Calibri" panose="020F0502020204030204" pitchFamily="34" charset="0"/>
              </a:rPr>
              <a:t> </a:t>
            </a:r>
            <a:r>
              <a:rPr lang="en-US" altLang="en-US" sz="2400" b="1" err="1">
                <a:solidFill>
                  <a:srgbClr val="00B0F0"/>
                </a:solidFill>
                <a:latin typeface="Calibri" panose="020F0502020204030204" pitchFamily="34" charset="0"/>
              </a:rPr>
              <a:t>Boveri</a:t>
            </a:r>
            <a:endParaRPr lang="en-US" altLang="en-US" sz="2400" b="1">
              <a:solidFill>
                <a:srgbClr val="00B0F0"/>
              </a:solidFill>
              <a:latin typeface="Calibri" panose="020F0502020204030204" pitchFamily="34" charset="0"/>
            </a:endParaRPr>
          </a:p>
        </p:txBody>
      </p:sp>
      <p:sp>
        <p:nvSpPr>
          <p:cNvPr id="9" name="Title 1"/>
          <p:cNvSpPr txBox="1">
            <a:spLocks/>
          </p:cNvSpPr>
          <p:nvPr/>
        </p:nvSpPr>
        <p:spPr>
          <a:xfrm>
            <a:off x="457200" y="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solidFill>
                  <a:srgbClr val="0000FF"/>
                </a:solidFill>
              </a:rPr>
              <a:t>Chromosomes</a:t>
            </a:r>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0817"/>
          <a:stretch/>
        </p:blipFill>
        <p:spPr bwMode="auto">
          <a:xfrm>
            <a:off x="0" y="1828800"/>
            <a:ext cx="2253673" cy="34006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AutoShape 4" descr="Image result for Ascaris megalocephal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Image result for Ascaris megalocephal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Rectangle 1"/>
          <p:cNvSpPr/>
          <p:nvPr/>
        </p:nvSpPr>
        <p:spPr>
          <a:xfrm>
            <a:off x="2133600" y="1752600"/>
            <a:ext cx="7239000" cy="1754326"/>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Egg and sperm </a:t>
            </a:r>
            <a:r>
              <a:rPr lang="en-US" altLang="en-US" sz="2400" err="1">
                <a:solidFill>
                  <a:prstClr val="black"/>
                </a:solidFill>
                <a:latin typeface="Arial" panose="020B0604020202020204" pitchFamily="34" charset="0"/>
              </a:rPr>
              <a:t>chr.</a:t>
            </a:r>
            <a:r>
              <a:rPr lang="en-US" altLang="en-US" sz="2400">
                <a:solidFill>
                  <a:prstClr val="black"/>
                </a:solidFill>
                <a:latin typeface="Arial" panose="020B0604020202020204" pitchFamily="34" charset="0"/>
              </a:rPr>
              <a:t> following fertilization.</a:t>
            </a:r>
          </a:p>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A normal 4 </a:t>
            </a:r>
            <a:r>
              <a:rPr lang="en-US" altLang="en-US" sz="2400" err="1">
                <a:solidFill>
                  <a:prstClr val="black"/>
                </a:solidFill>
                <a:latin typeface="Arial" panose="020B0604020202020204" pitchFamily="34" charset="0"/>
              </a:rPr>
              <a:t>chr.</a:t>
            </a:r>
            <a:r>
              <a:rPr lang="en-US" altLang="en-US" sz="2400">
                <a:solidFill>
                  <a:prstClr val="black"/>
                </a:solidFill>
                <a:latin typeface="Arial" panose="020B0604020202020204" pitchFamily="34" charset="0"/>
              </a:rPr>
              <a:t> was restored following fusion.</a:t>
            </a:r>
          </a:p>
          <a:p>
            <a:pPr>
              <a:lnSpc>
                <a:spcPct val="150000"/>
              </a:lnSpc>
            </a:pPr>
            <a:endParaRPr lang="en-US" altLang="en-US" sz="2400">
              <a:solidFill>
                <a:prstClr val="black"/>
              </a:solidFill>
              <a:latin typeface="Arial" panose="020B0604020202020204" pitchFamily="34" charset="0"/>
            </a:endParaRPr>
          </a:p>
        </p:txBody>
      </p:sp>
      <p:grpSp>
        <p:nvGrpSpPr>
          <p:cNvPr id="7" name="Group 6"/>
          <p:cNvGrpSpPr/>
          <p:nvPr/>
        </p:nvGrpSpPr>
        <p:grpSpPr>
          <a:xfrm>
            <a:off x="2637567" y="3638416"/>
            <a:ext cx="2876550" cy="1832264"/>
            <a:chOff x="3133725" y="2892136"/>
            <a:chExt cx="2876550" cy="1832264"/>
          </a:xfrm>
        </p:grpSpPr>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3725" y="3048000"/>
              <a:ext cx="2876550" cy="167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Oval 5"/>
            <p:cNvSpPr/>
            <p:nvPr/>
          </p:nvSpPr>
          <p:spPr>
            <a:xfrm>
              <a:off x="3886200" y="2892136"/>
              <a:ext cx="1295400" cy="122266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p:cNvPicPr>
            <a:picLocks noChangeAspect="1"/>
          </p:cNvPicPr>
          <p:nvPr/>
        </p:nvPicPr>
        <p:blipFill>
          <a:blip r:embed="rId4"/>
          <a:stretch>
            <a:fillRect/>
          </a:stretch>
        </p:blipFill>
        <p:spPr>
          <a:xfrm>
            <a:off x="5644009" y="3233027"/>
            <a:ext cx="2523300" cy="2526733"/>
          </a:xfrm>
          <a:prstGeom prst="rect">
            <a:avLst/>
          </a:prstGeom>
        </p:spPr>
      </p:pic>
      <p:sp>
        <p:nvSpPr>
          <p:cNvPr id="8" name="Slide Number Placeholder 7"/>
          <p:cNvSpPr>
            <a:spLocks noGrp="1"/>
          </p:cNvSpPr>
          <p:nvPr>
            <p:ph type="sldNum" sz="quarter" idx="12"/>
          </p:nvPr>
        </p:nvSpPr>
        <p:spPr/>
        <p:txBody>
          <a:bodyPr/>
          <a:lstStyle/>
          <a:p>
            <a:fld id="{84F00E51-5C1A-4BCB-8FAB-C2CC5154BB59}" type="slidenum">
              <a:rPr lang="en-US" smtClean="0"/>
              <a:t>11</a:t>
            </a:fld>
            <a:endParaRPr lang="en-US"/>
          </a:p>
        </p:txBody>
      </p:sp>
    </p:spTree>
    <p:extLst>
      <p:ext uri="{BB962C8B-B14F-4D97-AF65-F5344CB8AC3E}">
        <p14:creationId xmlns:p14="http://schemas.microsoft.com/office/powerpoint/2010/main" val="63706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8200"/>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Chromosome theory of inheritance:</a:t>
            </a:r>
          </a:p>
          <a:p>
            <a:pPr marL="0" indent="0" algn="just">
              <a:lnSpc>
                <a:spcPct val="150000"/>
              </a:lnSpc>
              <a:buNone/>
            </a:pPr>
            <a:endParaRPr lang="en-US" sz="2800" b="1" u="sng">
              <a:solidFill>
                <a:srgbClr val="0070C0"/>
              </a:solidFill>
            </a:endParaRPr>
          </a:p>
        </p:txBody>
      </p:sp>
      <p:sp>
        <p:nvSpPr>
          <p:cNvPr id="3" name="Rectangle 2"/>
          <p:cNvSpPr/>
          <p:nvPr/>
        </p:nvSpPr>
        <p:spPr>
          <a:xfrm>
            <a:off x="145475" y="5315680"/>
            <a:ext cx="2362200" cy="461665"/>
          </a:xfrm>
          <a:prstGeom prst="rect">
            <a:avLst/>
          </a:prstGeom>
        </p:spPr>
        <p:txBody>
          <a:bodyPr wrap="square">
            <a:spAutoFit/>
          </a:bodyPr>
          <a:lstStyle/>
          <a:p>
            <a:r>
              <a:rPr lang="en-US" altLang="en-US" sz="2400" b="1" err="1">
                <a:solidFill>
                  <a:srgbClr val="00B0F0"/>
                </a:solidFill>
                <a:latin typeface="Calibri" panose="020F0502020204030204" pitchFamily="34" charset="0"/>
              </a:rPr>
              <a:t>Theoder</a:t>
            </a:r>
            <a:r>
              <a:rPr lang="en-US" altLang="en-US" sz="2400" b="1">
                <a:solidFill>
                  <a:srgbClr val="00B0F0"/>
                </a:solidFill>
                <a:latin typeface="Calibri" panose="020F0502020204030204" pitchFamily="34" charset="0"/>
              </a:rPr>
              <a:t> </a:t>
            </a:r>
            <a:r>
              <a:rPr lang="en-US" altLang="en-US" sz="2400" b="1" err="1">
                <a:solidFill>
                  <a:srgbClr val="00B0F0"/>
                </a:solidFill>
                <a:latin typeface="Calibri" panose="020F0502020204030204" pitchFamily="34" charset="0"/>
              </a:rPr>
              <a:t>Boveri</a:t>
            </a:r>
            <a:endParaRPr lang="en-US" altLang="en-US" sz="2400" b="1">
              <a:solidFill>
                <a:srgbClr val="00B0F0"/>
              </a:solidFill>
              <a:latin typeface="Calibri" panose="020F0502020204030204" pitchFamily="34" charset="0"/>
            </a:endParaRPr>
          </a:p>
        </p:txBody>
      </p:sp>
      <p:sp>
        <p:nvSpPr>
          <p:cNvPr id="9" name="Title 1"/>
          <p:cNvSpPr txBox="1">
            <a:spLocks/>
          </p:cNvSpPr>
          <p:nvPr/>
        </p:nvSpPr>
        <p:spPr>
          <a:xfrm>
            <a:off x="457200" y="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solidFill>
                  <a:srgbClr val="0000FF"/>
                </a:solidFill>
              </a:rPr>
              <a:t>Chromosomes</a:t>
            </a:r>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0817"/>
          <a:stretch/>
        </p:blipFill>
        <p:spPr bwMode="auto">
          <a:xfrm>
            <a:off x="0" y="1828800"/>
            <a:ext cx="2253673" cy="34006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AutoShape 4" descr="Image result for Ascaris megalocephal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Image result for Ascaris megalocephal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Rectangle 1"/>
          <p:cNvSpPr/>
          <p:nvPr/>
        </p:nvSpPr>
        <p:spPr>
          <a:xfrm>
            <a:off x="1981200" y="1752600"/>
            <a:ext cx="7239000" cy="1200329"/>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Germ cells underwent </a:t>
            </a:r>
            <a:r>
              <a:rPr lang="en-US" altLang="en-US" sz="2400" err="1">
                <a:solidFill>
                  <a:prstClr val="black"/>
                </a:solidFill>
                <a:latin typeface="Arial" panose="020B0604020202020204" pitchFamily="34" charset="0"/>
              </a:rPr>
              <a:t>chr.</a:t>
            </a:r>
            <a:r>
              <a:rPr lang="en-US" altLang="en-US" sz="2400">
                <a:solidFill>
                  <a:prstClr val="black"/>
                </a:solidFill>
                <a:latin typeface="Arial" panose="020B0604020202020204" pitchFamily="34" charset="0"/>
              </a:rPr>
              <a:t> elimination/diminution.</a:t>
            </a:r>
          </a:p>
          <a:p>
            <a:pPr>
              <a:lnSpc>
                <a:spcPct val="150000"/>
              </a:lnSpc>
            </a:pPr>
            <a:endParaRPr lang="en-US" altLang="en-US" sz="2400">
              <a:solidFill>
                <a:prstClr val="black"/>
              </a:solidFill>
              <a:latin typeface="Arial" panose="020B0604020202020204" pitchFamily="34" charset="0"/>
            </a:endParaRP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2349263"/>
            <a:ext cx="3230225" cy="43660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Slide Number Placeholder 5"/>
          <p:cNvSpPr>
            <a:spLocks noGrp="1"/>
          </p:cNvSpPr>
          <p:nvPr>
            <p:ph type="sldNum" sz="quarter" idx="12"/>
          </p:nvPr>
        </p:nvSpPr>
        <p:spPr/>
        <p:txBody>
          <a:bodyPr/>
          <a:lstStyle/>
          <a:p>
            <a:fld id="{84F00E51-5C1A-4BCB-8FAB-C2CC5154BB59}" type="slidenum">
              <a:rPr lang="en-US" smtClean="0"/>
              <a:t>12</a:t>
            </a:fld>
            <a:endParaRPr lang="en-US"/>
          </a:p>
        </p:txBody>
      </p:sp>
    </p:spTree>
    <p:extLst>
      <p:ext uri="{BB962C8B-B14F-4D97-AF65-F5344CB8AC3E}">
        <p14:creationId xmlns:p14="http://schemas.microsoft.com/office/powerpoint/2010/main" val="1125900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5">
                                            <p:txEl>
                                              <p:pRg st="0" end="0"/>
                                            </p:txEl>
                                          </p:spTgt>
                                        </p:tgtEl>
                                        <p:attrNameLst>
                                          <p:attrName>style.fontWeight</p:attrName>
                                        </p:attrNameLst>
                                      </p:cBhvr>
                                      <p:to>
                                        <p:strVal val="bold"/>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8200"/>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Chromosome theory of inheritance:</a:t>
            </a:r>
          </a:p>
          <a:p>
            <a:pPr marL="0" indent="0" algn="just">
              <a:lnSpc>
                <a:spcPct val="150000"/>
              </a:lnSpc>
              <a:buNone/>
            </a:pPr>
            <a:endParaRPr lang="en-US" sz="2800" b="1" u="sng">
              <a:solidFill>
                <a:srgbClr val="0070C0"/>
              </a:solidFill>
            </a:endParaRPr>
          </a:p>
        </p:txBody>
      </p:sp>
      <p:sp>
        <p:nvSpPr>
          <p:cNvPr id="3" name="Rectangle 2"/>
          <p:cNvSpPr/>
          <p:nvPr/>
        </p:nvSpPr>
        <p:spPr>
          <a:xfrm>
            <a:off x="145475" y="5315680"/>
            <a:ext cx="2362200" cy="461665"/>
          </a:xfrm>
          <a:prstGeom prst="rect">
            <a:avLst/>
          </a:prstGeom>
        </p:spPr>
        <p:txBody>
          <a:bodyPr wrap="square">
            <a:spAutoFit/>
          </a:bodyPr>
          <a:lstStyle/>
          <a:p>
            <a:r>
              <a:rPr lang="en-US" altLang="en-US" sz="2400" b="1" err="1">
                <a:solidFill>
                  <a:srgbClr val="00B0F0"/>
                </a:solidFill>
                <a:latin typeface="Calibri" panose="020F0502020204030204" pitchFamily="34" charset="0"/>
              </a:rPr>
              <a:t>Theoder</a:t>
            </a:r>
            <a:r>
              <a:rPr lang="en-US" altLang="en-US" sz="2400" b="1">
                <a:solidFill>
                  <a:srgbClr val="00B0F0"/>
                </a:solidFill>
                <a:latin typeface="Calibri" panose="020F0502020204030204" pitchFamily="34" charset="0"/>
              </a:rPr>
              <a:t> </a:t>
            </a:r>
            <a:r>
              <a:rPr lang="en-US" altLang="en-US" sz="2400" b="1" err="1">
                <a:solidFill>
                  <a:srgbClr val="00B0F0"/>
                </a:solidFill>
                <a:latin typeface="Calibri" panose="020F0502020204030204" pitchFamily="34" charset="0"/>
              </a:rPr>
              <a:t>Boveri</a:t>
            </a:r>
            <a:endParaRPr lang="en-US" altLang="en-US" sz="2400" b="1">
              <a:solidFill>
                <a:srgbClr val="00B0F0"/>
              </a:solidFill>
              <a:latin typeface="Calibri" panose="020F0502020204030204" pitchFamily="34" charset="0"/>
            </a:endParaRPr>
          </a:p>
        </p:txBody>
      </p:sp>
      <p:sp>
        <p:nvSpPr>
          <p:cNvPr id="9" name="Title 1"/>
          <p:cNvSpPr txBox="1">
            <a:spLocks/>
          </p:cNvSpPr>
          <p:nvPr/>
        </p:nvSpPr>
        <p:spPr>
          <a:xfrm>
            <a:off x="457200" y="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solidFill>
                  <a:srgbClr val="0000FF"/>
                </a:solidFill>
              </a:rPr>
              <a:t>Chromosomes</a:t>
            </a:r>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0817"/>
          <a:stretch/>
        </p:blipFill>
        <p:spPr bwMode="auto">
          <a:xfrm>
            <a:off x="0" y="1828800"/>
            <a:ext cx="2253673" cy="34006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AutoShape 4" descr="Image result for Ascaris megalocephal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Image result for Ascaris megalocephal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Rectangle 1"/>
          <p:cNvSpPr/>
          <p:nvPr/>
        </p:nvSpPr>
        <p:spPr>
          <a:xfrm>
            <a:off x="2133600" y="1752600"/>
            <a:ext cx="7239000" cy="3970318"/>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en-US" sz="2400" err="1">
                <a:solidFill>
                  <a:schemeClr val="bg1">
                    <a:lumMod val="65000"/>
                  </a:schemeClr>
                </a:solidFill>
                <a:latin typeface="Arial" panose="020B0604020202020204" pitchFamily="34" charset="0"/>
              </a:rPr>
              <a:t>Ascaris</a:t>
            </a:r>
            <a:r>
              <a:rPr lang="en-US" altLang="en-US" sz="2400">
                <a:solidFill>
                  <a:schemeClr val="bg1">
                    <a:lumMod val="65000"/>
                  </a:schemeClr>
                </a:solidFill>
                <a:latin typeface="Arial" panose="020B0604020202020204" pitchFamily="34" charset="0"/>
              </a:rPr>
              <a:t> develop distinct somatic and germ cells.</a:t>
            </a:r>
          </a:p>
          <a:p>
            <a:pPr marL="342900" indent="-342900">
              <a:lnSpc>
                <a:spcPct val="150000"/>
              </a:lnSpc>
              <a:buFont typeface="Arial" panose="020B0604020202020204" pitchFamily="34" charset="0"/>
              <a:buChar char="•"/>
            </a:pPr>
            <a:r>
              <a:rPr lang="en-US" altLang="en-US" sz="2400">
                <a:solidFill>
                  <a:schemeClr val="bg1">
                    <a:lumMod val="65000"/>
                  </a:schemeClr>
                </a:solidFill>
                <a:latin typeface="Arial" panose="020B0604020202020204" pitchFamily="34" charset="0"/>
              </a:rPr>
              <a:t>Full complement of </a:t>
            </a:r>
            <a:r>
              <a:rPr lang="en-US" altLang="en-US" sz="2400" err="1">
                <a:solidFill>
                  <a:schemeClr val="bg1">
                    <a:lumMod val="65000"/>
                  </a:schemeClr>
                </a:solidFill>
                <a:latin typeface="Arial" panose="020B0604020202020204" pitchFamily="34" charset="0"/>
              </a:rPr>
              <a:t>chr.</a:t>
            </a:r>
            <a:r>
              <a:rPr lang="en-US" altLang="en-US" sz="2400">
                <a:solidFill>
                  <a:schemeClr val="bg1">
                    <a:lumMod val="65000"/>
                  </a:schemeClr>
                </a:solidFill>
                <a:latin typeface="Arial" panose="020B0604020202020204" pitchFamily="34" charset="0"/>
              </a:rPr>
              <a:t> retained in somatic cells.</a:t>
            </a:r>
          </a:p>
          <a:p>
            <a:pPr marL="342900" indent="-342900">
              <a:lnSpc>
                <a:spcPct val="150000"/>
              </a:lnSpc>
              <a:buFont typeface="Arial" panose="020B0604020202020204" pitchFamily="34" charset="0"/>
              <a:buChar char="•"/>
            </a:pPr>
            <a:r>
              <a:rPr lang="en-US" altLang="en-US" sz="2400">
                <a:solidFill>
                  <a:schemeClr val="bg1">
                    <a:lumMod val="65000"/>
                  </a:schemeClr>
                </a:solidFill>
                <a:latin typeface="Arial" panose="020B0604020202020204" pitchFamily="34" charset="0"/>
              </a:rPr>
              <a:t>Germ cells underwent </a:t>
            </a:r>
            <a:r>
              <a:rPr lang="en-US" altLang="en-US" sz="2400" err="1">
                <a:solidFill>
                  <a:schemeClr val="bg1">
                    <a:lumMod val="65000"/>
                  </a:schemeClr>
                </a:solidFill>
                <a:latin typeface="Arial" panose="020B0604020202020204" pitchFamily="34" charset="0"/>
              </a:rPr>
              <a:t>chr.</a:t>
            </a:r>
            <a:r>
              <a:rPr lang="en-US" altLang="en-US" sz="2400">
                <a:solidFill>
                  <a:schemeClr val="bg1">
                    <a:lumMod val="65000"/>
                  </a:schemeClr>
                </a:solidFill>
                <a:latin typeface="Arial" panose="020B0604020202020204" pitchFamily="34" charset="0"/>
              </a:rPr>
              <a:t> elimination/diminution.</a:t>
            </a:r>
          </a:p>
          <a:p>
            <a:pPr marL="342900" indent="-342900">
              <a:lnSpc>
                <a:spcPct val="150000"/>
              </a:lnSpc>
              <a:buFont typeface="Arial" panose="020B0604020202020204" pitchFamily="34" charset="0"/>
              <a:buChar char="•"/>
            </a:pPr>
            <a:r>
              <a:rPr lang="en-US" altLang="en-US" sz="2400">
                <a:solidFill>
                  <a:schemeClr val="bg1">
                    <a:lumMod val="65000"/>
                  </a:schemeClr>
                </a:solidFill>
                <a:latin typeface="Arial" panose="020B0604020202020204" pitchFamily="34" charset="0"/>
              </a:rPr>
              <a:t>Egg and sperm </a:t>
            </a:r>
            <a:r>
              <a:rPr lang="en-US" altLang="en-US" sz="2400" err="1">
                <a:solidFill>
                  <a:schemeClr val="bg1">
                    <a:lumMod val="65000"/>
                  </a:schemeClr>
                </a:solidFill>
                <a:latin typeface="Arial" panose="020B0604020202020204" pitchFamily="34" charset="0"/>
              </a:rPr>
              <a:t>chr.</a:t>
            </a:r>
            <a:r>
              <a:rPr lang="en-US" altLang="en-US" sz="2400">
                <a:solidFill>
                  <a:schemeClr val="bg1">
                    <a:lumMod val="65000"/>
                  </a:schemeClr>
                </a:solidFill>
                <a:latin typeface="Arial" panose="020B0604020202020204" pitchFamily="34" charset="0"/>
              </a:rPr>
              <a:t> following fertilization.</a:t>
            </a:r>
          </a:p>
          <a:p>
            <a:pPr marL="342900" indent="-342900">
              <a:lnSpc>
                <a:spcPct val="150000"/>
              </a:lnSpc>
              <a:buFont typeface="Arial" panose="020B0604020202020204" pitchFamily="34" charset="0"/>
              <a:buChar char="•"/>
            </a:pPr>
            <a:r>
              <a:rPr lang="en-US" altLang="en-US" sz="2400">
                <a:solidFill>
                  <a:schemeClr val="bg1">
                    <a:lumMod val="65000"/>
                  </a:schemeClr>
                </a:solidFill>
                <a:latin typeface="Arial" panose="020B0604020202020204" pitchFamily="34" charset="0"/>
              </a:rPr>
              <a:t>A normal 4 </a:t>
            </a:r>
            <a:r>
              <a:rPr lang="en-US" altLang="en-US" sz="2400" err="1">
                <a:solidFill>
                  <a:schemeClr val="bg1">
                    <a:lumMod val="65000"/>
                  </a:schemeClr>
                </a:solidFill>
                <a:latin typeface="Arial" panose="020B0604020202020204" pitchFamily="34" charset="0"/>
              </a:rPr>
              <a:t>chr.</a:t>
            </a:r>
            <a:r>
              <a:rPr lang="en-US" altLang="en-US" sz="2400">
                <a:solidFill>
                  <a:schemeClr val="bg1">
                    <a:lumMod val="65000"/>
                  </a:schemeClr>
                </a:solidFill>
                <a:latin typeface="Arial" panose="020B0604020202020204" pitchFamily="34" charset="0"/>
              </a:rPr>
              <a:t> was restored following fusion.</a:t>
            </a:r>
          </a:p>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This was the first evidence of meiosis process.</a:t>
            </a:r>
          </a:p>
          <a:p>
            <a:pPr>
              <a:lnSpc>
                <a:spcPct val="150000"/>
              </a:lnSpc>
            </a:pPr>
            <a:endParaRPr lang="en-US" altLang="en-US" sz="2400">
              <a:solidFill>
                <a:prstClr val="black"/>
              </a:solidFill>
              <a:latin typeface="Arial" panose="020B0604020202020204" pitchFamily="34" charset="0"/>
            </a:endParaRPr>
          </a:p>
        </p:txBody>
      </p:sp>
      <p:sp>
        <p:nvSpPr>
          <p:cNvPr id="6" name="Slide Number Placeholder 5"/>
          <p:cNvSpPr>
            <a:spLocks noGrp="1"/>
          </p:cNvSpPr>
          <p:nvPr>
            <p:ph type="sldNum" sz="quarter" idx="12"/>
          </p:nvPr>
        </p:nvSpPr>
        <p:spPr/>
        <p:txBody>
          <a:bodyPr/>
          <a:lstStyle/>
          <a:p>
            <a:fld id="{84F00E51-5C1A-4BCB-8FAB-C2CC5154BB59}" type="slidenum">
              <a:rPr lang="en-US" smtClean="0"/>
              <a:t>13</a:t>
            </a:fld>
            <a:endParaRPr lang="en-US"/>
          </a:p>
        </p:txBody>
      </p:sp>
    </p:spTree>
    <p:extLst>
      <p:ext uri="{BB962C8B-B14F-4D97-AF65-F5344CB8AC3E}">
        <p14:creationId xmlns:p14="http://schemas.microsoft.com/office/powerpoint/2010/main" val="808894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5">
                                            <p:txEl>
                                              <p:pRg st="0" end="0"/>
                                            </p:txEl>
                                          </p:spTgt>
                                        </p:tgtEl>
                                        <p:attrNameLst>
                                          <p:attrName>style.fontWeight</p:attrName>
                                        </p:attrNameLst>
                                      </p:cBhvr>
                                      <p:to>
                                        <p:strVal val="bold"/>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mage result for meosis"/>
          <p:cNvPicPr>
            <a:picLocks noChangeAspect="1" noChangeArrowheads="1"/>
          </p:cNvPicPr>
          <p:nvPr/>
        </p:nvPicPr>
        <p:blipFill rotWithShape="1">
          <a:blip r:embed="rId2">
            <a:extLst>
              <a:ext uri="{28A0092B-C50C-407E-A947-70E740481C1C}">
                <a14:useLocalDpi xmlns:a14="http://schemas.microsoft.com/office/drawing/2010/main" val="0"/>
              </a:ext>
            </a:extLst>
          </a:blip>
          <a:srcRect b="55183"/>
          <a:stretch/>
        </p:blipFill>
        <p:spPr bwMode="auto">
          <a:xfrm>
            <a:off x="324839" y="139629"/>
            <a:ext cx="8361961" cy="64770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84F00E51-5C1A-4BCB-8FAB-C2CC5154BB59}" type="slidenum">
              <a:rPr lang="en-US" smtClean="0"/>
              <a:t>14</a:t>
            </a:fld>
            <a:endParaRPr lang="en-US"/>
          </a:p>
        </p:txBody>
      </p:sp>
    </p:spTree>
    <p:extLst>
      <p:ext uri="{BB962C8B-B14F-4D97-AF65-F5344CB8AC3E}">
        <p14:creationId xmlns:p14="http://schemas.microsoft.com/office/powerpoint/2010/main" val="1153338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Image result for meosis"/>
          <p:cNvPicPr>
            <a:picLocks noChangeAspect="1" noChangeArrowheads="1"/>
          </p:cNvPicPr>
          <p:nvPr/>
        </p:nvPicPr>
        <p:blipFill rotWithShape="1">
          <a:blip r:embed="rId2">
            <a:extLst>
              <a:ext uri="{28A0092B-C50C-407E-A947-70E740481C1C}">
                <a14:useLocalDpi xmlns:a14="http://schemas.microsoft.com/office/drawing/2010/main" val="0"/>
              </a:ext>
            </a:extLst>
          </a:blip>
          <a:srcRect l="1818" t="43757" b="8152"/>
          <a:stretch/>
        </p:blipFill>
        <p:spPr bwMode="auto">
          <a:xfrm>
            <a:off x="831272" y="76200"/>
            <a:ext cx="7855527" cy="6650182"/>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84F00E51-5C1A-4BCB-8FAB-C2CC5154BB59}" type="slidenum">
              <a:rPr lang="en-US" smtClean="0"/>
              <a:t>15</a:t>
            </a:fld>
            <a:endParaRPr lang="en-US"/>
          </a:p>
        </p:txBody>
      </p:sp>
    </p:spTree>
    <p:extLst>
      <p:ext uri="{BB962C8B-B14F-4D97-AF65-F5344CB8AC3E}">
        <p14:creationId xmlns:p14="http://schemas.microsoft.com/office/powerpoint/2010/main" val="1550086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644237"/>
            <a:ext cx="7467600" cy="6927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Chromosome Number:</a:t>
            </a:r>
          </a:p>
        </p:txBody>
      </p:sp>
      <p:sp>
        <p:nvSpPr>
          <p:cNvPr id="13" name="Title 1"/>
          <p:cNvSpPr>
            <a:spLocks noGrp="1"/>
          </p:cNvSpPr>
          <p:nvPr>
            <p:ph type="title"/>
          </p:nvPr>
        </p:nvSpPr>
        <p:spPr>
          <a:xfrm>
            <a:off x="457200" y="0"/>
            <a:ext cx="8229600" cy="1143000"/>
          </a:xfrm>
        </p:spPr>
        <p:txBody>
          <a:bodyPr>
            <a:normAutofit/>
          </a:bodyPr>
          <a:lstStyle/>
          <a:p>
            <a:r>
              <a:rPr lang="en-US" b="1" err="1">
                <a:solidFill>
                  <a:srgbClr val="0000FF"/>
                </a:solidFill>
              </a:rPr>
              <a:t>Chrmosomes</a:t>
            </a:r>
            <a:endParaRPr lang="en-US" b="1">
              <a:solidFill>
                <a:srgbClr val="0000FF"/>
              </a:solidFill>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50" y="2062163"/>
            <a:ext cx="8191500" cy="2733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84F00E51-5C1A-4BCB-8FAB-C2CC5154BB59}" type="slidenum">
              <a:rPr lang="en-US" smtClean="0"/>
              <a:t>16</a:t>
            </a:fld>
            <a:endParaRPr lang="en-US"/>
          </a:p>
        </p:txBody>
      </p:sp>
    </p:spTree>
    <p:extLst>
      <p:ext uri="{BB962C8B-B14F-4D97-AF65-F5344CB8AC3E}">
        <p14:creationId xmlns:p14="http://schemas.microsoft.com/office/powerpoint/2010/main" val="2903676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8200"/>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Chromosome theory of inheritance:</a:t>
            </a:r>
          </a:p>
          <a:p>
            <a:pPr marL="0" indent="0" algn="just">
              <a:lnSpc>
                <a:spcPct val="150000"/>
              </a:lnSpc>
              <a:buNone/>
            </a:pPr>
            <a:endParaRPr lang="en-US" sz="2800" b="1" u="sng">
              <a:solidFill>
                <a:srgbClr val="0070C0"/>
              </a:solidFill>
            </a:endParaRPr>
          </a:p>
        </p:txBody>
      </p:sp>
      <p:sp>
        <p:nvSpPr>
          <p:cNvPr id="3" name="Rectangle 2"/>
          <p:cNvSpPr/>
          <p:nvPr/>
        </p:nvSpPr>
        <p:spPr>
          <a:xfrm>
            <a:off x="145475" y="5315680"/>
            <a:ext cx="2362200" cy="461665"/>
          </a:xfrm>
          <a:prstGeom prst="rect">
            <a:avLst/>
          </a:prstGeom>
        </p:spPr>
        <p:txBody>
          <a:bodyPr wrap="square">
            <a:spAutoFit/>
          </a:bodyPr>
          <a:lstStyle/>
          <a:p>
            <a:r>
              <a:rPr lang="en-US" altLang="en-US" sz="2400" b="1" err="1">
                <a:solidFill>
                  <a:srgbClr val="00B0F0"/>
                </a:solidFill>
                <a:latin typeface="Calibri" panose="020F0502020204030204" pitchFamily="34" charset="0"/>
              </a:rPr>
              <a:t>Theoder</a:t>
            </a:r>
            <a:r>
              <a:rPr lang="en-US" altLang="en-US" sz="2400" b="1">
                <a:solidFill>
                  <a:srgbClr val="00B0F0"/>
                </a:solidFill>
                <a:latin typeface="Calibri" panose="020F0502020204030204" pitchFamily="34" charset="0"/>
              </a:rPr>
              <a:t> </a:t>
            </a:r>
            <a:r>
              <a:rPr lang="en-US" altLang="en-US" sz="2400" b="1" err="1">
                <a:solidFill>
                  <a:srgbClr val="00B0F0"/>
                </a:solidFill>
                <a:latin typeface="Calibri" panose="020F0502020204030204" pitchFamily="34" charset="0"/>
              </a:rPr>
              <a:t>Boveri</a:t>
            </a:r>
            <a:endParaRPr lang="en-US" altLang="en-US" sz="2400" b="1">
              <a:solidFill>
                <a:srgbClr val="00B0F0"/>
              </a:solidFill>
              <a:latin typeface="Calibri" panose="020F0502020204030204" pitchFamily="34" charset="0"/>
            </a:endParaRPr>
          </a:p>
        </p:txBody>
      </p:sp>
      <p:sp>
        <p:nvSpPr>
          <p:cNvPr id="9" name="Title 1"/>
          <p:cNvSpPr txBox="1">
            <a:spLocks/>
          </p:cNvSpPr>
          <p:nvPr/>
        </p:nvSpPr>
        <p:spPr>
          <a:xfrm>
            <a:off x="457200" y="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solidFill>
                  <a:srgbClr val="0000FF"/>
                </a:solidFill>
              </a:rPr>
              <a:t>Chromosomes</a:t>
            </a:r>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0817"/>
          <a:stretch/>
        </p:blipFill>
        <p:spPr bwMode="auto">
          <a:xfrm>
            <a:off x="0" y="1828800"/>
            <a:ext cx="2253673" cy="34006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AutoShape 4" descr="Image result for Ascaris megalocephal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Image result for Ascaris megalocephal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Rectangle 1"/>
          <p:cNvSpPr/>
          <p:nvPr/>
        </p:nvSpPr>
        <p:spPr>
          <a:xfrm>
            <a:off x="2133600" y="1752600"/>
            <a:ext cx="7239000" cy="2308324"/>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This was the first evidence of meiosis process.</a:t>
            </a:r>
          </a:p>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His work on sea urchin laid importance of </a:t>
            </a:r>
            <a:r>
              <a:rPr lang="en-US" altLang="en-US" sz="2400" err="1">
                <a:solidFill>
                  <a:prstClr val="black"/>
                </a:solidFill>
                <a:latin typeface="Arial" panose="020B0604020202020204" pitchFamily="34" charset="0"/>
              </a:rPr>
              <a:t>chr.</a:t>
            </a:r>
            <a:r>
              <a:rPr lang="en-US" altLang="en-US" sz="2400">
                <a:solidFill>
                  <a:prstClr val="black"/>
                </a:solidFill>
                <a:latin typeface="Arial" panose="020B0604020202020204" pitchFamily="34" charset="0"/>
              </a:rPr>
              <a:t> defects / unequal cell division. </a:t>
            </a:r>
          </a:p>
          <a:p>
            <a:pPr marL="342900" indent="-342900">
              <a:lnSpc>
                <a:spcPct val="150000"/>
              </a:lnSpc>
              <a:buFont typeface="Arial" panose="020B0604020202020204" pitchFamily="34" charset="0"/>
              <a:buChar char="•"/>
            </a:pPr>
            <a:endParaRPr lang="en-US" altLang="en-US" sz="2400">
              <a:solidFill>
                <a:prstClr val="black"/>
              </a:solidFill>
              <a:latin typeface="Arial" panose="020B0604020202020204" pitchFamily="34" charset="0"/>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9925" y="3429000"/>
            <a:ext cx="5086350" cy="33382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Slide Number Placeholder 5"/>
          <p:cNvSpPr>
            <a:spLocks noGrp="1"/>
          </p:cNvSpPr>
          <p:nvPr>
            <p:ph type="sldNum" sz="quarter" idx="12"/>
          </p:nvPr>
        </p:nvSpPr>
        <p:spPr/>
        <p:txBody>
          <a:bodyPr/>
          <a:lstStyle/>
          <a:p>
            <a:fld id="{84F00E51-5C1A-4BCB-8FAB-C2CC5154BB59}" type="slidenum">
              <a:rPr lang="en-US" smtClean="0"/>
              <a:t>17</a:t>
            </a:fld>
            <a:endParaRPr lang="en-US"/>
          </a:p>
        </p:txBody>
      </p:sp>
    </p:spTree>
    <p:extLst>
      <p:ext uri="{BB962C8B-B14F-4D97-AF65-F5344CB8AC3E}">
        <p14:creationId xmlns:p14="http://schemas.microsoft.com/office/powerpoint/2010/main" val="691036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8200"/>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Chromosome theory of inheritance:</a:t>
            </a:r>
          </a:p>
          <a:p>
            <a:pPr marL="0" indent="0" algn="just">
              <a:lnSpc>
                <a:spcPct val="150000"/>
              </a:lnSpc>
              <a:buNone/>
            </a:pPr>
            <a:endParaRPr lang="en-US" sz="2800" b="1" u="sng">
              <a:solidFill>
                <a:srgbClr val="0070C0"/>
              </a:solidFill>
            </a:endParaRPr>
          </a:p>
        </p:txBody>
      </p:sp>
      <p:sp>
        <p:nvSpPr>
          <p:cNvPr id="3" name="Rectangle 2"/>
          <p:cNvSpPr/>
          <p:nvPr/>
        </p:nvSpPr>
        <p:spPr>
          <a:xfrm>
            <a:off x="17585" y="4846167"/>
            <a:ext cx="2362200" cy="461665"/>
          </a:xfrm>
          <a:prstGeom prst="rect">
            <a:avLst/>
          </a:prstGeom>
        </p:spPr>
        <p:txBody>
          <a:bodyPr wrap="square">
            <a:spAutoFit/>
          </a:bodyPr>
          <a:lstStyle/>
          <a:p>
            <a:r>
              <a:rPr lang="en-US" altLang="en-US" sz="2400" b="1">
                <a:solidFill>
                  <a:srgbClr val="00B0F0"/>
                </a:solidFill>
                <a:latin typeface="Calibri" panose="020F0502020204030204" pitchFamily="34" charset="0"/>
              </a:rPr>
              <a:t>Walter Sutton</a:t>
            </a:r>
          </a:p>
        </p:txBody>
      </p:sp>
      <p:sp>
        <p:nvSpPr>
          <p:cNvPr id="9" name="Title 1"/>
          <p:cNvSpPr txBox="1">
            <a:spLocks/>
          </p:cNvSpPr>
          <p:nvPr/>
        </p:nvSpPr>
        <p:spPr>
          <a:xfrm>
            <a:off x="457200" y="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solidFill>
                  <a:srgbClr val="0000FF"/>
                </a:solidFill>
              </a:rPr>
              <a:t>Chromosomes</a:t>
            </a:r>
          </a:p>
        </p:txBody>
      </p:sp>
      <p:sp>
        <p:nvSpPr>
          <p:cNvPr id="2" name="AutoShape 4" descr="Image result for Ascaris megalocephal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Image result for Ascaris megalocephal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11122"/>
            <a:ext cx="2027591" cy="29894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1"/>
          <p:cNvSpPr/>
          <p:nvPr/>
        </p:nvSpPr>
        <p:spPr>
          <a:xfrm>
            <a:off x="1910244" y="1668462"/>
            <a:ext cx="7309956" cy="5078313"/>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An American scientist, engineer, cytologist, medical doctor, born 1877, in Utica, NY.</a:t>
            </a:r>
          </a:p>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Worked on </a:t>
            </a:r>
            <a:r>
              <a:rPr lang="en-US" altLang="en-US" sz="2400" err="1">
                <a:solidFill>
                  <a:prstClr val="black"/>
                </a:solidFill>
                <a:latin typeface="Arial" panose="020B0604020202020204" pitchFamily="34" charset="0"/>
              </a:rPr>
              <a:t>Brachystola</a:t>
            </a:r>
            <a:r>
              <a:rPr lang="en-US" altLang="en-US" sz="2400">
                <a:solidFill>
                  <a:prstClr val="black"/>
                </a:solidFill>
                <a:latin typeface="Arial" panose="020B0604020202020204" pitchFamily="34" charset="0"/>
              </a:rPr>
              <a:t> magna (</a:t>
            </a:r>
            <a:r>
              <a:rPr lang="en-US" altLang="en-US" sz="2400">
                <a:solidFill>
                  <a:srgbClr val="FF0000"/>
                </a:solidFill>
                <a:latin typeface="Arial" panose="020B0604020202020204" pitchFamily="34" charset="0"/>
              </a:rPr>
              <a:t>grasshopper</a:t>
            </a:r>
            <a:r>
              <a:rPr lang="en-US" altLang="en-US" sz="2400">
                <a:solidFill>
                  <a:prstClr val="black"/>
                </a:solidFill>
                <a:latin typeface="Arial" panose="020B0604020202020204" pitchFamily="34" charset="0"/>
              </a:rPr>
              <a:t>).</a:t>
            </a:r>
          </a:p>
          <a:p>
            <a:pPr marL="342900" indent="-342900">
              <a:lnSpc>
                <a:spcPct val="150000"/>
              </a:lnSpc>
              <a:buFont typeface="Arial" panose="020B0604020202020204" pitchFamily="34" charset="0"/>
              <a:buChar char="•"/>
            </a:pPr>
            <a:r>
              <a:rPr lang="en-US" altLang="en-US" sz="2400">
                <a:latin typeface="Arial" panose="020B0604020202020204" pitchFamily="34" charset="0"/>
              </a:rPr>
              <a:t>He distinguished </a:t>
            </a:r>
            <a:r>
              <a:rPr lang="en-US" altLang="en-US" sz="2400">
                <a:solidFill>
                  <a:srgbClr val="0070C0"/>
                </a:solidFill>
                <a:latin typeface="Arial" panose="020B0604020202020204" pitchFamily="34" charset="0"/>
              </a:rPr>
              <a:t>individual chromosomes </a:t>
            </a:r>
            <a:r>
              <a:rPr lang="en-US" altLang="en-US" sz="2400">
                <a:latin typeface="Arial" panose="020B0604020202020204" pitchFamily="34" charset="0"/>
              </a:rPr>
              <a:t>in cells undergoing meiosis.</a:t>
            </a:r>
          </a:p>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Chr. have morphological </a:t>
            </a:r>
            <a:r>
              <a:rPr lang="en-US" altLang="en-US" sz="2400">
                <a:solidFill>
                  <a:srgbClr val="0070C0"/>
                </a:solidFill>
                <a:latin typeface="Arial" panose="020B0604020202020204" pitchFamily="34" charset="0"/>
              </a:rPr>
              <a:t>individuality</a:t>
            </a:r>
            <a:r>
              <a:rPr lang="en-US" altLang="en-US" sz="2400">
                <a:solidFill>
                  <a:prstClr val="black"/>
                </a:solidFill>
                <a:latin typeface="Arial" panose="020B0604020202020204" pitchFamily="34" charset="0"/>
              </a:rPr>
              <a:t>. i.e. all </a:t>
            </a:r>
            <a:r>
              <a:rPr lang="en-US" altLang="en-US" sz="2400" err="1">
                <a:solidFill>
                  <a:prstClr val="black"/>
                </a:solidFill>
                <a:latin typeface="Arial" panose="020B0604020202020204" pitchFamily="34" charset="0"/>
              </a:rPr>
              <a:t>chr.</a:t>
            </a:r>
            <a:r>
              <a:rPr lang="en-US" altLang="en-US" sz="2400">
                <a:solidFill>
                  <a:prstClr val="black"/>
                </a:solidFill>
                <a:latin typeface="Arial" panose="020B0604020202020204" pitchFamily="34" charset="0"/>
              </a:rPr>
              <a:t> have stable structure or individuality that’s </a:t>
            </a:r>
            <a:r>
              <a:rPr lang="en-US" altLang="en-US" sz="2400">
                <a:solidFill>
                  <a:srgbClr val="0070C0"/>
                </a:solidFill>
                <a:latin typeface="Arial" panose="020B0604020202020204" pitchFamily="34" charset="0"/>
              </a:rPr>
              <a:t>maintained</a:t>
            </a:r>
            <a:r>
              <a:rPr lang="en-US" altLang="en-US" sz="2400">
                <a:solidFill>
                  <a:prstClr val="black"/>
                </a:solidFill>
                <a:latin typeface="Arial" panose="020B0604020202020204" pitchFamily="34" charset="0"/>
              </a:rPr>
              <a:t> between </a:t>
            </a:r>
            <a:r>
              <a:rPr lang="en-US" altLang="en-US" sz="2400">
                <a:solidFill>
                  <a:srgbClr val="0070C0"/>
                </a:solidFill>
                <a:latin typeface="Arial" panose="020B0604020202020204" pitchFamily="34" charset="0"/>
              </a:rPr>
              <a:t>generations</a:t>
            </a:r>
            <a:r>
              <a:rPr lang="en-US" altLang="en-US" sz="2400">
                <a:solidFill>
                  <a:prstClr val="black"/>
                </a:solidFill>
                <a:latin typeface="Arial" panose="020B0604020202020204" pitchFamily="34" charset="0"/>
              </a:rPr>
              <a:t>.</a:t>
            </a:r>
          </a:p>
          <a:p>
            <a:pPr marL="342900" indent="-342900">
              <a:lnSpc>
                <a:spcPct val="150000"/>
              </a:lnSpc>
              <a:buFont typeface="Arial" panose="020B0604020202020204" pitchFamily="34" charset="0"/>
              <a:buChar char="•"/>
            </a:pPr>
            <a:endParaRPr lang="en-US" altLang="en-US" sz="2400">
              <a:solidFill>
                <a:prstClr val="black"/>
              </a:solidFill>
              <a:latin typeface="Arial" panose="020B0604020202020204" pitchFamily="34" charset="0"/>
            </a:endParaRPr>
          </a:p>
        </p:txBody>
      </p:sp>
      <p:pic>
        <p:nvPicPr>
          <p:cNvPr id="1026" name="Picture 2" descr="Image result for grasshopper chromosomes"/>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2724" t="18503" r="5276" b="53577"/>
          <a:stretch/>
        </p:blipFill>
        <p:spPr bwMode="auto">
          <a:xfrm>
            <a:off x="7773687" y="2410603"/>
            <a:ext cx="958768" cy="432509"/>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fld id="{84F00E51-5C1A-4BCB-8FAB-C2CC5154BB59}" type="slidenum">
              <a:rPr lang="en-US" smtClean="0"/>
              <a:t>18</a:t>
            </a:fld>
            <a:endParaRPr lang="en-US"/>
          </a:p>
        </p:txBody>
      </p:sp>
    </p:spTree>
    <p:extLst>
      <p:ext uri="{BB962C8B-B14F-4D97-AF65-F5344CB8AC3E}">
        <p14:creationId xmlns:p14="http://schemas.microsoft.com/office/powerpoint/2010/main" val="794502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10">
                                            <p:txEl>
                                              <p:pRg st="1" end="1"/>
                                            </p:txEl>
                                          </p:spTgt>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026"/>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10">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8200"/>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Chromosome theory of inheritance:</a:t>
            </a:r>
          </a:p>
          <a:p>
            <a:pPr marL="0" indent="0" algn="just">
              <a:lnSpc>
                <a:spcPct val="150000"/>
              </a:lnSpc>
              <a:buNone/>
            </a:pPr>
            <a:endParaRPr lang="en-US" sz="2800" b="1" u="sng">
              <a:solidFill>
                <a:srgbClr val="0070C0"/>
              </a:solidFill>
            </a:endParaRPr>
          </a:p>
        </p:txBody>
      </p:sp>
      <p:sp>
        <p:nvSpPr>
          <p:cNvPr id="3" name="Rectangle 2"/>
          <p:cNvSpPr/>
          <p:nvPr/>
        </p:nvSpPr>
        <p:spPr>
          <a:xfrm>
            <a:off x="145475" y="5315680"/>
            <a:ext cx="2362200" cy="461665"/>
          </a:xfrm>
          <a:prstGeom prst="rect">
            <a:avLst/>
          </a:prstGeom>
        </p:spPr>
        <p:txBody>
          <a:bodyPr wrap="square">
            <a:spAutoFit/>
          </a:bodyPr>
          <a:lstStyle/>
          <a:p>
            <a:r>
              <a:rPr lang="en-US" altLang="en-US" sz="2400" b="1">
                <a:solidFill>
                  <a:srgbClr val="00B0F0"/>
                </a:solidFill>
                <a:latin typeface="Calibri" panose="020F0502020204030204" pitchFamily="34" charset="0"/>
              </a:rPr>
              <a:t>Walter Sutton</a:t>
            </a:r>
          </a:p>
        </p:txBody>
      </p:sp>
      <p:sp>
        <p:nvSpPr>
          <p:cNvPr id="9" name="Title 1"/>
          <p:cNvSpPr txBox="1">
            <a:spLocks/>
          </p:cNvSpPr>
          <p:nvPr/>
        </p:nvSpPr>
        <p:spPr>
          <a:xfrm>
            <a:off x="457200" y="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solidFill>
                  <a:srgbClr val="0000FF"/>
                </a:solidFill>
              </a:rPr>
              <a:t>Chromosomes</a:t>
            </a:r>
          </a:p>
        </p:txBody>
      </p:sp>
      <p:sp>
        <p:nvSpPr>
          <p:cNvPr id="2" name="AutoShape 4" descr="Image result for Ascaris megalocephal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Image result for Ascaris megalocephal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11122"/>
            <a:ext cx="2286001" cy="33704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1"/>
          <p:cNvSpPr/>
          <p:nvPr/>
        </p:nvSpPr>
        <p:spPr>
          <a:xfrm>
            <a:off x="2209800" y="1447800"/>
            <a:ext cx="6781800" cy="1754326"/>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Chr. comes in </a:t>
            </a:r>
            <a:r>
              <a:rPr lang="en-US" altLang="en-US" sz="2400">
                <a:solidFill>
                  <a:srgbClr val="0070C0"/>
                </a:solidFill>
                <a:latin typeface="Arial" panose="020B0604020202020204" pitchFamily="34" charset="0"/>
              </a:rPr>
              <a:t>homologous pairs </a:t>
            </a:r>
            <a:r>
              <a:rPr lang="en-US" altLang="en-US" sz="2400">
                <a:solidFill>
                  <a:prstClr val="black"/>
                </a:solidFill>
                <a:latin typeface="Arial" panose="020B0604020202020204" pitchFamily="34" charset="0"/>
              </a:rPr>
              <a:t>according to their </a:t>
            </a:r>
            <a:r>
              <a:rPr lang="en-US" altLang="en-US" sz="2400">
                <a:solidFill>
                  <a:srgbClr val="0070C0"/>
                </a:solidFill>
                <a:latin typeface="Arial" panose="020B0604020202020204" pitchFamily="34" charset="0"/>
              </a:rPr>
              <a:t>size</a:t>
            </a:r>
            <a:r>
              <a:rPr lang="en-US" altLang="en-US" sz="2400">
                <a:solidFill>
                  <a:prstClr val="black"/>
                </a:solidFill>
                <a:latin typeface="Arial" panose="020B0604020202020204" pitchFamily="34" charset="0"/>
              </a:rPr>
              <a:t>, with one inherited from mother and one from farther.</a:t>
            </a:r>
          </a:p>
        </p:txBody>
      </p:sp>
      <p:pic>
        <p:nvPicPr>
          <p:cNvPr id="2050" name="Picture 2" descr="Image result for grasshopper chromosomes"/>
          <p:cNvPicPr>
            <a:picLocks noChangeAspect="1" noChangeArrowheads="1"/>
          </p:cNvPicPr>
          <p:nvPr/>
        </p:nvPicPr>
        <p:blipFill rotWithShape="1">
          <a:blip r:embed="rId3">
            <a:extLst>
              <a:ext uri="{28A0092B-C50C-407E-A947-70E740481C1C}">
                <a14:useLocalDpi xmlns:a14="http://schemas.microsoft.com/office/drawing/2010/main" val="0"/>
              </a:ext>
            </a:extLst>
          </a:blip>
          <a:srcRect t="3958" b="7096"/>
          <a:stretch/>
        </p:blipFill>
        <p:spPr bwMode="auto">
          <a:xfrm>
            <a:off x="3209592" y="3594771"/>
            <a:ext cx="3523480" cy="2351279"/>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fld id="{84F00E51-5C1A-4BCB-8FAB-C2CC5154BB59}" type="slidenum">
              <a:rPr lang="en-US" smtClean="0"/>
              <a:t>19</a:t>
            </a:fld>
            <a:endParaRPr lang="en-US"/>
          </a:p>
        </p:txBody>
      </p:sp>
    </p:spTree>
    <p:extLst>
      <p:ext uri="{BB962C8B-B14F-4D97-AF65-F5344CB8AC3E}">
        <p14:creationId xmlns:p14="http://schemas.microsoft.com/office/powerpoint/2010/main" val="1549731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20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8200"/>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Chromosome theory of inheritance:</a:t>
            </a:r>
          </a:p>
          <a:p>
            <a:pPr marL="0" indent="0" algn="just">
              <a:lnSpc>
                <a:spcPct val="150000"/>
              </a:lnSpc>
              <a:buNone/>
            </a:pPr>
            <a:endParaRPr lang="en-US" sz="2800" b="1" u="sng">
              <a:solidFill>
                <a:srgbClr val="0070C0"/>
              </a:solidFill>
            </a:endParaRPr>
          </a:p>
        </p:txBody>
      </p:sp>
      <p:sp>
        <p:nvSpPr>
          <p:cNvPr id="3" name="Rectangle 2"/>
          <p:cNvSpPr/>
          <p:nvPr/>
        </p:nvSpPr>
        <p:spPr>
          <a:xfrm>
            <a:off x="145475" y="5315680"/>
            <a:ext cx="2362200" cy="461665"/>
          </a:xfrm>
          <a:prstGeom prst="rect">
            <a:avLst/>
          </a:prstGeom>
        </p:spPr>
        <p:txBody>
          <a:bodyPr wrap="square">
            <a:spAutoFit/>
          </a:bodyPr>
          <a:lstStyle/>
          <a:p>
            <a:r>
              <a:rPr lang="en-US" altLang="en-US" sz="2400" b="1">
                <a:solidFill>
                  <a:srgbClr val="00B0F0"/>
                </a:solidFill>
                <a:latin typeface="Calibri" panose="020F0502020204030204" pitchFamily="34" charset="0"/>
              </a:rPr>
              <a:t>Walter Sutton</a:t>
            </a:r>
          </a:p>
        </p:txBody>
      </p:sp>
      <p:sp>
        <p:nvSpPr>
          <p:cNvPr id="9" name="Title 1"/>
          <p:cNvSpPr txBox="1">
            <a:spLocks/>
          </p:cNvSpPr>
          <p:nvPr/>
        </p:nvSpPr>
        <p:spPr>
          <a:xfrm>
            <a:off x="457200" y="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solidFill>
                  <a:srgbClr val="0000FF"/>
                </a:solidFill>
              </a:rPr>
              <a:t>Chromosomes</a:t>
            </a:r>
          </a:p>
        </p:txBody>
      </p:sp>
      <p:sp>
        <p:nvSpPr>
          <p:cNvPr id="2" name="AutoShape 4" descr="Image result for Ascaris megalocephal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Image result for Ascaris megalocephal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11122"/>
            <a:ext cx="2286001" cy="33704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1"/>
          <p:cNvSpPr/>
          <p:nvPr/>
        </p:nvSpPr>
        <p:spPr>
          <a:xfrm>
            <a:off x="2209800" y="1862078"/>
            <a:ext cx="6781800" cy="2862322"/>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Chr. of each </a:t>
            </a:r>
            <a:r>
              <a:rPr lang="en-US" altLang="en-US" sz="2400">
                <a:solidFill>
                  <a:srgbClr val="0070C0"/>
                </a:solidFill>
                <a:latin typeface="Arial" panose="020B0604020202020204" pitchFamily="34" charset="0"/>
              </a:rPr>
              <a:t>pair synapse </a:t>
            </a:r>
            <a:r>
              <a:rPr lang="en-US" altLang="en-US" sz="2400">
                <a:solidFill>
                  <a:prstClr val="black"/>
                </a:solidFill>
                <a:latin typeface="Arial" panose="020B0604020202020204" pitchFamily="34" charset="0"/>
              </a:rPr>
              <a:t>before meiotic division.</a:t>
            </a:r>
          </a:p>
          <a:p>
            <a:pPr marL="342900" indent="-342900">
              <a:lnSpc>
                <a:spcPct val="150000"/>
              </a:lnSpc>
              <a:buFont typeface="Arial" panose="020B0604020202020204" pitchFamily="34" charset="0"/>
              <a:buChar char="•"/>
            </a:pPr>
            <a:r>
              <a:rPr lang="en-US" altLang="en-US" sz="2400">
                <a:solidFill>
                  <a:srgbClr val="0070C0"/>
                </a:solidFill>
                <a:latin typeface="Arial" panose="020B0604020202020204" pitchFamily="34" charset="0"/>
              </a:rPr>
              <a:t>Synapsed Chr.</a:t>
            </a:r>
            <a:r>
              <a:rPr lang="en-US" altLang="en-US" sz="2400">
                <a:solidFill>
                  <a:prstClr val="black"/>
                </a:solidFill>
                <a:latin typeface="Arial" panose="020B0604020202020204" pitchFamily="34" charset="0"/>
              </a:rPr>
              <a:t> separate during meiosis.</a:t>
            </a:r>
          </a:p>
          <a:p>
            <a:pPr>
              <a:lnSpc>
                <a:spcPct val="150000"/>
              </a:lnSpc>
            </a:pPr>
            <a:endParaRPr lang="en-US" altLang="en-US" sz="2400">
              <a:solidFill>
                <a:prstClr val="black"/>
              </a:solidFill>
              <a:latin typeface="Arial" panose="020B0604020202020204" pitchFamily="34" charset="0"/>
            </a:endParaRPr>
          </a:p>
          <a:p>
            <a:pPr marL="342900" indent="-342900">
              <a:lnSpc>
                <a:spcPct val="150000"/>
              </a:lnSpc>
              <a:buFont typeface="Arial" panose="020B0604020202020204" pitchFamily="34" charset="0"/>
              <a:buChar char="•"/>
            </a:pPr>
            <a:endParaRPr lang="en-US" altLang="en-US" sz="2400">
              <a:solidFill>
                <a:prstClr val="black"/>
              </a:solidFill>
              <a:latin typeface="Arial" panose="020B0604020202020204" pitchFamily="34" charset="0"/>
            </a:endParaRPr>
          </a:p>
        </p:txBody>
      </p:sp>
      <p:sp>
        <p:nvSpPr>
          <p:cNvPr id="6" name="Slide Number Placeholder 5"/>
          <p:cNvSpPr>
            <a:spLocks noGrp="1"/>
          </p:cNvSpPr>
          <p:nvPr>
            <p:ph type="sldNum" sz="quarter" idx="12"/>
          </p:nvPr>
        </p:nvSpPr>
        <p:spPr/>
        <p:txBody>
          <a:bodyPr/>
          <a:lstStyle/>
          <a:p>
            <a:fld id="{84F00E51-5C1A-4BCB-8FAB-C2CC5154BB59}" type="slidenum">
              <a:rPr lang="en-US" smtClean="0"/>
              <a:t>20</a:t>
            </a:fld>
            <a:endParaRPr lang="en-US"/>
          </a:p>
        </p:txBody>
      </p:sp>
    </p:spTree>
    <p:extLst>
      <p:ext uri="{BB962C8B-B14F-4D97-AF65-F5344CB8AC3E}">
        <p14:creationId xmlns:p14="http://schemas.microsoft.com/office/powerpoint/2010/main" val="3151085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Image result for meosis"/>
          <p:cNvPicPr>
            <a:picLocks noChangeAspect="1" noChangeArrowheads="1"/>
          </p:cNvPicPr>
          <p:nvPr/>
        </p:nvPicPr>
        <p:blipFill rotWithShape="1">
          <a:blip r:embed="rId2">
            <a:extLst>
              <a:ext uri="{28A0092B-C50C-407E-A947-70E740481C1C}">
                <a14:useLocalDpi xmlns:a14="http://schemas.microsoft.com/office/drawing/2010/main" val="0"/>
              </a:ext>
            </a:extLst>
          </a:blip>
          <a:srcRect b="55183"/>
          <a:stretch/>
        </p:blipFill>
        <p:spPr bwMode="auto">
          <a:xfrm>
            <a:off x="324839" y="152400"/>
            <a:ext cx="8361961" cy="64770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84F00E51-5C1A-4BCB-8FAB-C2CC5154BB59}" type="slidenum">
              <a:rPr lang="en-US" smtClean="0"/>
              <a:t>21</a:t>
            </a:fld>
            <a:endParaRPr lang="en-US"/>
          </a:p>
        </p:txBody>
      </p:sp>
    </p:spTree>
    <p:extLst>
      <p:ext uri="{BB962C8B-B14F-4D97-AF65-F5344CB8AC3E}">
        <p14:creationId xmlns:p14="http://schemas.microsoft.com/office/powerpoint/2010/main" val="21342721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Image result for meosis"/>
          <p:cNvPicPr>
            <a:picLocks noChangeAspect="1" noChangeArrowheads="1"/>
          </p:cNvPicPr>
          <p:nvPr/>
        </p:nvPicPr>
        <p:blipFill rotWithShape="1">
          <a:blip r:embed="rId2">
            <a:extLst>
              <a:ext uri="{28A0092B-C50C-407E-A947-70E740481C1C}">
                <a14:useLocalDpi xmlns:a14="http://schemas.microsoft.com/office/drawing/2010/main" val="0"/>
              </a:ext>
            </a:extLst>
          </a:blip>
          <a:srcRect l="1818" t="43757" b="8152"/>
          <a:stretch/>
        </p:blipFill>
        <p:spPr bwMode="auto">
          <a:xfrm>
            <a:off x="831272" y="76200"/>
            <a:ext cx="7855527" cy="6650182"/>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84F00E51-5C1A-4BCB-8FAB-C2CC5154BB59}" type="slidenum">
              <a:rPr lang="en-US" smtClean="0"/>
              <a:t>22</a:t>
            </a:fld>
            <a:endParaRPr lang="en-US"/>
          </a:p>
        </p:txBody>
      </p:sp>
    </p:spTree>
    <p:extLst>
      <p:ext uri="{BB962C8B-B14F-4D97-AF65-F5344CB8AC3E}">
        <p14:creationId xmlns:p14="http://schemas.microsoft.com/office/powerpoint/2010/main" val="31757434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8200"/>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Chromosome theory of inheritance:</a:t>
            </a:r>
          </a:p>
          <a:p>
            <a:pPr marL="0" indent="0" algn="just">
              <a:lnSpc>
                <a:spcPct val="150000"/>
              </a:lnSpc>
              <a:buNone/>
            </a:pPr>
            <a:endParaRPr lang="en-US" sz="2800" b="1" u="sng">
              <a:solidFill>
                <a:srgbClr val="0070C0"/>
              </a:solidFill>
            </a:endParaRPr>
          </a:p>
        </p:txBody>
      </p:sp>
      <p:sp>
        <p:nvSpPr>
          <p:cNvPr id="3" name="Rectangle 2"/>
          <p:cNvSpPr/>
          <p:nvPr/>
        </p:nvSpPr>
        <p:spPr>
          <a:xfrm>
            <a:off x="145475" y="5315680"/>
            <a:ext cx="2362200" cy="461665"/>
          </a:xfrm>
          <a:prstGeom prst="rect">
            <a:avLst/>
          </a:prstGeom>
        </p:spPr>
        <p:txBody>
          <a:bodyPr wrap="square">
            <a:spAutoFit/>
          </a:bodyPr>
          <a:lstStyle/>
          <a:p>
            <a:r>
              <a:rPr lang="en-US" altLang="en-US" sz="2400" b="1">
                <a:solidFill>
                  <a:srgbClr val="00B0F0"/>
                </a:solidFill>
                <a:latin typeface="Calibri" panose="020F0502020204030204" pitchFamily="34" charset="0"/>
              </a:rPr>
              <a:t>Walter Sutton</a:t>
            </a:r>
          </a:p>
        </p:txBody>
      </p:sp>
      <p:sp>
        <p:nvSpPr>
          <p:cNvPr id="9" name="Title 1"/>
          <p:cNvSpPr txBox="1">
            <a:spLocks/>
          </p:cNvSpPr>
          <p:nvPr/>
        </p:nvSpPr>
        <p:spPr>
          <a:xfrm>
            <a:off x="457200" y="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solidFill>
                  <a:srgbClr val="0000FF"/>
                </a:solidFill>
              </a:rPr>
              <a:t>Chromosomes</a:t>
            </a:r>
          </a:p>
        </p:txBody>
      </p:sp>
      <p:sp>
        <p:nvSpPr>
          <p:cNvPr id="2" name="AutoShape 4" descr="Image result for Ascaris megalocephal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Image result for Ascaris megalocephal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11122"/>
            <a:ext cx="2286001" cy="33704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1"/>
          <p:cNvSpPr/>
          <p:nvPr/>
        </p:nvSpPr>
        <p:spPr>
          <a:xfrm>
            <a:off x="2057400" y="1676400"/>
            <a:ext cx="7239000" cy="5078313"/>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His famous 1902 article “I may finally call attention to the probability that the association of parental and maternal </a:t>
            </a:r>
            <a:r>
              <a:rPr lang="en-US" altLang="en-US" sz="2400" err="1">
                <a:solidFill>
                  <a:prstClr val="black"/>
                </a:solidFill>
                <a:latin typeface="Arial" panose="020B0604020202020204" pitchFamily="34" charset="0"/>
              </a:rPr>
              <a:t>chr.</a:t>
            </a:r>
            <a:r>
              <a:rPr lang="en-US" altLang="en-US" sz="2400">
                <a:solidFill>
                  <a:prstClr val="black"/>
                </a:solidFill>
                <a:latin typeface="Arial" panose="020B0604020202020204" pitchFamily="34" charset="0"/>
              </a:rPr>
              <a:t> in pairs and their subsequent reduction constitute the </a:t>
            </a:r>
            <a:r>
              <a:rPr lang="en-US" altLang="en-US" sz="2400" b="1">
                <a:solidFill>
                  <a:srgbClr val="0070C0"/>
                </a:solidFill>
                <a:latin typeface="Arial" panose="020B0604020202020204" pitchFamily="34" charset="0"/>
              </a:rPr>
              <a:t>physical basis </a:t>
            </a:r>
            <a:r>
              <a:rPr lang="en-US" altLang="en-US" sz="2400">
                <a:solidFill>
                  <a:prstClr val="black"/>
                </a:solidFill>
                <a:latin typeface="Arial" panose="020B0604020202020204" pitchFamily="34" charset="0"/>
              </a:rPr>
              <a:t>of the “</a:t>
            </a:r>
            <a:r>
              <a:rPr lang="en-US" altLang="en-US" sz="2400" b="1">
                <a:solidFill>
                  <a:schemeClr val="accent2"/>
                </a:solidFill>
                <a:latin typeface="Arial" panose="020B0604020202020204" pitchFamily="34" charset="0"/>
              </a:rPr>
              <a:t>Mendelian law of heredity</a:t>
            </a:r>
            <a:r>
              <a:rPr lang="en-US" altLang="en-US" sz="2400">
                <a:solidFill>
                  <a:prstClr val="black"/>
                </a:solidFill>
                <a:latin typeface="Arial" panose="020B0604020202020204" pitchFamily="34" charset="0"/>
              </a:rPr>
              <a:t>”.</a:t>
            </a:r>
          </a:p>
          <a:p>
            <a:pPr marL="342900" indent="-342900">
              <a:lnSpc>
                <a:spcPct val="150000"/>
              </a:lnSpc>
              <a:buFont typeface="Arial" panose="020B0604020202020204" pitchFamily="34" charset="0"/>
              <a:buChar char="•"/>
            </a:pPr>
            <a:endParaRPr lang="en-US" altLang="en-US" sz="2400">
              <a:solidFill>
                <a:prstClr val="black"/>
              </a:solidFill>
              <a:latin typeface="Arial" panose="020B0604020202020204" pitchFamily="34" charset="0"/>
            </a:endParaRPr>
          </a:p>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Altogether both </a:t>
            </a:r>
            <a:r>
              <a:rPr lang="en-US" altLang="en-US" sz="2400" err="1">
                <a:solidFill>
                  <a:prstClr val="black"/>
                </a:solidFill>
                <a:latin typeface="Arial" panose="020B0604020202020204" pitchFamily="34" charset="0"/>
              </a:rPr>
              <a:t>Boveri</a:t>
            </a:r>
            <a:r>
              <a:rPr lang="en-US" altLang="en-US" sz="2400">
                <a:solidFill>
                  <a:prstClr val="black"/>
                </a:solidFill>
                <a:latin typeface="Arial" panose="020B0604020202020204" pitchFamily="34" charset="0"/>
              </a:rPr>
              <a:t> &amp; Sutton laid the groundwork for “</a:t>
            </a:r>
            <a:r>
              <a:rPr lang="en-US" altLang="en-US" sz="2400" b="1">
                <a:solidFill>
                  <a:schemeClr val="accent2"/>
                </a:solidFill>
                <a:latin typeface="Arial" panose="020B0604020202020204" pitchFamily="34" charset="0"/>
              </a:rPr>
              <a:t>the </a:t>
            </a:r>
            <a:r>
              <a:rPr lang="en-US" altLang="en-US" sz="2400" b="1" err="1">
                <a:solidFill>
                  <a:schemeClr val="accent2"/>
                </a:solidFill>
                <a:latin typeface="Arial" panose="020B0604020202020204" pitchFamily="34" charset="0"/>
              </a:rPr>
              <a:t>chr.</a:t>
            </a:r>
            <a:r>
              <a:rPr lang="en-US" altLang="en-US" sz="2400" b="1">
                <a:solidFill>
                  <a:schemeClr val="accent2"/>
                </a:solidFill>
                <a:latin typeface="Arial" panose="020B0604020202020204" pitchFamily="34" charset="0"/>
              </a:rPr>
              <a:t> theory of inheritance</a:t>
            </a:r>
            <a:r>
              <a:rPr lang="en-US" altLang="en-US" sz="2400">
                <a:solidFill>
                  <a:schemeClr val="accent2"/>
                </a:solidFill>
                <a:latin typeface="Arial" panose="020B0604020202020204" pitchFamily="34" charset="0"/>
              </a:rPr>
              <a:t>.</a:t>
            </a:r>
            <a:r>
              <a:rPr lang="en-US" altLang="en-US" sz="2400">
                <a:solidFill>
                  <a:prstClr val="black"/>
                </a:solidFill>
                <a:latin typeface="Arial" panose="020B0604020202020204" pitchFamily="34" charset="0"/>
              </a:rPr>
              <a:t>”</a:t>
            </a:r>
          </a:p>
          <a:p>
            <a:pPr marL="342900" indent="-342900">
              <a:lnSpc>
                <a:spcPct val="150000"/>
              </a:lnSpc>
              <a:buFont typeface="Arial" panose="020B0604020202020204" pitchFamily="34" charset="0"/>
              <a:buChar char="•"/>
            </a:pPr>
            <a:endParaRPr lang="en-US" altLang="en-US" sz="2400">
              <a:solidFill>
                <a:prstClr val="black"/>
              </a:solidFill>
              <a:latin typeface="Arial" panose="020B0604020202020204" pitchFamily="34" charset="0"/>
            </a:endParaRPr>
          </a:p>
        </p:txBody>
      </p:sp>
      <p:sp>
        <p:nvSpPr>
          <p:cNvPr id="6" name="Slide Number Placeholder 5"/>
          <p:cNvSpPr>
            <a:spLocks noGrp="1"/>
          </p:cNvSpPr>
          <p:nvPr>
            <p:ph type="sldNum" sz="quarter" idx="12"/>
          </p:nvPr>
        </p:nvSpPr>
        <p:spPr/>
        <p:txBody>
          <a:bodyPr/>
          <a:lstStyle/>
          <a:p>
            <a:fld id="{84F00E51-5C1A-4BCB-8FAB-C2CC5154BB59}" type="slidenum">
              <a:rPr lang="en-US" smtClean="0"/>
              <a:t>23</a:t>
            </a:fld>
            <a:endParaRPr lang="en-US"/>
          </a:p>
        </p:txBody>
      </p:sp>
    </p:spTree>
    <p:extLst>
      <p:ext uri="{BB962C8B-B14F-4D97-AF65-F5344CB8AC3E}">
        <p14:creationId xmlns:p14="http://schemas.microsoft.com/office/powerpoint/2010/main" val="2337328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8200"/>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Chromosome theory of inheritance:</a:t>
            </a:r>
          </a:p>
          <a:p>
            <a:pPr marL="0" indent="0" algn="just">
              <a:lnSpc>
                <a:spcPct val="150000"/>
              </a:lnSpc>
              <a:buNone/>
            </a:pPr>
            <a:endParaRPr lang="en-US" sz="2800" b="1" u="sng">
              <a:solidFill>
                <a:srgbClr val="0070C0"/>
              </a:solidFill>
            </a:endParaRPr>
          </a:p>
        </p:txBody>
      </p:sp>
      <p:sp>
        <p:nvSpPr>
          <p:cNvPr id="3" name="Rectangle 2"/>
          <p:cNvSpPr/>
          <p:nvPr/>
        </p:nvSpPr>
        <p:spPr>
          <a:xfrm>
            <a:off x="1905000" y="4876800"/>
            <a:ext cx="2362200" cy="461665"/>
          </a:xfrm>
          <a:prstGeom prst="rect">
            <a:avLst/>
          </a:prstGeom>
        </p:spPr>
        <p:txBody>
          <a:bodyPr wrap="square">
            <a:spAutoFit/>
          </a:bodyPr>
          <a:lstStyle/>
          <a:p>
            <a:r>
              <a:rPr lang="en-US" altLang="en-US" sz="2400" b="1">
                <a:solidFill>
                  <a:srgbClr val="00B0F0"/>
                </a:solidFill>
                <a:latin typeface="Calibri" panose="020F0502020204030204" pitchFamily="34" charset="0"/>
              </a:rPr>
              <a:t>Walter Sutton</a:t>
            </a:r>
          </a:p>
        </p:txBody>
      </p:sp>
      <p:sp>
        <p:nvSpPr>
          <p:cNvPr id="9" name="Title 1"/>
          <p:cNvSpPr txBox="1">
            <a:spLocks/>
          </p:cNvSpPr>
          <p:nvPr/>
        </p:nvSpPr>
        <p:spPr>
          <a:xfrm>
            <a:off x="457200" y="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solidFill>
                  <a:srgbClr val="0000FF"/>
                </a:solidFill>
              </a:rPr>
              <a:t>Chromosomes</a:t>
            </a:r>
          </a:p>
        </p:txBody>
      </p:sp>
      <p:sp>
        <p:nvSpPr>
          <p:cNvPr id="2" name="AutoShape 4" descr="Image result for Ascaris megalocephal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Image result for Ascaris megalocephal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0903" y="1560326"/>
            <a:ext cx="2286001" cy="33704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1"/>
          <p:cNvSpPr/>
          <p:nvPr/>
        </p:nvSpPr>
        <p:spPr>
          <a:xfrm>
            <a:off x="1676400" y="4806077"/>
            <a:ext cx="6705600" cy="2585323"/>
          </a:xfrm>
          <a:prstGeom prst="rect">
            <a:avLst/>
          </a:prstGeom>
        </p:spPr>
        <p:txBody>
          <a:bodyPr wrap="square">
            <a:spAutoFit/>
          </a:bodyPr>
          <a:lstStyle/>
          <a:p>
            <a:pPr>
              <a:lnSpc>
                <a:spcPct val="150000"/>
              </a:lnSpc>
            </a:pPr>
            <a:endParaRPr lang="en-US" altLang="en-US" sz="2400">
              <a:solidFill>
                <a:prstClr val="black"/>
              </a:solidFill>
              <a:latin typeface="Arial" panose="020B0604020202020204" pitchFamily="34" charset="0"/>
            </a:endParaRPr>
          </a:p>
          <a:p>
            <a:pPr marL="342900" indent="-342900">
              <a:lnSpc>
                <a:spcPct val="150000"/>
              </a:lnSpc>
              <a:buFont typeface="Arial" panose="020B0604020202020204" pitchFamily="34" charset="0"/>
              <a:buChar char="•"/>
            </a:pPr>
            <a:r>
              <a:rPr lang="en-US" altLang="en-US" sz="2000">
                <a:solidFill>
                  <a:prstClr val="black"/>
                </a:solidFill>
                <a:latin typeface="Arial" panose="020B0604020202020204" pitchFamily="34" charset="0"/>
              </a:rPr>
              <a:t>Mendel’s law of segregation and assortment </a:t>
            </a:r>
          </a:p>
          <a:p>
            <a:pPr marL="342900" indent="-342900">
              <a:lnSpc>
                <a:spcPct val="150000"/>
              </a:lnSpc>
              <a:buFont typeface="Arial" panose="020B0604020202020204" pitchFamily="34" charset="0"/>
              <a:buChar char="•"/>
            </a:pPr>
            <a:r>
              <a:rPr lang="en-US" altLang="en-US" sz="2000">
                <a:solidFill>
                  <a:prstClr val="black"/>
                </a:solidFill>
                <a:latin typeface="Arial" panose="020B0604020202020204" pitchFamily="34" charset="0"/>
              </a:rPr>
              <a:t>Opened new area “Cytology and Genetics”</a:t>
            </a:r>
          </a:p>
          <a:p>
            <a:pPr marL="342900" indent="-342900">
              <a:lnSpc>
                <a:spcPct val="150000"/>
              </a:lnSpc>
              <a:buFont typeface="Arial" panose="020B0604020202020204" pitchFamily="34" charset="0"/>
              <a:buChar char="•"/>
            </a:pPr>
            <a:r>
              <a:rPr lang="en-US" altLang="en-US" sz="2000">
                <a:solidFill>
                  <a:prstClr val="black"/>
                </a:solidFill>
                <a:latin typeface="Arial" panose="020B0604020202020204" pitchFamily="34" charset="0"/>
              </a:rPr>
              <a:t>No definitive proof.</a:t>
            </a:r>
          </a:p>
          <a:p>
            <a:pPr>
              <a:lnSpc>
                <a:spcPct val="150000"/>
              </a:lnSpc>
            </a:pPr>
            <a:endParaRPr lang="en-US" altLang="en-US" sz="2400">
              <a:solidFill>
                <a:prstClr val="black"/>
              </a:solidFill>
              <a:latin typeface="Arial" panose="020B0604020202020204" pitchFamily="34" charset="0"/>
            </a:endParaRPr>
          </a:p>
        </p:txBody>
      </p:sp>
      <p:sp>
        <p:nvSpPr>
          <p:cNvPr id="11" name="Rectangle 10"/>
          <p:cNvSpPr/>
          <p:nvPr/>
        </p:nvSpPr>
        <p:spPr>
          <a:xfrm>
            <a:off x="4293824" y="4876800"/>
            <a:ext cx="2362200" cy="461665"/>
          </a:xfrm>
          <a:prstGeom prst="rect">
            <a:avLst/>
          </a:prstGeom>
        </p:spPr>
        <p:txBody>
          <a:bodyPr wrap="square">
            <a:spAutoFit/>
          </a:bodyPr>
          <a:lstStyle/>
          <a:p>
            <a:r>
              <a:rPr lang="en-US" altLang="en-US" sz="2400" b="1" err="1">
                <a:solidFill>
                  <a:srgbClr val="00B0F0"/>
                </a:solidFill>
                <a:latin typeface="Calibri" panose="020F0502020204030204" pitchFamily="34" charset="0"/>
              </a:rPr>
              <a:t>Theoder</a:t>
            </a:r>
            <a:r>
              <a:rPr lang="en-US" altLang="en-US" sz="2400" b="1">
                <a:solidFill>
                  <a:srgbClr val="00B0F0"/>
                </a:solidFill>
                <a:latin typeface="Calibri" panose="020F0502020204030204" pitchFamily="34" charset="0"/>
              </a:rPr>
              <a:t> </a:t>
            </a:r>
            <a:r>
              <a:rPr lang="en-US" altLang="en-US" sz="2400" b="1" err="1">
                <a:solidFill>
                  <a:srgbClr val="00B0F0"/>
                </a:solidFill>
                <a:latin typeface="Calibri" panose="020F0502020204030204" pitchFamily="34" charset="0"/>
              </a:rPr>
              <a:t>Boveri</a:t>
            </a:r>
            <a:endParaRPr lang="en-US" altLang="en-US" sz="2400" b="1">
              <a:solidFill>
                <a:srgbClr val="00B0F0"/>
              </a:solidFill>
              <a:latin typeface="Calibri" panose="020F0502020204030204" pitchFamily="34" charset="0"/>
            </a:endParaRPr>
          </a:p>
        </p:txBody>
      </p:sp>
      <p:pic>
        <p:nvPicPr>
          <p:cNvPr id="1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0817"/>
          <a:stretch/>
        </p:blipFill>
        <p:spPr bwMode="auto">
          <a:xfrm>
            <a:off x="4267200" y="1560326"/>
            <a:ext cx="2253673" cy="34006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Slide Number Placeholder 5"/>
          <p:cNvSpPr>
            <a:spLocks noGrp="1"/>
          </p:cNvSpPr>
          <p:nvPr>
            <p:ph type="sldNum" sz="quarter" idx="12"/>
          </p:nvPr>
        </p:nvSpPr>
        <p:spPr/>
        <p:txBody>
          <a:bodyPr/>
          <a:lstStyle/>
          <a:p>
            <a:fld id="{84F00E51-5C1A-4BCB-8FAB-C2CC5154BB59}" type="slidenum">
              <a:rPr lang="en-US" smtClean="0"/>
              <a:t>24</a:t>
            </a:fld>
            <a:endParaRPr lang="en-US"/>
          </a:p>
        </p:txBody>
      </p:sp>
    </p:spTree>
    <p:extLst>
      <p:ext uri="{BB962C8B-B14F-4D97-AF65-F5344CB8AC3E}">
        <p14:creationId xmlns:p14="http://schemas.microsoft.com/office/powerpoint/2010/main" val="2390552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8200"/>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Experimental evidence of </a:t>
            </a:r>
            <a:r>
              <a:rPr lang="en-US" sz="2800" b="1" u="sng" err="1">
                <a:solidFill>
                  <a:srgbClr val="0070C0"/>
                </a:solidFill>
              </a:rPr>
              <a:t>chr.</a:t>
            </a:r>
            <a:r>
              <a:rPr lang="en-US" sz="2800" b="1" u="sng">
                <a:solidFill>
                  <a:srgbClr val="0070C0"/>
                </a:solidFill>
              </a:rPr>
              <a:t> inheritance:</a:t>
            </a:r>
          </a:p>
        </p:txBody>
      </p:sp>
      <p:sp>
        <p:nvSpPr>
          <p:cNvPr id="13" name="Title 1"/>
          <p:cNvSpPr>
            <a:spLocks noGrp="1"/>
          </p:cNvSpPr>
          <p:nvPr>
            <p:ph type="title"/>
          </p:nvPr>
        </p:nvSpPr>
        <p:spPr>
          <a:xfrm>
            <a:off x="457200" y="0"/>
            <a:ext cx="8229600" cy="1143000"/>
          </a:xfrm>
        </p:spPr>
        <p:txBody>
          <a:bodyPr>
            <a:normAutofit/>
          </a:bodyPr>
          <a:lstStyle/>
          <a:p>
            <a:r>
              <a:rPr lang="en-US" b="1" err="1">
                <a:solidFill>
                  <a:srgbClr val="0000FF"/>
                </a:solidFill>
              </a:rPr>
              <a:t>Chrmosomes</a:t>
            </a:r>
            <a:endParaRPr lang="en-US" b="1">
              <a:solidFill>
                <a:srgbClr val="0000FF"/>
              </a:solidFill>
            </a:endParaRPr>
          </a:p>
        </p:txBody>
      </p:sp>
      <p:sp>
        <p:nvSpPr>
          <p:cNvPr id="6" name="Rectangle 5"/>
          <p:cNvSpPr/>
          <p:nvPr/>
        </p:nvSpPr>
        <p:spPr>
          <a:xfrm>
            <a:off x="0" y="4796135"/>
            <a:ext cx="2948307" cy="461665"/>
          </a:xfrm>
          <a:prstGeom prst="rect">
            <a:avLst/>
          </a:prstGeom>
        </p:spPr>
        <p:txBody>
          <a:bodyPr wrap="square">
            <a:spAutoFit/>
          </a:bodyPr>
          <a:lstStyle/>
          <a:p>
            <a:r>
              <a:rPr lang="en-US" altLang="en-US" sz="2400" b="1">
                <a:solidFill>
                  <a:srgbClr val="00B0F0"/>
                </a:solidFill>
                <a:latin typeface="Calibri" panose="020F0502020204030204" pitchFamily="34" charset="0"/>
              </a:rPr>
              <a:t>Thomas Hunt Morgan</a:t>
            </a:r>
          </a:p>
        </p:txBody>
      </p:sp>
      <p:pic>
        <p:nvPicPr>
          <p:cNvPr id="4100" name="Picture 4" descr="Image result for thomas hunt morgan"/>
          <p:cNvPicPr>
            <a:picLocks noChangeAspect="1" noChangeArrowheads="1"/>
          </p:cNvPicPr>
          <p:nvPr/>
        </p:nvPicPr>
        <p:blipFill rotWithShape="1">
          <a:blip r:embed="rId2">
            <a:extLst>
              <a:ext uri="{28A0092B-C50C-407E-A947-70E740481C1C}">
                <a14:useLocalDpi xmlns:a14="http://schemas.microsoft.com/office/drawing/2010/main" val="0"/>
              </a:ext>
            </a:extLst>
          </a:blip>
          <a:srcRect l="33400" t="12900" b="14619"/>
          <a:stretch/>
        </p:blipFill>
        <p:spPr bwMode="auto">
          <a:xfrm>
            <a:off x="40045" y="1674565"/>
            <a:ext cx="2269153" cy="312603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1"/>
          <p:cNvSpPr/>
          <p:nvPr/>
        </p:nvSpPr>
        <p:spPr>
          <a:xfrm>
            <a:off x="2819400" y="1461515"/>
            <a:ext cx="6248400" cy="4524315"/>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An American evolutionary biologist, 1866, in Lexington, Kentucky.</a:t>
            </a:r>
          </a:p>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Skeptical of </a:t>
            </a:r>
            <a:r>
              <a:rPr lang="en-US" altLang="en-US" sz="2400" err="1">
                <a:solidFill>
                  <a:prstClr val="black"/>
                </a:solidFill>
                <a:latin typeface="Arial" panose="020B0604020202020204" pitchFamily="34" charset="0"/>
              </a:rPr>
              <a:t>chr.</a:t>
            </a:r>
            <a:r>
              <a:rPr lang="en-US" altLang="en-US" sz="2400">
                <a:solidFill>
                  <a:prstClr val="black"/>
                </a:solidFill>
                <a:latin typeface="Arial" panose="020B0604020202020204" pitchFamily="34" charset="0"/>
              </a:rPr>
              <a:t> Theory</a:t>
            </a:r>
          </a:p>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Worked on </a:t>
            </a:r>
            <a:r>
              <a:rPr lang="en-US" altLang="en-US" sz="2400" i="1">
                <a:solidFill>
                  <a:prstClr val="black"/>
                </a:solidFill>
                <a:latin typeface="Arial" panose="020B0604020202020204" pitchFamily="34" charset="0"/>
              </a:rPr>
              <a:t>Drosophila melanogaster</a:t>
            </a:r>
            <a:r>
              <a:rPr lang="en-US" altLang="en-US" sz="2400">
                <a:solidFill>
                  <a:prstClr val="black"/>
                </a:solidFill>
                <a:latin typeface="Arial" panose="020B0604020202020204" pitchFamily="34" charset="0"/>
              </a:rPr>
              <a:t>.</a:t>
            </a:r>
          </a:p>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After breeding millions of flies, study genetics.</a:t>
            </a:r>
          </a:p>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He observed fruit fly with white eyes instead of normal red eyes.</a:t>
            </a:r>
          </a:p>
        </p:txBody>
      </p:sp>
      <p:pic>
        <p:nvPicPr>
          <p:cNvPr id="4102" name="Picture 6" descr="Drosophila melanogaster Proboscis.jpg"/>
          <p:cNvPicPr>
            <a:picLocks noChangeAspect="1" noChangeArrowheads="1"/>
          </p:cNvPicPr>
          <p:nvPr/>
        </p:nvPicPr>
        <p:blipFill rotWithShape="1">
          <a:blip r:embed="rId3">
            <a:extLst>
              <a:ext uri="{28A0092B-C50C-407E-A947-70E740481C1C}">
                <a14:useLocalDpi xmlns:a14="http://schemas.microsoft.com/office/drawing/2010/main" val="0"/>
              </a:ext>
            </a:extLst>
          </a:blip>
          <a:srcRect t="11934" r="23636" b="10269"/>
          <a:stretch/>
        </p:blipFill>
        <p:spPr bwMode="auto">
          <a:xfrm>
            <a:off x="6629400" y="2057400"/>
            <a:ext cx="1600200" cy="1089293"/>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https://upload.wikimedia.org/wikipedia/commons/thumb/9/94/EyeColors.jpg/220px-EyeColors.jpg"/>
          <p:cNvPicPr>
            <a:picLocks noChangeAspect="1" noChangeArrowheads="1"/>
          </p:cNvPicPr>
          <p:nvPr/>
        </p:nvPicPr>
        <p:blipFill rotWithShape="1">
          <a:blip r:embed="rId4">
            <a:extLst>
              <a:ext uri="{28A0092B-C50C-407E-A947-70E740481C1C}">
                <a14:useLocalDpi xmlns:a14="http://schemas.microsoft.com/office/drawing/2010/main" val="0"/>
              </a:ext>
            </a:extLst>
          </a:blip>
          <a:srcRect l="30499" t="45686" r="2926" b="3843"/>
          <a:stretch/>
        </p:blipFill>
        <p:spPr bwMode="auto">
          <a:xfrm>
            <a:off x="7032785" y="5365853"/>
            <a:ext cx="1547493" cy="146644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0" y="6096000"/>
            <a:ext cx="2474555" cy="461665"/>
          </a:xfrm>
          <a:prstGeom prst="rect">
            <a:avLst/>
          </a:prstGeom>
        </p:spPr>
        <p:txBody>
          <a:bodyPr wrap="square">
            <a:spAutoFit/>
          </a:bodyPr>
          <a:lstStyle/>
          <a:p>
            <a:r>
              <a:rPr lang="en-US" altLang="en-US" sz="2400" b="1">
                <a:solidFill>
                  <a:srgbClr val="C00000"/>
                </a:solidFill>
                <a:latin typeface="Calibri" panose="020F0502020204030204" pitchFamily="34" charset="0"/>
              </a:rPr>
              <a:t>X marks the spot</a:t>
            </a:r>
          </a:p>
        </p:txBody>
      </p:sp>
      <p:sp>
        <p:nvSpPr>
          <p:cNvPr id="2" name="Slide Number Placeholder 1"/>
          <p:cNvSpPr>
            <a:spLocks noGrp="1"/>
          </p:cNvSpPr>
          <p:nvPr>
            <p:ph type="sldNum" sz="quarter" idx="12"/>
          </p:nvPr>
        </p:nvSpPr>
        <p:spPr/>
        <p:txBody>
          <a:bodyPr/>
          <a:lstStyle/>
          <a:p>
            <a:fld id="{84F00E51-5C1A-4BCB-8FAB-C2CC5154BB59}" type="slidenum">
              <a:rPr lang="en-US" smtClean="0"/>
              <a:t>25</a:t>
            </a:fld>
            <a:endParaRPr lang="en-US"/>
          </a:p>
        </p:txBody>
      </p:sp>
    </p:spTree>
    <p:extLst>
      <p:ext uri="{BB962C8B-B14F-4D97-AF65-F5344CB8AC3E}">
        <p14:creationId xmlns:p14="http://schemas.microsoft.com/office/powerpoint/2010/main" val="3158926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0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0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8200"/>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Experimental evidence of </a:t>
            </a:r>
            <a:r>
              <a:rPr lang="en-US" sz="2800" b="1" u="sng" err="1">
                <a:solidFill>
                  <a:srgbClr val="0070C0"/>
                </a:solidFill>
              </a:rPr>
              <a:t>chr.</a:t>
            </a:r>
            <a:r>
              <a:rPr lang="en-US" sz="2800" b="1" u="sng">
                <a:solidFill>
                  <a:srgbClr val="0070C0"/>
                </a:solidFill>
              </a:rPr>
              <a:t> inheritance:</a:t>
            </a:r>
          </a:p>
        </p:txBody>
      </p:sp>
      <p:sp>
        <p:nvSpPr>
          <p:cNvPr id="13" name="Title 1"/>
          <p:cNvSpPr>
            <a:spLocks noGrp="1"/>
          </p:cNvSpPr>
          <p:nvPr>
            <p:ph type="title"/>
          </p:nvPr>
        </p:nvSpPr>
        <p:spPr>
          <a:xfrm>
            <a:off x="457200" y="0"/>
            <a:ext cx="8229600" cy="1143000"/>
          </a:xfrm>
        </p:spPr>
        <p:txBody>
          <a:bodyPr>
            <a:normAutofit/>
          </a:bodyPr>
          <a:lstStyle/>
          <a:p>
            <a:r>
              <a:rPr lang="en-US" b="1" err="1">
                <a:solidFill>
                  <a:srgbClr val="0000FF"/>
                </a:solidFill>
              </a:rPr>
              <a:t>Chrmosomes</a:t>
            </a:r>
            <a:endParaRPr lang="en-US" b="1">
              <a:solidFill>
                <a:srgbClr val="0000FF"/>
              </a:solidFill>
            </a:endParaRPr>
          </a:p>
        </p:txBody>
      </p:sp>
      <p:sp>
        <p:nvSpPr>
          <p:cNvPr id="6" name="Rectangle 5"/>
          <p:cNvSpPr/>
          <p:nvPr/>
        </p:nvSpPr>
        <p:spPr>
          <a:xfrm>
            <a:off x="0" y="4796135"/>
            <a:ext cx="2948307" cy="461665"/>
          </a:xfrm>
          <a:prstGeom prst="rect">
            <a:avLst/>
          </a:prstGeom>
        </p:spPr>
        <p:txBody>
          <a:bodyPr wrap="square">
            <a:spAutoFit/>
          </a:bodyPr>
          <a:lstStyle/>
          <a:p>
            <a:r>
              <a:rPr lang="en-US" altLang="en-US" sz="2400" b="1">
                <a:solidFill>
                  <a:srgbClr val="00B0F0"/>
                </a:solidFill>
                <a:latin typeface="Calibri" panose="020F0502020204030204" pitchFamily="34" charset="0"/>
              </a:rPr>
              <a:t>Thomas Hunt Morgan</a:t>
            </a:r>
          </a:p>
        </p:txBody>
      </p:sp>
      <p:pic>
        <p:nvPicPr>
          <p:cNvPr id="4100" name="Picture 4" descr="Image result for thomas hunt morgan"/>
          <p:cNvPicPr>
            <a:picLocks noChangeAspect="1" noChangeArrowheads="1"/>
          </p:cNvPicPr>
          <p:nvPr/>
        </p:nvPicPr>
        <p:blipFill rotWithShape="1">
          <a:blip r:embed="rId2">
            <a:extLst>
              <a:ext uri="{28A0092B-C50C-407E-A947-70E740481C1C}">
                <a14:useLocalDpi xmlns:a14="http://schemas.microsoft.com/office/drawing/2010/main" val="0"/>
              </a:ext>
            </a:extLst>
          </a:blip>
          <a:srcRect l="33400" t="12900" b="14619"/>
          <a:stretch/>
        </p:blipFill>
        <p:spPr bwMode="auto">
          <a:xfrm>
            <a:off x="40045" y="1674565"/>
            <a:ext cx="2269153" cy="3126035"/>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2441"/>
          <a:stretch/>
        </p:blipFill>
        <p:spPr bwMode="auto">
          <a:xfrm>
            <a:off x="2917093" y="1564395"/>
            <a:ext cx="5262882" cy="52408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2819400" y="3009900"/>
            <a:ext cx="5360575" cy="17145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917093" y="4796135"/>
            <a:ext cx="5360575" cy="208665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6096000"/>
            <a:ext cx="2474555" cy="461665"/>
          </a:xfrm>
          <a:prstGeom prst="rect">
            <a:avLst/>
          </a:prstGeom>
        </p:spPr>
        <p:txBody>
          <a:bodyPr wrap="square">
            <a:spAutoFit/>
          </a:bodyPr>
          <a:lstStyle/>
          <a:p>
            <a:r>
              <a:rPr lang="en-US" altLang="en-US" sz="2400" b="1">
                <a:solidFill>
                  <a:srgbClr val="C00000"/>
                </a:solidFill>
                <a:latin typeface="Calibri" panose="020F0502020204030204" pitchFamily="34" charset="0"/>
              </a:rPr>
              <a:t>X marks the spot</a:t>
            </a:r>
          </a:p>
        </p:txBody>
      </p:sp>
      <p:sp>
        <p:nvSpPr>
          <p:cNvPr id="3" name="Slide Number Placeholder 2"/>
          <p:cNvSpPr>
            <a:spLocks noGrp="1"/>
          </p:cNvSpPr>
          <p:nvPr>
            <p:ph type="sldNum" sz="quarter" idx="12"/>
          </p:nvPr>
        </p:nvSpPr>
        <p:spPr/>
        <p:txBody>
          <a:bodyPr/>
          <a:lstStyle/>
          <a:p>
            <a:fld id="{84F00E51-5C1A-4BCB-8FAB-C2CC5154BB59}" type="slidenum">
              <a:rPr lang="en-US" smtClean="0"/>
              <a:t>26</a:t>
            </a:fld>
            <a:endParaRPr lang="en-US"/>
          </a:p>
        </p:txBody>
      </p:sp>
    </p:spTree>
    <p:extLst>
      <p:ext uri="{BB962C8B-B14F-4D97-AF65-F5344CB8AC3E}">
        <p14:creationId xmlns:p14="http://schemas.microsoft.com/office/powerpoint/2010/main" val="3370526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8200"/>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Experimental evidence of </a:t>
            </a:r>
            <a:r>
              <a:rPr lang="en-US" sz="2800" b="1" u="sng" err="1">
                <a:solidFill>
                  <a:srgbClr val="0070C0"/>
                </a:solidFill>
              </a:rPr>
              <a:t>chr.</a:t>
            </a:r>
            <a:r>
              <a:rPr lang="en-US" sz="2800" b="1" u="sng">
                <a:solidFill>
                  <a:srgbClr val="0070C0"/>
                </a:solidFill>
              </a:rPr>
              <a:t> inheritance:</a:t>
            </a:r>
          </a:p>
        </p:txBody>
      </p:sp>
      <p:sp>
        <p:nvSpPr>
          <p:cNvPr id="13" name="Title 1"/>
          <p:cNvSpPr>
            <a:spLocks noGrp="1"/>
          </p:cNvSpPr>
          <p:nvPr>
            <p:ph type="title"/>
          </p:nvPr>
        </p:nvSpPr>
        <p:spPr>
          <a:xfrm>
            <a:off x="457200" y="0"/>
            <a:ext cx="8229600" cy="1143000"/>
          </a:xfrm>
        </p:spPr>
        <p:txBody>
          <a:bodyPr>
            <a:normAutofit/>
          </a:bodyPr>
          <a:lstStyle/>
          <a:p>
            <a:r>
              <a:rPr lang="en-US" b="1">
                <a:solidFill>
                  <a:srgbClr val="0000FF"/>
                </a:solidFill>
              </a:rPr>
              <a:t>Chromosomes</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498697"/>
            <a:ext cx="6096000" cy="5347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84F00E51-5C1A-4BCB-8FAB-C2CC5154BB59}" type="slidenum">
              <a:rPr lang="en-US" smtClean="0"/>
              <a:t>27</a:t>
            </a:fld>
            <a:endParaRPr lang="en-US"/>
          </a:p>
        </p:txBody>
      </p:sp>
    </p:spTree>
    <p:extLst>
      <p:ext uri="{BB962C8B-B14F-4D97-AF65-F5344CB8AC3E}">
        <p14:creationId xmlns:p14="http://schemas.microsoft.com/office/powerpoint/2010/main" val="34891274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8200"/>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Experimental evidence of </a:t>
            </a:r>
            <a:r>
              <a:rPr lang="en-US" sz="2800" b="1" u="sng" err="1">
                <a:solidFill>
                  <a:srgbClr val="0070C0"/>
                </a:solidFill>
              </a:rPr>
              <a:t>chr.</a:t>
            </a:r>
            <a:r>
              <a:rPr lang="en-US" sz="2800" b="1" u="sng">
                <a:solidFill>
                  <a:srgbClr val="0070C0"/>
                </a:solidFill>
              </a:rPr>
              <a:t> inheritance:</a:t>
            </a:r>
          </a:p>
        </p:txBody>
      </p:sp>
      <p:sp>
        <p:nvSpPr>
          <p:cNvPr id="13" name="Title 1"/>
          <p:cNvSpPr>
            <a:spLocks noGrp="1"/>
          </p:cNvSpPr>
          <p:nvPr>
            <p:ph type="title"/>
          </p:nvPr>
        </p:nvSpPr>
        <p:spPr>
          <a:xfrm>
            <a:off x="457200" y="0"/>
            <a:ext cx="8229600" cy="1143000"/>
          </a:xfrm>
        </p:spPr>
        <p:txBody>
          <a:bodyPr>
            <a:normAutofit/>
          </a:bodyPr>
          <a:lstStyle/>
          <a:p>
            <a:r>
              <a:rPr lang="en-US" b="1" err="1">
                <a:solidFill>
                  <a:srgbClr val="0000FF"/>
                </a:solidFill>
              </a:rPr>
              <a:t>Chrmosomes</a:t>
            </a:r>
            <a:endParaRPr lang="en-US" b="1">
              <a:solidFill>
                <a:srgbClr val="0000FF"/>
              </a:solidFill>
            </a:endParaRPr>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3818"/>
          <a:stretch/>
        </p:blipFill>
        <p:spPr bwMode="auto">
          <a:xfrm>
            <a:off x="1315201" y="1676400"/>
            <a:ext cx="7219199" cy="5156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84F00E51-5C1A-4BCB-8FAB-C2CC5154BB59}" type="slidenum">
              <a:rPr lang="en-US" smtClean="0"/>
              <a:t>28</a:t>
            </a:fld>
            <a:endParaRPr lang="en-US"/>
          </a:p>
        </p:txBody>
      </p:sp>
    </p:spTree>
    <p:extLst>
      <p:ext uri="{BB962C8B-B14F-4D97-AF65-F5344CB8AC3E}">
        <p14:creationId xmlns:p14="http://schemas.microsoft.com/office/powerpoint/2010/main" val="34187622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8200"/>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Experimental evidence of </a:t>
            </a:r>
            <a:r>
              <a:rPr lang="en-US" sz="2800" b="1" u="sng" err="1">
                <a:solidFill>
                  <a:srgbClr val="0070C0"/>
                </a:solidFill>
              </a:rPr>
              <a:t>chr.</a:t>
            </a:r>
            <a:r>
              <a:rPr lang="en-US" sz="2800" b="1" u="sng">
                <a:solidFill>
                  <a:srgbClr val="0070C0"/>
                </a:solidFill>
              </a:rPr>
              <a:t> inheritance:</a:t>
            </a:r>
          </a:p>
        </p:txBody>
      </p:sp>
      <p:sp>
        <p:nvSpPr>
          <p:cNvPr id="13" name="Title 1"/>
          <p:cNvSpPr>
            <a:spLocks noGrp="1"/>
          </p:cNvSpPr>
          <p:nvPr>
            <p:ph type="title"/>
          </p:nvPr>
        </p:nvSpPr>
        <p:spPr>
          <a:xfrm>
            <a:off x="457200" y="0"/>
            <a:ext cx="8229600" cy="1143000"/>
          </a:xfrm>
        </p:spPr>
        <p:txBody>
          <a:bodyPr>
            <a:normAutofit/>
          </a:bodyPr>
          <a:lstStyle/>
          <a:p>
            <a:r>
              <a:rPr lang="en-US" b="1" err="1">
                <a:solidFill>
                  <a:srgbClr val="0000FF"/>
                </a:solidFill>
              </a:rPr>
              <a:t>Chrmosomes</a:t>
            </a:r>
            <a:endParaRPr lang="en-US" b="1">
              <a:solidFill>
                <a:srgbClr val="0000FF"/>
              </a:solidFill>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524000"/>
            <a:ext cx="6019800" cy="5176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84F00E51-5C1A-4BCB-8FAB-C2CC5154BB59}" type="slidenum">
              <a:rPr lang="en-US" smtClean="0"/>
              <a:t>29</a:t>
            </a:fld>
            <a:endParaRPr lang="en-US"/>
          </a:p>
        </p:txBody>
      </p:sp>
    </p:spTree>
    <p:extLst>
      <p:ext uri="{BB962C8B-B14F-4D97-AF65-F5344CB8AC3E}">
        <p14:creationId xmlns:p14="http://schemas.microsoft.com/office/powerpoint/2010/main" val="17902349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688305"/>
            <a:ext cx="7467600" cy="6927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History of finding hereditary on chromosomes:</a:t>
            </a:r>
          </a:p>
        </p:txBody>
      </p:sp>
      <p:sp>
        <p:nvSpPr>
          <p:cNvPr id="13" name="Title 1"/>
          <p:cNvSpPr>
            <a:spLocks noGrp="1"/>
          </p:cNvSpPr>
          <p:nvPr>
            <p:ph type="title"/>
          </p:nvPr>
        </p:nvSpPr>
        <p:spPr>
          <a:xfrm>
            <a:off x="457200" y="17585"/>
            <a:ext cx="8229600" cy="1143000"/>
          </a:xfrm>
        </p:spPr>
        <p:txBody>
          <a:bodyPr>
            <a:normAutofit/>
          </a:bodyPr>
          <a:lstStyle/>
          <a:p>
            <a:r>
              <a:rPr lang="en-US" b="1" err="1">
                <a:solidFill>
                  <a:srgbClr val="0000FF"/>
                </a:solidFill>
              </a:rPr>
              <a:t>Chrmosomes</a:t>
            </a:r>
            <a:endParaRPr lang="en-US" b="1">
              <a:solidFill>
                <a:srgbClr val="0000FF"/>
              </a:solidFill>
            </a:endParaRPr>
          </a:p>
        </p:txBody>
      </p:sp>
      <p:sp>
        <p:nvSpPr>
          <p:cNvPr id="9" name="Rectangle 8"/>
          <p:cNvSpPr/>
          <p:nvPr/>
        </p:nvSpPr>
        <p:spPr>
          <a:xfrm>
            <a:off x="76200" y="1272007"/>
            <a:ext cx="9037655" cy="545085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t>    1860s: Mendel proposed laws of inheritance that are independent of gametes</a:t>
            </a:r>
          </a:p>
          <a:p>
            <a:pPr marL="285750" indent="-285750" algn="just">
              <a:lnSpc>
                <a:spcPct val="150000"/>
              </a:lnSpc>
              <a:buFont typeface="Arial" panose="020B0604020202020204" pitchFamily="34" charset="0"/>
              <a:buChar char="•"/>
            </a:pPr>
            <a:r>
              <a:rPr lang="en-US"/>
              <a:t>    1875: The process of cell division in somatic cells or mitosis was discovered</a:t>
            </a:r>
          </a:p>
          <a:p>
            <a:pPr marL="285750" indent="-285750" algn="just">
              <a:lnSpc>
                <a:spcPct val="150000"/>
              </a:lnSpc>
              <a:buFont typeface="Arial" panose="020B0604020202020204" pitchFamily="34" charset="0"/>
              <a:buChar char="•"/>
            </a:pPr>
            <a:r>
              <a:rPr lang="en-US"/>
              <a:t>    1890: The process of reduction cell division in formation of gametes or meiosis was discovered</a:t>
            </a:r>
          </a:p>
          <a:p>
            <a:pPr marL="285750" indent="-285750" algn="just">
              <a:lnSpc>
                <a:spcPct val="150000"/>
              </a:lnSpc>
              <a:buFont typeface="Arial" panose="020B0604020202020204" pitchFamily="34" charset="0"/>
              <a:buChar char="•"/>
            </a:pPr>
            <a:r>
              <a:rPr lang="en-US"/>
              <a:t>    1900: Mendel is rediscovered by botanists Correns, de </a:t>
            </a:r>
            <a:r>
              <a:rPr lang="en-US" err="1"/>
              <a:t>Vries</a:t>
            </a:r>
            <a:r>
              <a:rPr lang="en-US"/>
              <a:t>, and von </a:t>
            </a:r>
            <a:r>
              <a:rPr lang="en-US" err="1"/>
              <a:t>Seysenegg</a:t>
            </a:r>
            <a:r>
              <a:rPr lang="en-US"/>
              <a:t> independently.</a:t>
            </a:r>
          </a:p>
          <a:p>
            <a:pPr marL="285750" indent="-285750" algn="just">
              <a:lnSpc>
                <a:spcPct val="150000"/>
              </a:lnSpc>
              <a:buFont typeface="Arial" panose="020B0604020202020204" pitchFamily="34" charset="0"/>
              <a:buChar char="•"/>
            </a:pPr>
            <a:r>
              <a:rPr lang="en-US"/>
              <a:t>    1902: The laws of inheritance and behavior of chromosomes are found to be parallel as noted by Walter Sutton, Theodor </a:t>
            </a:r>
            <a:r>
              <a:rPr lang="en-US" err="1"/>
              <a:t>Boveri</a:t>
            </a:r>
            <a:r>
              <a:rPr lang="en-US"/>
              <a:t> and others. They noted that chromosomes are paired in somatic cells, that reduction division or meiosis occurs within gametes, and finally that fertilization restores the paired status of chromosomes.</a:t>
            </a:r>
          </a:p>
          <a:p>
            <a:pPr marL="285750" indent="-285750" algn="just">
              <a:lnSpc>
                <a:spcPct val="150000"/>
              </a:lnSpc>
              <a:buFont typeface="Arial" panose="020B0604020202020204" pitchFamily="34" charset="0"/>
              <a:buChar char="•"/>
            </a:pPr>
            <a:r>
              <a:rPr lang="en-US"/>
              <a:t>    Early 1900s - Thomas Hunt Morgan from Columbia University confirms the presence of Mendel's inherited factors on chromosomes from Drosophila melanogaster or fruit flies. He also found sex chromosomes and sex linked diseases and traits.</a:t>
            </a:r>
          </a:p>
        </p:txBody>
      </p:sp>
      <p:sp>
        <p:nvSpPr>
          <p:cNvPr id="2" name="Slide Number Placeholder 1"/>
          <p:cNvSpPr>
            <a:spLocks noGrp="1"/>
          </p:cNvSpPr>
          <p:nvPr>
            <p:ph type="sldNum" sz="quarter" idx="12"/>
          </p:nvPr>
        </p:nvSpPr>
        <p:spPr/>
        <p:txBody>
          <a:bodyPr/>
          <a:lstStyle/>
          <a:p>
            <a:fld id="{84F00E51-5C1A-4BCB-8FAB-C2CC5154BB59}" type="slidenum">
              <a:rPr lang="en-US" smtClean="0"/>
              <a:t>30</a:t>
            </a:fld>
            <a:endParaRPr lang="en-US"/>
          </a:p>
        </p:txBody>
      </p:sp>
    </p:spTree>
    <p:extLst>
      <p:ext uri="{BB962C8B-B14F-4D97-AF65-F5344CB8AC3E}">
        <p14:creationId xmlns:p14="http://schemas.microsoft.com/office/powerpoint/2010/main" val="2921455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5">
                                            <p:txEl>
                                              <p:pRg st="0" end="0"/>
                                            </p:txEl>
                                          </p:spTgt>
                                        </p:tgtEl>
                                        <p:attrNameLst>
                                          <p:attrName>style.fontWeight</p:attrName>
                                        </p:attrNameLst>
                                      </p:cBhvr>
                                      <p:to>
                                        <p:strVal val="bold"/>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8200"/>
            <a:ext cx="7467600" cy="4343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Experimental evidence of </a:t>
            </a:r>
            <a:r>
              <a:rPr lang="en-US" sz="2800" b="1" u="sng" err="1">
                <a:solidFill>
                  <a:srgbClr val="0070C0"/>
                </a:solidFill>
              </a:rPr>
              <a:t>chr.</a:t>
            </a:r>
            <a:r>
              <a:rPr lang="en-US" sz="2800" b="1" u="sng">
                <a:solidFill>
                  <a:srgbClr val="0070C0"/>
                </a:solidFill>
              </a:rPr>
              <a:t> inheritance:</a:t>
            </a:r>
          </a:p>
        </p:txBody>
      </p:sp>
      <p:sp>
        <p:nvSpPr>
          <p:cNvPr id="13" name="Title 1"/>
          <p:cNvSpPr>
            <a:spLocks noGrp="1"/>
          </p:cNvSpPr>
          <p:nvPr>
            <p:ph type="title"/>
          </p:nvPr>
        </p:nvSpPr>
        <p:spPr>
          <a:xfrm>
            <a:off x="457200" y="0"/>
            <a:ext cx="8229600" cy="1143000"/>
          </a:xfrm>
        </p:spPr>
        <p:txBody>
          <a:bodyPr>
            <a:normAutofit/>
          </a:bodyPr>
          <a:lstStyle/>
          <a:p>
            <a:r>
              <a:rPr lang="en-US" b="1" err="1">
                <a:solidFill>
                  <a:srgbClr val="0000FF"/>
                </a:solidFill>
              </a:rPr>
              <a:t>Chrmosomes</a:t>
            </a:r>
            <a:endParaRPr lang="en-US" b="1">
              <a:solidFill>
                <a:srgbClr val="0000FF"/>
              </a:solidFill>
            </a:endParaRPr>
          </a:p>
        </p:txBody>
      </p:sp>
      <p:sp>
        <p:nvSpPr>
          <p:cNvPr id="6" name="Rectangle 5"/>
          <p:cNvSpPr/>
          <p:nvPr/>
        </p:nvSpPr>
        <p:spPr>
          <a:xfrm>
            <a:off x="0" y="4796135"/>
            <a:ext cx="2948307" cy="461665"/>
          </a:xfrm>
          <a:prstGeom prst="rect">
            <a:avLst/>
          </a:prstGeom>
        </p:spPr>
        <p:txBody>
          <a:bodyPr wrap="square">
            <a:spAutoFit/>
          </a:bodyPr>
          <a:lstStyle/>
          <a:p>
            <a:r>
              <a:rPr lang="en-US" altLang="en-US" sz="2400" b="1">
                <a:solidFill>
                  <a:srgbClr val="00B0F0"/>
                </a:solidFill>
                <a:latin typeface="Calibri" panose="020F0502020204030204" pitchFamily="34" charset="0"/>
              </a:rPr>
              <a:t>Thomas H. Morgan</a:t>
            </a:r>
          </a:p>
        </p:txBody>
      </p:sp>
      <p:pic>
        <p:nvPicPr>
          <p:cNvPr id="4100" name="Picture 4" descr="Image result for thomas hunt morgan"/>
          <p:cNvPicPr>
            <a:picLocks noChangeAspect="1" noChangeArrowheads="1"/>
          </p:cNvPicPr>
          <p:nvPr/>
        </p:nvPicPr>
        <p:blipFill rotWithShape="1">
          <a:blip r:embed="rId2">
            <a:extLst>
              <a:ext uri="{28A0092B-C50C-407E-A947-70E740481C1C}">
                <a14:useLocalDpi xmlns:a14="http://schemas.microsoft.com/office/drawing/2010/main" val="0"/>
              </a:ext>
            </a:extLst>
          </a:blip>
          <a:srcRect l="33400" t="12900" b="14619"/>
          <a:stretch/>
        </p:blipFill>
        <p:spPr bwMode="auto">
          <a:xfrm>
            <a:off x="40045" y="1674565"/>
            <a:ext cx="2269153" cy="312603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1"/>
          <p:cNvSpPr/>
          <p:nvPr/>
        </p:nvSpPr>
        <p:spPr>
          <a:xfrm>
            <a:off x="2309198" y="1516082"/>
            <a:ext cx="6758602" cy="3970318"/>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Strong confirmation that physical carriers of Mendel’s principle resides on chromosome.</a:t>
            </a:r>
          </a:p>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Proves chromosome theory of inheritance.</a:t>
            </a:r>
          </a:p>
          <a:p>
            <a:pPr marL="342900" indent="-342900">
              <a:lnSpc>
                <a:spcPct val="150000"/>
              </a:lnSpc>
              <a:buFont typeface="Arial" panose="020B0604020202020204" pitchFamily="34" charset="0"/>
              <a:buChar char="•"/>
            </a:pPr>
            <a:r>
              <a:rPr lang="en-US" altLang="en-US" sz="2400">
                <a:solidFill>
                  <a:prstClr val="black"/>
                </a:solidFill>
                <a:latin typeface="Arial" panose="020B0604020202020204" pitchFamily="34" charset="0"/>
              </a:rPr>
              <a:t>Later Morgan’s student </a:t>
            </a:r>
            <a:r>
              <a:rPr lang="en-US" altLang="en-US" sz="2400" b="1">
                <a:solidFill>
                  <a:schemeClr val="accent2"/>
                </a:solidFill>
                <a:latin typeface="Arial" panose="020B0604020202020204" pitchFamily="34" charset="0"/>
              </a:rPr>
              <a:t>Bridges</a:t>
            </a:r>
            <a:r>
              <a:rPr lang="en-US" altLang="en-US" sz="2400">
                <a:solidFill>
                  <a:prstClr val="black"/>
                </a:solidFill>
                <a:latin typeface="Arial" panose="020B0604020202020204" pitchFamily="34" charset="0"/>
              </a:rPr>
              <a:t> showed rare female and male with white eyes produced via non disjunction (failure to separate the chromosome).</a:t>
            </a:r>
          </a:p>
        </p:txBody>
      </p:sp>
      <p:sp>
        <p:nvSpPr>
          <p:cNvPr id="2" name="Slide Number Placeholder 1"/>
          <p:cNvSpPr>
            <a:spLocks noGrp="1"/>
          </p:cNvSpPr>
          <p:nvPr>
            <p:ph type="sldNum" sz="quarter" idx="12"/>
          </p:nvPr>
        </p:nvSpPr>
        <p:spPr/>
        <p:txBody>
          <a:bodyPr/>
          <a:lstStyle/>
          <a:p>
            <a:fld id="{84F00E51-5C1A-4BCB-8FAB-C2CC5154BB59}" type="slidenum">
              <a:rPr lang="en-US" smtClean="0"/>
              <a:t>31</a:t>
            </a:fld>
            <a:endParaRPr lang="en-US"/>
          </a:p>
        </p:txBody>
      </p:sp>
    </p:spTree>
    <p:extLst>
      <p:ext uri="{BB962C8B-B14F-4D97-AF65-F5344CB8AC3E}">
        <p14:creationId xmlns:p14="http://schemas.microsoft.com/office/powerpoint/2010/main" val="1224833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1273"/>
            <a:ext cx="7467600" cy="6927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Hereditary Material in Prokaryotes:</a:t>
            </a:r>
          </a:p>
        </p:txBody>
      </p:sp>
      <p:sp>
        <p:nvSpPr>
          <p:cNvPr id="13" name="Title 1"/>
          <p:cNvSpPr>
            <a:spLocks noGrp="1"/>
          </p:cNvSpPr>
          <p:nvPr>
            <p:ph type="title"/>
          </p:nvPr>
        </p:nvSpPr>
        <p:spPr>
          <a:xfrm>
            <a:off x="457200" y="0"/>
            <a:ext cx="8229600" cy="1143000"/>
          </a:xfrm>
        </p:spPr>
        <p:txBody>
          <a:bodyPr>
            <a:normAutofit/>
          </a:bodyPr>
          <a:lstStyle/>
          <a:p>
            <a:r>
              <a:rPr lang="en-US" b="1" err="1">
                <a:solidFill>
                  <a:srgbClr val="0000FF"/>
                </a:solidFill>
              </a:rPr>
              <a:t>Chrmosomes</a:t>
            </a:r>
            <a:endParaRPr lang="en-US" b="1">
              <a:solidFill>
                <a:srgbClr val="0000FF"/>
              </a:solidFill>
            </a:endParaRPr>
          </a:p>
        </p:txBody>
      </p:sp>
      <p:grpSp>
        <p:nvGrpSpPr>
          <p:cNvPr id="3" name="Group 2"/>
          <p:cNvGrpSpPr/>
          <p:nvPr/>
        </p:nvGrpSpPr>
        <p:grpSpPr>
          <a:xfrm>
            <a:off x="1100138" y="1943100"/>
            <a:ext cx="6943725" cy="2971800"/>
            <a:chOff x="1100138" y="1943100"/>
            <a:chExt cx="6943725" cy="297180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138" y="1943100"/>
              <a:ext cx="6943725" cy="2971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5410200" y="4458789"/>
              <a:ext cx="8382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Slide Number Placeholder 3"/>
          <p:cNvSpPr>
            <a:spLocks noGrp="1"/>
          </p:cNvSpPr>
          <p:nvPr>
            <p:ph type="sldNum" sz="quarter" idx="12"/>
          </p:nvPr>
        </p:nvSpPr>
        <p:spPr/>
        <p:txBody>
          <a:bodyPr/>
          <a:lstStyle/>
          <a:p>
            <a:fld id="{84F00E51-5C1A-4BCB-8FAB-C2CC5154BB59}" type="slidenum">
              <a:rPr lang="en-US" smtClean="0"/>
              <a:t>32</a:t>
            </a:fld>
            <a:endParaRPr lang="en-US"/>
          </a:p>
        </p:txBody>
      </p:sp>
    </p:spTree>
    <p:extLst>
      <p:ext uri="{BB962C8B-B14F-4D97-AF65-F5344CB8AC3E}">
        <p14:creationId xmlns:p14="http://schemas.microsoft.com/office/powerpoint/2010/main" val="3623244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5">
                                            <p:txEl>
                                              <p:pRg st="0" end="0"/>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457200" y="0"/>
            <a:ext cx="8229600" cy="1143000"/>
          </a:xfrm>
        </p:spPr>
        <p:txBody>
          <a:bodyPr>
            <a:normAutofit/>
          </a:bodyPr>
          <a:lstStyle/>
          <a:p>
            <a:r>
              <a:rPr lang="en-US" b="1" err="1">
                <a:solidFill>
                  <a:srgbClr val="0000FF"/>
                </a:solidFill>
              </a:rPr>
              <a:t>Chrmosomes</a:t>
            </a:r>
            <a:endParaRPr lang="en-US" b="1">
              <a:solidFill>
                <a:srgbClr val="0000FF"/>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238" y="2333625"/>
            <a:ext cx="7629525" cy="2190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612067"/>
            <a:ext cx="7315200" cy="45313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Subtitle 2"/>
          <p:cNvSpPr txBox="1">
            <a:spLocks/>
          </p:cNvSpPr>
          <p:nvPr/>
        </p:nvSpPr>
        <p:spPr>
          <a:xfrm>
            <a:off x="609600" y="831273"/>
            <a:ext cx="7467600" cy="6927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Hereditary Material in Prokaryotes:</a:t>
            </a:r>
          </a:p>
        </p:txBody>
      </p:sp>
      <p:sp>
        <p:nvSpPr>
          <p:cNvPr id="2" name="Slide Number Placeholder 1"/>
          <p:cNvSpPr>
            <a:spLocks noGrp="1"/>
          </p:cNvSpPr>
          <p:nvPr>
            <p:ph type="sldNum" sz="quarter" idx="12"/>
          </p:nvPr>
        </p:nvSpPr>
        <p:spPr/>
        <p:txBody>
          <a:bodyPr/>
          <a:lstStyle/>
          <a:p>
            <a:fld id="{84F00E51-5C1A-4BCB-8FAB-C2CC5154BB59}" type="slidenum">
              <a:rPr lang="en-US" smtClean="0"/>
              <a:t>33</a:t>
            </a:fld>
            <a:endParaRPr lang="en-US"/>
          </a:p>
        </p:txBody>
      </p:sp>
    </p:spTree>
    <p:extLst>
      <p:ext uri="{BB962C8B-B14F-4D97-AF65-F5344CB8AC3E}">
        <p14:creationId xmlns:p14="http://schemas.microsoft.com/office/powerpoint/2010/main" val="4151867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5" presetClass="emph" presetSubtype="0" nodeType="clickEffect">
                                  <p:stCondLst>
                                    <p:cond delay="0"/>
                                  </p:stCondLst>
                                  <p:iterate type="lt">
                                    <p:tmAbs val="25"/>
                                  </p:iterate>
                                  <p:childTnLst>
                                    <p:set>
                                      <p:cBhvr override="childStyle">
                                        <p:cTn id="10" dur="indefinite"/>
                                        <p:tgtEl>
                                          <p:spTgt spid="6">
                                            <p:txEl>
                                              <p:pRg st="0" end="0"/>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1273"/>
            <a:ext cx="8153400" cy="6927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Organization of hereditary material in Eukaryotes:</a:t>
            </a:r>
          </a:p>
        </p:txBody>
      </p:sp>
      <p:sp>
        <p:nvSpPr>
          <p:cNvPr id="13" name="Title 1"/>
          <p:cNvSpPr>
            <a:spLocks noGrp="1"/>
          </p:cNvSpPr>
          <p:nvPr>
            <p:ph type="title"/>
          </p:nvPr>
        </p:nvSpPr>
        <p:spPr>
          <a:xfrm>
            <a:off x="457200" y="0"/>
            <a:ext cx="8229600" cy="1143000"/>
          </a:xfrm>
        </p:spPr>
        <p:txBody>
          <a:bodyPr>
            <a:normAutofit/>
          </a:bodyPr>
          <a:lstStyle/>
          <a:p>
            <a:r>
              <a:rPr lang="en-US" b="1" err="1">
                <a:solidFill>
                  <a:srgbClr val="0000FF"/>
                </a:solidFill>
              </a:rPr>
              <a:t>Chrmosomes</a:t>
            </a:r>
            <a:endParaRPr lang="en-US" b="1">
              <a:solidFill>
                <a:srgbClr val="0000FF"/>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413" y="2095500"/>
            <a:ext cx="8639175"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7630048" y="2219848"/>
            <a:ext cx="1271588" cy="2438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381905" y="2249154"/>
            <a:ext cx="1271588" cy="2438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918024" y="2255438"/>
            <a:ext cx="2511378" cy="2438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381648" y="2138120"/>
            <a:ext cx="2511378" cy="26822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84F00E51-5C1A-4BCB-8FAB-C2CC5154BB59}" type="slidenum">
              <a:rPr lang="en-US" smtClean="0"/>
              <a:t>34</a:t>
            </a:fld>
            <a:endParaRPr lang="en-US"/>
          </a:p>
        </p:txBody>
      </p:sp>
    </p:spTree>
    <p:extLst>
      <p:ext uri="{BB962C8B-B14F-4D97-AF65-F5344CB8AC3E}">
        <p14:creationId xmlns:p14="http://schemas.microsoft.com/office/powerpoint/2010/main" val="3798950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P spid="1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831273"/>
            <a:ext cx="7467600" cy="6927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Prokaryotic vs Eukaryotic hereditary material:</a:t>
            </a:r>
          </a:p>
        </p:txBody>
      </p:sp>
      <p:sp>
        <p:nvSpPr>
          <p:cNvPr id="13" name="Title 1"/>
          <p:cNvSpPr>
            <a:spLocks noGrp="1"/>
          </p:cNvSpPr>
          <p:nvPr>
            <p:ph type="title"/>
          </p:nvPr>
        </p:nvSpPr>
        <p:spPr>
          <a:xfrm>
            <a:off x="457200" y="0"/>
            <a:ext cx="8229600" cy="1143000"/>
          </a:xfrm>
        </p:spPr>
        <p:txBody>
          <a:bodyPr>
            <a:normAutofit/>
          </a:bodyPr>
          <a:lstStyle/>
          <a:p>
            <a:r>
              <a:rPr lang="en-US" b="1" err="1">
                <a:solidFill>
                  <a:srgbClr val="0000FF"/>
                </a:solidFill>
              </a:rPr>
              <a:t>Chrmosomes</a:t>
            </a:r>
            <a:endParaRPr lang="en-US" b="1">
              <a:solidFill>
                <a:srgbClr val="0000FF"/>
              </a:solidFill>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450" y="1766888"/>
            <a:ext cx="7277100" cy="3324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1828800" y="4724400"/>
            <a:ext cx="5943600" cy="1219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84F00E51-5C1A-4BCB-8FAB-C2CC5154BB59}" type="slidenum">
              <a:rPr lang="en-US" smtClean="0"/>
              <a:t>35</a:t>
            </a:fld>
            <a:endParaRPr lang="en-US"/>
          </a:p>
        </p:txBody>
      </p:sp>
    </p:spTree>
    <p:extLst>
      <p:ext uri="{BB962C8B-B14F-4D97-AF65-F5344CB8AC3E}">
        <p14:creationId xmlns:p14="http://schemas.microsoft.com/office/powerpoint/2010/main" val="4246859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644237"/>
            <a:ext cx="7467600" cy="6927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a:solidFill>
                  <a:srgbClr val="0070C0"/>
                </a:solidFill>
              </a:rPr>
              <a:t>haploid vs Diploid:</a:t>
            </a:r>
          </a:p>
        </p:txBody>
      </p:sp>
      <p:sp>
        <p:nvSpPr>
          <p:cNvPr id="13" name="Title 1"/>
          <p:cNvSpPr>
            <a:spLocks noGrp="1"/>
          </p:cNvSpPr>
          <p:nvPr>
            <p:ph type="title"/>
          </p:nvPr>
        </p:nvSpPr>
        <p:spPr>
          <a:xfrm>
            <a:off x="457200" y="0"/>
            <a:ext cx="8229600" cy="1143000"/>
          </a:xfrm>
        </p:spPr>
        <p:txBody>
          <a:bodyPr>
            <a:normAutofit/>
          </a:bodyPr>
          <a:lstStyle/>
          <a:p>
            <a:r>
              <a:rPr lang="en-US" b="1" err="1">
                <a:solidFill>
                  <a:srgbClr val="0000FF"/>
                </a:solidFill>
              </a:rPr>
              <a:t>Chrmosomes</a:t>
            </a:r>
            <a:endParaRPr lang="en-US" b="1">
              <a:solidFill>
                <a:srgbClr val="0000FF"/>
              </a:solidFill>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700212"/>
            <a:ext cx="6858000" cy="3457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p:cNvSpPr>
            <a:spLocks noGrp="1"/>
          </p:cNvSpPr>
          <p:nvPr>
            <p:ph type="sldNum" sz="quarter" idx="12"/>
          </p:nvPr>
        </p:nvSpPr>
        <p:spPr/>
        <p:txBody>
          <a:bodyPr/>
          <a:lstStyle/>
          <a:p>
            <a:fld id="{84F00E51-5C1A-4BCB-8FAB-C2CC5154BB59}" type="slidenum">
              <a:rPr lang="en-US" smtClean="0"/>
              <a:t>36</a:t>
            </a:fld>
            <a:endParaRPr lang="en-US"/>
          </a:p>
        </p:txBody>
      </p:sp>
    </p:spTree>
    <p:extLst>
      <p:ext uri="{BB962C8B-B14F-4D97-AF65-F5344CB8AC3E}">
        <p14:creationId xmlns:p14="http://schemas.microsoft.com/office/powerpoint/2010/main" val="39487137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p:cNvSpPr txBox="1">
            <a:spLocks/>
          </p:cNvSpPr>
          <p:nvPr/>
        </p:nvSpPr>
        <p:spPr>
          <a:xfrm>
            <a:off x="609600" y="644237"/>
            <a:ext cx="7467600" cy="6927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50000"/>
              </a:lnSpc>
              <a:buNone/>
            </a:pPr>
            <a:r>
              <a:rPr lang="en-US" sz="2800" b="1" u="sng" err="1">
                <a:solidFill>
                  <a:srgbClr val="0070C0"/>
                </a:solidFill>
              </a:rPr>
              <a:t>Karyograms</a:t>
            </a:r>
            <a:r>
              <a:rPr lang="en-US" sz="2800" b="1" u="sng">
                <a:solidFill>
                  <a:srgbClr val="0070C0"/>
                </a:solidFill>
              </a:rPr>
              <a:t>:</a:t>
            </a:r>
          </a:p>
        </p:txBody>
      </p:sp>
      <p:sp>
        <p:nvSpPr>
          <p:cNvPr id="13" name="Title 1"/>
          <p:cNvSpPr>
            <a:spLocks noGrp="1"/>
          </p:cNvSpPr>
          <p:nvPr>
            <p:ph type="title"/>
          </p:nvPr>
        </p:nvSpPr>
        <p:spPr>
          <a:xfrm>
            <a:off x="457200" y="0"/>
            <a:ext cx="8229600" cy="1143000"/>
          </a:xfrm>
        </p:spPr>
        <p:txBody>
          <a:bodyPr>
            <a:normAutofit/>
          </a:bodyPr>
          <a:lstStyle/>
          <a:p>
            <a:r>
              <a:rPr lang="en-US" b="1">
                <a:solidFill>
                  <a:srgbClr val="0000FF"/>
                </a:solidFill>
              </a:rPr>
              <a:t>Karyotyping</a:t>
            </a:r>
          </a:p>
        </p:txBody>
      </p:sp>
      <p:pic>
        <p:nvPicPr>
          <p:cNvPr id="2" name="Picture 1"/>
          <p:cNvPicPr>
            <a:picLocks noChangeAspect="1"/>
          </p:cNvPicPr>
          <p:nvPr/>
        </p:nvPicPr>
        <p:blipFill rotWithShape="1">
          <a:blip r:embed="rId2"/>
          <a:srcRect r="1332"/>
          <a:stretch/>
        </p:blipFill>
        <p:spPr>
          <a:xfrm>
            <a:off x="1752600" y="1600200"/>
            <a:ext cx="5638800" cy="4572000"/>
          </a:xfrm>
          <a:prstGeom prst="rect">
            <a:avLst/>
          </a:prstGeom>
        </p:spPr>
      </p:pic>
      <p:sp>
        <p:nvSpPr>
          <p:cNvPr id="3" name="Slide Number Placeholder 2"/>
          <p:cNvSpPr>
            <a:spLocks noGrp="1"/>
          </p:cNvSpPr>
          <p:nvPr>
            <p:ph type="sldNum" sz="quarter" idx="12"/>
          </p:nvPr>
        </p:nvSpPr>
        <p:spPr/>
        <p:txBody>
          <a:bodyPr/>
          <a:lstStyle/>
          <a:p>
            <a:fld id="{84F00E51-5C1A-4BCB-8FAB-C2CC5154BB59}" type="slidenum">
              <a:rPr lang="en-US" smtClean="0"/>
              <a:t>37</a:t>
            </a:fld>
            <a:endParaRPr lang="en-US"/>
          </a:p>
        </p:txBody>
      </p:sp>
    </p:spTree>
    <p:extLst>
      <p:ext uri="{BB962C8B-B14F-4D97-AF65-F5344CB8AC3E}">
        <p14:creationId xmlns:p14="http://schemas.microsoft.com/office/powerpoint/2010/main" val="28474167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a:solidFill>
                  <a:srgbClr val="0000FF"/>
                </a:solidFill>
              </a:rPr>
              <a:t>Conclusions of Lecture-2</a:t>
            </a:r>
            <a:endParaRPr lang="en-US"/>
          </a:p>
        </p:txBody>
      </p:sp>
      <p:sp>
        <p:nvSpPr>
          <p:cNvPr id="8" name="Content Placeholder 2"/>
          <p:cNvSpPr>
            <a:spLocks noGrp="1"/>
          </p:cNvSpPr>
          <p:nvPr>
            <p:ph idx="1"/>
          </p:nvPr>
        </p:nvSpPr>
        <p:spPr>
          <a:xfrm>
            <a:off x="228600" y="1600200"/>
            <a:ext cx="8763000" cy="4525963"/>
          </a:xfrm>
        </p:spPr>
        <p:txBody>
          <a:bodyPr>
            <a:normAutofit fontScale="85000" lnSpcReduction="20000"/>
          </a:bodyPr>
          <a:lstStyle/>
          <a:p>
            <a:pPr>
              <a:lnSpc>
                <a:spcPct val="150000"/>
              </a:lnSpc>
            </a:pPr>
            <a:r>
              <a:rPr lang="en-US" b="1">
                <a:solidFill>
                  <a:srgbClr val="FF0066"/>
                </a:solidFill>
              </a:rPr>
              <a:t>Chromosome theory of inheritance was not a work of single scientist.</a:t>
            </a:r>
          </a:p>
          <a:p>
            <a:pPr marL="0" indent="0">
              <a:lnSpc>
                <a:spcPct val="150000"/>
              </a:lnSpc>
              <a:buNone/>
            </a:pPr>
            <a:r>
              <a:rPr lang="en-US" b="1">
                <a:solidFill>
                  <a:srgbClr val="FF0066"/>
                </a:solidFill>
              </a:rPr>
              <a:t>a) </a:t>
            </a:r>
            <a:r>
              <a:rPr lang="en-US" b="1" err="1">
                <a:solidFill>
                  <a:srgbClr val="FF0066"/>
                </a:solidFill>
              </a:rPr>
              <a:t>Gregor</a:t>
            </a:r>
            <a:r>
              <a:rPr lang="en-US" b="1">
                <a:solidFill>
                  <a:srgbClr val="FF0066"/>
                </a:solidFill>
              </a:rPr>
              <a:t> Mendel: “possible system of heredity”.</a:t>
            </a:r>
          </a:p>
          <a:p>
            <a:pPr marL="0" indent="0">
              <a:lnSpc>
                <a:spcPct val="150000"/>
              </a:lnSpc>
              <a:buNone/>
            </a:pPr>
            <a:r>
              <a:rPr lang="en-US" b="1">
                <a:solidFill>
                  <a:srgbClr val="FF0066"/>
                </a:solidFill>
              </a:rPr>
              <a:t>b) Walther </a:t>
            </a:r>
            <a:r>
              <a:rPr lang="en-US" b="1" err="1">
                <a:solidFill>
                  <a:srgbClr val="FF0066"/>
                </a:solidFill>
              </a:rPr>
              <a:t>Flemming</a:t>
            </a:r>
            <a:r>
              <a:rPr lang="en-US" b="1">
                <a:solidFill>
                  <a:srgbClr val="FF0066"/>
                </a:solidFill>
              </a:rPr>
              <a:t>: “Discovery of chromosome” mitosis.</a:t>
            </a:r>
          </a:p>
          <a:p>
            <a:pPr marL="0" indent="0">
              <a:lnSpc>
                <a:spcPct val="150000"/>
              </a:lnSpc>
              <a:buNone/>
            </a:pPr>
            <a:r>
              <a:rPr lang="en-US" b="1">
                <a:solidFill>
                  <a:srgbClr val="FF0066"/>
                </a:solidFill>
              </a:rPr>
              <a:t>c) </a:t>
            </a:r>
            <a:r>
              <a:rPr lang="en-US" b="1" err="1">
                <a:solidFill>
                  <a:srgbClr val="FF0066"/>
                </a:solidFill>
              </a:rPr>
              <a:t>Theoder</a:t>
            </a:r>
            <a:r>
              <a:rPr lang="en-US" b="1">
                <a:solidFill>
                  <a:srgbClr val="FF0066"/>
                </a:solidFill>
              </a:rPr>
              <a:t> </a:t>
            </a:r>
            <a:r>
              <a:rPr lang="en-US" b="1" err="1">
                <a:solidFill>
                  <a:srgbClr val="FF0066"/>
                </a:solidFill>
              </a:rPr>
              <a:t>Boveri</a:t>
            </a:r>
            <a:r>
              <a:rPr lang="en-US" b="1">
                <a:solidFill>
                  <a:srgbClr val="FF0066"/>
                </a:solidFill>
              </a:rPr>
              <a:t>: “Meiosis / </a:t>
            </a:r>
            <a:r>
              <a:rPr lang="en-US" b="1" err="1">
                <a:solidFill>
                  <a:srgbClr val="FF0066"/>
                </a:solidFill>
              </a:rPr>
              <a:t>chr.</a:t>
            </a:r>
            <a:r>
              <a:rPr lang="en-US" b="1">
                <a:solidFill>
                  <a:srgbClr val="FF0066"/>
                </a:solidFill>
              </a:rPr>
              <a:t> defects”.</a:t>
            </a:r>
          </a:p>
          <a:p>
            <a:pPr marL="0" indent="0">
              <a:lnSpc>
                <a:spcPct val="150000"/>
              </a:lnSpc>
              <a:buNone/>
            </a:pPr>
            <a:r>
              <a:rPr lang="en-US" b="1">
                <a:solidFill>
                  <a:srgbClr val="FF0066"/>
                </a:solidFill>
              </a:rPr>
              <a:t>d) Walter Sutton: “</a:t>
            </a:r>
            <a:r>
              <a:rPr lang="en-US" b="1" err="1">
                <a:solidFill>
                  <a:srgbClr val="FF0066"/>
                </a:solidFill>
              </a:rPr>
              <a:t>chr.</a:t>
            </a:r>
            <a:r>
              <a:rPr lang="en-US" b="1">
                <a:solidFill>
                  <a:srgbClr val="FF0066"/>
                </a:solidFill>
              </a:rPr>
              <a:t> Individuality, meiosis, synapse”.</a:t>
            </a:r>
          </a:p>
          <a:p>
            <a:pPr marL="0" indent="0">
              <a:lnSpc>
                <a:spcPct val="150000"/>
              </a:lnSpc>
              <a:buNone/>
            </a:pPr>
            <a:r>
              <a:rPr lang="en-US" b="1">
                <a:solidFill>
                  <a:srgbClr val="FF0066"/>
                </a:solidFill>
              </a:rPr>
              <a:t>e) Thomas Morgan: Direct evidence, </a:t>
            </a:r>
            <a:r>
              <a:rPr lang="en-US" b="1" err="1">
                <a:solidFill>
                  <a:srgbClr val="FF0066"/>
                </a:solidFill>
              </a:rPr>
              <a:t>chr.</a:t>
            </a:r>
            <a:r>
              <a:rPr lang="en-US" b="1">
                <a:solidFill>
                  <a:srgbClr val="FF0066"/>
                </a:solidFill>
              </a:rPr>
              <a:t> = physical carriers.</a:t>
            </a:r>
          </a:p>
          <a:p>
            <a:pPr>
              <a:lnSpc>
                <a:spcPct val="150000"/>
              </a:lnSpc>
            </a:pPr>
            <a:endParaRPr lang="en-US" b="1">
              <a:solidFill>
                <a:srgbClr val="FF0066"/>
              </a:solidFill>
            </a:endParaRPr>
          </a:p>
          <a:p>
            <a:pPr>
              <a:lnSpc>
                <a:spcPct val="150000"/>
              </a:lnSpc>
            </a:pPr>
            <a:endParaRPr lang="en-US" b="1">
              <a:solidFill>
                <a:srgbClr val="FF0066"/>
              </a:solidFill>
            </a:endParaRPr>
          </a:p>
        </p:txBody>
      </p:sp>
      <p:sp>
        <p:nvSpPr>
          <p:cNvPr id="2" name="Slide Number Placeholder 1"/>
          <p:cNvSpPr>
            <a:spLocks noGrp="1"/>
          </p:cNvSpPr>
          <p:nvPr>
            <p:ph type="sldNum" sz="quarter" idx="12"/>
          </p:nvPr>
        </p:nvSpPr>
        <p:spPr/>
        <p:txBody>
          <a:bodyPr/>
          <a:lstStyle/>
          <a:p>
            <a:fld id="{84F00E51-5C1A-4BCB-8FAB-C2CC5154BB59}" type="slidenum">
              <a:rPr lang="en-US" smtClean="0"/>
              <a:t>38</a:t>
            </a:fld>
            <a:endParaRPr lang="en-US"/>
          </a:p>
        </p:txBody>
      </p:sp>
    </p:spTree>
    <p:extLst>
      <p:ext uri="{BB962C8B-B14F-4D97-AF65-F5344CB8AC3E}">
        <p14:creationId xmlns:p14="http://schemas.microsoft.com/office/powerpoint/2010/main" val="185949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a:solidFill>
                  <a:srgbClr val="0000FF"/>
                </a:solidFill>
              </a:rPr>
              <a:t>Types of Questions?</a:t>
            </a:r>
            <a:endParaRPr lang="en-US"/>
          </a:p>
        </p:txBody>
      </p:sp>
      <p:sp>
        <p:nvSpPr>
          <p:cNvPr id="8" name="Content Placeholder 2"/>
          <p:cNvSpPr>
            <a:spLocks noGrp="1"/>
          </p:cNvSpPr>
          <p:nvPr>
            <p:ph idx="1"/>
          </p:nvPr>
        </p:nvSpPr>
        <p:spPr>
          <a:xfrm>
            <a:off x="457200" y="1600200"/>
            <a:ext cx="8534400" cy="4525963"/>
          </a:xfrm>
        </p:spPr>
        <p:txBody>
          <a:bodyPr>
            <a:normAutofit fontScale="85000" lnSpcReduction="10000"/>
          </a:bodyPr>
          <a:lstStyle/>
          <a:p>
            <a:pPr>
              <a:lnSpc>
                <a:spcPct val="150000"/>
              </a:lnSpc>
            </a:pPr>
            <a:r>
              <a:rPr lang="en-US" b="1">
                <a:solidFill>
                  <a:srgbClr val="FF0066"/>
                </a:solidFill>
              </a:rPr>
              <a:t>Model organisms used by scientists?</a:t>
            </a:r>
          </a:p>
          <a:p>
            <a:pPr>
              <a:lnSpc>
                <a:spcPct val="150000"/>
              </a:lnSpc>
            </a:pPr>
            <a:r>
              <a:rPr lang="en-US" b="1">
                <a:solidFill>
                  <a:srgbClr val="FF0066"/>
                </a:solidFill>
              </a:rPr>
              <a:t>No. of </a:t>
            </a:r>
            <a:r>
              <a:rPr lang="en-US" b="1" err="1">
                <a:solidFill>
                  <a:srgbClr val="FF0066"/>
                </a:solidFill>
              </a:rPr>
              <a:t>chr.</a:t>
            </a:r>
            <a:r>
              <a:rPr lang="en-US" b="1">
                <a:solidFill>
                  <a:srgbClr val="FF0066"/>
                </a:solidFill>
              </a:rPr>
              <a:t> in humans, flies, </a:t>
            </a:r>
            <a:r>
              <a:rPr lang="en-US" b="1" err="1">
                <a:solidFill>
                  <a:srgbClr val="FF0066"/>
                </a:solidFill>
              </a:rPr>
              <a:t>Ascaris</a:t>
            </a:r>
            <a:r>
              <a:rPr lang="en-US" b="1">
                <a:solidFill>
                  <a:srgbClr val="FF0066"/>
                </a:solidFill>
              </a:rPr>
              <a:t>, sea urchins?</a:t>
            </a:r>
          </a:p>
          <a:p>
            <a:pPr>
              <a:lnSpc>
                <a:spcPct val="150000"/>
              </a:lnSpc>
            </a:pPr>
            <a:r>
              <a:rPr lang="en-US" b="1">
                <a:solidFill>
                  <a:srgbClr val="FF0066"/>
                </a:solidFill>
              </a:rPr>
              <a:t>What are haploids and diploids? Homologous chromosomes?</a:t>
            </a:r>
          </a:p>
          <a:p>
            <a:pPr>
              <a:lnSpc>
                <a:spcPct val="150000"/>
              </a:lnSpc>
            </a:pPr>
            <a:r>
              <a:rPr lang="en-US" b="1">
                <a:solidFill>
                  <a:srgbClr val="FF0066"/>
                </a:solidFill>
              </a:rPr>
              <a:t>Percentage of male flies with white eyes in F1 Gen or F2 Gen?</a:t>
            </a:r>
          </a:p>
          <a:p>
            <a:pPr>
              <a:lnSpc>
                <a:spcPct val="150000"/>
              </a:lnSpc>
            </a:pPr>
            <a:r>
              <a:rPr lang="en-US" b="1">
                <a:solidFill>
                  <a:srgbClr val="FF0066"/>
                </a:solidFill>
              </a:rPr>
              <a:t>What’s synapse? </a:t>
            </a:r>
          </a:p>
        </p:txBody>
      </p:sp>
      <p:sp>
        <p:nvSpPr>
          <p:cNvPr id="2" name="Slide Number Placeholder 1"/>
          <p:cNvSpPr>
            <a:spLocks noGrp="1"/>
          </p:cNvSpPr>
          <p:nvPr>
            <p:ph type="sldNum" sz="quarter" idx="12"/>
          </p:nvPr>
        </p:nvSpPr>
        <p:spPr/>
        <p:txBody>
          <a:bodyPr/>
          <a:lstStyle/>
          <a:p>
            <a:fld id="{84F00E51-5C1A-4BCB-8FAB-C2CC5154BB59}" type="slidenum">
              <a:rPr lang="en-US" smtClean="0"/>
              <a:t>39</a:t>
            </a:fld>
            <a:endParaRPr lang="en-US"/>
          </a:p>
        </p:txBody>
      </p:sp>
    </p:spTree>
    <p:extLst>
      <p:ext uri="{BB962C8B-B14F-4D97-AF65-F5344CB8AC3E}">
        <p14:creationId xmlns:p14="http://schemas.microsoft.com/office/powerpoint/2010/main" val="446905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381000" y="2514600"/>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solidFill>
                  <a:srgbClr val="0000FF"/>
                </a:solidFill>
              </a:rPr>
              <a:t>Thank You!</a:t>
            </a:r>
            <a:endParaRPr lang="en-US"/>
          </a:p>
        </p:txBody>
      </p:sp>
      <p:sp>
        <p:nvSpPr>
          <p:cNvPr id="3" name="Slide Number Placeholder 2"/>
          <p:cNvSpPr>
            <a:spLocks noGrp="1"/>
          </p:cNvSpPr>
          <p:nvPr>
            <p:ph type="sldNum" sz="quarter" idx="12"/>
          </p:nvPr>
        </p:nvSpPr>
        <p:spPr/>
        <p:txBody>
          <a:bodyPr/>
          <a:lstStyle/>
          <a:p>
            <a:fld id="{84F00E51-5C1A-4BCB-8FAB-C2CC5154BB59}" type="slidenum">
              <a:rPr lang="en-US" smtClean="0"/>
              <a:t>40</a:t>
            </a:fld>
            <a:endParaRPr lang="en-US"/>
          </a:p>
        </p:txBody>
      </p:sp>
    </p:spTree>
    <p:extLst>
      <p:ext uri="{BB962C8B-B14F-4D97-AF65-F5344CB8AC3E}">
        <p14:creationId xmlns:p14="http://schemas.microsoft.com/office/powerpoint/2010/main" val="30112410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52622627FE0BB42A7311AF50D73D144" ma:contentTypeVersion="7" ma:contentTypeDescription="Create a new document." ma:contentTypeScope="" ma:versionID="e81464e8a3aff2ae2c5942eff8e086d8">
  <xsd:schema xmlns:xsd="http://www.w3.org/2001/XMLSchema" xmlns:xs="http://www.w3.org/2001/XMLSchema" xmlns:p="http://schemas.microsoft.com/office/2006/metadata/properties" xmlns:ns2="f3d90b6b-40ba-4cf1-9177-eadded3cce4b" targetNamespace="http://schemas.microsoft.com/office/2006/metadata/properties" ma:root="true" ma:fieldsID="af41fe0eb20329614d989ef744f58602" ns2:_="">
    <xsd:import namespace="f3d90b6b-40ba-4cf1-9177-eadded3cce4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d90b6b-40ba-4cf1-9177-eadded3cce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704E45E-2737-4403-903B-D3EDD746773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4DE8B66-83EB-47EC-8792-E49E00F0C466}">
  <ds:schemaRefs>
    <ds:schemaRef ds:uri="f3d90b6b-40ba-4cf1-9177-eadded3cce4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1493E4F-A349-4CBF-AEDF-1A979CC94D6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40</Slides>
  <Notes>0</Notes>
  <HiddenSlides>0</HiddenSlide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Office Theme</vt:lpstr>
      <vt:lpstr>LECTURE-2</vt:lpstr>
      <vt:lpstr>Chromosomes</vt:lpstr>
      <vt:lpstr>Chromosomes</vt:lpstr>
      <vt:lpstr>Chromosomes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Chrmosomes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Chrmosomes</vt:lpstr>
      <vt:lpstr>Chrmosomes</vt:lpstr>
      <vt:lpstr>Chromosomes</vt:lpstr>
      <vt:lpstr>Chrmosomes</vt:lpstr>
      <vt:lpstr>Chrmosomes</vt:lpstr>
      <vt:lpstr>Chrmosomes</vt:lpstr>
      <vt:lpstr>Chrmosomes</vt:lpstr>
      <vt:lpstr>Chrmosomes</vt:lpstr>
      <vt:lpstr>Chrmosomes</vt:lpstr>
      <vt:lpstr>Chrmosomes</vt:lpstr>
      <vt:lpstr>Chrmosomes</vt:lpstr>
      <vt:lpstr>Chrmosomes</vt:lpstr>
      <vt:lpstr>Karyotyping</vt:lpstr>
      <vt:lpstr>Conclusions of Lecture-2</vt:lpstr>
      <vt:lpstr>Types of 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IITG</dc:creator>
  <cp:revision>1</cp:revision>
  <dcterms:created xsi:type="dcterms:W3CDTF">2020-06-08T04:19:45Z</dcterms:created>
  <dcterms:modified xsi:type="dcterms:W3CDTF">2024-01-18T10:04:33Z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0x010100252622627FE0BB42A7311AF50D73D144</vt:lpwstr>
  </property>
</Properties>
</file>