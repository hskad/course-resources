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6" r:id="rId6"/>
    <p:sldId id="267" r:id="rId7"/>
    <p:sldId id="259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38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122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91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6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5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00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37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90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80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8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4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2D3E0-A4D8-4C20-A852-5FC7642A1857}" type="datetimeFigureOut">
              <a:rPr lang="en-IN" smtClean="0"/>
              <a:t>05-06-2023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25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62293" y="374961"/>
            <a:ext cx="132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Hearing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9055" y="969012"/>
            <a:ext cx="9362285" cy="286232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Hearing is the ability to perceive sound.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The ear is an engineering marvel because its sensory receptors can transduce sound vibrations with amplitudes as small as the diameter of a gold atom (0.3 nm) into electrical signals.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In the ear, mechanical energy is converted into electrical signals.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The signals are 1000 times faster than photoreceptors can respond to light.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The ear also contains receptors for equilibrium.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909" y="3913525"/>
            <a:ext cx="39719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3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86750" y="1482831"/>
            <a:ext cx="3691890" cy="39703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The ear is divided into three main regions: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The outer or external ear, which collects sound waves and channels them inward;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The middle ear, which conveys sound vibrations to the oval window;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The inner ear, which houses the receptors for hearing and equilibrium.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5103" y="376356"/>
            <a:ext cx="2994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Anatomy of the Ear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39" y="1296279"/>
            <a:ext cx="7796791" cy="512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15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23010" y="982980"/>
            <a:ext cx="9493311" cy="4247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outer ear consists of the </a:t>
            </a:r>
            <a:r>
              <a:rPr lang="en-IN" dirty="0">
                <a:solidFill>
                  <a:srgbClr val="FF0000"/>
                </a:solidFill>
              </a:rPr>
              <a:t>auricle</a:t>
            </a:r>
            <a:r>
              <a:rPr lang="en-IN" dirty="0"/>
              <a:t>, </a:t>
            </a:r>
            <a:r>
              <a:rPr lang="en-IN" dirty="0">
                <a:solidFill>
                  <a:srgbClr val="FF0000"/>
                </a:solidFill>
              </a:rPr>
              <a:t>external auditory canal</a:t>
            </a:r>
            <a:r>
              <a:rPr lang="en-IN" dirty="0"/>
              <a:t>, and </a:t>
            </a:r>
            <a:r>
              <a:rPr lang="en-IN" dirty="0">
                <a:solidFill>
                  <a:srgbClr val="FF0000"/>
                </a:solidFill>
              </a:rPr>
              <a:t>eardrum</a:t>
            </a:r>
            <a:r>
              <a:rPr lang="en-IN" dirty="0"/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auricle is a flap of </a:t>
            </a:r>
            <a:r>
              <a:rPr lang="en-IN" dirty="0">
                <a:solidFill>
                  <a:srgbClr val="FF0000"/>
                </a:solidFill>
              </a:rPr>
              <a:t>elastic cartilage </a:t>
            </a:r>
            <a:r>
              <a:rPr lang="en-IN" dirty="0"/>
              <a:t>shaped like the flared end of a trumpet and covered by skin.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rim of the auricle is </a:t>
            </a:r>
            <a:r>
              <a:rPr lang="en-IN" dirty="0">
                <a:solidFill>
                  <a:srgbClr val="FF0000"/>
                </a:solidFill>
              </a:rPr>
              <a:t>helix</a:t>
            </a:r>
            <a:r>
              <a:rPr lang="en-IN" dirty="0"/>
              <a:t>; the inferior portion is the </a:t>
            </a:r>
            <a:r>
              <a:rPr lang="en-IN" dirty="0">
                <a:solidFill>
                  <a:srgbClr val="FF0000"/>
                </a:solidFill>
              </a:rPr>
              <a:t>lobule</a:t>
            </a:r>
            <a:r>
              <a:rPr lang="en-IN" dirty="0"/>
              <a:t>. Ligaments and muscles attach the auricle to the head.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external auditory canal is a curved tube that extends </a:t>
            </a:r>
            <a:r>
              <a:rPr lang="en-IN" dirty="0" err="1"/>
              <a:t>upto</a:t>
            </a:r>
            <a:r>
              <a:rPr lang="en-IN" dirty="0"/>
              <a:t> the </a:t>
            </a:r>
            <a:r>
              <a:rPr lang="en-IN" dirty="0">
                <a:solidFill>
                  <a:srgbClr val="FF0000"/>
                </a:solidFill>
              </a:rPr>
              <a:t>eardrum</a:t>
            </a:r>
            <a:r>
              <a:rPr lang="en-IN" dirty="0"/>
              <a:t>. The eardrum is a thin partition between the external canal and the middle ear.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eardrum is covered by </a:t>
            </a:r>
            <a:r>
              <a:rPr lang="en-IN" dirty="0">
                <a:solidFill>
                  <a:srgbClr val="FF0000"/>
                </a:solidFill>
              </a:rPr>
              <a:t>epidermis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external canal contains a few hairs and specialized sweat glands (</a:t>
            </a:r>
            <a:r>
              <a:rPr lang="en-IN" dirty="0">
                <a:solidFill>
                  <a:srgbClr val="FF0000"/>
                </a:solidFill>
              </a:rPr>
              <a:t>ceruminous glands</a:t>
            </a:r>
            <a:r>
              <a:rPr lang="en-IN" dirty="0"/>
              <a:t>) that secrete earwax or </a:t>
            </a:r>
            <a:r>
              <a:rPr lang="en-IN" dirty="0">
                <a:solidFill>
                  <a:srgbClr val="FF0000"/>
                </a:solidFill>
              </a:rPr>
              <a:t>cerumen</a:t>
            </a:r>
            <a:r>
              <a:rPr lang="en-IN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174" y="5486402"/>
            <a:ext cx="7214839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What are 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perforated eardrum </a:t>
            </a:r>
            <a:r>
              <a:rPr lang="en-IN" sz="2400" dirty="0"/>
              <a:t>and 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impacted cerumen</a:t>
            </a:r>
            <a:r>
              <a:rPr lang="en-IN" sz="2400" dirty="0"/>
              <a:t>!!!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5103" y="331752"/>
            <a:ext cx="1586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Outer ear</a:t>
            </a:r>
          </a:p>
        </p:txBody>
      </p:sp>
    </p:spTree>
    <p:extLst>
      <p:ext uri="{BB962C8B-B14F-4D97-AF65-F5344CB8AC3E}">
        <p14:creationId xmlns:p14="http://schemas.microsoft.com/office/powerpoint/2010/main" val="156610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4902" y="636836"/>
            <a:ext cx="3155795" cy="59093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middle ear is the small air-filled cavity that is lined by the epithelium.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Separated from external ear by eardrum.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b="1" dirty="0"/>
              <a:t>Auditory ossicles</a:t>
            </a:r>
            <a:r>
              <a:rPr lang="en-IN" dirty="0"/>
              <a:t>: </a:t>
            </a:r>
            <a:r>
              <a:rPr lang="en-IN" b="1" dirty="0"/>
              <a:t>malleus</a:t>
            </a:r>
            <a:r>
              <a:rPr lang="en-IN" dirty="0"/>
              <a:t>, </a:t>
            </a:r>
            <a:r>
              <a:rPr lang="en-IN" b="1" dirty="0"/>
              <a:t>incus</a:t>
            </a:r>
            <a:r>
              <a:rPr lang="en-IN" dirty="0"/>
              <a:t> and </a:t>
            </a:r>
            <a:r>
              <a:rPr lang="en-IN" b="1" dirty="0"/>
              <a:t>stapes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base of the stapes fits into the </a:t>
            </a:r>
            <a:r>
              <a:rPr lang="en-IN" b="1" dirty="0"/>
              <a:t>oval window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Directly below the oval window is another opening called the </a:t>
            </a:r>
            <a:r>
              <a:rPr lang="en-IN" b="1" dirty="0"/>
              <a:t>round window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b="1" dirty="0"/>
              <a:t>Muscles/ligaments</a:t>
            </a:r>
            <a:r>
              <a:rPr lang="en-IN" dirty="0"/>
              <a:t> limits movements of ossicles to protect inner ear from loud noises.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7695" y="331752"/>
            <a:ext cx="1768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Middle ear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478" y="1392771"/>
            <a:ext cx="7973117" cy="46456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30068" y="6176814"/>
            <a:ext cx="423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Smallest skeletal muscle in human body???</a:t>
            </a:r>
          </a:p>
        </p:txBody>
      </p:sp>
      <p:sp>
        <p:nvSpPr>
          <p:cNvPr id="7" name="Oval 6"/>
          <p:cNvSpPr/>
          <p:nvPr/>
        </p:nvSpPr>
        <p:spPr>
          <a:xfrm>
            <a:off x="8709102" y="3445727"/>
            <a:ext cx="251996" cy="2453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14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Hearing Works Video - Process of Hearing Animation. Function &amp; Parts of  Human Ear. Sound Pathway on Make a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99" y="745486"/>
            <a:ext cx="7995340" cy="5996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480390" y="99436"/>
            <a:ext cx="4408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Middle Ear – how it works …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8715422" y="1127065"/>
            <a:ext cx="3287687" cy="5424540"/>
            <a:chOff x="8857091" y="1062670"/>
            <a:chExt cx="3287687" cy="5424540"/>
          </a:xfrm>
        </p:grpSpPr>
        <p:sp>
          <p:nvSpPr>
            <p:cNvPr id="6" name="TextBox 5"/>
            <p:cNvSpPr txBox="1"/>
            <p:nvPr/>
          </p:nvSpPr>
          <p:spPr>
            <a:xfrm>
              <a:off x="9193972" y="1062670"/>
              <a:ext cx="2575333" cy="3170099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4000" dirty="0"/>
                <a:t>Middle ear works as an amplifier in two ways</a:t>
              </a:r>
            </a:p>
          </p:txBody>
        </p:sp>
        <p:cxnSp>
          <p:nvCxnSpPr>
            <p:cNvPr id="3" name="Straight Arrow Connector 2"/>
            <p:cNvCxnSpPr>
              <a:stCxn id="6" idx="2"/>
            </p:cNvCxnSpPr>
            <p:nvPr/>
          </p:nvCxnSpPr>
          <p:spPr>
            <a:xfrm flipH="1">
              <a:off x="9569003" y="4232769"/>
              <a:ext cx="912636" cy="777113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stCxn id="6" idx="2"/>
            </p:cNvCxnSpPr>
            <p:nvPr/>
          </p:nvCxnSpPr>
          <p:spPr>
            <a:xfrm>
              <a:off x="10481639" y="4232769"/>
              <a:ext cx="763005" cy="777113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8857091" y="5138672"/>
              <a:ext cx="18607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Area difference</a:t>
              </a:r>
            </a:p>
            <a:p>
              <a:r>
                <a:rPr lang="en-IN" b="1" dirty="0"/>
                <a:t>(55 to 3.2 </a:t>
              </a:r>
              <a:r>
                <a:rPr lang="en-IN" b="1" dirty="0" err="1"/>
                <a:t>sq</a:t>
              </a:r>
              <a:r>
                <a:rPr lang="en-IN" b="1" dirty="0"/>
                <a:t> mm)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22522" y="5009882"/>
              <a:ext cx="162225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Configuration of ossicles</a:t>
              </a:r>
            </a:p>
            <a:p>
              <a:pPr algn="ctr"/>
              <a:r>
                <a:rPr lang="en-IN" b="1" dirty="0"/>
                <a:t>(Length of malleus and incus)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962142" y="2726972"/>
            <a:ext cx="1200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Malleus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0761" y="1788784"/>
            <a:ext cx="84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Incus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7414" y="4297164"/>
            <a:ext cx="1031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Stapes</a:t>
            </a:r>
          </a:p>
        </p:txBody>
      </p:sp>
    </p:spTree>
    <p:extLst>
      <p:ext uri="{BB962C8B-B14F-4D97-AF65-F5344CB8AC3E}">
        <p14:creationId xmlns:p14="http://schemas.microsoft.com/office/powerpoint/2010/main" val="291199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A6CE10-A74C-4932-B491-B993EC380283}"/>
              </a:ext>
            </a:extLst>
          </p:cNvPr>
          <p:cNvSpPr/>
          <p:nvPr/>
        </p:nvSpPr>
        <p:spPr>
          <a:xfrm>
            <a:off x="1651820" y="1325641"/>
            <a:ext cx="46633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dirty="0">
                <a:solidFill>
                  <a:srgbClr val="0070C0"/>
                </a:solidFill>
              </a:rPr>
              <a:t>22 times amplification…</a:t>
            </a:r>
          </a:p>
          <a:p>
            <a:r>
              <a:rPr lang="en-IN" sz="3600" dirty="0">
                <a:solidFill>
                  <a:srgbClr val="0070C0"/>
                </a:solidFill>
              </a:rPr>
              <a:t>But why??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B022E-B652-41B7-8813-DF3ECFB49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208" y="2152745"/>
            <a:ext cx="2353940" cy="23539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1D603E-2601-4BF3-9C95-AB0E4281AEC8}"/>
              </a:ext>
            </a:extLst>
          </p:cNvPr>
          <p:cNvSpPr txBox="1"/>
          <p:nvPr/>
        </p:nvSpPr>
        <p:spPr>
          <a:xfrm>
            <a:off x="7231225" y="1388332"/>
            <a:ext cx="3704254" cy="39703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The cochlea in the inner ear conducts sound through a liquid, instead of through air. This fluid has a much higher </a:t>
            </a:r>
            <a:r>
              <a:rPr lang="en-IN" sz="2800" u="sng" dirty="0"/>
              <a:t>inertia</a:t>
            </a:r>
            <a:r>
              <a:rPr lang="en-IN" sz="2800" dirty="0"/>
              <a:t> than air – i.e., it is harder to move. Hence, more pressure is required.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55862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52443" y="205141"/>
            <a:ext cx="1511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Inner 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727" y="401798"/>
            <a:ext cx="4540491" cy="6186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Inner ear is also called the </a:t>
            </a:r>
            <a:r>
              <a:rPr lang="en-IN" b="1" dirty="0"/>
              <a:t>labyrinth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b="1" dirty="0"/>
              <a:t>Bony labyrinth (BL)</a:t>
            </a:r>
            <a:r>
              <a:rPr lang="en-IN" dirty="0"/>
              <a:t> and </a:t>
            </a:r>
            <a:r>
              <a:rPr lang="en-IN" b="1" dirty="0"/>
              <a:t>membranous labyrinth (ML)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BL contains </a:t>
            </a:r>
            <a:r>
              <a:rPr lang="en-IN" b="1" dirty="0"/>
              <a:t>perilymph</a:t>
            </a:r>
            <a:r>
              <a:rPr lang="en-IN" dirty="0"/>
              <a:t> and ML contains </a:t>
            </a:r>
            <a:r>
              <a:rPr lang="en-IN" b="1" dirty="0"/>
              <a:t>endolymph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</a:t>
            </a:r>
            <a:r>
              <a:rPr lang="en-IN" b="1" dirty="0"/>
              <a:t>vestibule</a:t>
            </a:r>
            <a:r>
              <a:rPr lang="en-IN" dirty="0"/>
              <a:t> is the oval central portion of the BL.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b="1" dirty="0"/>
              <a:t>Utricle</a:t>
            </a:r>
            <a:r>
              <a:rPr lang="en-IN" dirty="0"/>
              <a:t> (little bag) and </a:t>
            </a:r>
            <a:r>
              <a:rPr lang="en-IN" b="1" dirty="0"/>
              <a:t>saccule</a:t>
            </a:r>
            <a:r>
              <a:rPr lang="en-IN" dirty="0"/>
              <a:t> (little sac).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They are connected to the main duct through </a:t>
            </a:r>
            <a:r>
              <a:rPr lang="en-IN" b="1" dirty="0"/>
              <a:t>ampulla</a:t>
            </a:r>
            <a:r>
              <a:rPr lang="en-IN" dirty="0"/>
              <a:t> (swollen enlargements).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Vestibule houses sensory as well as motor neurons that synapse with receptors for </a:t>
            </a:r>
            <a:r>
              <a:rPr lang="en-IN" b="1" dirty="0"/>
              <a:t>equilibrium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Anterior to vestibule is </a:t>
            </a:r>
            <a:r>
              <a:rPr lang="en-IN" b="1" dirty="0"/>
              <a:t>cochlea</a:t>
            </a:r>
            <a:r>
              <a:rPr lang="en-IN" dirty="0"/>
              <a:t>, a bony spiral canal.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2" b="11815"/>
          <a:stretch/>
        </p:blipFill>
        <p:spPr>
          <a:xfrm>
            <a:off x="4997694" y="1105187"/>
            <a:ext cx="6787530" cy="503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3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520809-1542-4486-809E-591441EC64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6" t="12307" r="2513" b="11590"/>
          <a:stretch/>
        </p:blipFill>
        <p:spPr>
          <a:xfrm>
            <a:off x="1744388" y="1041007"/>
            <a:ext cx="8726269" cy="53867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21CC04-F743-4C33-8D9E-D590DBA98A5B}"/>
              </a:ext>
            </a:extLst>
          </p:cNvPr>
          <p:cNvSpPr txBox="1"/>
          <p:nvPr/>
        </p:nvSpPr>
        <p:spPr>
          <a:xfrm>
            <a:off x="4772615" y="261413"/>
            <a:ext cx="3289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Physiology of hearing</a:t>
            </a:r>
          </a:p>
        </p:txBody>
      </p:sp>
    </p:spTree>
    <p:extLst>
      <p:ext uri="{BB962C8B-B14F-4D97-AF65-F5344CB8AC3E}">
        <p14:creationId xmlns:p14="http://schemas.microsoft.com/office/powerpoint/2010/main" val="911617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D9B367-C1AA-4838-A28F-3D214F4638E4}"/>
              </a:ext>
            </a:extLst>
          </p:cNvPr>
          <p:cNvSpPr txBox="1"/>
          <p:nvPr/>
        </p:nvSpPr>
        <p:spPr>
          <a:xfrm>
            <a:off x="787789" y="365742"/>
            <a:ext cx="1067737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dirty="0"/>
              <a:t>The auricle directs sound waves into the external auditory canal.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When sound waves strike the eardrum, it vibrates back and forth.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The malleus vibrates along with the eardrum, transmitting it further to the incus and then to the stapes.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The stapes moves back and forth and makes the oval window vibrate at an intensity ~22 times more than the eardrum.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This sets up fluid pressure waves in the perilymph of cochlea. As the oval window bulges inward, it pushes on the perilymph of </a:t>
            </a:r>
            <a:r>
              <a:rPr lang="en-IN" dirty="0" err="1"/>
              <a:t>scala</a:t>
            </a:r>
            <a:r>
              <a:rPr lang="en-IN" dirty="0"/>
              <a:t> vestibuli.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Pressure waves are further transmitted to </a:t>
            </a:r>
            <a:r>
              <a:rPr lang="en-IN" dirty="0" err="1"/>
              <a:t>scala</a:t>
            </a:r>
            <a:r>
              <a:rPr lang="en-IN" dirty="0"/>
              <a:t> tympani and eventually to the round window, making it to bulge outward into the middle ear.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Pressure waves pushes the vestibular membrane and then move into the endolymph of the cochlear duct.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The pressure in the endolymph causes the basilar membrane to vibrate. Hair cells are perturbed and electrical signal is generated from mechanical vibrations.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Sound waves of various frequencies cause certain regions of the basilar membrane to vibrate more intensely than other regions. Each segment of this membrane is ‘tuned’ for a particular pitch.</a:t>
            </a:r>
          </a:p>
        </p:txBody>
      </p:sp>
    </p:spTree>
    <p:extLst>
      <p:ext uri="{BB962C8B-B14F-4D97-AF65-F5344CB8AC3E}">
        <p14:creationId xmlns:p14="http://schemas.microsoft.com/office/powerpoint/2010/main" val="2704025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47496C-CB61-468D-82D0-D3DEC4302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83" y="1459289"/>
            <a:ext cx="10021633" cy="349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32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719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lastModifiedBy>Souptick Chanda</cp:lastModifiedBy>
  <cp:revision>74</cp:revision>
  <dcterms:created xsi:type="dcterms:W3CDTF">2018-04-12T12:05:48Z</dcterms:created>
  <dcterms:modified xsi:type="dcterms:W3CDTF">2023-06-05T03:51:12Z</dcterms:modified>
</cp:coreProperties>
</file>