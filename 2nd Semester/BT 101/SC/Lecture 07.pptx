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5" r:id="rId4"/>
    <p:sldId id="266" r:id="rId5"/>
    <p:sldId id="256" r:id="rId6"/>
    <p:sldId id="257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0C89-6AA3-4E44-9F9F-7DD07B0BA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6C00F-B9F7-40BB-B47B-BF92C66D7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EE807-4146-408A-A407-983CD8A4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4FD47-1D3A-48E7-993C-D1B459EDF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E8480-E7F5-4AE1-AF13-279F2DE0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226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6AFD-0CE2-43B2-997E-9255B2AA3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C1777-5873-44DF-B3A6-4F249B0DC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EFF47-D754-47A2-8C4A-ACF1BBA1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E09D7-E6F6-43EB-9AFF-2BBC35ED0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DF0E-635B-4A55-8B41-D5F83FED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18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F8007-F83A-4489-AA3F-04DB8EA6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05069-0CD8-477E-A401-59E0BB08D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7CDB2-C665-4980-A427-A27CB073B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0EF46-587A-4497-83DB-CDE89A62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24697-CC78-424A-900D-DC59F938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37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0BE24-32A7-4420-8676-60FFF5EAE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0F094-0C23-4760-B1C6-A9B0BA49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87E01-9B07-4FD0-9CB3-3936A5C88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0F965-93C9-41CB-9E72-F3C03452B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60CF6-C7F7-456D-BA09-AD062A98D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B53E68-065D-40E8-AB5F-39F89443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993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FC38-AC3C-4663-8C2D-B820635E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BFD31-0E9A-4A73-A07A-E27C67410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90D4FA-4362-4B11-9401-50E9C11BD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BF7E75-E648-4C9B-A5CB-51B0801885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22FB90-72FD-4530-81F0-FF2B44B31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6289C1-34E1-4B26-A093-F11125603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CEAF4D-D55D-4E83-96E1-18D3E38B5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1C0180-60C6-4C96-81C1-2DD6BD81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70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7FA4F-9341-4E64-9B77-D556C5487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1D01FA-73FE-4F0A-9947-CE9D13AD8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7210C-145D-4395-882C-0A182C759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A59C1-0A4E-4463-A0A8-FFBA3E2D1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858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C0485-9691-4C10-8D20-952437A8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E206B-7654-4DBF-BA5B-F63EE7184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49F2F-A498-4C0A-B2FB-FFEAAE399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740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C058F-08F2-4631-8C64-A7C2C853B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F71B4-E441-4401-BA4E-73DC8C0AE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DFCCD-73C7-4CEC-A185-C1CCECFAD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408E1-9702-497F-8665-45BD12666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1D511-8482-461D-AA49-4504E354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E5D0B-7CE7-45A7-B40E-A1E7E900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20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AEA2-40CB-4921-9B48-32638B56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807ABE-9B30-4533-8C72-F45B12287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F5DE9-6340-406B-93B2-949E2F54E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34458-5DBE-4F40-B584-098F35FC8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58D8D6-89EF-49FE-A23B-2AD31B802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B2113-D594-413B-989B-620C4F6B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5D10-8E70-4F92-A4D3-DA2CB6883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CC75D7-C7D3-4B1D-8D9F-36E98D413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D64D9-01FC-48BF-A295-687EDBEA9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13F31-2006-492E-881D-1375E0BD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2EED2-26A8-4F2A-80B3-6910BE78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52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55A8D-A930-4781-8689-0B6976F38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64F73-7661-46BC-86DF-CAA09CA8A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2EEC6-9E34-45C2-A0A2-09A0BB97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03442-06E4-4C9F-B78D-71DBF376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F2A7BC-FC82-40EF-9361-02A18507E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71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D44452-398B-4A26-8FF3-DA185A76D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1B66-73D1-4022-A828-B16FD111D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F1EB-A556-43B5-8649-A5A3DCBBE9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78A4E-3072-4F19-8C35-719C63D13E98}" type="datetimeFigureOut">
              <a:rPr lang="en-IN" smtClean="0"/>
              <a:t>08-06-2023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0E4B9-711C-4D06-90A8-4D8D27DC35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30DED-B6B3-4C63-A23F-9F54A964B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7C8F4-0737-41AD-B9B1-F0373DF2ED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05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FC8CD2-4468-4FEE-9C9F-858785E1230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31" b="11267"/>
          <a:stretch/>
        </p:blipFill>
        <p:spPr>
          <a:xfrm>
            <a:off x="2248486" y="528569"/>
            <a:ext cx="7695028" cy="57445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3949FB-3168-44F1-81D8-155FC061B449}"/>
              </a:ext>
            </a:extLst>
          </p:cNvPr>
          <p:cNvSpPr/>
          <p:nvPr/>
        </p:nvSpPr>
        <p:spPr>
          <a:xfrm>
            <a:off x="6682155" y="3193366"/>
            <a:ext cx="3545059" cy="323556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1CE705-4152-477B-B79E-C5253838BF6E}"/>
              </a:ext>
            </a:extLst>
          </p:cNvPr>
          <p:cNvSpPr/>
          <p:nvPr/>
        </p:nvSpPr>
        <p:spPr>
          <a:xfrm>
            <a:off x="3409804" y="754347"/>
            <a:ext cx="3193369" cy="4171589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2D7707-800E-443A-B298-071AE36C41D0}"/>
              </a:ext>
            </a:extLst>
          </p:cNvPr>
          <p:cNvSpPr/>
          <p:nvPr/>
        </p:nvSpPr>
        <p:spPr>
          <a:xfrm>
            <a:off x="10171193" y="4937760"/>
            <a:ext cx="19127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sound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F4EF0-38D9-4214-B504-10ABFB862E25}"/>
              </a:ext>
            </a:extLst>
          </p:cNvPr>
          <p:cNvSpPr txBox="1"/>
          <p:nvPr/>
        </p:nvSpPr>
        <p:spPr>
          <a:xfrm>
            <a:off x="10171193" y="108016"/>
            <a:ext cx="19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Inner ear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FBD38-6F65-4973-A402-D7CBD08DEEAB}"/>
              </a:ext>
            </a:extLst>
          </p:cNvPr>
          <p:cNvSpPr txBox="1"/>
          <p:nvPr/>
        </p:nvSpPr>
        <p:spPr>
          <a:xfrm flipH="1">
            <a:off x="3968363" y="369545"/>
            <a:ext cx="226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Vestibular apparatus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E62C94-34EA-41B6-9FD9-ED5B87951384}"/>
              </a:ext>
            </a:extLst>
          </p:cNvPr>
          <p:cNvSpPr txBox="1"/>
          <p:nvPr/>
        </p:nvSpPr>
        <p:spPr>
          <a:xfrm flipH="1">
            <a:off x="8093231" y="6392428"/>
            <a:ext cx="93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Cochlea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90134E-4BCD-40E1-8203-CB68D04D2E27}"/>
              </a:ext>
            </a:extLst>
          </p:cNvPr>
          <p:cNvSpPr/>
          <p:nvPr/>
        </p:nvSpPr>
        <p:spPr>
          <a:xfrm>
            <a:off x="114889" y="463630"/>
            <a:ext cx="33981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Equilibrium</a:t>
            </a:r>
          </a:p>
        </p:txBody>
      </p:sp>
    </p:spTree>
    <p:extLst>
      <p:ext uri="{BB962C8B-B14F-4D97-AF65-F5344CB8AC3E}">
        <p14:creationId xmlns:p14="http://schemas.microsoft.com/office/powerpoint/2010/main" val="335835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2" grpId="0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AE7E6-CA1A-4D05-84C0-0112AEB1494B}"/>
              </a:ext>
            </a:extLst>
          </p:cNvPr>
          <p:cNvSpPr txBox="1"/>
          <p:nvPr/>
        </p:nvSpPr>
        <p:spPr>
          <a:xfrm>
            <a:off x="3798278" y="122249"/>
            <a:ext cx="38773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Auditory Transduction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07" y="793706"/>
            <a:ext cx="4328611" cy="2622260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551879" y="793706"/>
            <a:ext cx="3171482" cy="2622260"/>
            <a:chOff x="4967779" y="1292918"/>
            <a:chExt cx="3171482" cy="262226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7779" y="1292918"/>
              <a:ext cx="3171482" cy="2622260"/>
            </a:xfrm>
            <a:prstGeom prst="rect">
              <a:avLst/>
            </a:prstGeom>
          </p:spPr>
        </p:pic>
        <p:cxnSp>
          <p:nvCxnSpPr>
            <p:cNvPr id="10" name="Straight Arrow Connector 9"/>
            <p:cNvCxnSpPr/>
            <p:nvPr/>
          </p:nvCxnSpPr>
          <p:spPr>
            <a:xfrm>
              <a:off x="5937160" y="2884867"/>
              <a:ext cx="296216" cy="2425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6566586" y="3361386"/>
              <a:ext cx="413763" cy="2189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7186987" y="3580327"/>
              <a:ext cx="37291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6658377" y="1841679"/>
              <a:ext cx="231820" cy="270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719552" y="2591471"/>
              <a:ext cx="260797" cy="3649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7373443" y="3186964"/>
              <a:ext cx="302178" cy="39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7837083" y="2773963"/>
              <a:ext cx="147818" cy="2654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7186988" y="1975688"/>
              <a:ext cx="186455" cy="1315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7238316" y="2435531"/>
              <a:ext cx="135127" cy="2203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7559899" y="2773963"/>
              <a:ext cx="11572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 flipV="1">
              <a:off x="6386639" y="2353961"/>
              <a:ext cx="85859" cy="38351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 flipV="1">
              <a:off x="6546127" y="2855839"/>
              <a:ext cx="256368" cy="27155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H="1" flipV="1">
              <a:off x="7100912" y="2628370"/>
              <a:ext cx="175939" cy="19519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 flipV="1">
              <a:off x="6980349" y="2270198"/>
              <a:ext cx="71446" cy="27551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 flipV="1">
              <a:off x="6000945" y="3390415"/>
              <a:ext cx="359003" cy="2189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 flipV="1">
              <a:off x="5544139" y="3288816"/>
              <a:ext cx="307708" cy="449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92" name="Group 91"/>
          <p:cNvGrpSpPr/>
          <p:nvPr/>
        </p:nvGrpSpPr>
        <p:grpSpPr>
          <a:xfrm>
            <a:off x="240271" y="3548231"/>
            <a:ext cx="11792075" cy="3172399"/>
            <a:chOff x="399925" y="3548231"/>
            <a:chExt cx="11792075" cy="3172399"/>
          </a:xfrm>
        </p:grpSpPr>
        <p:grpSp>
          <p:nvGrpSpPr>
            <p:cNvPr id="74" name="Group 73"/>
            <p:cNvGrpSpPr/>
            <p:nvPr/>
          </p:nvGrpSpPr>
          <p:grpSpPr>
            <a:xfrm>
              <a:off x="399925" y="3548805"/>
              <a:ext cx="7082486" cy="3171825"/>
              <a:chOff x="3288268" y="3548805"/>
              <a:chExt cx="7082486" cy="3171825"/>
            </a:xfrm>
          </p:grpSpPr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88268" y="3548805"/>
                <a:ext cx="4705350" cy="3171825"/>
              </a:xfrm>
              <a:prstGeom prst="rect">
                <a:avLst/>
              </a:prstGeom>
            </p:spPr>
          </p:pic>
          <p:sp>
            <p:nvSpPr>
              <p:cNvPr id="61" name="TextBox 60"/>
              <p:cNvSpPr txBox="1"/>
              <p:nvPr/>
            </p:nvSpPr>
            <p:spPr>
              <a:xfrm>
                <a:off x="3288268" y="3555142"/>
                <a:ext cx="21711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rgbClr val="FFC000"/>
                    </a:solidFill>
                  </a:rPr>
                  <a:t>Looking from bottom</a:t>
                </a:r>
              </a:p>
            </p:txBody>
          </p:sp>
          <p:cxnSp>
            <p:nvCxnSpPr>
              <p:cNvPr id="64" name="Straight Arrow Connector 63"/>
              <p:cNvCxnSpPr/>
              <p:nvPr/>
            </p:nvCxnSpPr>
            <p:spPr>
              <a:xfrm flipH="1">
                <a:off x="6972726" y="4921740"/>
                <a:ext cx="1854424" cy="372030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/>
              <p:cNvCxnSpPr/>
              <p:nvPr/>
            </p:nvCxnSpPr>
            <p:spPr>
              <a:xfrm flipH="1" flipV="1">
                <a:off x="7007272" y="6039008"/>
                <a:ext cx="1595238" cy="272471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68" name="Straight Arrow Connector 67"/>
              <p:cNvCxnSpPr/>
              <p:nvPr/>
            </p:nvCxnSpPr>
            <p:spPr>
              <a:xfrm flipH="1" flipV="1">
                <a:off x="7064934" y="5705701"/>
                <a:ext cx="1620078" cy="28688"/>
              </a:xfrm>
              <a:prstGeom prst="straightConnector1">
                <a:avLst/>
              </a:prstGeom>
              <a:ln w="50800">
                <a:tailEnd type="triangle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71" name="TextBox 70"/>
              <p:cNvSpPr txBox="1"/>
              <p:nvPr/>
            </p:nvSpPr>
            <p:spPr>
              <a:xfrm>
                <a:off x="8855531" y="4737074"/>
                <a:ext cx="15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Scala </a:t>
                </a:r>
                <a:r>
                  <a:rPr lang="en-IN" dirty="0" err="1"/>
                  <a:t>Vestibuli</a:t>
                </a:r>
                <a:endParaRPr lang="en-IN" dirty="0"/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8626556" y="6146320"/>
                <a:ext cx="15107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Scala Tympani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>
                <a:off x="8699329" y="5521035"/>
                <a:ext cx="1500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Cochlear Duct</a:t>
                </a:r>
              </a:p>
            </p:txBody>
          </p:sp>
        </p:grpSp>
        <p:pic>
          <p:nvPicPr>
            <p:cNvPr id="75" name="Picture 7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31330" y="3548231"/>
              <a:ext cx="4760670" cy="3171825"/>
            </a:xfrm>
            <a:prstGeom prst="rect">
              <a:avLst/>
            </a:prstGeom>
          </p:spPr>
        </p:pic>
        <p:cxnSp>
          <p:nvCxnSpPr>
            <p:cNvPr id="85" name="Straight Arrow Connector 84"/>
            <p:cNvCxnSpPr/>
            <p:nvPr/>
          </p:nvCxnSpPr>
          <p:spPr>
            <a:xfrm>
              <a:off x="7482411" y="4984095"/>
              <a:ext cx="1858851" cy="309675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72" idx="3"/>
            </p:cNvCxnSpPr>
            <p:nvPr/>
          </p:nvCxnSpPr>
          <p:spPr>
            <a:xfrm flipV="1">
              <a:off x="7249011" y="6311479"/>
              <a:ext cx="2114464" cy="1950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7354604" y="5714883"/>
              <a:ext cx="1847256" cy="77988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7990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360479" y="172697"/>
            <a:ext cx="4823502" cy="5286147"/>
            <a:chOff x="970078" y="869383"/>
            <a:chExt cx="4823502" cy="528614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0078" y="869383"/>
              <a:ext cx="4823502" cy="5286147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599543" y="3889829"/>
              <a:ext cx="348342" cy="2322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833893" y="4082362"/>
              <a:ext cx="1977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400" b="1" dirty="0">
                  <a:solidFill>
                    <a:srgbClr val="FFC000"/>
                  </a:solidFill>
                </a:rPr>
                <a:t>Organ of </a:t>
              </a:r>
              <a:r>
                <a:rPr lang="en-IN" sz="2400" b="1" dirty="0" err="1">
                  <a:solidFill>
                    <a:srgbClr val="FFC000"/>
                  </a:solidFill>
                </a:rPr>
                <a:t>Corti</a:t>
              </a:r>
              <a:endParaRPr lang="en-IN" sz="2400" b="1" dirty="0">
                <a:solidFill>
                  <a:srgbClr val="FFC000"/>
                </a:solidFill>
              </a:endParaRPr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836" y="3643162"/>
            <a:ext cx="3603008" cy="2235199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 flipV="1">
            <a:off x="3338286" y="172696"/>
            <a:ext cx="2977807" cy="302044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3338286" y="3064374"/>
            <a:ext cx="2977807" cy="360998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6093" y="177347"/>
            <a:ext cx="4444837" cy="288702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262741" y="878114"/>
            <a:ext cx="634517" cy="3846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Arrow Connector 23"/>
          <p:cNvCxnSpPr/>
          <p:nvPr/>
        </p:nvCxnSpPr>
        <p:spPr>
          <a:xfrm flipH="1">
            <a:off x="6562836" y="1262743"/>
            <a:ext cx="1699906" cy="2380419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897258" y="1262743"/>
            <a:ext cx="1268586" cy="2380419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64892" y="380012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Tectorial membrane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9022" y="2065853"/>
            <a:ext cx="1457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C000"/>
                </a:solidFill>
              </a:rPr>
              <a:t>Basilar membrane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91638" y="1433869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Perilymph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55480" y="2639147"/>
            <a:ext cx="1247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>
                <a:solidFill>
                  <a:srgbClr val="FFC000"/>
                </a:solidFill>
              </a:rPr>
              <a:t>Endolymph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5521" y="4488274"/>
            <a:ext cx="1132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C000"/>
                </a:solidFill>
              </a:rPr>
              <a:t>Perilymph</a:t>
            </a:r>
          </a:p>
        </p:txBody>
      </p:sp>
      <p:sp>
        <p:nvSpPr>
          <p:cNvPr id="37" name="Oval 36"/>
          <p:cNvSpPr/>
          <p:nvPr/>
        </p:nvSpPr>
        <p:spPr>
          <a:xfrm>
            <a:off x="8039279" y="4475395"/>
            <a:ext cx="679718" cy="4958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86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05" y="481615"/>
            <a:ext cx="8438462" cy="49017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91351" y="5589430"/>
            <a:ext cx="8079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Entire Basilar membrane does not vibrate simultaneously - - </a:t>
            </a:r>
            <a:r>
              <a:rPr lang="en-IN" b="1" dirty="0" err="1">
                <a:solidFill>
                  <a:srgbClr val="C00000"/>
                </a:solidFill>
              </a:rPr>
              <a:t>Tonotopic</a:t>
            </a:r>
            <a:r>
              <a:rPr lang="en-IN" b="1" dirty="0">
                <a:solidFill>
                  <a:srgbClr val="C00000"/>
                </a:solidFill>
              </a:rPr>
              <a:t>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269" y="758386"/>
            <a:ext cx="23230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Lower frequency</a:t>
            </a:r>
          </a:p>
        </p:txBody>
      </p:sp>
    </p:spTree>
    <p:extLst>
      <p:ext uri="{BB962C8B-B14F-4D97-AF65-F5344CB8AC3E}">
        <p14:creationId xmlns:p14="http://schemas.microsoft.com/office/powerpoint/2010/main" val="402387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AE7E6-CA1A-4D05-84C0-0112AEB1494B}"/>
              </a:ext>
            </a:extLst>
          </p:cNvPr>
          <p:cNvSpPr txBox="1"/>
          <p:nvPr/>
        </p:nvSpPr>
        <p:spPr>
          <a:xfrm>
            <a:off x="3798278" y="379829"/>
            <a:ext cx="4386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Physiology of Equilibrium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B5B9E-E54B-4A99-869A-AE3E86FF1FEA}"/>
              </a:ext>
            </a:extLst>
          </p:cNvPr>
          <p:cNvSpPr txBox="1"/>
          <p:nvPr/>
        </p:nvSpPr>
        <p:spPr>
          <a:xfrm>
            <a:off x="1052743" y="1613393"/>
            <a:ext cx="69349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There are two types of equilibrium or balance: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034F2F-18B2-4CE5-B764-11A53947EA38}"/>
              </a:ext>
            </a:extLst>
          </p:cNvPr>
          <p:cNvSpPr txBox="1"/>
          <p:nvPr/>
        </p:nvSpPr>
        <p:spPr>
          <a:xfrm flipH="1">
            <a:off x="1410279" y="2588452"/>
            <a:ext cx="9379640" cy="34163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400" b="1" dirty="0"/>
              <a:t>Static equilibrium</a:t>
            </a:r>
          </a:p>
          <a:p>
            <a:pPr marL="285750" indent="-285750">
              <a:buFontTx/>
              <a:buChar char="-"/>
            </a:pPr>
            <a:r>
              <a:rPr lang="en-IN" sz="2400" dirty="0"/>
              <a:t>Refers to the maintenance of the position of the body (mainly the head) relative to the force of gravity, including tilting of head and linear acceleration.</a:t>
            </a:r>
          </a:p>
          <a:p>
            <a:endParaRPr lang="en-IN" sz="2400" dirty="0"/>
          </a:p>
          <a:p>
            <a:r>
              <a:rPr lang="en-IN" sz="2400" b="1" dirty="0"/>
              <a:t>Dynamic equilibrium</a:t>
            </a:r>
          </a:p>
          <a:p>
            <a:pPr marL="285750" indent="-285750">
              <a:buFontTx/>
              <a:buChar char="-"/>
            </a:pPr>
            <a:r>
              <a:rPr lang="en-IN" sz="2400" dirty="0"/>
              <a:t>Refers to the maintenance of the position of the body (mainly the head) in response to sudden movements, such as rotational acceleration or deceleration.</a:t>
            </a:r>
          </a:p>
        </p:txBody>
      </p:sp>
    </p:spTree>
    <p:extLst>
      <p:ext uri="{BB962C8B-B14F-4D97-AF65-F5344CB8AC3E}">
        <p14:creationId xmlns:p14="http://schemas.microsoft.com/office/powerpoint/2010/main" val="1041920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45E099-822B-490C-84B8-8CA83CBFC2A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8"/>
          <a:stretch/>
        </p:blipFill>
        <p:spPr>
          <a:xfrm>
            <a:off x="1758462" y="854995"/>
            <a:ext cx="8293968" cy="57568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21BF62-6305-4E3C-B521-835AE4276465}"/>
              </a:ext>
            </a:extLst>
          </p:cNvPr>
          <p:cNvSpPr txBox="1"/>
          <p:nvPr/>
        </p:nvSpPr>
        <p:spPr>
          <a:xfrm>
            <a:off x="5096570" y="206426"/>
            <a:ext cx="16177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Maculae</a:t>
            </a:r>
          </a:p>
        </p:txBody>
      </p:sp>
    </p:spTree>
    <p:extLst>
      <p:ext uri="{BB962C8B-B14F-4D97-AF65-F5344CB8AC3E}">
        <p14:creationId xmlns:p14="http://schemas.microsoft.com/office/powerpoint/2010/main" val="2751273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D6B3E7-B6CA-49F3-B6E0-EE507458E3AF}"/>
              </a:ext>
            </a:extLst>
          </p:cNvPr>
          <p:cNvSpPr txBox="1"/>
          <p:nvPr/>
        </p:nvSpPr>
        <p:spPr>
          <a:xfrm>
            <a:off x="679327" y="859496"/>
            <a:ext cx="10972800" cy="532453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2000" dirty="0"/>
              <a:t>The walls of both the utricle and the saccule contain a small, thickened region called a </a:t>
            </a:r>
            <a:r>
              <a:rPr lang="en-IN" sz="2000" b="1" dirty="0"/>
              <a:t>macula.</a:t>
            </a:r>
          </a:p>
          <a:p>
            <a:endParaRPr lang="en-IN" sz="2000" b="1" dirty="0"/>
          </a:p>
          <a:p>
            <a:r>
              <a:rPr lang="en-IN" sz="2000" dirty="0"/>
              <a:t>The two </a:t>
            </a:r>
            <a:r>
              <a:rPr lang="en-IN" sz="2000" i="1" dirty="0"/>
              <a:t>maculae</a:t>
            </a:r>
            <a:r>
              <a:rPr lang="en-IN" sz="2000" dirty="0"/>
              <a:t> (perpendicular to each other) are the receptors for </a:t>
            </a:r>
            <a:r>
              <a:rPr lang="en-IN" sz="2000" b="1" dirty="0"/>
              <a:t>static equilibrium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They </a:t>
            </a:r>
            <a:r>
              <a:rPr lang="en-IN" sz="2000" b="1" dirty="0"/>
              <a:t>provide sensory information</a:t>
            </a:r>
            <a:r>
              <a:rPr lang="en-IN" sz="2000" dirty="0"/>
              <a:t> on the </a:t>
            </a:r>
            <a:r>
              <a:rPr lang="en-IN" sz="2000" b="1" dirty="0"/>
              <a:t>position of the head </a:t>
            </a:r>
            <a:r>
              <a:rPr lang="en-IN" sz="2000" dirty="0"/>
              <a:t>in space and thus are essential for maintaining appropriate posture and balance.</a:t>
            </a:r>
          </a:p>
          <a:p>
            <a:endParaRPr lang="en-IN" sz="2000" dirty="0"/>
          </a:p>
          <a:p>
            <a:r>
              <a:rPr lang="en-IN" sz="2000" dirty="0"/>
              <a:t>They also can sense </a:t>
            </a:r>
            <a:r>
              <a:rPr lang="en-IN" sz="2000" b="1" dirty="0"/>
              <a:t>linear acceleration or deceleration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The macula contains two types of cells: </a:t>
            </a:r>
            <a:r>
              <a:rPr lang="en-IN" sz="2000" b="1" dirty="0"/>
              <a:t>Hair cells </a:t>
            </a:r>
            <a:r>
              <a:rPr lang="en-IN" sz="2000" dirty="0"/>
              <a:t>and </a:t>
            </a:r>
            <a:r>
              <a:rPr lang="en-IN" sz="2000" b="1" dirty="0"/>
              <a:t>Support cells</a:t>
            </a:r>
            <a:r>
              <a:rPr lang="en-IN" sz="2000" dirty="0"/>
              <a:t>.</a:t>
            </a:r>
          </a:p>
          <a:p>
            <a:endParaRPr lang="en-IN" sz="2000" dirty="0"/>
          </a:p>
          <a:p>
            <a:r>
              <a:rPr lang="en-IN" sz="2000" dirty="0"/>
              <a:t>Each hair cell contains </a:t>
            </a:r>
            <a:r>
              <a:rPr lang="en-IN" sz="2000" b="1" dirty="0"/>
              <a:t>40-80 stereocilia </a:t>
            </a:r>
            <a:r>
              <a:rPr lang="en-IN" sz="2000" dirty="0"/>
              <a:t>plus</a:t>
            </a:r>
            <a:r>
              <a:rPr lang="en-IN" sz="2000" b="1" dirty="0"/>
              <a:t> one kinocilium, </a:t>
            </a:r>
            <a:r>
              <a:rPr lang="en-IN" sz="2000" dirty="0"/>
              <a:t>collectively called </a:t>
            </a:r>
            <a:r>
              <a:rPr lang="en-IN" sz="2000" b="1" dirty="0"/>
              <a:t>hair bundle.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Support cells secrete the thick, gelatinous, G-protein layer, called </a:t>
            </a:r>
            <a:r>
              <a:rPr lang="en-IN" sz="2000" b="1" dirty="0"/>
              <a:t>the otolithic membrane</a:t>
            </a:r>
            <a:r>
              <a:rPr lang="en-IN" sz="2000" dirty="0"/>
              <a:t>, that rests on the hair cells.</a:t>
            </a:r>
          </a:p>
          <a:p>
            <a:endParaRPr lang="en-IN" sz="2000" b="1" dirty="0"/>
          </a:p>
          <a:p>
            <a:r>
              <a:rPr lang="en-IN" sz="2000" dirty="0"/>
              <a:t>At the top of the otolithic membrane floats calcium carbonate crystals called </a:t>
            </a:r>
            <a:r>
              <a:rPr lang="en-IN" sz="2000" b="1" dirty="0"/>
              <a:t>otoliths</a:t>
            </a:r>
            <a:r>
              <a:rPr lang="en-IN" sz="2000" dirty="0"/>
              <a:t>.</a:t>
            </a:r>
            <a:endParaRPr lang="en-IN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EC15AB-0A2C-4A0A-BEF2-8D585DB8FAC9}"/>
              </a:ext>
            </a:extLst>
          </p:cNvPr>
          <p:cNvSpPr txBox="1"/>
          <p:nvPr/>
        </p:nvSpPr>
        <p:spPr>
          <a:xfrm>
            <a:off x="3956884" y="206426"/>
            <a:ext cx="3851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Maculae: 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37522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7D2928-A915-4C52-8C1E-F39664C14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27" y="766121"/>
            <a:ext cx="6486381" cy="55681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01E5A4-AEEF-4DBC-831C-1DB48BC1B18B}"/>
              </a:ext>
            </a:extLst>
          </p:cNvPr>
          <p:cNvSpPr txBox="1"/>
          <p:nvPr/>
        </p:nvSpPr>
        <p:spPr>
          <a:xfrm>
            <a:off x="8002887" y="766121"/>
            <a:ext cx="38264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If the head is tilted forward, the otolithic membrane (along with the otoliths) is pulled by gravity.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It slides ‘downhill’ over the hair cells, in the direction of the tilt, bending the hair bundles.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This causes the hair cells depolarize or repolarize, facilitating release of neurotransmitter at faster or slower rate.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hair cells synapse with first order sensory neurons in the vestibulocochlear nerve.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The also synapse with motor neurons that regulate sensitivity of the hair cells.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020824-B77D-4DE4-951D-42433CC3673D}"/>
              </a:ext>
            </a:extLst>
          </p:cNvPr>
          <p:cNvSpPr txBox="1"/>
          <p:nvPr/>
        </p:nvSpPr>
        <p:spPr>
          <a:xfrm>
            <a:off x="3975652" y="119273"/>
            <a:ext cx="4645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Macula: its role in static equilibrium</a:t>
            </a:r>
          </a:p>
        </p:txBody>
      </p:sp>
    </p:spTree>
    <p:extLst>
      <p:ext uri="{BB962C8B-B14F-4D97-AF65-F5344CB8AC3E}">
        <p14:creationId xmlns:p14="http://schemas.microsoft.com/office/powerpoint/2010/main" val="35348978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D18F05-250F-43AA-B8FD-AD7950B0E996}"/>
              </a:ext>
            </a:extLst>
          </p:cNvPr>
          <p:cNvSpPr txBox="1"/>
          <p:nvPr/>
        </p:nvSpPr>
        <p:spPr>
          <a:xfrm>
            <a:off x="3975653" y="397565"/>
            <a:ext cx="4426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Three </a:t>
            </a:r>
            <a:r>
              <a:rPr lang="en-IN" sz="2800" dirty="0" err="1"/>
              <a:t>Semicircular</a:t>
            </a:r>
            <a:r>
              <a:rPr lang="en-IN" sz="2800" dirty="0"/>
              <a:t> Ducts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2BC413-BA3B-4AC3-9666-4C54EB8DF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0" y="1170124"/>
            <a:ext cx="10858500" cy="467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40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2606D7-F213-416D-A52C-3CCEAD57C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66" y="749874"/>
            <a:ext cx="7384496" cy="56774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E683A8-85C3-477E-AC0E-7D05183F8DC2}"/>
              </a:ext>
            </a:extLst>
          </p:cNvPr>
          <p:cNvSpPr txBox="1"/>
          <p:nvPr/>
        </p:nvSpPr>
        <p:spPr>
          <a:xfrm>
            <a:off x="3034746" y="79516"/>
            <a:ext cx="6162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/>
              <a:t>Semicircular</a:t>
            </a:r>
            <a:r>
              <a:rPr lang="en-IN" sz="2400" dirty="0"/>
              <a:t> ducts: role in dynamic equilibrium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2D2556-1865-4B39-AD92-B74F8D4F3775}"/>
              </a:ext>
            </a:extLst>
          </p:cNvPr>
          <p:cNvSpPr txBox="1"/>
          <p:nvPr/>
        </p:nvSpPr>
        <p:spPr>
          <a:xfrm>
            <a:off x="8560903" y="649792"/>
            <a:ext cx="328653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three ducts function in dynamic equilibrium.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The ducts lie at right angles to one another in three mutually perpendicular plane.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This positioning permits detection of rotational acceleration or deceleration.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In the ampulla, there is a small elevation called </a:t>
            </a:r>
            <a:r>
              <a:rPr lang="en-IN" b="1" dirty="0"/>
              <a:t>crista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Covering the crista is a mass of gelatinous material called the </a:t>
            </a:r>
            <a:r>
              <a:rPr lang="en-IN" b="1" dirty="0"/>
              <a:t>cupula</a:t>
            </a:r>
            <a:r>
              <a:rPr lang="en-IN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IN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N" dirty="0"/>
              <a:t>If the head is rotated, cupula is pushed over thereby stimulating the hair cells.</a:t>
            </a:r>
          </a:p>
        </p:txBody>
      </p:sp>
    </p:spTree>
    <p:extLst>
      <p:ext uri="{BB962C8B-B14F-4D97-AF65-F5344CB8AC3E}">
        <p14:creationId xmlns:p14="http://schemas.microsoft.com/office/powerpoint/2010/main" val="829363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7C9DD0-30ED-47C0-BB59-7089944CF502}"/>
              </a:ext>
            </a:extLst>
          </p:cNvPr>
          <p:cNvSpPr txBox="1"/>
          <p:nvPr/>
        </p:nvSpPr>
        <p:spPr>
          <a:xfrm>
            <a:off x="3988904" y="397567"/>
            <a:ext cx="42270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Quick test on functionality: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FE9DC3-1335-47AD-B272-B1082AAAADCD}"/>
              </a:ext>
            </a:extLst>
          </p:cNvPr>
          <p:cNvSpPr txBox="1"/>
          <p:nvPr/>
        </p:nvSpPr>
        <p:spPr>
          <a:xfrm>
            <a:off x="1457739" y="1391483"/>
            <a:ext cx="85443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Auricle ?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	Eardrum ?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		Auditory </a:t>
            </a:r>
            <a:r>
              <a:rPr lang="en-IN" sz="2400" dirty="0" err="1">
                <a:solidFill>
                  <a:schemeClr val="accent3">
                    <a:lumMod val="50000"/>
                  </a:schemeClr>
                </a:solidFill>
              </a:rPr>
              <a:t>ossicles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?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			Eustachian tube ?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					Cochlea ?</a:t>
            </a:r>
          </a:p>
          <a:p>
            <a:endParaRPr lang="en-IN" sz="2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						Vestibular apparatus: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 						 - Utricle and Saccule ?</a:t>
            </a:r>
          </a:p>
          <a:p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 						 - </a:t>
            </a:r>
            <a:r>
              <a:rPr lang="en-IN" sz="2400" dirty="0" err="1">
                <a:solidFill>
                  <a:schemeClr val="accent3">
                    <a:lumMod val="50000"/>
                  </a:schemeClr>
                </a:solidFill>
              </a:rPr>
              <a:t>Semicircular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</a:rPr>
              <a:t> ducts ?</a:t>
            </a:r>
          </a:p>
        </p:txBody>
      </p:sp>
    </p:spTree>
    <p:extLst>
      <p:ext uri="{BB962C8B-B14F-4D97-AF65-F5344CB8AC3E}">
        <p14:creationId xmlns:p14="http://schemas.microsoft.com/office/powerpoint/2010/main" val="254038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497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Bunty pc</dc:creator>
  <cp:lastModifiedBy>Souptick Chanda</cp:lastModifiedBy>
  <cp:revision>58</cp:revision>
  <dcterms:created xsi:type="dcterms:W3CDTF">2018-04-18T17:46:14Z</dcterms:created>
  <dcterms:modified xsi:type="dcterms:W3CDTF">2023-06-09T02:07:22Z</dcterms:modified>
</cp:coreProperties>
</file>