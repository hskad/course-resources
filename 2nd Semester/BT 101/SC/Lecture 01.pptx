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0" r:id="rId6"/>
    <p:sldId id="263" r:id="rId7"/>
    <p:sldId id="259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40292-1E11-429E-AEAA-701B66F77009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06FCD-6961-4628-A01C-FDBB5E6C5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461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FCD-6961-4628-A01C-FDBB5E6C5CB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416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94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91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25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41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99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48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53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51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1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08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7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4CC01-A1A3-4F8E-9773-5D6D96CF4DC6}" type="datetimeFigureOut">
              <a:rPr lang="en-IN" smtClean="0"/>
              <a:t>11-03-24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6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6770" y="446566"/>
            <a:ext cx="10894742" cy="54014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CIDFont+F1"/>
              </a:rPr>
              <a:t>BT 101                                 MODERN BIOLOGY                                     3 0 0 6</a:t>
            </a:r>
          </a:p>
          <a:p>
            <a:endParaRPr lang="en-IN" sz="2400" b="1" i="0" u="none" strike="noStrike" baseline="0" dirty="0">
              <a:solidFill>
                <a:schemeClr val="accent2">
                  <a:lumMod val="75000"/>
                </a:schemeClr>
              </a:solidFill>
              <a:latin typeface="CIDFont+F1"/>
            </a:endParaRPr>
          </a:p>
          <a:p>
            <a:r>
              <a:rPr lang="en-IN" sz="2000" b="0" i="0" u="none" strike="noStrike" baseline="0" dirty="0">
                <a:solidFill>
                  <a:srgbClr val="000000"/>
                </a:solidFill>
                <a:latin typeface="CIDFont+F1"/>
              </a:rPr>
              <a:t>Pre-requisite: Nil</a:t>
            </a:r>
          </a:p>
          <a:p>
            <a:endParaRPr lang="en-IN" sz="1400" dirty="0">
              <a:solidFill>
                <a:srgbClr val="000000"/>
              </a:solidFill>
              <a:latin typeface="CIDFont+F4"/>
            </a:endParaRPr>
          </a:p>
          <a:p>
            <a:r>
              <a:rPr lang="en-IN" sz="1400" b="1" u="sng" dirty="0">
                <a:solidFill>
                  <a:srgbClr val="000000"/>
                </a:solidFill>
                <a:latin typeface="CIDFont+F4"/>
              </a:rPr>
              <a:t>Division IV:</a:t>
            </a:r>
          </a:p>
          <a:p>
            <a:endParaRPr lang="en-IN" sz="1400" dirty="0">
              <a:solidFill>
                <a:srgbClr val="000000"/>
              </a:solidFill>
              <a:latin typeface="CIDFont+F4"/>
            </a:endParaRPr>
          </a:p>
          <a:p>
            <a:r>
              <a:rPr lang="en-IN" sz="1400" b="1" u="sng" dirty="0">
                <a:solidFill>
                  <a:srgbClr val="000000"/>
                </a:solidFill>
                <a:latin typeface="CIDFont+F4"/>
              </a:rPr>
              <a:t>Human physiology: biological axons and neurons, neuromuscular and synaptic junctions; sensory systems - hearing, taste, smell and visual receptors.</a:t>
            </a:r>
            <a:r>
              <a:rPr lang="en-IN" sz="1400" b="1" dirty="0">
                <a:solidFill>
                  <a:srgbClr val="000000"/>
                </a:solidFill>
                <a:latin typeface="CIDFont+F4"/>
              </a:rPr>
              <a:t>  </a:t>
            </a:r>
            <a:r>
              <a:rPr lang="en-IN" sz="1400" dirty="0" err="1">
                <a:solidFill>
                  <a:srgbClr val="7030A0"/>
                </a:solidFill>
                <a:latin typeface="CIDFont+F4"/>
              </a:rPr>
              <a:t>Dr.</a:t>
            </a:r>
            <a:r>
              <a:rPr lang="en-IN" sz="1400" dirty="0">
                <a:solidFill>
                  <a:srgbClr val="7030A0"/>
                </a:solidFill>
                <a:latin typeface="CIDFont+F4"/>
              </a:rPr>
              <a:t> </a:t>
            </a:r>
            <a:r>
              <a:rPr lang="en-IN" sz="1400" dirty="0" err="1">
                <a:solidFill>
                  <a:srgbClr val="7030A0"/>
                </a:solidFill>
                <a:latin typeface="CIDFont+F4"/>
              </a:rPr>
              <a:t>Souptick</a:t>
            </a:r>
            <a:r>
              <a:rPr lang="en-IN" sz="1400" dirty="0">
                <a:solidFill>
                  <a:srgbClr val="7030A0"/>
                </a:solidFill>
                <a:latin typeface="CIDFont+F4"/>
              </a:rPr>
              <a:t> </a:t>
            </a:r>
            <a:r>
              <a:rPr lang="en-IN" sz="1400" dirty="0" err="1">
                <a:solidFill>
                  <a:srgbClr val="7030A0"/>
                </a:solidFill>
                <a:latin typeface="CIDFont+F4"/>
              </a:rPr>
              <a:t>Chanda</a:t>
            </a:r>
            <a:endParaRPr lang="en-IN" sz="1400" dirty="0">
              <a:solidFill>
                <a:srgbClr val="7030A0"/>
              </a:solidFill>
              <a:latin typeface="CIDFont+F4"/>
            </a:endParaRPr>
          </a:p>
          <a:p>
            <a:endParaRPr lang="en-IN" sz="1400" dirty="0">
              <a:solidFill>
                <a:srgbClr val="000000"/>
              </a:solidFill>
              <a:latin typeface="CIDFont+F1"/>
            </a:endParaRPr>
          </a:p>
          <a:p>
            <a:r>
              <a:rPr lang="en-IN" sz="1100" b="0" i="0" u="none" strike="noStrike" baseline="0" dirty="0">
                <a:solidFill>
                  <a:srgbClr val="000000"/>
                </a:solidFill>
                <a:latin typeface="CIDFont+F1"/>
              </a:rPr>
              <a:t>Texts: </a:t>
            </a:r>
          </a:p>
          <a:p>
            <a:pPr marL="342900" indent="-342900">
              <a:buAutoNum type="arabicPeriod"/>
            </a:pPr>
            <a:r>
              <a:rPr lang="en-IN" sz="1400" dirty="0">
                <a:solidFill>
                  <a:srgbClr val="000000"/>
                </a:solidFill>
                <a:latin typeface="CIDFont+F4"/>
              </a:rPr>
              <a:t>J. L. </a:t>
            </a:r>
            <a:r>
              <a:rPr lang="en-IN" sz="1400" dirty="0" err="1">
                <a:solidFill>
                  <a:srgbClr val="000000"/>
                </a:solidFill>
                <a:latin typeface="CIDFont+F4"/>
              </a:rPr>
              <a:t>Tymoczko</a:t>
            </a:r>
            <a:r>
              <a:rPr lang="en-IN" sz="1400" dirty="0">
                <a:solidFill>
                  <a:srgbClr val="000000"/>
                </a:solidFill>
                <a:latin typeface="CIDFont+F4"/>
              </a:rPr>
              <a:t>, J. M. Berg and L. </a:t>
            </a:r>
            <a:r>
              <a:rPr lang="en-IN" sz="1400" dirty="0" err="1">
                <a:solidFill>
                  <a:srgbClr val="000000"/>
                </a:solidFill>
                <a:latin typeface="CIDFont+F4"/>
              </a:rPr>
              <a:t>Stryer</a:t>
            </a:r>
            <a:r>
              <a:rPr lang="en-IN" sz="1400" dirty="0">
                <a:solidFill>
                  <a:srgbClr val="000000"/>
                </a:solidFill>
                <a:latin typeface="CIDFont+F4"/>
              </a:rPr>
              <a:t>, Biochemistry, 5</a:t>
            </a:r>
            <a:r>
              <a:rPr lang="en-IN" sz="600" b="0" i="0" u="none" strike="noStrike" baseline="0" dirty="0">
                <a:solidFill>
                  <a:srgbClr val="000000"/>
                </a:solidFill>
                <a:latin typeface="CIDFont+F4"/>
              </a:rPr>
              <a:t>th </a:t>
            </a:r>
            <a:r>
              <a:rPr lang="en-IN" sz="1400" dirty="0">
                <a:solidFill>
                  <a:srgbClr val="000000"/>
                </a:solidFill>
                <a:latin typeface="CIDFont+F4"/>
              </a:rPr>
              <a:t>Ed, W. H. Freeman &amp; Co, 2002. 2. D. L. Nelson and M. M. Cox, </a:t>
            </a:r>
            <a:r>
              <a:rPr lang="en-IN" sz="1400" dirty="0" err="1">
                <a:solidFill>
                  <a:srgbClr val="000000"/>
                </a:solidFill>
                <a:latin typeface="CIDFont+F4"/>
              </a:rPr>
              <a:t>Lehninger</a:t>
            </a:r>
            <a:r>
              <a:rPr lang="en-IN" sz="1400" dirty="0">
                <a:solidFill>
                  <a:srgbClr val="000000"/>
                </a:solidFill>
                <a:latin typeface="CIDFont+F4"/>
              </a:rPr>
              <a:t> Principles of Biochemistry, Macmillan Worth, 2000. </a:t>
            </a:r>
          </a:p>
          <a:p>
            <a:endParaRPr lang="en-IN" sz="1100" b="0" i="0" u="none" strike="noStrike" baseline="0" dirty="0">
              <a:solidFill>
                <a:srgbClr val="000000"/>
              </a:solidFill>
              <a:latin typeface="CIDFont+F1"/>
            </a:endParaRPr>
          </a:p>
          <a:p>
            <a:r>
              <a:rPr lang="en-IN" sz="1100" b="0" i="0" u="none" strike="noStrike" baseline="0" dirty="0">
                <a:solidFill>
                  <a:srgbClr val="000000"/>
                </a:solidFill>
                <a:latin typeface="CIDFont+F1"/>
              </a:rPr>
              <a:t>References</a:t>
            </a:r>
            <a:r>
              <a:rPr lang="en-IN" sz="1100" b="0" i="0" u="none" strike="noStrike" baseline="0" dirty="0">
                <a:solidFill>
                  <a:srgbClr val="000000"/>
                </a:solidFill>
                <a:latin typeface="CIDFont+F4"/>
              </a:rPr>
              <a:t>: </a:t>
            </a:r>
          </a:p>
          <a:p>
            <a:pPr marL="342900" indent="-342900">
              <a:buAutoNum type="arabicPeriod"/>
            </a:pPr>
            <a:r>
              <a:rPr lang="en-IN" sz="1400" dirty="0">
                <a:solidFill>
                  <a:srgbClr val="000000"/>
                </a:solidFill>
                <a:latin typeface="CIDFont+F4"/>
              </a:rPr>
              <a:t>N. Hopkins, J. W. Roberts, J. A. </a:t>
            </a:r>
            <a:r>
              <a:rPr lang="en-IN" sz="1400" dirty="0" err="1">
                <a:solidFill>
                  <a:srgbClr val="000000"/>
                </a:solidFill>
                <a:latin typeface="CIDFont+F4"/>
              </a:rPr>
              <a:t>Steitz</a:t>
            </a:r>
            <a:r>
              <a:rPr lang="en-IN" sz="1400" dirty="0">
                <a:solidFill>
                  <a:srgbClr val="000000"/>
                </a:solidFill>
                <a:latin typeface="CIDFont+F4"/>
              </a:rPr>
              <a:t>, J. Watson and A. M. Weiner, Molecular Biology of the Gene, 4</a:t>
            </a:r>
            <a:r>
              <a:rPr lang="en-IN" sz="600" b="0" i="0" u="none" strike="noStrike" baseline="0" dirty="0">
                <a:solidFill>
                  <a:srgbClr val="000000"/>
                </a:solidFill>
                <a:latin typeface="CIDFont+F4"/>
              </a:rPr>
              <a:t>th </a:t>
            </a:r>
            <a:r>
              <a:rPr lang="en-IN" sz="1400" dirty="0">
                <a:solidFill>
                  <a:srgbClr val="000000"/>
                </a:solidFill>
                <a:latin typeface="CIDFont+F4"/>
              </a:rPr>
              <a:t>Ed, Benjamin Cummings, 1987. </a:t>
            </a:r>
          </a:p>
          <a:p>
            <a:pPr marL="342900" indent="-342900">
              <a:buAutoNum type="arabicPeriod"/>
            </a:pPr>
            <a:r>
              <a:rPr lang="en-IN" sz="1400" dirty="0">
                <a:solidFill>
                  <a:srgbClr val="000000"/>
                </a:solidFill>
                <a:latin typeface="CIDFont+F4"/>
              </a:rPr>
              <a:t>C. R. Cantor and P. R. </a:t>
            </a:r>
            <a:r>
              <a:rPr lang="en-IN" sz="1400" dirty="0" err="1">
                <a:solidFill>
                  <a:srgbClr val="000000"/>
                </a:solidFill>
                <a:latin typeface="CIDFont+F4"/>
              </a:rPr>
              <a:t>Schimmel</a:t>
            </a:r>
            <a:r>
              <a:rPr lang="en-IN" sz="1400" dirty="0">
                <a:solidFill>
                  <a:srgbClr val="000000"/>
                </a:solidFill>
                <a:latin typeface="CIDFont+F4"/>
              </a:rPr>
              <a:t>, Biophysical Chemistry (Parts I, II and III), W.H. Freeman &amp; Co., 1980.</a:t>
            </a:r>
          </a:p>
          <a:p>
            <a:r>
              <a:rPr lang="en-IN" sz="1400" dirty="0">
                <a:solidFill>
                  <a:srgbClr val="000000"/>
                </a:solidFill>
                <a:latin typeface="CIDFont+F4"/>
              </a:rPr>
              <a:t>3.    </a:t>
            </a:r>
            <a:r>
              <a:rPr lang="en-IN" sz="1400" b="1" dirty="0">
                <a:solidFill>
                  <a:srgbClr val="000000"/>
                </a:solidFill>
                <a:latin typeface="CIDFont+F4"/>
              </a:rPr>
              <a:t>C. C. Chatterjee, Human Physiology, Vol 1 &amp; 2, 11</a:t>
            </a:r>
            <a:r>
              <a:rPr lang="en-IN" sz="600" b="1" i="0" u="none" strike="noStrike" baseline="0" dirty="0">
                <a:solidFill>
                  <a:srgbClr val="000000"/>
                </a:solidFill>
                <a:latin typeface="CIDFont+F4"/>
              </a:rPr>
              <a:t>th </a:t>
            </a:r>
            <a:r>
              <a:rPr lang="en-IN" sz="1400" b="1" dirty="0">
                <a:solidFill>
                  <a:srgbClr val="000000"/>
                </a:solidFill>
                <a:latin typeface="CIDFont+F4"/>
              </a:rPr>
              <a:t>Ed, Medical Allied Agency, 1987</a:t>
            </a:r>
            <a:r>
              <a:rPr lang="en-IN" sz="2000" b="1" i="0" u="none" strike="noStrike" baseline="0" dirty="0">
                <a:solidFill>
                  <a:srgbClr val="000000"/>
                </a:solidFill>
                <a:latin typeface="CIDFont+F4"/>
              </a:rPr>
              <a:t>. </a:t>
            </a:r>
          </a:p>
          <a:p>
            <a:endParaRPr lang="en-IN" b="0" i="0" u="none" strike="noStrike" baseline="0" dirty="0">
              <a:solidFill>
                <a:srgbClr val="000000"/>
              </a:solidFill>
              <a:latin typeface="CIDFont+F4"/>
            </a:endParaRPr>
          </a:p>
          <a:p>
            <a:r>
              <a:rPr lang="en-IN" sz="1600" b="0" i="0" u="none" strike="noStrike" baseline="0" dirty="0">
                <a:solidFill>
                  <a:srgbClr val="0563C2"/>
                </a:solidFill>
                <a:latin typeface="CIDFont+F4"/>
              </a:rPr>
              <a:t>http://shilloi.iitg.ernet.in/~biotech/BT%20Syllabus/BT%20101.htm</a:t>
            </a:r>
          </a:p>
          <a:p>
            <a:endParaRPr lang="en-IN" sz="2000" b="0" i="0" u="none" strike="noStrike" baseline="0" dirty="0">
              <a:solidFill>
                <a:srgbClr val="000000"/>
              </a:solidFill>
              <a:latin typeface="CIDFont+F6"/>
            </a:endParaRPr>
          </a:p>
          <a:p>
            <a:r>
              <a:rPr lang="en-IN" sz="1600" b="0" i="0" u="none" strike="noStrike" baseline="0" dirty="0">
                <a:solidFill>
                  <a:srgbClr val="000000"/>
                </a:solidFill>
                <a:latin typeface="CIDFont+F6"/>
              </a:rPr>
              <a:t>Text book of Medical physiology, Guyton and Hall</a:t>
            </a:r>
            <a:endParaRPr lang="en-IN" sz="1000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735980" y="929549"/>
            <a:ext cx="10671718" cy="4460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19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26636" y="836344"/>
            <a:ext cx="947853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i="0" u="none" strike="noStrike" baseline="0" dirty="0">
                <a:latin typeface="CIDFont+F7"/>
              </a:rPr>
              <a:t>Grading Pattern</a:t>
            </a:r>
          </a:p>
          <a:p>
            <a:endParaRPr lang="en-IN" sz="3600" b="0" i="0" u="none" strike="noStrike" baseline="0" dirty="0">
              <a:latin typeface="CIDFont+F7"/>
            </a:endParaRPr>
          </a:p>
          <a:p>
            <a:r>
              <a:rPr lang="en-IN" sz="2400" dirty="0">
                <a:latin typeface="CIDFont+F4"/>
              </a:rPr>
              <a:t>• </a:t>
            </a:r>
            <a:r>
              <a:rPr lang="en-IN" sz="2400" dirty="0">
                <a:latin typeface="CIDFont+F5"/>
              </a:rPr>
              <a:t>Mid semester:  50 marks</a:t>
            </a:r>
          </a:p>
          <a:p>
            <a:r>
              <a:rPr lang="en-IN" sz="2400" dirty="0">
                <a:latin typeface="CIDFont+F4"/>
              </a:rPr>
              <a:t>• </a:t>
            </a:r>
            <a:r>
              <a:rPr lang="en-IN" sz="2400" strike="sngStrike" dirty="0">
                <a:latin typeface="CIDFont+F5"/>
              </a:rPr>
              <a:t>Quiz </a:t>
            </a:r>
            <a:r>
              <a:rPr lang="en-IN" sz="2400" u="sng" strike="sngStrike" dirty="0">
                <a:latin typeface="CIDFont+F5"/>
              </a:rPr>
              <a:t>before</a:t>
            </a:r>
            <a:r>
              <a:rPr lang="en-IN" sz="2400" strike="sngStrike" dirty="0">
                <a:latin typeface="CIDFont+F5"/>
              </a:rPr>
              <a:t> mid semester:  10 marks</a:t>
            </a:r>
          </a:p>
          <a:p>
            <a:r>
              <a:rPr lang="en-IN" sz="2400" dirty="0">
                <a:latin typeface="CIDFont+F4"/>
              </a:rPr>
              <a:t>• </a:t>
            </a:r>
            <a:r>
              <a:rPr lang="en-IN" sz="2400" dirty="0">
                <a:latin typeface="CIDFont+F5"/>
              </a:rPr>
              <a:t>Final semester :  50 marks</a:t>
            </a:r>
          </a:p>
          <a:p>
            <a:pPr lvl="0"/>
            <a:r>
              <a:rPr lang="en-IN" sz="2400" dirty="0">
                <a:latin typeface="CIDFont+F4"/>
              </a:rPr>
              <a:t>• </a:t>
            </a:r>
            <a:r>
              <a:rPr lang="en-IN" sz="2400" strike="sngStrike" dirty="0">
                <a:latin typeface="CIDFont+F5"/>
              </a:rPr>
              <a:t>Quiz </a:t>
            </a:r>
            <a:r>
              <a:rPr lang="en-IN" sz="2400" u="sng" strike="sngStrike" dirty="0">
                <a:latin typeface="CIDFont+F5"/>
              </a:rPr>
              <a:t>after</a:t>
            </a:r>
            <a:r>
              <a:rPr lang="en-IN" sz="2400" strike="sngStrike" dirty="0">
                <a:latin typeface="CIDFont+F5"/>
              </a:rPr>
              <a:t> mid semester:  10 marks</a:t>
            </a:r>
          </a:p>
          <a:p>
            <a:pPr lvl="0"/>
            <a:endParaRPr lang="en-IN" sz="2400" dirty="0">
              <a:latin typeface="CIDFont+F5"/>
            </a:endParaRPr>
          </a:p>
          <a:p>
            <a:pPr lvl="0"/>
            <a:endParaRPr lang="en-IN" sz="2400" dirty="0">
              <a:latin typeface="CIDFont+F5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CIDFont+F5"/>
              </a:rPr>
              <a:t>No re-examination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solidFill>
                <a:srgbClr val="FF0000"/>
              </a:solidFill>
              <a:latin typeface="CIDFont+F5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CIDFont+F5"/>
              </a:rPr>
              <a:t>Attendance guidelines shall be strictly followed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19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37423" y="836341"/>
            <a:ext cx="9255514" cy="32316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dirty="0">
                <a:latin typeface="CIDFont+F1"/>
              </a:rPr>
              <a:t>Human physiology:</a:t>
            </a:r>
          </a:p>
          <a:p>
            <a:endParaRPr lang="en-IN" sz="2400" dirty="0">
              <a:latin typeface="CIDFont+F1"/>
            </a:endParaRPr>
          </a:p>
          <a:p>
            <a:r>
              <a:rPr lang="en-IN" sz="2400" dirty="0">
                <a:latin typeface="CIDFont+F1"/>
              </a:rPr>
              <a:t>Nervous system, biological axons and neurons, neuromuscular and synaptic junctions;</a:t>
            </a:r>
          </a:p>
          <a:p>
            <a:endParaRPr lang="en-IN" sz="2400" dirty="0">
              <a:latin typeface="CIDFont+F1"/>
            </a:endParaRPr>
          </a:p>
          <a:p>
            <a:r>
              <a:rPr lang="en-IN" sz="2400" dirty="0">
                <a:latin typeface="CIDFont+F1"/>
              </a:rPr>
              <a:t>Sensory systems - hearing, taste, smell and visual receptors;</a:t>
            </a:r>
          </a:p>
          <a:p>
            <a:endParaRPr lang="en-IN" sz="2400" dirty="0">
              <a:latin typeface="CIDFont+F1"/>
            </a:endParaRPr>
          </a:p>
          <a:p>
            <a:r>
              <a:rPr lang="en-IN" sz="2400" dirty="0">
                <a:latin typeface="CIDFont+F1"/>
              </a:rPr>
              <a:t>Introduction to ANN.</a:t>
            </a:r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8456342" y="4834276"/>
            <a:ext cx="27840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Dr. Souptick Chanda,</a:t>
            </a:r>
          </a:p>
          <a:p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BSBE, IIT Guwahati</a:t>
            </a:r>
          </a:p>
        </p:txBody>
      </p:sp>
    </p:spTree>
    <p:extLst>
      <p:ext uri="{BB962C8B-B14F-4D97-AF65-F5344CB8AC3E}">
        <p14:creationId xmlns:p14="http://schemas.microsoft.com/office/powerpoint/2010/main" val="398779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90" y="675812"/>
            <a:ext cx="9883581" cy="575844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166638" y="306480"/>
            <a:ext cx="3741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CIDFont+F1"/>
              </a:rPr>
              <a:t>The Nervous System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71371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5" b="2468"/>
          <a:stretch/>
        </p:blipFill>
        <p:spPr>
          <a:xfrm>
            <a:off x="131738" y="1"/>
            <a:ext cx="8326680" cy="68238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36659" y="2137410"/>
            <a:ext cx="300764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latin typeface="CIDFont+F1"/>
              </a:rPr>
              <a:t>The major components and functions of the</a:t>
            </a:r>
            <a:r>
              <a:rPr lang="en-IN" sz="2800" u="sng" dirty="0">
                <a:latin typeface="CIDFont+F1"/>
              </a:rPr>
              <a:t> central nervous system (CNS)</a:t>
            </a:r>
            <a:endParaRPr lang="en-IN" sz="2800" u="sng" dirty="0"/>
          </a:p>
        </p:txBody>
      </p:sp>
    </p:spTree>
    <p:extLst>
      <p:ext uri="{BB962C8B-B14F-4D97-AF65-F5344CB8AC3E}">
        <p14:creationId xmlns:p14="http://schemas.microsoft.com/office/powerpoint/2010/main" val="1488516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6900"/>
            <a:ext cx="4810978" cy="60370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615" y="1342275"/>
            <a:ext cx="7101385" cy="399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0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22" y="875369"/>
            <a:ext cx="8132426" cy="56926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74735" y="214542"/>
            <a:ext cx="3057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CIDFont+F1"/>
              </a:rPr>
              <a:t>The Special Senses</a:t>
            </a:r>
            <a:endParaRPr lang="en-IN" sz="24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081" y="3697094"/>
            <a:ext cx="2891419" cy="2891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54"/>
          <a:stretch/>
        </p:blipFill>
        <p:spPr>
          <a:xfrm>
            <a:off x="8656917" y="445375"/>
            <a:ext cx="3267456" cy="304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15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340" y="654303"/>
            <a:ext cx="1057318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latin typeface="CIDFont+F1"/>
              </a:rPr>
              <a:t>In short, the nervous system has three overall functions:</a:t>
            </a:r>
          </a:p>
          <a:p>
            <a:endParaRPr lang="en-IN" sz="2800" u="sng" dirty="0">
              <a:latin typeface="CIDFont+F1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u="sng" dirty="0">
                <a:latin typeface="CIDFont+F1"/>
              </a:rPr>
              <a:t>Sensory function</a:t>
            </a:r>
            <a:r>
              <a:rPr lang="en-IN" sz="2000" b="1" dirty="0">
                <a:latin typeface="CIDFont+F1"/>
              </a:rPr>
              <a:t> </a:t>
            </a:r>
            <a:r>
              <a:rPr lang="en-IN" sz="2000" dirty="0">
                <a:latin typeface="CIDFont+F1"/>
              </a:rPr>
              <a:t>-  sensory receptors detect the changes in the external environment.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CIDFont+F1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u="sng" dirty="0">
                <a:latin typeface="CIDFont+F1"/>
              </a:rPr>
              <a:t>Integrative function</a:t>
            </a:r>
            <a:r>
              <a:rPr lang="en-IN" sz="2000" b="1" dirty="0">
                <a:latin typeface="CIDFont+F1"/>
              </a:rPr>
              <a:t> </a:t>
            </a:r>
            <a:r>
              <a:rPr lang="en-IN" sz="2000" dirty="0">
                <a:latin typeface="CIDFont+F1"/>
              </a:rPr>
              <a:t>-  The CNS integrates this information.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CIDFont+F1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u="sng" dirty="0">
                <a:latin typeface="CIDFont+F1"/>
              </a:rPr>
              <a:t>Motor function</a:t>
            </a:r>
            <a:r>
              <a:rPr lang="en-IN" sz="2000" b="1" dirty="0">
                <a:latin typeface="CIDFont+F1"/>
              </a:rPr>
              <a:t> </a:t>
            </a:r>
            <a:r>
              <a:rPr lang="en-IN" sz="2000" dirty="0">
                <a:latin typeface="CIDFont+F1"/>
              </a:rPr>
              <a:t>-  effectors (muscles and glands) bring about a response.</a:t>
            </a:r>
          </a:p>
          <a:p>
            <a:endParaRPr lang="en-IN" sz="2800" u="sng" dirty="0">
              <a:latin typeface="CIDFont+F1"/>
            </a:endParaRPr>
          </a:p>
          <a:p>
            <a:r>
              <a:rPr lang="en-IN" sz="2400" dirty="0">
                <a:latin typeface="CIDFont+F1"/>
              </a:rPr>
              <a:t>Example: You are riding a bicycle and see that the traffic light has turned </a:t>
            </a:r>
            <a:r>
              <a:rPr lang="en-IN" sz="2400" dirty="0">
                <a:solidFill>
                  <a:srgbClr val="FF0000"/>
                </a:solidFill>
                <a:latin typeface="CIDFont+F1"/>
              </a:rPr>
              <a:t>RED</a:t>
            </a:r>
            <a:r>
              <a:rPr lang="en-IN" sz="2400" dirty="0">
                <a:latin typeface="CIDFont+F1"/>
              </a:rPr>
              <a:t> (</a:t>
            </a:r>
            <a:r>
              <a:rPr lang="en-IN" sz="2400" u="sng" dirty="0">
                <a:latin typeface="CIDFont+F1"/>
              </a:rPr>
              <a:t>sensory function</a:t>
            </a:r>
            <a:r>
              <a:rPr lang="en-IN" sz="2400" dirty="0">
                <a:latin typeface="CIDFont+F1"/>
              </a:rPr>
              <a:t>). Your CNS integrates the information (</a:t>
            </a:r>
            <a:r>
              <a:rPr lang="en-IN" sz="2400" dirty="0">
                <a:solidFill>
                  <a:srgbClr val="FF0000"/>
                </a:solidFill>
                <a:latin typeface="CIDFont+F1"/>
              </a:rPr>
              <a:t>RED</a:t>
            </a:r>
            <a:r>
              <a:rPr lang="en-IN" sz="2400" dirty="0">
                <a:latin typeface="CIDFont+F1"/>
              </a:rPr>
              <a:t> light means ‘</a:t>
            </a:r>
            <a:r>
              <a:rPr lang="en-IN" sz="2400" dirty="0">
                <a:solidFill>
                  <a:srgbClr val="FF0000"/>
                </a:solidFill>
                <a:latin typeface="CIDFont+F1"/>
              </a:rPr>
              <a:t>STOP</a:t>
            </a:r>
            <a:r>
              <a:rPr lang="en-IN" sz="2400" dirty="0">
                <a:latin typeface="CIDFont+F1"/>
              </a:rPr>
              <a:t>’ - </a:t>
            </a:r>
            <a:r>
              <a:rPr lang="en-IN" sz="2400" u="sng" dirty="0">
                <a:latin typeface="CIDFont+F1"/>
              </a:rPr>
              <a:t>integrative function</a:t>
            </a:r>
            <a:r>
              <a:rPr lang="en-IN" sz="2400" dirty="0">
                <a:latin typeface="CIDFont+F1"/>
              </a:rPr>
              <a:t>), and you use your muscles to apply your brakes to stop the bicycle (</a:t>
            </a:r>
            <a:r>
              <a:rPr lang="en-IN" sz="2400" u="sng" dirty="0">
                <a:latin typeface="CIDFont+F1"/>
              </a:rPr>
              <a:t>motor function</a:t>
            </a:r>
            <a:r>
              <a:rPr lang="en-IN" sz="2400" dirty="0">
                <a:latin typeface="CIDFont+F1"/>
              </a:rPr>
              <a:t>).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4986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C16EAF-19CB-493C-93D9-ED0F8271A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672" y="2865249"/>
            <a:ext cx="8724900" cy="30003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150A9F-A57C-40EB-8BF1-3543ABDA3F59}"/>
              </a:ext>
            </a:extLst>
          </p:cNvPr>
          <p:cNvSpPr/>
          <p:nvPr/>
        </p:nvSpPr>
        <p:spPr>
          <a:xfrm>
            <a:off x="1397329" y="1273304"/>
            <a:ext cx="91835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181818"/>
                </a:solidFill>
                <a:latin typeface="*Cambria-5526-Identity-H"/>
              </a:rPr>
              <a:t>The nervous system is composed of nervous tissue. The nervous tissue consists of two elements: Nerve cell or neuron and neuroglia. </a:t>
            </a:r>
            <a:r>
              <a:rPr lang="en-IN" b="1" dirty="0">
                <a:solidFill>
                  <a:srgbClr val="FF0000"/>
                </a:solidFill>
                <a:latin typeface="*Cambria-5526-Identity-H"/>
              </a:rPr>
              <a:t>The neurons are the structural and functional units.</a:t>
            </a:r>
            <a:r>
              <a:rPr lang="en-IN" b="1" dirty="0">
                <a:solidFill>
                  <a:srgbClr val="181818"/>
                </a:solidFill>
                <a:latin typeface="*Cambria-5526-Identity-H"/>
              </a:rPr>
              <a:t> They communicate with each other directly or indirectly through synapses. They are the electrically excitable cells and they transmit impulses via chemical and electrical signals.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28E71-E57A-4727-8A3E-339285758FDA}"/>
              </a:ext>
            </a:extLst>
          </p:cNvPr>
          <p:cNvSpPr txBox="1"/>
          <p:nvPr/>
        </p:nvSpPr>
        <p:spPr>
          <a:xfrm>
            <a:off x="5650461" y="518896"/>
            <a:ext cx="1304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Neuron</a:t>
            </a:r>
          </a:p>
        </p:txBody>
      </p:sp>
    </p:spTree>
    <p:extLst>
      <p:ext uri="{BB962C8B-B14F-4D97-AF65-F5344CB8AC3E}">
        <p14:creationId xmlns:p14="http://schemas.microsoft.com/office/powerpoint/2010/main" val="230855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19869</TotalTime>
  <Words>489</Words>
  <Application>Microsoft Office PowerPoint</Application>
  <PresentationFormat>Widescreen</PresentationFormat>
  <Paragraphs>54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*Cambria-5526-Identity-H</vt:lpstr>
      <vt:lpstr>Arial</vt:lpstr>
      <vt:lpstr>Calibri</vt:lpstr>
      <vt:lpstr>Calibri Light</vt:lpstr>
      <vt:lpstr>CIDFont+F1</vt:lpstr>
      <vt:lpstr>CIDFont+F4</vt:lpstr>
      <vt:lpstr>CIDFont+F5</vt:lpstr>
      <vt:lpstr>CIDFont+F6</vt:lpstr>
      <vt:lpstr>CIDFont+F7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lastModifiedBy>Souptick Chanda</cp:lastModifiedBy>
  <cp:revision>58</cp:revision>
  <dcterms:created xsi:type="dcterms:W3CDTF">2018-02-19T09:53:57Z</dcterms:created>
  <dcterms:modified xsi:type="dcterms:W3CDTF">2024-03-11T03:47:21Z</dcterms:modified>
</cp:coreProperties>
</file>