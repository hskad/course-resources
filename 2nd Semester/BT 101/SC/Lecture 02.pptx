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57" r:id="rId9"/>
    <p:sldId id="270" r:id="rId10"/>
    <p:sldId id="271" r:id="rId11"/>
    <p:sldId id="272" r:id="rId12"/>
    <p:sldId id="274" r:id="rId13"/>
    <p:sldId id="275" r:id="rId14"/>
    <p:sldId id="273" r:id="rId15"/>
    <p:sldId id="276" r:id="rId16"/>
    <p:sldId id="351" r:id="rId17"/>
    <p:sldId id="277" r:id="rId18"/>
    <p:sldId id="3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40292-1E11-429E-AEAA-701B66F77009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06FCD-6961-4628-A01C-FDBB5E6C5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461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94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91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25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41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99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48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53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51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1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08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7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4CC01-A1A3-4F8E-9773-5D6D96CF4DC6}" type="datetimeFigureOut">
              <a:rPr lang="en-IN" smtClean="0"/>
              <a:t>20-05-2022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6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arleton.edu/~anatomy/musclepix2.html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F6B3AEA-FF9C-4683-B07B-37EFC3C40C2B}"/>
              </a:ext>
            </a:extLst>
          </p:cNvPr>
          <p:cNvSpPr/>
          <p:nvPr/>
        </p:nvSpPr>
        <p:spPr>
          <a:xfrm>
            <a:off x="3226129" y="1241822"/>
            <a:ext cx="528847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6000" dirty="0">
                <a:solidFill>
                  <a:srgbClr val="C00000"/>
                </a:solidFill>
                <a:latin typeface="Times New Roman" panose="02020603050405020304" pitchFamily="18" charset="0"/>
              </a:rPr>
              <a:t>Nerve Impulse and Muscle Contraction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49819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D821E5D-A90F-4D31-A1EF-28FC3B63E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" y="495612"/>
            <a:ext cx="1145857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45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EF8A0C8-9726-4D13-B85C-3922BE4BCC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840"/>
          <a:stretch/>
        </p:blipFill>
        <p:spPr>
          <a:xfrm>
            <a:off x="357862" y="305787"/>
            <a:ext cx="11476275" cy="638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71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B95E9EE-226C-4534-ACF5-BB6013832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20" y="170724"/>
            <a:ext cx="11409760" cy="63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14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47843CF-3B5C-42C6-A430-50FD7E183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74" y="334628"/>
            <a:ext cx="6383914" cy="599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70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44883CD-D4D6-47FB-9EF9-A819AF0E0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02" y="178131"/>
            <a:ext cx="11616693" cy="643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0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003E788-3378-4FEF-AE56-A590D5749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28" y="356260"/>
            <a:ext cx="11676483" cy="617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9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9/95/Action_Potential.gif">
            <a:extLst>
              <a:ext uri="{FF2B5EF4-FFF2-40B4-BE49-F238E27FC236}">
                <a16:creationId xmlns:a16="http://schemas.microsoft.com/office/drawing/2014/main" xmlns="" id="{D81E2502-AB41-4B5B-BC96-5E3C36096C4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38100"/>
            <a:ext cx="9525000" cy="67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191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5218525-611F-4D09-A63A-6553E200B503}"/>
              </a:ext>
            </a:extLst>
          </p:cNvPr>
          <p:cNvSpPr/>
          <p:nvPr/>
        </p:nvSpPr>
        <p:spPr>
          <a:xfrm>
            <a:off x="1108363" y="1805050"/>
            <a:ext cx="99752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C00000"/>
                </a:solidFill>
                <a:latin typeface="Times New Roman" panose="02020603050405020304" pitchFamily="18" charset="0"/>
              </a:rPr>
              <a:t>Study how 100 billion Neurons are firing of nearly 50 action potentials per second thereby controlling what we do, how we think, move muscles, listen to lecture classes </a:t>
            </a:r>
            <a:r>
              <a:rPr lang="en-IN" sz="36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680214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E0CB7EF-C5ED-48AF-B361-3E335C34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64" y="334273"/>
            <a:ext cx="11056693" cy="61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09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D849566-4A9C-452E-85CC-1D3394DD6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4" y="252557"/>
            <a:ext cx="11330137" cy="633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94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A8C81BD-7093-42B4-AC1B-8092A1C03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71" y="181004"/>
            <a:ext cx="10782793" cy="646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95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0BD80A7-BEC8-4AF7-80D8-B4A5C358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95" y="91060"/>
            <a:ext cx="10379032" cy="655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11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93774BC-00F8-423B-9F9D-05B7CC634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9" y="341827"/>
            <a:ext cx="11623393" cy="583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76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02F096C-F03E-4184-9513-291FBE9B4CDB}"/>
              </a:ext>
            </a:extLst>
          </p:cNvPr>
          <p:cNvSpPr/>
          <p:nvPr/>
        </p:nvSpPr>
        <p:spPr>
          <a:xfrm>
            <a:off x="3088348" y="1759918"/>
            <a:ext cx="6117893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STRUCTURE OF MUSCLES</a:t>
            </a:r>
          </a:p>
          <a:p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Muscle Innervation</a:t>
            </a:r>
            <a:endParaRPr lang="en-IN" sz="3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25B74A0-1627-4EE0-8AC6-89A2FAA82D23}"/>
              </a:ext>
            </a:extLst>
          </p:cNvPr>
          <p:cNvSpPr/>
          <p:nvPr/>
        </p:nvSpPr>
        <p:spPr>
          <a:xfrm>
            <a:off x="2505912" y="4324989"/>
            <a:ext cx="7282763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Times New Roman" panose="02020603050405020304" pitchFamily="18" charset="0"/>
              </a:rPr>
              <a:t>What is the fundamental unit of Skeletal Muscle?</a:t>
            </a:r>
            <a:endParaRPr lang="en-IN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36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1">
            <a:extLst>
              <a:ext uri="{FF2B5EF4-FFF2-40B4-BE49-F238E27FC236}">
                <a16:creationId xmlns:a16="http://schemas.microsoft.com/office/drawing/2014/main" xmlns="" id="{4F387D1D-A0FD-4E76-8FB0-60B40E419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7958" y="6119190"/>
            <a:ext cx="9266712" cy="64611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Skeletal muscles are usually attached to bone by </a:t>
            </a:r>
            <a:r>
              <a:rPr lang="en-US" altLang="en-US" sz="1800" b="1" dirty="0">
                <a:solidFill>
                  <a:srgbClr val="FF0000"/>
                </a:solidFill>
              </a:rPr>
              <a:t>tendons</a:t>
            </a:r>
            <a:r>
              <a:rPr lang="en-US" altLang="en-US" sz="1800" dirty="0">
                <a:solidFill>
                  <a:srgbClr val="FF0000"/>
                </a:solidFill>
              </a:rPr>
              <a:t> composed of connective tissue. This connective tissue also draws the entire muscle &amp; is called epimysium. </a:t>
            </a:r>
          </a:p>
        </p:txBody>
      </p:sp>
      <p:pic>
        <p:nvPicPr>
          <p:cNvPr id="11267" name="Picture 2" descr="http://people.eku.edu/ritchisong/301images/Skeletal_muscle_structure.jpg">
            <a:extLst>
              <a:ext uri="{FF2B5EF4-FFF2-40B4-BE49-F238E27FC236}">
                <a16:creationId xmlns:a16="http://schemas.microsoft.com/office/drawing/2014/main" xmlns="" id="{91E5A8E5-7078-4B13-B85A-937B6AC5D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" b="52034"/>
          <a:stretch>
            <a:fillRect/>
          </a:stretch>
        </p:blipFill>
        <p:spPr bwMode="auto">
          <a:xfrm>
            <a:off x="356260" y="1098528"/>
            <a:ext cx="6577940" cy="50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TextBox 2">
            <a:extLst>
              <a:ext uri="{FF2B5EF4-FFF2-40B4-BE49-F238E27FC236}">
                <a16:creationId xmlns:a16="http://schemas.microsoft.com/office/drawing/2014/main" xmlns="" id="{6B40C9EC-BD6E-4F8F-B171-112CAFCCF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273" y="174603"/>
            <a:ext cx="1071154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hlinkClick r:id="rId3"/>
              </a:rPr>
              <a:t>Skeletal muscles</a:t>
            </a:r>
            <a:r>
              <a:rPr lang="en-US" altLang="en-US" sz="1800" b="1" dirty="0"/>
              <a:t> </a:t>
            </a:r>
            <a:r>
              <a:rPr lang="en-US" altLang="en-US" sz="1800" dirty="0"/>
              <a:t>consist of numerous subunits or bundles called </a:t>
            </a:r>
            <a:r>
              <a:rPr lang="en-US" altLang="en-US" sz="1800" dirty="0" err="1"/>
              <a:t>fasicles</a:t>
            </a:r>
            <a:r>
              <a:rPr lang="en-US" altLang="en-US" sz="1800" dirty="0"/>
              <a:t> (or fascicles). Fascicles are also surrounded by connective tissue (called the perimysium) and each fascicle is composed of numerous muscle fibers (or muscle cells). </a:t>
            </a:r>
          </a:p>
        </p:txBody>
      </p:sp>
      <p:sp>
        <p:nvSpPr>
          <p:cNvPr id="11269" name="TextBox 3">
            <a:extLst>
              <a:ext uri="{FF2B5EF4-FFF2-40B4-BE49-F238E27FC236}">
                <a16:creationId xmlns:a16="http://schemas.microsoft.com/office/drawing/2014/main" xmlns="" id="{6FF9C2CB-03CA-4929-83F2-97AF9145D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831" y="1748319"/>
            <a:ext cx="4382984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Muscle cells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ensheathed</a:t>
            </a:r>
            <a:r>
              <a:rPr lang="en-US" altLang="en-US" sz="1800" dirty="0"/>
              <a:t> by endomysium, consist of many fibrils (or myofibrils), and these myofibrils are made up of long protein molecules called myofilaments. There are two types of myofilaments in myofibrils: thick myofilaments and thin myofilaments.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5DDE860-E498-44FE-BAB3-0EF992E74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04" y="261255"/>
            <a:ext cx="11204812" cy="636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4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">
            <a:extLst>
              <a:ext uri="{FF2B5EF4-FFF2-40B4-BE49-F238E27FC236}">
                <a16:creationId xmlns:a16="http://schemas.microsoft.com/office/drawing/2014/main" xmlns="" id="{7A7492C0-02AF-4503-9707-0ABC17C0C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152776"/>
            <a:ext cx="6446838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2">
            <a:extLst>
              <a:ext uri="{FF2B5EF4-FFF2-40B4-BE49-F238E27FC236}">
                <a16:creationId xmlns:a16="http://schemas.microsoft.com/office/drawing/2014/main" xmlns="" id="{3FB5F8B0-66A1-46CE-8F5F-68BA9E70C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9526"/>
            <a:ext cx="40386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88" name="Group 5">
            <a:extLst>
              <a:ext uri="{FF2B5EF4-FFF2-40B4-BE49-F238E27FC236}">
                <a16:creationId xmlns:a16="http://schemas.microsoft.com/office/drawing/2014/main" xmlns="" id="{F6B8A296-1247-494E-9460-4691D78CD017}"/>
              </a:ext>
            </a:extLst>
          </p:cNvPr>
          <p:cNvGrpSpPr>
            <a:grpSpLocks/>
          </p:cNvGrpSpPr>
          <p:nvPr/>
        </p:nvGrpSpPr>
        <p:grpSpPr bwMode="auto">
          <a:xfrm>
            <a:off x="1795463" y="228600"/>
            <a:ext cx="1828800" cy="1752600"/>
            <a:chOff x="6946496" y="1066800"/>
            <a:chExt cx="1828800" cy="1752600"/>
          </a:xfrm>
        </p:grpSpPr>
        <p:sp>
          <p:nvSpPr>
            <p:cNvPr id="16389" name="TextBox 3">
              <a:extLst>
                <a:ext uri="{FF2B5EF4-FFF2-40B4-BE49-F238E27FC236}">
                  <a16:creationId xmlns:a16="http://schemas.microsoft.com/office/drawing/2014/main" xmlns="" id="{6E547825-4777-4D41-A83D-AB2A768D5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6496" y="1371600"/>
              <a:ext cx="1828800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IN" altLang="en-US" sz="2000" b="1" i="1"/>
                <a:t>Interaction between actin and myosin</a:t>
              </a:r>
            </a:p>
          </p:txBody>
        </p:sp>
        <p:sp>
          <p:nvSpPr>
            <p:cNvPr id="5" name="Flowchart: Sequential Access Storage 4">
              <a:extLst>
                <a:ext uri="{FF2B5EF4-FFF2-40B4-BE49-F238E27FC236}">
                  <a16:creationId xmlns:a16="http://schemas.microsoft.com/office/drawing/2014/main" xmlns="" id="{323D096D-5236-411E-A500-0CAB97D860D1}"/>
                </a:ext>
              </a:extLst>
            </p:cNvPr>
            <p:cNvSpPr/>
            <p:nvPr/>
          </p:nvSpPr>
          <p:spPr>
            <a:xfrm>
              <a:off x="7009996" y="1066800"/>
              <a:ext cx="1722437" cy="1752600"/>
            </a:xfrm>
            <a:prstGeom prst="flowChartMagneticTap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19910</TotalTime>
  <Words>166</Words>
  <Application>Microsoft Office PowerPoint</Application>
  <PresentationFormat>Widescreen</PresentationFormat>
  <Paragraphs>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lastModifiedBy>Souptick Chanda</cp:lastModifiedBy>
  <cp:revision>82</cp:revision>
  <dcterms:created xsi:type="dcterms:W3CDTF">2018-02-19T09:53:57Z</dcterms:created>
  <dcterms:modified xsi:type="dcterms:W3CDTF">2022-05-20T08:40:24Z</dcterms:modified>
</cp:coreProperties>
</file>