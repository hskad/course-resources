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59" r:id="rId6"/>
    <p:sldId id="260" r:id="rId7"/>
    <p:sldId id="261" r:id="rId8"/>
    <p:sldId id="262" r:id="rId9"/>
    <p:sldId id="263" r:id="rId10"/>
    <p:sldId id="266"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ITG" initials="I" lastIdx="1" clrIdx="0">
    <p:extLst>
      <p:ext uri="{19B8F6BF-5375-455C-9EA6-DF929625EA0E}">
        <p15:presenceInfo xmlns:p15="http://schemas.microsoft.com/office/powerpoint/2012/main" userId="IITG" providerId="None"/>
      </p:ext>
    </p:extLst>
  </p:cmAuthor>
  <p:cmAuthor id="2" name="Souptick Chanda" initials="SC" lastIdx="1" clrIdx="1">
    <p:extLst>
      <p:ext uri="{19B8F6BF-5375-455C-9EA6-DF929625EA0E}">
        <p15:presenceInfo xmlns:p15="http://schemas.microsoft.com/office/powerpoint/2012/main" userId="Souptick Chan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0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30-05-22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460695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30-05-22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342118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7D39281-C699-4F0A-BB2E-CC2525B3BD08}" type="datetimeFigureOut">
              <a:rPr lang="en-IN" smtClean="0"/>
              <a:t>30-05-22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749397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7D39281-C699-4F0A-BB2E-CC2525B3BD08}" type="datetimeFigureOut">
              <a:rPr lang="en-IN" smtClean="0"/>
              <a:t>30-05-22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55289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7D39281-C699-4F0A-BB2E-CC2525B3BD08}" type="datetimeFigureOut">
              <a:rPr lang="en-IN" smtClean="0"/>
              <a:t>30-05-22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57537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7D39281-C699-4F0A-BB2E-CC2525B3BD08}" type="datetimeFigureOut">
              <a:rPr lang="en-IN" smtClean="0"/>
              <a:t>30-05-22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647394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D39281-C699-4F0A-BB2E-CC2525B3BD08}" type="datetimeFigureOut">
              <a:rPr lang="en-IN" smtClean="0"/>
              <a:t>30-05-22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6866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7D39281-C699-4F0A-BB2E-CC2525B3BD08}" type="datetimeFigureOut">
              <a:rPr lang="en-IN" smtClean="0"/>
              <a:t>30-05-22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204015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7D39281-C699-4F0A-BB2E-CC2525B3BD08}" type="datetimeFigureOut">
              <a:rPr lang="en-IN" smtClean="0"/>
              <a:t>30-05-22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56667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30-05-22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7831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30-05-22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3287662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D39281-C699-4F0A-BB2E-CC2525B3BD08}" type="datetimeFigureOut">
              <a:rPr lang="en-IN" smtClean="0"/>
              <a:t>30-05-22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460D1D-02BD-4D97-9171-DADAB3118295}" type="slidenum">
              <a:rPr lang="en-IN" smtClean="0"/>
              <a:t>‹#›</a:t>
            </a:fld>
            <a:endParaRPr lang="en-IN"/>
          </a:p>
        </p:txBody>
      </p:sp>
    </p:spTree>
    <p:extLst>
      <p:ext uri="{BB962C8B-B14F-4D97-AF65-F5344CB8AC3E}">
        <p14:creationId xmlns:p14="http://schemas.microsoft.com/office/powerpoint/2010/main" val="264770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2398" y="223030"/>
            <a:ext cx="9811532" cy="584775"/>
          </a:xfrm>
          <a:prstGeom prst="rect">
            <a:avLst/>
          </a:prstGeom>
          <a:noFill/>
        </p:spPr>
        <p:txBody>
          <a:bodyPr wrap="none" rtlCol="0">
            <a:spAutoFit/>
          </a:bodyPr>
          <a:lstStyle/>
          <a:p>
            <a:r>
              <a:rPr lang="en-IN" sz="3200" dirty="0"/>
              <a:t>Farsightedness (Hyperopia) and Nearsightedness (Myopia)</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5854" y="1215483"/>
            <a:ext cx="3724790" cy="5143314"/>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96210" y="1307067"/>
            <a:ext cx="3496364" cy="4828478"/>
          </a:xfrm>
          <a:prstGeom prst="rect">
            <a:avLst/>
          </a:prstGeom>
        </p:spPr>
      </p:pic>
      <p:sp>
        <p:nvSpPr>
          <p:cNvPr id="7" name="TextBox 6"/>
          <p:cNvSpPr txBox="1"/>
          <p:nvPr/>
        </p:nvSpPr>
        <p:spPr>
          <a:xfrm>
            <a:off x="4505093" y="3287009"/>
            <a:ext cx="1127232" cy="369332"/>
          </a:xfrm>
          <a:prstGeom prst="rect">
            <a:avLst/>
          </a:prstGeom>
          <a:noFill/>
        </p:spPr>
        <p:txBody>
          <a:bodyPr wrap="none" rtlCol="0">
            <a:spAutoFit/>
          </a:bodyPr>
          <a:lstStyle/>
          <a:p>
            <a:r>
              <a:rPr lang="en-IN" dirty="0"/>
              <a:t>hyperopia</a:t>
            </a:r>
          </a:p>
        </p:txBody>
      </p:sp>
      <p:sp>
        <p:nvSpPr>
          <p:cNvPr id="8" name="TextBox 7"/>
          <p:cNvSpPr txBox="1"/>
          <p:nvPr/>
        </p:nvSpPr>
        <p:spPr>
          <a:xfrm>
            <a:off x="9887407" y="3294446"/>
            <a:ext cx="873381" cy="369332"/>
          </a:xfrm>
          <a:prstGeom prst="rect">
            <a:avLst/>
          </a:prstGeom>
          <a:noFill/>
        </p:spPr>
        <p:txBody>
          <a:bodyPr wrap="none" rtlCol="0">
            <a:spAutoFit/>
          </a:bodyPr>
          <a:lstStyle/>
          <a:p>
            <a:r>
              <a:rPr lang="en-IN" dirty="0"/>
              <a:t>myopia</a:t>
            </a:r>
          </a:p>
        </p:txBody>
      </p:sp>
      <p:sp>
        <p:nvSpPr>
          <p:cNvPr id="9" name="TextBox 8"/>
          <p:cNvSpPr txBox="1"/>
          <p:nvPr/>
        </p:nvSpPr>
        <p:spPr>
          <a:xfrm>
            <a:off x="4505093" y="6135545"/>
            <a:ext cx="1146339" cy="369332"/>
          </a:xfrm>
          <a:prstGeom prst="rect">
            <a:avLst/>
          </a:prstGeom>
          <a:noFill/>
        </p:spPr>
        <p:txBody>
          <a:bodyPr wrap="none" rtlCol="0">
            <a:spAutoFit/>
          </a:bodyPr>
          <a:lstStyle/>
          <a:p>
            <a:r>
              <a:rPr lang="en-IN" dirty="0"/>
              <a:t>correction</a:t>
            </a:r>
          </a:p>
        </p:txBody>
      </p:sp>
      <p:sp>
        <p:nvSpPr>
          <p:cNvPr id="10" name="TextBox 9"/>
          <p:cNvSpPr txBox="1"/>
          <p:nvPr/>
        </p:nvSpPr>
        <p:spPr>
          <a:xfrm>
            <a:off x="9719405" y="6135545"/>
            <a:ext cx="1146339" cy="369332"/>
          </a:xfrm>
          <a:prstGeom prst="rect">
            <a:avLst/>
          </a:prstGeom>
          <a:noFill/>
        </p:spPr>
        <p:txBody>
          <a:bodyPr wrap="none" rtlCol="0">
            <a:spAutoFit/>
          </a:bodyPr>
          <a:lstStyle/>
          <a:p>
            <a:r>
              <a:rPr lang="en-IN" dirty="0"/>
              <a:t>correction</a:t>
            </a:r>
          </a:p>
        </p:txBody>
      </p:sp>
      <p:cxnSp>
        <p:nvCxnSpPr>
          <p:cNvPr id="12" name="Straight Connector 11"/>
          <p:cNvCxnSpPr/>
          <p:nvPr/>
        </p:nvCxnSpPr>
        <p:spPr>
          <a:xfrm>
            <a:off x="6077415" y="981307"/>
            <a:ext cx="0" cy="5523570"/>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29611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D1512A-E070-4158-9814-70E30EB5FA3C}"/>
              </a:ext>
            </a:extLst>
          </p:cNvPr>
          <p:cNvSpPr txBox="1"/>
          <p:nvPr/>
        </p:nvSpPr>
        <p:spPr>
          <a:xfrm>
            <a:off x="3039778" y="5642362"/>
            <a:ext cx="6112443" cy="70788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4000" b="1" dirty="0">
                <a:solidFill>
                  <a:schemeClr val="accent1">
                    <a:lumMod val="75000"/>
                  </a:schemeClr>
                </a:solidFill>
              </a:rPr>
              <a:t>What is emmetropic vision?</a:t>
            </a:r>
          </a:p>
        </p:txBody>
      </p:sp>
      <p:pic>
        <p:nvPicPr>
          <p:cNvPr id="1026" name="Picture 2" descr="diopter : Learn about Units: Hitachi High-Tech">
            <a:extLst>
              <a:ext uri="{FF2B5EF4-FFF2-40B4-BE49-F238E27FC236}">
                <a16:creationId xmlns:a16="http://schemas.microsoft.com/office/drawing/2014/main" id="{4089CA87-6BA5-4848-A198-E64C221F1E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98"/>
          <a:stretch/>
        </p:blipFill>
        <p:spPr bwMode="auto">
          <a:xfrm>
            <a:off x="4333319" y="1753897"/>
            <a:ext cx="3813153" cy="3642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A8ADB46-A148-425F-A3B5-437FF80F554E}"/>
              </a:ext>
            </a:extLst>
          </p:cNvPr>
          <p:cNvSpPr txBox="1"/>
          <p:nvPr/>
        </p:nvSpPr>
        <p:spPr>
          <a:xfrm>
            <a:off x="451104" y="861377"/>
            <a:ext cx="11143488"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sz="2000" b="1" dirty="0" err="1">
                <a:solidFill>
                  <a:srgbClr val="7030A0"/>
                </a:solidFill>
              </a:rPr>
              <a:t>Diopter</a:t>
            </a:r>
            <a:r>
              <a:rPr lang="en-IN" sz="2000" b="1" dirty="0">
                <a:solidFill>
                  <a:srgbClr val="7030A0"/>
                </a:solidFill>
              </a:rPr>
              <a:t> (D) is the reciprocal number of the focal length (measured in meter). It represents the refractive power (RP) of the lens. Convex lenses have a +</a:t>
            </a:r>
            <a:r>
              <a:rPr lang="en-IN" sz="2000" b="1" dirty="0" err="1">
                <a:solidFill>
                  <a:srgbClr val="7030A0"/>
                </a:solidFill>
              </a:rPr>
              <a:t>ve</a:t>
            </a:r>
            <a:r>
              <a:rPr lang="en-IN" sz="2000" b="1" dirty="0">
                <a:solidFill>
                  <a:srgbClr val="7030A0"/>
                </a:solidFill>
              </a:rPr>
              <a:t> </a:t>
            </a:r>
            <a:r>
              <a:rPr lang="en-IN" sz="2000" b="1" dirty="0" err="1">
                <a:solidFill>
                  <a:srgbClr val="7030A0"/>
                </a:solidFill>
              </a:rPr>
              <a:t>diopter</a:t>
            </a:r>
            <a:r>
              <a:rPr lang="en-IN" sz="2000" b="1" dirty="0">
                <a:solidFill>
                  <a:srgbClr val="7030A0"/>
                </a:solidFill>
              </a:rPr>
              <a:t>, whereas concave lenses have –</a:t>
            </a:r>
            <a:r>
              <a:rPr lang="en-IN" sz="2000" b="1" dirty="0" err="1">
                <a:solidFill>
                  <a:srgbClr val="7030A0"/>
                </a:solidFill>
              </a:rPr>
              <a:t>ve</a:t>
            </a:r>
            <a:r>
              <a:rPr lang="en-IN" sz="2000" b="1" dirty="0">
                <a:solidFill>
                  <a:srgbClr val="7030A0"/>
                </a:solidFill>
              </a:rPr>
              <a:t> </a:t>
            </a:r>
            <a:r>
              <a:rPr lang="en-IN" sz="2000" b="1" dirty="0" err="1">
                <a:solidFill>
                  <a:srgbClr val="7030A0"/>
                </a:solidFill>
              </a:rPr>
              <a:t>diopter</a:t>
            </a:r>
            <a:r>
              <a:rPr lang="en-IN" sz="2000" b="1" dirty="0">
                <a:solidFill>
                  <a:srgbClr val="7030A0"/>
                </a:solidFill>
              </a:rPr>
              <a:t>.</a:t>
            </a:r>
          </a:p>
        </p:txBody>
      </p:sp>
      <p:sp>
        <p:nvSpPr>
          <p:cNvPr id="8" name="TextBox 7">
            <a:extLst>
              <a:ext uri="{FF2B5EF4-FFF2-40B4-BE49-F238E27FC236}">
                <a16:creationId xmlns:a16="http://schemas.microsoft.com/office/drawing/2014/main" id="{247699B4-7779-48FD-B146-03F791467BFE}"/>
              </a:ext>
            </a:extLst>
          </p:cNvPr>
          <p:cNvSpPr txBox="1"/>
          <p:nvPr/>
        </p:nvSpPr>
        <p:spPr>
          <a:xfrm>
            <a:off x="3752579" y="157371"/>
            <a:ext cx="4974632" cy="584775"/>
          </a:xfrm>
          <a:prstGeom prst="rect">
            <a:avLst/>
          </a:prstGeom>
          <a:noFill/>
        </p:spPr>
        <p:txBody>
          <a:bodyPr wrap="none" rtlCol="0">
            <a:spAutoFit/>
          </a:bodyPr>
          <a:lstStyle/>
          <a:p>
            <a:r>
              <a:rPr lang="en-IN" sz="3200" dirty="0"/>
              <a:t>Refractive Power (RP) of lens</a:t>
            </a:r>
          </a:p>
        </p:txBody>
      </p:sp>
    </p:spTree>
    <p:extLst>
      <p:ext uri="{BB962C8B-B14F-4D97-AF65-F5344CB8AC3E}">
        <p14:creationId xmlns:p14="http://schemas.microsoft.com/office/powerpoint/2010/main" val="149518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18838" y="1234211"/>
            <a:ext cx="9876264" cy="1477328"/>
          </a:xfrm>
          <a:prstGeom prst="rect">
            <a:avLst/>
          </a:prstGeom>
        </p:spPr>
        <p:txBody>
          <a:bodyPr wrap="square">
            <a:spAutoFit/>
          </a:bodyPr>
          <a:lstStyle/>
          <a:p>
            <a:r>
              <a:rPr lang="en-IN" b="1" i="0" dirty="0">
                <a:solidFill>
                  <a:srgbClr val="333333"/>
                </a:solidFill>
                <a:effectLst/>
                <a:latin typeface="Helvetica Neue"/>
              </a:rPr>
              <a:t>What is hyperopia?</a:t>
            </a:r>
          </a:p>
          <a:p>
            <a:endParaRPr lang="en-IN" b="0" i="0" dirty="0">
              <a:solidFill>
                <a:srgbClr val="333333"/>
              </a:solidFill>
              <a:effectLst/>
              <a:latin typeface="Helvetica Neue"/>
            </a:endParaRPr>
          </a:p>
          <a:p>
            <a:r>
              <a:rPr lang="en-IN" b="0" i="0" dirty="0">
                <a:solidFill>
                  <a:srgbClr val="333333"/>
                </a:solidFill>
                <a:effectLst/>
                <a:latin typeface="Helvetica Neue"/>
              </a:rPr>
              <a:t>Hyperopia, also known as farsightedness, is a common type of refractive error where distant objects may be seen more clearly than objects that are </a:t>
            </a:r>
            <a:r>
              <a:rPr lang="en-IN" dirty="0">
                <a:solidFill>
                  <a:srgbClr val="333333"/>
                </a:solidFill>
                <a:latin typeface="Helvetica Neue"/>
              </a:rPr>
              <a:t>near. For people with significant hyperopia, vision can be blurry for objects at any distance, near or far.</a:t>
            </a:r>
          </a:p>
        </p:txBody>
      </p:sp>
      <p:sp>
        <p:nvSpPr>
          <p:cNvPr id="5" name="Rectangle 4"/>
          <p:cNvSpPr/>
          <p:nvPr/>
        </p:nvSpPr>
        <p:spPr>
          <a:xfrm>
            <a:off x="1118838" y="3138169"/>
            <a:ext cx="9876264" cy="1477328"/>
          </a:xfrm>
          <a:prstGeom prst="rect">
            <a:avLst/>
          </a:prstGeom>
        </p:spPr>
        <p:txBody>
          <a:bodyPr wrap="square">
            <a:spAutoFit/>
          </a:bodyPr>
          <a:lstStyle/>
          <a:p>
            <a:r>
              <a:rPr lang="en-IN" b="1" i="0" dirty="0">
                <a:solidFill>
                  <a:srgbClr val="333333"/>
                </a:solidFill>
                <a:effectLst/>
                <a:latin typeface="Helvetica Neue"/>
              </a:rPr>
              <a:t>What is myopia?</a:t>
            </a:r>
          </a:p>
          <a:p>
            <a:endParaRPr lang="en-IN" b="0" i="0" dirty="0">
              <a:solidFill>
                <a:srgbClr val="333333"/>
              </a:solidFill>
              <a:effectLst/>
              <a:latin typeface="Helvetica Neue"/>
            </a:endParaRPr>
          </a:p>
          <a:p>
            <a:r>
              <a:rPr lang="en-IN" b="0" i="0" dirty="0">
                <a:solidFill>
                  <a:srgbClr val="333333"/>
                </a:solidFill>
                <a:effectLst/>
                <a:latin typeface="Helvetica Neue"/>
              </a:rPr>
              <a:t>Otherwise known as nearsightedness, myopia occurs when the eye grows too long from front to back. Instead of focusing images on the retina, the lens of the eye focuses the image in front of the retina. People with myopia have good near vision but poor distance vision.</a:t>
            </a:r>
          </a:p>
        </p:txBody>
      </p:sp>
      <p:sp>
        <p:nvSpPr>
          <p:cNvPr id="6" name="TextBox 5"/>
          <p:cNvSpPr txBox="1"/>
          <p:nvPr/>
        </p:nvSpPr>
        <p:spPr>
          <a:xfrm>
            <a:off x="4917696" y="289938"/>
            <a:ext cx="1994072" cy="584775"/>
          </a:xfrm>
          <a:prstGeom prst="rect">
            <a:avLst/>
          </a:prstGeom>
          <a:noFill/>
        </p:spPr>
        <p:txBody>
          <a:bodyPr wrap="none" rtlCol="0">
            <a:spAutoFit/>
          </a:bodyPr>
          <a:lstStyle/>
          <a:p>
            <a:r>
              <a:rPr lang="en-IN" sz="3200" dirty="0"/>
              <a:t>Definitions</a:t>
            </a:r>
          </a:p>
        </p:txBody>
      </p:sp>
      <p:sp>
        <p:nvSpPr>
          <p:cNvPr id="7" name="TextBox 6"/>
          <p:cNvSpPr txBox="1"/>
          <p:nvPr/>
        </p:nvSpPr>
        <p:spPr>
          <a:xfrm>
            <a:off x="3833136" y="5285680"/>
            <a:ext cx="4163191" cy="523220"/>
          </a:xfrm>
          <a:prstGeom prst="rect">
            <a:avLst/>
          </a:prstGeom>
          <a:solidFill>
            <a:schemeClr val="accent4">
              <a:lumMod val="60000"/>
              <a:lumOff val="40000"/>
            </a:schemeClr>
          </a:solidFill>
        </p:spPr>
        <p:txBody>
          <a:bodyPr wrap="none" rtlCol="0">
            <a:spAutoFit/>
          </a:bodyPr>
          <a:lstStyle/>
          <a:p>
            <a:r>
              <a:rPr lang="en-IN" sz="2800" dirty="0">
                <a:solidFill>
                  <a:srgbClr val="7030A0"/>
                </a:solidFill>
                <a:effectLst>
                  <a:outerShdw blurRad="50800" dist="38100" dir="8100000" algn="tr" rotWithShape="0">
                    <a:prstClr val="black">
                      <a:alpha val="40000"/>
                    </a:prstClr>
                  </a:outerShdw>
                </a:effectLst>
              </a:rPr>
              <a:t>What is binocular vision???</a:t>
            </a:r>
          </a:p>
        </p:txBody>
      </p:sp>
    </p:spTree>
    <p:extLst>
      <p:ext uri="{BB962C8B-B14F-4D97-AF65-F5344CB8AC3E}">
        <p14:creationId xmlns:p14="http://schemas.microsoft.com/office/powerpoint/2010/main" val="37128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75222" y="323392"/>
            <a:ext cx="7177414" cy="584775"/>
          </a:xfrm>
          <a:prstGeom prst="rect">
            <a:avLst/>
          </a:prstGeom>
          <a:noFill/>
        </p:spPr>
        <p:txBody>
          <a:bodyPr wrap="none" rtlCol="0">
            <a:spAutoFit/>
          </a:bodyPr>
          <a:lstStyle/>
          <a:p>
            <a:r>
              <a:rPr lang="en-IN" sz="3200" dirty="0"/>
              <a:t>Fluid System of the EYE – Intraocular Fluid</a:t>
            </a:r>
          </a:p>
        </p:txBody>
      </p:sp>
      <p:sp>
        <p:nvSpPr>
          <p:cNvPr id="5" name="TextBox 4"/>
          <p:cNvSpPr txBox="1"/>
          <p:nvPr/>
        </p:nvSpPr>
        <p:spPr>
          <a:xfrm>
            <a:off x="579865" y="1103971"/>
            <a:ext cx="6489212" cy="1200329"/>
          </a:xfrm>
          <a:prstGeom prst="rect">
            <a:avLst/>
          </a:prstGeom>
          <a:noFill/>
        </p:spPr>
        <p:txBody>
          <a:bodyPr wrap="none" rtlCol="0">
            <a:spAutoFit/>
          </a:bodyPr>
          <a:lstStyle/>
          <a:p>
            <a:pPr marL="285750" indent="-285750">
              <a:buFont typeface="Wingdings" panose="05000000000000000000" pitchFamily="2" charset="2"/>
              <a:buChar char="ü"/>
            </a:pPr>
            <a:r>
              <a:rPr lang="en-IN" dirty="0"/>
              <a:t>Keeps the eyeball round and distended by maintaining pressure.</a:t>
            </a:r>
          </a:p>
          <a:p>
            <a:pPr marL="285750" indent="-285750">
              <a:buFont typeface="Wingdings" panose="05000000000000000000" pitchFamily="2" charset="2"/>
              <a:buChar char="ü"/>
            </a:pPr>
            <a:endParaRPr lang="en-IN" dirty="0"/>
          </a:p>
          <a:p>
            <a:pPr marL="285750" indent="-285750">
              <a:buFont typeface="Wingdings" panose="05000000000000000000" pitchFamily="2" charset="2"/>
              <a:buChar char="ü"/>
            </a:pPr>
            <a:r>
              <a:rPr lang="en-IN" dirty="0"/>
              <a:t>Two chambers – Aqueous and Vitreous.</a:t>
            </a:r>
          </a:p>
          <a:p>
            <a:pPr marL="285750" indent="-285750">
              <a:buFont typeface="Wingdings" panose="05000000000000000000" pitchFamily="2" charset="2"/>
              <a:buChar char="ü"/>
            </a:pPr>
            <a:endParaRPr lang="en-IN" dirty="0"/>
          </a:p>
        </p:txBody>
      </p:sp>
      <p:sp>
        <p:nvSpPr>
          <p:cNvPr id="6" name="Rectangle 5"/>
          <p:cNvSpPr/>
          <p:nvPr/>
        </p:nvSpPr>
        <p:spPr>
          <a:xfrm>
            <a:off x="613782" y="2356053"/>
            <a:ext cx="6096000" cy="1200329"/>
          </a:xfrm>
          <a:prstGeom prst="rect">
            <a:avLst/>
          </a:prstGeom>
        </p:spPr>
        <p:txBody>
          <a:bodyPr>
            <a:spAutoFit/>
          </a:bodyPr>
          <a:lstStyle/>
          <a:p>
            <a:pPr marL="285750" indent="-285750">
              <a:buFont typeface="Wingdings" panose="05000000000000000000" pitchFamily="2" charset="2"/>
              <a:buChar char="§"/>
            </a:pPr>
            <a:r>
              <a:rPr lang="en-IN" dirty="0"/>
              <a:t>Aqueous humor – free flowing fluid in front of the lens.</a:t>
            </a:r>
          </a:p>
          <a:p>
            <a:endParaRPr lang="en-IN" dirty="0"/>
          </a:p>
          <a:p>
            <a:pPr marL="285750" indent="-285750">
              <a:buFont typeface="Wingdings" panose="05000000000000000000" pitchFamily="2" charset="2"/>
              <a:buChar char="§"/>
            </a:pPr>
            <a:r>
              <a:rPr lang="en-IN" dirty="0"/>
              <a:t>Vitreous humor – gelatinous mass with little flow of fluid at the back of the lens.</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17126"/>
          <a:stretch/>
        </p:blipFill>
        <p:spPr>
          <a:xfrm>
            <a:off x="6865899" y="2304300"/>
            <a:ext cx="5326101" cy="3313914"/>
          </a:xfrm>
          <a:prstGeom prst="rect">
            <a:avLst/>
          </a:prstGeom>
          <a:ln>
            <a:solidFill>
              <a:schemeClr val="accent1"/>
            </a:solidFill>
          </a:ln>
        </p:spPr>
      </p:pic>
      <p:cxnSp>
        <p:nvCxnSpPr>
          <p:cNvPr id="9" name="Straight Connector 8"/>
          <p:cNvCxnSpPr/>
          <p:nvPr/>
        </p:nvCxnSpPr>
        <p:spPr>
          <a:xfrm flipH="1" flipV="1">
            <a:off x="981307" y="2687444"/>
            <a:ext cx="5867376" cy="9457"/>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t="4426" b="11761"/>
          <a:stretch/>
        </p:blipFill>
        <p:spPr>
          <a:xfrm>
            <a:off x="752683" y="3556382"/>
            <a:ext cx="4653691" cy="2928396"/>
          </a:xfrm>
          <a:prstGeom prst="rect">
            <a:avLst/>
          </a:prstGeom>
          <a:solidFill>
            <a:srgbClr val="00B050"/>
          </a:solidFill>
          <a:ln>
            <a:solidFill>
              <a:schemeClr val="accent1"/>
            </a:solidFill>
          </a:ln>
        </p:spPr>
      </p:pic>
    </p:spTree>
    <p:extLst>
      <p:ext uri="{BB962C8B-B14F-4D97-AF65-F5344CB8AC3E}">
        <p14:creationId xmlns:p14="http://schemas.microsoft.com/office/powerpoint/2010/main" val="141244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23385" y="339086"/>
            <a:ext cx="3155607" cy="584775"/>
          </a:xfrm>
          <a:prstGeom prst="rect">
            <a:avLst/>
          </a:prstGeom>
        </p:spPr>
        <p:txBody>
          <a:bodyPr wrap="none">
            <a:spAutoFit/>
          </a:bodyPr>
          <a:lstStyle/>
          <a:p>
            <a:r>
              <a:rPr lang="en-IN" sz="3200" dirty="0"/>
              <a:t>Ocular tonometry</a:t>
            </a:r>
          </a:p>
        </p:txBody>
      </p:sp>
      <p:sp>
        <p:nvSpPr>
          <p:cNvPr id="5" name="TextBox 4"/>
          <p:cNvSpPr txBox="1"/>
          <p:nvPr/>
        </p:nvSpPr>
        <p:spPr>
          <a:xfrm>
            <a:off x="1365813" y="1261636"/>
            <a:ext cx="8525154" cy="1477328"/>
          </a:xfrm>
          <a:prstGeom prst="rect">
            <a:avLst/>
          </a:prstGeom>
          <a:noFill/>
        </p:spPr>
        <p:txBody>
          <a:bodyPr wrap="none" rtlCol="0">
            <a:spAutoFit/>
          </a:bodyPr>
          <a:lstStyle/>
          <a:p>
            <a:pPr marL="285750" indent="-285750">
              <a:buFont typeface="Wingdings" panose="05000000000000000000" pitchFamily="2" charset="2"/>
              <a:buChar char="q"/>
            </a:pPr>
            <a:r>
              <a:rPr lang="en-IN" dirty="0"/>
              <a:t>Procedure to measure intraocular pressure (IOP), i.e. the fluid pressure inside the eye.</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Important test to evaluate the risk of glaucoma.</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Different types of tonometers are available based on various techniques.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8091" y="3260621"/>
            <a:ext cx="3418390" cy="30801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4406" y="3260621"/>
            <a:ext cx="2887227" cy="28872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p:cNvSpPr txBox="1"/>
          <p:nvPr/>
        </p:nvSpPr>
        <p:spPr>
          <a:xfrm>
            <a:off x="8474784" y="3601142"/>
            <a:ext cx="2835797" cy="1477328"/>
          </a:xfrm>
          <a:prstGeom prst="rect">
            <a:avLst/>
          </a:prstGeom>
          <a:solidFill>
            <a:schemeClr val="accent4">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b="1" dirty="0"/>
              <a:t>What is tonometer?</a:t>
            </a:r>
          </a:p>
          <a:p>
            <a:endParaRPr lang="en-IN" dirty="0"/>
          </a:p>
          <a:p>
            <a:r>
              <a:rPr lang="en-IN" dirty="0"/>
              <a:t>Tonometer is a device that measures intraocular pressure (IOP).</a:t>
            </a:r>
          </a:p>
        </p:txBody>
      </p:sp>
    </p:spTree>
    <p:extLst>
      <p:ext uri="{BB962C8B-B14F-4D97-AF65-F5344CB8AC3E}">
        <p14:creationId xmlns:p14="http://schemas.microsoft.com/office/powerpoint/2010/main" val="2929289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58801" y="185999"/>
            <a:ext cx="1864421" cy="584775"/>
          </a:xfrm>
          <a:prstGeom prst="rect">
            <a:avLst/>
          </a:prstGeom>
        </p:spPr>
        <p:txBody>
          <a:bodyPr wrap="none">
            <a:spAutoFit/>
          </a:bodyPr>
          <a:lstStyle/>
          <a:p>
            <a:r>
              <a:rPr lang="en-IN" sz="3200" dirty="0"/>
              <a:t>Glaucoma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0372" y="1070518"/>
            <a:ext cx="2881075" cy="1935865"/>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22159"/>
          <a:stretch/>
        </p:blipFill>
        <p:spPr>
          <a:xfrm>
            <a:off x="6543368" y="3544579"/>
            <a:ext cx="4998142" cy="2845069"/>
          </a:xfrm>
          <a:prstGeom prst="rect">
            <a:avLst/>
          </a:prstGeom>
          <a:ln>
            <a:solidFill>
              <a:srgbClr val="002060"/>
            </a:solidFill>
          </a:ln>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b="9682"/>
          <a:stretch/>
        </p:blipFill>
        <p:spPr>
          <a:xfrm>
            <a:off x="1001752" y="781925"/>
            <a:ext cx="3697570" cy="2504686"/>
          </a:xfrm>
          <a:prstGeom prst="rect">
            <a:avLst/>
          </a:prstGeom>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5114"/>
          <a:stretch/>
        </p:blipFill>
        <p:spPr>
          <a:xfrm>
            <a:off x="1837626" y="3544580"/>
            <a:ext cx="4213961" cy="2845069"/>
          </a:xfrm>
          <a:prstGeom prst="rect">
            <a:avLst/>
          </a:prstGeom>
          <a:ln>
            <a:solidFill>
              <a:srgbClr val="002060"/>
            </a:solidFill>
          </a:ln>
        </p:spPr>
      </p:pic>
      <p:cxnSp>
        <p:nvCxnSpPr>
          <p:cNvPr id="12" name="Straight Arrow Connector 11"/>
          <p:cNvCxnSpPr>
            <a:stCxn id="10" idx="3"/>
            <a:endCxn id="6" idx="1"/>
          </p:cNvCxnSpPr>
          <p:nvPr/>
        </p:nvCxnSpPr>
        <p:spPr>
          <a:xfrm flipV="1">
            <a:off x="6051586" y="4967113"/>
            <a:ext cx="468000" cy="0"/>
          </a:xfrm>
          <a:prstGeom prst="straightConnector1">
            <a:avLst/>
          </a:prstGeom>
          <a:ln w="66675">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0"/>
            <a:endCxn id="5" idx="2"/>
          </p:cNvCxnSpPr>
          <p:nvPr/>
        </p:nvCxnSpPr>
        <p:spPr>
          <a:xfrm flipV="1">
            <a:off x="9042439" y="3006383"/>
            <a:ext cx="8471" cy="538196"/>
          </a:xfrm>
          <a:prstGeom prst="straightConnector1">
            <a:avLst/>
          </a:prstGeom>
          <a:ln w="66675">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33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0954" y="1450265"/>
            <a:ext cx="2236510" cy="369332"/>
          </a:xfrm>
          <a:prstGeom prst="rect">
            <a:avLst/>
          </a:prstGeom>
          <a:solidFill>
            <a:schemeClr val="accent4">
              <a:lumMod val="40000"/>
              <a:lumOff val="60000"/>
            </a:schemeClr>
          </a:solidFill>
          <a:ln>
            <a:solidFill>
              <a:srgbClr val="C00000"/>
            </a:solidFill>
          </a:ln>
        </p:spPr>
        <p:txBody>
          <a:bodyPr wrap="none">
            <a:spAutoFit/>
          </a:bodyPr>
          <a:lstStyle/>
          <a:p>
            <a:pPr algn="ctr"/>
            <a:r>
              <a:rPr lang="en-IN" b="1" dirty="0">
                <a:solidFill>
                  <a:schemeClr val="accent2">
                    <a:lumMod val="50000"/>
                  </a:schemeClr>
                </a:solidFill>
                <a:latin typeface="CIDFont+F1"/>
              </a:rPr>
              <a:t>Eye pressure rises</a:t>
            </a:r>
            <a:endParaRPr lang="en-IN" b="1" dirty="0">
              <a:solidFill>
                <a:schemeClr val="accent2">
                  <a:lumMod val="50000"/>
                </a:schemeClr>
              </a:solidFill>
            </a:endParaRPr>
          </a:p>
        </p:txBody>
      </p:sp>
      <p:sp>
        <p:nvSpPr>
          <p:cNvPr id="5" name="Rectangle 4"/>
          <p:cNvSpPr/>
          <p:nvPr/>
        </p:nvSpPr>
        <p:spPr>
          <a:xfrm>
            <a:off x="1425094" y="2306791"/>
            <a:ext cx="5147563" cy="369332"/>
          </a:xfrm>
          <a:prstGeom prst="rect">
            <a:avLst/>
          </a:prstGeom>
          <a:solidFill>
            <a:schemeClr val="accent4">
              <a:lumMod val="40000"/>
              <a:lumOff val="60000"/>
            </a:schemeClr>
          </a:solidFill>
          <a:ln>
            <a:solidFill>
              <a:srgbClr val="C00000"/>
            </a:solidFill>
          </a:ln>
        </p:spPr>
        <p:txBody>
          <a:bodyPr wrap="none">
            <a:spAutoFit/>
          </a:bodyPr>
          <a:lstStyle/>
          <a:p>
            <a:pPr algn="ctr"/>
            <a:r>
              <a:rPr lang="en-IN" b="1" dirty="0">
                <a:solidFill>
                  <a:schemeClr val="accent2">
                    <a:lumMod val="50000"/>
                  </a:schemeClr>
                </a:solidFill>
                <a:latin typeface="CIDFont+F1"/>
              </a:rPr>
              <a:t>The axons of the optic nerve are compressed</a:t>
            </a:r>
            <a:endParaRPr lang="en-IN" b="1" dirty="0">
              <a:solidFill>
                <a:schemeClr val="accent2">
                  <a:lumMod val="50000"/>
                </a:schemeClr>
              </a:solidFill>
            </a:endParaRPr>
          </a:p>
        </p:txBody>
      </p:sp>
      <p:sp>
        <p:nvSpPr>
          <p:cNvPr id="6" name="Rectangle 5"/>
          <p:cNvSpPr/>
          <p:nvPr/>
        </p:nvSpPr>
        <p:spPr>
          <a:xfrm>
            <a:off x="946213" y="3163317"/>
            <a:ext cx="6096000" cy="923330"/>
          </a:xfrm>
          <a:prstGeom prst="rect">
            <a:avLst/>
          </a:prstGeom>
          <a:solidFill>
            <a:schemeClr val="accent4">
              <a:lumMod val="40000"/>
              <a:lumOff val="60000"/>
            </a:schemeClr>
          </a:solidFill>
          <a:ln>
            <a:solidFill>
              <a:srgbClr val="C00000"/>
            </a:solidFill>
          </a:ln>
        </p:spPr>
        <p:txBody>
          <a:bodyPr>
            <a:spAutoFit/>
          </a:bodyPr>
          <a:lstStyle/>
          <a:p>
            <a:pPr algn="ctr"/>
            <a:r>
              <a:rPr lang="en-IN" b="1" dirty="0">
                <a:solidFill>
                  <a:schemeClr val="accent2">
                    <a:lumMod val="50000"/>
                  </a:schemeClr>
                </a:solidFill>
                <a:latin typeface="CIDFont+F1"/>
              </a:rPr>
              <a:t>Block axonal flow of cytoplasm from the neuronal cell bodies in the retina to the extended optic nerve fibres entering the brain</a:t>
            </a:r>
            <a:endParaRPr lang="en-IN" b="1" dirty="0">
              <a:solidFill>
                <a:schemeClr val="accent2">
                  <a:lumMod val="50000"/>
                </a:schemeClr>
              </a:solidFill>
            </a:endParaRPr>
          </a:p>
        </p:txBody>
      </p:sp>
      <p:sp>
        <p:nvSpPr>
          <p:cNvPr id="7" name="Rectangle 6"/>
          <p:cNvSpPr/>
          <p:nvPr/>
        </p:nvSpPr>
        <p:spPr>
          <a:xfrm>
            <a:off x="1675162" y="4573841"/>
            <a:ext cx="4711546" cy="369332"/>
          </a:xfrm>
          <a:prstGeom prst="rect">
            <a:avLst/>
          </a:prstGeom>
          <a:solidFill>
            <a:schemeClr val="accent4">
              <a:lumMod val="40000"/>
              <a:lumOff val="60000"/>
            </a:schemeClr>
          </a:solidFill>
          <a:ln>
            <a:solidFill>
              <a:srgbClr val="C00000"/>
            </a:solidFill>
          </a:ln>
        </p:spPr>
        <p:txBody>
          <a:bodyPr wrap="none">
            <a:spAutoFit/>
          </a:bodyPr>
          <a:lstStyle/>
          <a:p>
            <a:pPr algn="ctr"/>
            <a:r>
              <a:rPr lang="en-IN" b="1" dirty="0">
                <a:solidFill>
                  <a:schemeClr val="accent2">
                    <a:lumMod val="50000"/>
                  </a:schemeClr>
                </a:solidFill>
                <a:latin typeface="CIDFont+F1"/>
              </a:rPr>
              <a:t>Lack of appropriate nutrition of the fibres</a:t>
            </a:r>
            <a:endParaRPr lang="en-IN" b="1" dirty="0">
              <a:solidFill>
                <a:schemeClr val="accent2">
                  <a:lumMod val="50000"/>
                </a:schemeClr>
              </a:solidFill>
            </a:endParaRPr>
          </a:p>
        </p:txBody>
      </p:sp>
      <p:sp>
        <p:nvSpPr>
          <p:cNvPr id="8" name="Rectangle 7"/>
          <p:cNvSpPr/>
          <p:nvPr/>
        </p:nvSpPr>
        <p:spPr>
          <a:xfrm>
            <a:off x="1995762" y="5430367"/>
            <a:ext cx="4070345" cy="369332"/>
          </a:xfrm>
          <a:prstGeom prst="rect">
            <a:avLst/>
          </a:prstGeom>
          <a:solidFill>
            <a:schemeClr val="accent4">
              <a:lumMod val="40000"/>
              <a:lumOff val="60000"/>
            </a:schemeClr>
          </a:solidFill>
          <a:ln>
            <a:solidFill>
              <a:srgbClr val="C00000"/>
            </a:solidFill>
          </a:ln>
        </p:spPr>
        <p:txBody>
          <a:bodyPr wrap="none">
            <a:spAutoFit/>
          </a:bodyPr>
          <a:lstStyle/>
          <a:p>
            <a:pPr algn="ctr"/>
            <a:r>
              <a:rPr lang="en-IN" b="1" dirty="0">
                <a:solidFill>
                  <a:schemeClr val="accent2">
                    <a:lumMod val="50000"/>
                  </a:schemeClr>
                </a:solidFill>
                <a:latin typeface="CIDFont+F1"/>
              </a:rPr>
              <a:t>Causes death of the involved fibres</a:t>
            </a:r>
            <a:endParaRPr lang="en-IN" b="1" dirty="0">
              <a:solidFill>
                <a:schemeClr val="accent2">
                  <a:lumMod val="50000"/>
                </a:schemeClr>
              </a:solidFill>
            </a:endParaRPr>
          </a:p>
        </p:txBody>
      </p:sp>
      <p:cxnSp>
        <p:nvCxnSpPr>
          <p:cNvPr id="10" name="Straight Arrow Connector 9"/>
          <p:cNvCxnSpPr>
            <a:stCxn id="4" idx="2"/>
          </p:cNvCxnSpPr>
          <p:nvPr/>
        </p:nvCxnSpPr>
        <p:spPr>
          <a:xfrm>
            <a:off x="3889209" y="1819597"/>
            <a:ext cx="0"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flipH="1">
            <a:off x="3889871" y="2676123"/>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flipH="1">
            <a:off x="3876437" y="4086647"/>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flipH="1">
            <a:off x="3841878" y="4943173"/>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sp>
        <p:nvSpPr>
          <p:cNvPr id="18" name="Rectangle 17"/>
          <p:cNvSpPr/>
          <p:nvPr/>
        </p:nvSpPr>
        <p:spPr>
          <a:xfrm>
            <a:off x="3678178" y="336474"/>
            <a:ext cx="4172553" cy="584775"/>
          </a:xfrm>
          <a:prstGeom prst="rect">
            <a:avLst/>
          </a:prstGeom>
        </p:spPr>
        <p:txBody>
          <a:bodyPr wrap="none">
            <a:spAutoFit/>
          </a:bodyPr>
          <a:lstStyle/>
          <a:p>
            <a:r>
              <a:rPr lang="en-IN" sz="3200" dirty="0"/>
              <a:t>Glaucoma – the process</a:t>
            </a:r>
          </a:p>
        </p:txBody>
      </p:sp>
      <p:sp>
        <p:nvSpPr>
          <p:cNvPr id="19" name="Rectangle 18"/>
          <p:cNvSpPr/>
          <p:nvPr/>
        </p:nvSpPr>
        <p:spPr>
          <a:xfrm>
            <a:off x="8464824" y="2063194"/>
            <a:ext cx="2976136" cy="1477328"/>
          </a:xfrm>
          <a:prstGeom prst="rect">
            <a:avLst/>
          </a:prstGeom>
        </p:spPr>
        <p:style>
          <a:lnRef idx="2">
            <a:schemeClr val="accent5"/>
          </a:lnRef>
          <a:fillRef idx="1">
            <a:schemeClr val="lt1"/>
          </a:fillRef>
          <a:effectRef idx="0">
            <a:schemeClr val="accent5"/>
          </a:effectRef>
          <a:fontRef idx="minor">
            <a:schemeClr val="dk1"/>
          </a:fontRef>
        </p:style>
        <p:txBody>
          <a:bodyPr wrap="none">
            <a:spAutoFit/>
            <a:scene3d>
              <a:camera prst="orthographicFront"/>
              <a:lightRig rig="threePt" dir="t"/>
            </a:scene3d>
            <a:sp3d extrusionH="57150">
              <a:bevelT h="25400" prst="softRound"/>
            </a:sp3d>
          </a:bodyPr>
          <a:lstStyle/>
          <a:p>
            <a:pPr algn="ctr"/>
            <a:r>
              <a:rPr lang="en-IN" b="1" i="1" dirty="0">
                <a:solidFill>
                  <a:srgbClr val="5E5E5E"/>
                </a:solidFill>
                <a:effectLst/>
                <a:latin typeface="Arial" panose="020B0604020202020204" pitchFamily="34" charset="0"/>
              </a:rPr>
              <a:t>Surgical treatments:</a:t>
            </a:r>
          </a:p>
          <a:p>
            <a:pPr algn="ctr"/>
            <a:endParaRPr lang="en-IN" b="1" i="1" dirty="0">
              <a:solidFill>
                <a:srgbClr val="5E5E5E"/>
              </a:solidFill>
              <a:latin typeface="Arial" panose="020B0604020202020204" pitchFamily="34" charset="0"/>
            </a:endParaRPr>
          </a:p>
          <a:p>
            <a:pPr marL="342900" indent="-342900" algn="ctr">
              <a:buFont typeface="+mj-lt"/>
              <a:buAutoNum type="arabicPeriod"/>
            </a:pPr>
            <a:r>
              <a:rPr lang="en-IN" b="1" dirty="0">
                <a:solidFill>
                  <a:srgbClr val="5E5E5E"/>
                </a:solidFill>
                <a:effectLst/>
                <a:latin typeface="Arial" panose="020B0604020202020204" pitchFamily="34" charset="0"/>
              </a:rPr>
              <a:t>Laser </a:t>
            </a:r>
            <a:r>
              <a:rPr lang="en-IN" b="1" dirty="0" err="1">
                <a:solidFill>
                  <a:srgbClr val="5E5E5E"/>
                </a:solidFill>
                <a:effectLst/>
                <a:latin typeface="Arial" panose="020B0604020202020204" pitchFamily="34" charset="0"/>
              </a:rPr>
              <a:t>Trabeculoplasty</a:t>
            </a:r>
            <a:endParaRPr lang="en-IN" b="1" dirty="0">
              <a:solidFill>
                <a:srgbClr val="5E5E5E"/>
              </a:solidFill>
              <a:effectLst/>
              <a:latin typeface="Arial" panose="020B0604020202020204" pitchFamily="34" charset="0"/>
            </a:endParaRPr>
          </a:p>
          <a:p>
            <a:pPr marL="342900" indent="-342900" algn="ctr">
              <a:buFont typeface="+mj-lt"/>
              <a:buAutoNum type="arabicPeriod"/>
            </a:pPr>
            <a:endParaRPr lang="en-IN" b="1" dirty="0">
              <a:solidFill>
                <a:srgbClr val="5E5E5E"/>
              </a:solidFill>
              <a:latin typeface="Arial" panose="020B0604020202020204" pitchFamily="34" charset="0"/>
            </a:endParaRPr>
          </a:p>
          <a:p>
            <a:pPr marL="342900" indent="-342900" algn="ctr">
              <a:buFont typeface="+mj-lt"/>
              <a:buAutoNum type="arabicPeriod"/>
            </a:pPr>
            <a:r>
              <a:rPr lang="en-IN" b="1" dirty="0" err="1">
                <a:solidFill>
                  <a:srgbClr val="5E5E5E"/>
                </a:solidFill>
                <a:latin typeface="Arial" panose="020B0604020202020204" pitchFamily="34" charset="0"/>
              </a:rPr>
              <a:t>Trabeculectomy</a:t>
            </a:r>
            <a:endParaRPr lang="en-IN" b="1" dirty="0">
              <a:solidFill>
                <a:srgbClr val="5E5E5E"/>
              </a:solidFill>
              <a:latin typeface="Arial" panose="020B0604020202020204" pitchFamily="34" charset="0"/>
            </a:endParaRPr>
          </a:p>
        </p:txBody>
      </p:sp>
      <p:sp>
        <p:nvSpPr>
          <p:cNvPr id="20" name="Cloud Callout 19"/>
          <p:cNvSpPr/>
          <p:nvPr/>
        </p:nvSpPr>
        <p:spPr>
          <a:xfrm>
            <a:off x="8001837" y="4380317"/>
            <a:ext cx="2809059" cy="1588536"/>
          </a:xfrm>
          <a:prstGeom prst="cloudCallout">
            <a:avLst>
              <a:gd name="adj1" fmla="val -74133"/>
              <a:gd name="adj2" fmla="val -4698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What is a cataract then?</a:t>
            </a:r>
          </a:p>
        </p:txBody>
      </p:sp>
      <p:cxnSp>
        <p:nvCxnSpPr>
          <p:cNvPr id="22" name="Straight Arrow Connector 21"/>
          <p:cNvCxnSpPr/>
          <p:nvPr/>
        </p:nvCxnSpPr>
        <p:spPr>
          <a:xfrm>
            <a:off x="7492549" y="2833539"/>
            <a:ext cx="914400" cy="0"/>
          </a:xfrm>
          <a:prstGeom prst="straightConnector1">
            <a:avLst/>
          </a:prstGeom>
          <a:ln w="92075">
            <a:solidFill>
              <a:schemeClr val="accent1"/>
            </a:solidFill>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809482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2593" y="336474"/>
            <a:ext cx="5788572" cy="584775"/>
          </a:xfrm>
          <a:prstGeom prst="rect">
            <a:avLst/>
          </a:prstGeom>
        </p:spPr>
        <p:txBody>
          <a:bodyPr wrap="none">
            <a:spAutoFit/>
          </a:bodyPr>
          <a:lstStyle/>
          <a:p>
            <a:r>
              <a:rPr lang="en-IN" sz="3200" dirty="0"/>
              <a:t>Photoreceptors – Rods and Cones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470" y="1435019"/>
            <a:ext cx="4381500" cy="43815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9293" y="3949376"/>
            <a:ext cx="3810000" cy="2324100"/>
          </a:xfrm>
          <a:prstGeom prst="rect">
            <a:avLst/>
          </a:prstGeom>
        </p:spPr>
      </p:pic>
      <p:sp>
        <p:nvSpPr>
          <p:cNvPr id="8" name="TextBox 7"/>
          <p:cNvSpPr txBox="1"/>
          <p:nvPr/>
        </p:nvSpPr>
        <p:spPr>
          <a:xfrm>
            <a:off x="1805655" y="5870477"/>
            <a:ext cx="3229336" cy="369332"/>
          </a:xfrm>
          <a:prstGeom prst="rect">
            <a:avLst/>
          </a:prstGeom>
          <a:noFill/>
        </p:spPr>
        <p:txBody>
          <a:bodyPr wrap="square" rtlCol="0">
            <a:spAutoFit/>
          </a:bodyPr>
          <a:lstStyle/>
          <a:p>
            <a:r>
              <a:rPr lang="en-IN" dirty="0"/>
              <a:t>SEM image of rods and cones</a:t>
            </a:r>
          </a:p>
        </p:txBody>
      </p:sp>
      <p:sp>
        <p:nvSpPr>
          <p:cNvPr id="9" name="TextBox 8"/>
          <p:cNvSpPr txBox="1"/>
          <p:nvPr/>
        </p:nvSpPr>
        <p:spPr>
          <a:xfrm>
            <a:off x="6412374" y="1713054"/>
            <a:ext cx="3558154" cy="369332"/>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n-IN" dirty="0"/>
              <a:t>6 million cones and 120 million rods</a:t>
            </a:r>
          </a:p>
        </p:txBody>
      </p:sp>
      <p:cxnSp>
        <p:nvCxnSpPr>
          <p:cNvPr id="11" name="Straight Arrow Connector 10"/>
          <p:cNvCxnSpPr>
            <a:stCxn id="9" idx="1"/>
          </p:cNvCxnSpPr>
          <p:nvPr/>
        </p:nvCxnSpPr>
        <p:spPr>
          <a:xfrm flipH="1">
            <a:off x="5418970" y="1897720"/>
            <a:ext cx="993404" cy="528"/>
          </a:xfrm>
          <a:prstGeom prst="straightConnector1">
            <a:avLst/>
          </a:prstGeom>
          <a:ln w="47625">
            <a:solidFill>
              <a:schemeClr val="accent2">
                <a:lumMod val="75000"/>
              </a:schemeClr>
            </a:solidFill>
            <a:tailEnd type="triangle"/>
          </a:ln>
        </p:spPr>
        <p:style>
          <a:lnRef idx="2">
            <a:schemeClr val="accent5"/>
          </a:lnRef>
          <a:fillRef idx="0">
            <a:schemeClr val="accent5"/>
          </a:fillRef>
          <a:effectRef idx="1">
            <a:schemeClr val="accent5"/>
          </a:effectRef>
          <a:fontRef idx="minor">
            <a:schemeClr val="tx1"/>
          </a:fontRef>
        </p:style>
      </p:cxnSp>
      <p:sp>
        <p:nvSpPr>
          <p:cNvPr id="12" name="Rounded Rectangle 11"/>
          <p:cNvSpPr/>
          <p:nvPr/>
        </p:nvSpPr>
        <p:spPr>
          <a:xfrm>
            <a:off x="6571009" y="2181710"/>
            <a:ext cx="3240884" cy="106487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Rods are responsible for night vision; Cones provide colour vision in brighter light.</a:t>
            </a:r>
          </a:p>
        </p:txBody>
      </p:sp>
      <p:sp>
        <p:nvSpPr>
          <p:cNvPr id="13" name="Cloud Callout 12"/>
          <p:cNvSpPr/>
          <p:nvPr/>
        </p:nvSpPr>
        <p:spPr>
          <a:xfrm>
            <a:off x="9935100" y="1435019"/>
            <a:ext cx="1974202" cy="1163616"/>
          </a:xfrm>
          <a:prstGeom prst="cloudCallout">
            <a:avLst>
              <a:gd name="adj1" fmla="val -51907"/>
              <a:gd name="adj2" fmla="val 57526"/>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t>Why no colour in dim light!!!</a:t>
            </a:r>
          </a:p>
        </p:txBody>
      </p:sp>
      <p:sp>
        <p:nvSpPr>
          <p:cNvPr id="14" name="Line Callout 1 13"/>
          <p:cNvSpPr/>
          <p:nvPr/>
        </p:nvSpPr>
        <p:spPr>
          <a:xfrm>
            <a:off x="10232020" y="3101468"/>
            <a:ext cx="1677282" cy="1001328"/>
          </a:xfrm>
          <a:prstGeom prst="borderCallout1">
            <a:avLst>
              <a:gd name="adj1" fmla="val 18750"/>
              <a:gd name="adj2" fmla="val -8333"/>
              <a:gd name="adj3" fmla="val -6561"/>
              <a:gd name="adj4" fmla="val -58346"/>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70C0"/>
                </a:solidFill>
              </a:rPr>
              <a:t>Blue</a:t>
            </a:r>
            <a:r>
              <a:rPr lang="en-IN" dirty="0"/>
              <a:t> </a:t>
            </a:r>
          </a:p>
          <a:p>
            <a:pPr algn="ctr"/>
            <a:r>
              <a:rPr lang="en-IN" dirty="0">
                <a:solidFill>
                  <a:schemeClr val="accent6">
                    <a:lumMod val="75000"/>
                  </a:schemeClr>
                </a:solidFill>
              </a:rPr>
              <a:t>Green</a:t>
            </a:r>
            <a:r>
              <a:rPr lang="en-IN" dirty="0"/>
              <a:t> </a:t>
            </a:r>
          </a:p>
          <a:p>
            <a:pPr algn="ctr"/>
            <a:r>
              <a:rPr lang="en-IN" dirty="0">
                <a:solidFill>
                  <a:srgbClr val="FF0000"/>
                </a:solidFill>
              </a:rPr>
              <a:t>Red</a:t>
            </a:r>
          </a:p>
        </p:txBody>
      </p:sp>
      <p:sp>
        <p:nvSpPr>
          <p:cNvPr id="15" name="Rectangle 14"/>
          <p:cNvSpPr/>
          <p:nvPr/>
        </p:nvSpPr>
        <p:spPr>
          <a:xfrm>
            <a:off x="10232020" y="4259484"/>
            <a:ext cx="1677282" cy="203608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rPr>
              <a:t>Lost rod vision? Should not drive at night.</a:t>
            </a:r>
          </a:p>
          <a:p>
            <a:pPr algn="ctr"/>
            <a:endParaRPr lang="en-IN" sz="1600" dirty="0">
              <a:ln w="0"/>
              <a:solidFill>
                <a:schemeClr val="tx1"/>
              </a:solidFill>
              <a:effectLst>
                <a:outerShdw blurRad="38100" dist="19050" dir="2700000" algn="tl" rotWithShape="0">
                  <a:schemeClr val="dk1">
                    <a:alpha val="40000"/>
                  </a:schemeClr>
                </a:outerShdw>
              </a:effectLst>
            </a:endParaRPr>
          </a:p>
          <a:p>
            <a:pPr algn="ctr"/>
            <a:r>
              <a:rPr lang="en-IN" sz="1600" dirty="0">
                <a:ln w="0"/>
                <a:solidFill>
                  <a:schemeClr val="tx1"/>
                </a:solidFill>
                <a:effectLst>
                  <a:outerShdw blurRad="38100" dist="19050" dir="2700000" algn="tl" rotWithShape="0">
                    <a:schemeClr val="dk1">
                      <a:alpha val="40000"/>
                    </a:schemeClr>
                  </a:outerShdw>
                </a:effectLst>
              </a:rPr>
              <a:t>Lost cone vision? Should not drive at all !</a:t>
            </a:r>
          </a:p>
        </p:txBody>
      </p:sp>
    </p:spTree>
    <p:extLst>
      <p:ext uri="{BB962C8B-B14F-4D97-AF65-F5344CB8AC3E}">
        <p14:creationId xmlns:p14="http://schemas.microsoft.com/office/powerpoint/2010/main" val="235210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020" y="1564926"/>
            <a:ext cx="7621082" cy="3922178"/>
          </a:xfrm>
          <a:prstGeom prst="rect">
            <a:avLst/>
          </a:prstGeom>
        </p:spPr>
      </p:pic>
      <p:sp>
        <p:nvSpPr>
          <p:cNvPr id="5" name="TextBox 4"/>
          <p:cNvSpPr txBox="1"/>
          <p:nvPr/>
        </p:nvSpPr>
        <p:spPr>
          <a:xfrm>
            <a:off x="5974796" y="1081295"/>
            <a:ext cx="1104790" cy="338554"/>
          </a:xfrm>
          <a:prstGeom prst="rect">
            <a:avLst/>
          </a:prstGeom>
          <a:noFill/>
        </p:spPr>
        <p:txBody>
          <a:bodyPr wrap="none" rtlCol="0">
            <a:spAutoFit/>
          </a:bodyPr>
          <a:lstStyle/>
          <a:p>
            <a:r>
              <a:rPr lang="en-IN" sz="1600" dirty="0"/>
              <a:t>Bipolar cell</a:t>
            </a:r>
          </a:p>
        </p:txBody>
      </p:sp>
      <p:cxnSp>
        <p:nvCxnSpPr>
          <p:cNvPr id="7" name="Straight Connector 6"/>
          <p:cNvCxnSpPr>
            <a:endCxn id="8" idx="2"/>
          </p:cNvCxnSpPr>
          <p:nvPr/>
        </p:nvCxnSpPr>
        <p:spPr>
          <a:xfrm flipH="1" flipV="1">
            <a:off x="5096367" y="1419849"/>
            <a:ext cx="397596" cy="453556"/>
          </a:xfrm>
          <a:prstGeom prst="line">
            <a:avLst/>
          </a:prstGeom>
          <a:ln w="22225"/>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4469432" y="1081295"/>
            <a:ext cx="1253869" cy="338554"/>
          </a:xfrm>
          <a:prstGeom prst="rect">
            <a:avLst/>
          </a:prstGeom>
          <a:noFill/>
        </p:spPr>
        <p:txBody>
          <a:bodyPr wrap="none" rtlCol="0">
            <a:spAutoFit/>
          </a:bodyPr>
          <a:lstStyle/>
          <a:p>
            <a:r>
              <a:rPr lang="en-IN" sz="1600" dirty="0"/>
              <a:t>Ganglion cell</a:t>
            </a:r>
          </a:p>
        </p:txBody>
      </p:sp>
      <p:cxnSp>
        <p:nvCxnSpPr>
          <p:cNvPr id="10" name="Straight Connector 9"/>
          <p:cNvCxnSpPr>
            <a:endCxn id="5" idx="2"/>
          </p:cNvCxnSpPr>
          <p:nvPr/>
        </p:nvCxnSpPr>
        <p:spPr>
          <a:xfrm flipV="1">
            <a:off x="6222380" y="1419849"/>
            <a:ext cx="304811" cy="353195"/>
          </a:xfrm>
          <a:prstGeom prst="line">
            <a:avLst/>
          </a:prstGeom>
          <a:ln w="22225"/>
        </p:spPr>
        <p:style>
          <a:lnRef idx="1">
            <a:schemeClr val="dk1"/>
          </a:lnRef>
          <a:fillRef idx="0">
            <a:schemeClr val="dk1"/>
          </a:fillRef>
          <a:effectRef idx="0">
            <a:schemeClr val="dk1"/>
          </a:effectRef>
          <a:fontRef idx="minor">
            <a:schemeClr val="tx1"/>
          </a:fontRef>
        </p:style>
      </p:cxnSp>
      <p:sp>
        <p:nvSpPr>
          <p:cNvPr id="16" name="Rectangle 15"/>
          <p:cNvSpPr/>
          <p:nvPr/>
        </p:nvSpPr>
        <p:spPr>
          <a:xfrm>
            <a:off x="3284582" y="263451"/>
            <a:ext cx="4601965" cy="584775"/>
          </a:xfrm>
          <a:prstGeom prst="rect">
            <a:avLst/>
          </a:prstGeom>
        </p:spPr>
        <p:txBody>
          <a:bodyPr wrap="none">
            <a:spAutoFit/>
          </a:bodyPr>
          <a:lstStyle/>
          <a:p>
            <a:r>
              <a:rPr lang="en-IN" sz="3200" dirty="0"/>
              <a:t>Flow of image information</a:t>
            </a:r>
          </a:p>
        </p:txBody>
      </p:sp>
      <p:pic>
        <p:nvPicPr>
          <p:cNvPr id="17" name="Picture 16"/>
          <p:cNvPicPr>
            <a:picLocks noChangeAspect="1"/>
          </p:cNvPicPr>
          <p:nvPr/>
        </p:nvPicPr>
        <p:blipFill>
          <a:blip r:embed="rId3"/>
          <a:stretch>
            <a:fillRect/>
          </a:stretch>
        </p:blipFill>
        <p:spPr>
          <a:xfrm>
            <a:off x="1088020" y="5292772"/>
            <a:ext cx="5625014" cy="1309562"/>
          </a:xfrm>
          <a:prstGeom prst="rect">
            <a:avLst/>
          </a:prstGeom>
        </p:spPr>
      </p:pic>
      <p:sp>
        <p:nvSpPr>
          <p:cNvPr id="20" name="Rectangle 19"/>
          <p:cNvSpPr/>
          <p:nvPr/>
        </p:nvSpPr>
        <p:spPr>
          <a:xfrm>
            <a:off x="9110547" y="2465379"/>
            <a:ext cx="2653990" cy="1569660"/>
          </a:xfrm>
          <a:prstGeom prst="rect">
            <a:avLst/>
          </a:prstGeom>
        </p:spPr>
        <p:txBody>
          <a:bodyPr wrap="square">
            <a:spAutoFit/>
          </a:bodyPr>
          <a:lstStyle/>
          <a:p>
            <a:r>
              <a:rPr lang="en-IN" sz="1600" dirty="0">
                <a:solidFill>
                  <a:srgbClr val="C00000"/>
                </a:solidFill>
                <a:latin typeface="Arial" panose="020B0604020202020204" pitchFamily="34" charset="0"/>
              </a:rPr>
              <a:t>Chromophore:</a:t>
            </a:r>
            <a:r>
              <a:rPr lang="en-IN" sz="1600" dirty="0">
                <a:solidFill>
                  <a:srgbClr val="000000"/>
                </a:solidFill>
                <a:latin typeface="Arial" panose="020B0604020202020204" pitchFamily="34" charset="0"/>
              </a:rPr>
              <a:t> The light-catching visual pigments of the retina found in cones.</a:t>
            </a:r>
          </a:p>
          <a:p>
            <a:endParaRPr lang="en-IN" sz="1600" dirty="0">
              <a:solidFill>
                <a:srgbClr val="000000"/>
              </a:solidFill>
              <a:latin typeface="Arial" panose="020B0604020202020204" pitchFamily="34" charset="0"/>
            </a:endParaRPr>
          </a:p>
          <a:p>
            <a:r>
              <a:rPr lang="en-IN" sz="1600" dirty="0">
                <a:solidFill>
                  <a:srgbClr val="C00000"/>
                </a:solidFill>
                <a:latin typeface="Arial" panose="020B0604020202020204" pitchFamily="34" charset="0"/>
              </a:rPr>
              <a:t>Rhodopsin: </a:t>
            </a:r>
            <a:r>
              <a:rPr lang="en-IN" sz="1600" dirty="0">
                <a:solidFill>
                  <a:srgbClr val="000000"/>
                </a:solidFill>
                <a:latin typeface="Arial" panose="020B0604020202020204" pitchFamily="34" charset="0"/>
              </a:rPr>
              <a:t>The visual pigment found in rods.</a:t>
            </a:r>
            <a:endParaRPr lang="en-IN" sz="1600" dirty="0"/>
          </a:p>
        </p:txBody>
      </p:sp>
    </p:spTree>
    <p:extLst>
      <p:ext uri="{BB962C8B-B14F-4D97-AF65-F5344CB8AC3E}">
        <p14:creationId xmlns:p14="http://schemas.microsoft.com/office/powerpoint/2010/main" val="101515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41963" y="2503054"/>
            <a:ext cx="5980227" cy="769441"/>
          </a:xfrm>
          <a:prstGeom prst="rect">
            <a:avLst/>
          </a:prstGeom>
          <a:noFill/>
        </p:spPr>
        <p:txBody>
          <a:bodyPr wrap="none" rtlCol="0">
            <a:spAutoFit/>
          </a:bodyPr>
          <a:lstStyle/>
          <a:p>
            <a:r>
              <a:rPr lang="en-US" sz="4400" b="1" dirty="0">
                <a:solidFill>
                  <a:srgbClr val="002060"/>
                </a:solidFill>
              </a:rPr>
              <a:t>What is Night Blindness?</a:t>
            </a:r>
            <a:endParaRPr lang="en-IN" sz="4400" b="1" dirty="0">
              <a:solidFill>
                <a:srgbClr val="002060"/>
              </a:solidFill>
            </a:endParaRPr>
          </a:p>
        </p:txBody>
      </p:sp>
    </p:spTree>
    <p:extLst>
      <p:ext uri="{BB962C8B-B14F-4D97-AF65-F5344CB8AC3E}">
        <p14:creationId xmlns:p14="http://schemas.microsoft.com/office/powerpoint/2010/main" val="25527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33879" y="285753"/>
            <a:ext cx="1916679" cy="584775"/>
          </a:xfrm>
          <a:prstGeom prst="rect">
            <a:avLst/>
          </a:prstGeom>
        </p:spPr>
        <p:txBody>
          <a:bodyPr wrap="none">
            <a:spAutoFit/>
          </a:bodyPr>
          <a:lstStyle/>
          <a:p>
            <a:r>
              <a:rPr lang="en-IN" sz="3200" dirty="0"/>
              <a:t>Bird vision</a:t>
            </a:r>
          </a:p>
        </p:txBody>
      </p:sp>
      <p:sp>
        <p:nvSpPr>
          <p:cNvPr id="5" name="TextBox 4"/>
          <p:cNvSpPr txBox="1"/>
          <p:nvPr/>
        </p:nvSpPr>
        <p:spPr>
          <a:xfrm>
            <a:off x="1629467" y="1140955"/>
            <a:ext cx="3962751" cy="3693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IN" dirty="0"/>
              <a:t>Good eyesight is essential for safe flight!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201" y="1713808"/>
            <a:ext cx="4629150" cy="2114550"/>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11211" r="7025" b="2811"/>
          <a:stretch/>
        </p:blipFill>
        <p:spPr>
          <a:xfrm>
            <a:off x="6936061" y="1109235"/>
            <a:ext cx="3624146" cy="2730732"/>
          </a:xfrm>
          <a:prstGeom prst="rect">
            <a:avLst/>
          </a:prstGeom>
        </p:spPr>
      </p:pic>
      <p:sp>
        <p:nvSpPr>
          <p:cNvPr id="8" name="Rectangle 7"/>
          <p:cNvSpPr/>
          <p:nvPr/>
        </p:nvSpPr>
        <p:spPr>
          <a:xfrm>
            <a:off x="903249" y="4125955"/>
            <a:ext cx="10292575" cy="2246769"/>
          </a:xfrm>
          <a:prstGeom prst="rect">
            <a:avLst/>
          </a:prstGeom>
        </p:spPr>
        <p:txBody>
          <a:bodyPr wrap="square">
            <a:spAutoFit/>
          </a:bodyPr>
          <a:lstStyle/>
          <a:p>
            <a:pPr marL="285750" indent="-285750">
              <a:buFont typeface="Wingdings" panose="05000000000000000000" pitchFamily="2" charset="2"/>
              <a:buChar char="§"/>
            </a:pPr>
            <a:r>
              <a:rPr lang="en-IN" sz="1400" dirty="0">
                <a:solidFill>
                  <a:srgbClr val="0070C0"/>
                </a:solidFill>
                <a:effectLst>
                  <a:glow rad="139700">
                    <a:schemeClr val="accent4">
                      <a:satMod val="175000"/>
                      <a:alpha val="40000"/>
                    </a:schemeClr>
                  </a:glow>
                </a:effectLst>
                <a:latin typeface="Arial" panose="020B0604020202020204" pitchFamily="34" charset="0"/>
              </a:rPr>
              <a:t>A</a:t>
            </a:r>
            <a:r>
              <a:rPr lang="en-IN" sz="1400" b="0" i="0" dirty="0">
                <a:solidFill>
                  <a:srgbClr val="0070C0"/>
                </a:solidFill>
                <a:effectLst>
                  <a:glow rad="139700">
                    <a:schemeClr val="accent4">
                      <a:satMod val="175000"/>
                      <a:alpha val="40000"/>
                    </a:schemeClr>
                  </a:glow>
                </a:effectLst>
                <a:latin typeface="Arial" panose="020B0604020202020204" pitchFamily="34" charset="0"/>
              </a:rPr>
              <a:t>vian eye resembles that of a </a:t>
            </a:r>
            <a:r>
              <a:rPr lang="en-IN" sz="1400" b="0" i="0" u="none" strike="noStrike" dirty="0">
                <a:solidFill>
                  <a:srgbClr val="0070C0"/>
                </a:solidFill>
                <a:effectLst>
                  <a:glow rad="139700">
                    <a:schemeClr val="accent4">
                      <a:satMod val="175000"/>
                      <a:alpha val="40000"/>
                    </a:schemeClr>
                  </a:glow>
                </a:effectLst>
                <a:latin typeface="Arial" panose="020B0604020202020204" pitchFamily="34" charset="0"/>
              </a:rPr>
              <a:t>reptile</a:t>
            </a:r>
            <a:r>
              <a:rPr lang="en-IN" sz="1400" b="0" i="0" dirty="0">
                <a:solidFill>
                  <a:srgbClr val="0070C0"/>
                </a:solidFill>
                <a:effectLst>
                  <a:glow rad="139700">
                    <a:schemeClr val="accent4">
                      <a:satMod val="175000"/>
                      <a:alpha val="40000"/>
                    </a:schemeClr>
                  </a:glow>
                </a:effectLst>
                <a:latin typeface="Arial" panose="020B0604020202020204" pitchFamily="34" charset="0"/>
              </a:rPr>
              <a:t>, with </a:t>
            </a:r>
            <a:r>
              <a:rPr lang="en-IN" sz="1400" b="0" i="0" u="none" strike="noStrike" dirty="0">
                <a:solidFill>
                  <a:srgbClr val="0070C0"/>
                </a:solidFill>
                <a:effectLst>
                  <a:glow rad="139700">
                    <a:schemeClr val="accent4">
                      <a:satMod val="175000"/>
                      <a:alpha val="40000"/>
                    </a:schemeClr>
                  </a:glow>
                </a:effectLst>
                <a:latin typeface="Arial" panose="020B0604020202020204" pitchFamily="34" charset="0"/>
              </a:rPr>
              <a:t>ciliary muscles</a:t>
            </a:r>
            <a:r>
              <a:rPr lang="en-IN" sz="1400" b="0" i="0" dirty="0">
                <a:solidFill>
                  <a:srgbClr val="0070C0"/>
                </a:solidFill>
                <a:effectLst>
                  <a:glow rad="139700">
                    <a:schemeClr val="accent4">
                      <a:satMod val="175000"/>
                      <a:alpha val="40000"/>
                    </a:schemeClr>
                  </a:glow>
                </a:effectLst>
                <a:latin typeface="Arial" panose="020B0604020202020204" pitchFamily="34" charset="0"/>
              </a:rPr>
              <a:t> that can change the shape of the </a:t>
            </a:r>
            <a:r>
              <a:rPr lang="en-IN" sz="1400" b="0" i="0" u="none" strike="noStrike" dirty="0">
                <a:solidFill>
                  <a:srgbClr val="0070C0"/>
                </a:solidFill>
                <a:effectLst>
                  <a:glow rad="139700">
                    <a:schemeClr val="accent4">
                      <a:satMod val="175000"/>
                      <a:alpha val="40000"/>
                    </a:schemeClr>
                  </a:glow>
                </a:effectLst>
                <a:latin typeface="Arial" panose="020B0604020202020204" pitchFamily="34" charset="0"/>
              </a:rPr>
              <a:t>lens</a:t>
            </a:r>
            <a:r>
              <a:rPr lang="en-IN" sz="1400" b="0" i="0" dirty="0">
                <a:solidFill>
                  <a:srgbClr val="0070C0"/>
                </a:solidFill>
                <a:effectLst>
                  <a:glow rad="139700">
                    <a:schemeClr val="accent4">
                      <a:satMod val="175000"/>
                      <a:alpha val="40000"/>
                    </a:schemeClr>
                  </a:glow>
                </a:effectLst>
                <a:latin typeface="Arial" panose="020B0604020202020204" pitchFamily="34" charset="0"/>
              </a:rPr>
              <a:t> rapidly and to a greater extent than in the </a:t>
            </a:r>
            <a:r>
              <a:rPr lang="en-IN" sz="1400" b="0" i="0" u="none" strike="noStrike" dirty="0">
                <a:solidFill>
                  <a:srgbClr val="0070C0"/>
                </a:solidFill>
                <a:effectLst>
                  <a:glow rad="139700">
                    <a:schemeClr val="accent4">
                      <a:satMod val="175000"/>
                      <a:alpha val="40000"/>
                    </a:schemeClr>
                  </a:glow>
                </a:effectLst>
                <a:latin typeface="Arial" panose="020B0604020202020204" pitchFamily="34" charset="0"/>
              </a:rPr>
              <a:t>mammals</a:t>
            </a:r>
            <a:r>
              <a:rPr lang="en-IN" sz="1400" b="0" i="0" dirty="0">
                <a:solidFill>
                  <a:srgbClr val="0070C0"/>
                </a:solidFill>
                <a:effectLst>
                  <a:glow rad="139700">
                    <a:schemeClr val="accent4">
                      <a:satMod val="175000"/>
                      <a:alpha val="40000"/>
                    </a:schemeClr>
                  </a:glow>
                </a:effectLst>
                <a:latin typeface="Arial" panose="020B0604020202020204" pitchFamily="34" charset="0"/>
              </a:rPr>
              <a:t>.</a:t>
            </a:r>
          </a:p>
          <a:p>
            <a:pPr marL="285750" indent="-285750">
              <a:buFont typeface="Wingdings" panose="05000000000000000000" pitchFamily="2" charset="2"/>
              <a:buChar char="§"/>
            </a:pPr>
            <a:endParaRPr lang="en-IN" sz="1400" dirty="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dirty="0">
                <a:solidFill>
                  <a:srgbClr val="0070C0"/>
                </a:solidFill>
                <a:effectLst>
                  <a:glow rad="139700">
                    <a:schemeClr val="accent4">
                      <a:satMod val="175000"/>
                      <a:alpha val="40000"/>
                    </a:schemeClr>
                  </a:glow>
                </a:effectLst>
                <a:latin typeface="Arial" panose="020B0604020202020204" pitchFamily="34" charset="0"/>
              </a:rPr>
              <a:t>Birds have the largest eyes relative to their size in the animal kingdom.</a:t>
            </a:r>
          </a:p>
          <a:p>
            <a:pPr marL="285750" indent="-285750">
              <a:buFont typeface="Wingdings" panose="05000000000000000000" pitchFamily="2" charset="2"/>
              <a:buChar char="§"/>
            </a:pPr>
            <a:endParaRPr lang="en-IN" sz="1400" dirty="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dirty="0">
                <a:solidFill>
                  <a:srgbClr val="0070C0"/>
                </a:solidFill>
                <a:effectLst>
                  <a:glow rad="139700">
                    <a:schemeClr val="accent4">
                      <a:satMod val="175000"/>
                      <a:alpha val="40000"/>
                    </a:schemeClr>
                  </a:glow>
                </a:effectLst>
                <a:latin typeface="Arial" panose="020B0604020202020204" pitchFamily="34" charset="0"/>
              </a:rPr>
              <a:t>Avian eye is protected by a third transparent movable membrane.</a:t>
            </a:r>
          </a:p>
          <a:p>
            <a:pPr marL="285750" indent="-285750">
              <a:buFont typeface="Wingdings" panose="05000000000000000000" pitchFamily="2" charset="2"/>
              <a:buChar char="§"/>
            </a:pPr>
            <a:endParaRPr lang="en-IN" sz="1400" dirty="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dirty="0">
                <a:solidFill>
                  <a:srgbClr val="0070C0"/>
                </a:solidFill>
                <a:effectLst>
                  <a:glow rad="139700">
                    <a:schemeClr val="accent4">
                      <a:satMod val="175000"/>
                      <a:alpha val="40000"/>
                    </a:schemeClr>
                  </a:glow>
                </a:effectLst>
                <a:latin typeface="Arial" panose="020B0604020202020204" pitchFamily="34" charset="0"/>
              </a:rPr>
              <a:t>Birds of prey have a very high density of receptors to maximise visual acuity. </a:t>
            </a:r>
          </a:p>
          <a:p>
            <a:pPr marL="285750" indent="-285750">
              <a:buFont typeface="Wingdings" panose="05000000000000000000" pitchFamily="2" charset="2"/>
              <a:buChar char="§"/>
            </a:pPr>
            <a:endParaRPr lang="en-IN" sz="1400" dirty="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dirty="0">
                <a:solidFill>
                  <a:srgbClr val="0070C0"/>
                </a:solidFill>
                <a:effectLst>
                  <a:glow rad="139700">
                    <a:schemeClr val="accent4">
                      <a:satMod val="175000"/>
                      <a:alpha val="40000"/>
                    </a:schemeClr>
                  </a:glow>
                </a:effectLst>
                <a:latin typeface="Arial" panose="020B0604020202020204" pitchFamily="34" charset="0"/>
              </a:rPr>
              <a:t>Nocturnal birds have tubular eyes, low no. of colour detectors, but a high density of rod cells to function well in poor light.</a:t>
            </a:r>
          </a:p>
        </p:txBody>
      </p:sp>
    </p:spTree>
    <p:extLst>
      <p:ext uri="{BB962C8B-B14F-4D97-AF65-F5344CB8AC3E}">
        <p14:creationId xmlns:p14="http://schemas.microsoft.com/office/powerpoint/2010/main" val="4092088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us 3"/>
          <p:cNvSpPr/>
          <p:nvPr/>
        </p:nvSpPr>
        <p:spPr>
          <a:xfrm>
            <a:off x="3703902" y="2650608"/>
            <a:ext cx="914400" cy="914400"/>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Flowchart: Process 4"/>
          <p:cNvSpPr/>
          <p:nvPr/>
        </p:nvSpPr>
        <p:spPr>
          <a:xfrm>
            <a:off x="7257329" y="2801484"/>
            <a:ext cx="648183" cy="612648"/>
          </a:xfrm>
          <a:prstGeom prst="flowChartProces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TextBox 5"/>
          <p:cNvSpPr txBox="1"/>
          <p:nvPr/>
        </p:nvSpPr>
        <p:spPr>
          <a:xfrm>
            <a:off x="2055245" y="729204"/>
            <a:ext cx="4935647" cy="523220"/>
          </a:xfrm>
          <a:prstGeom prst="rect">
            <a:avLst/>
          </a:prstGeom>
          <a:noFill/>
        </p:spPr>
        <p:txBody>
          <a:bodyPr wrap="none" rtlCol="0">
            <a:spAutoFit/>
          </a:bodyPr>
          <a:lstStyle/>
          <a:p>
            <a:r>
              <a:rPr lang="en-IN" sz="2800" dirty="0"/>
              <a:t>Let’s try something interesting …</a:t>
            </a:r>
          </a:p>
        </p:txBody>
      </p:sp>
      <p:sp>
        <p:nvSpPr>
          <p:cNvPr id="7" name="TextBox 6"/>
          <p:cNvSpPr txBox="1"/>
          <p:nvPr/>
        </p:nvSpPr>
        <p:spPr>
          <a:xfrm>
            <a:off x="2546430" y="4644698"/>
            <a:ext cx="6195479" cy="46166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dirty="0">
                <a:ln/>
                <a:solidFill>
                  <a:schemeClr val="accent2">
                    <a:lumMod val="75000"/>
                  </a:schemeClr>
                </a:solidFill>
              </a:rPr>
              <a:t>Did you feel the blind spot in your right eye ???</a:t>
            </a:r>
          </a:p>
        </p:txBody>
      </p:sp>
    </p:spTree>
    <p:extLst>
      <p:ext uri="{BB962C8B-B14F-4D97-AF65-F5344CB8AC3E}">
        <p14:creationId xmlns:p14="http://schemas.microsoft.com/office/powerpoint/2010/main" val="149987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3258</TotalTime>
  <Words>590</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CIDFont+F1</vt:lpstr>
      <vt:lpstr>Helvetica Neue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lastModifiedBy>Souptick Chanda</cp:lastModifiedBy>
  <cp:revision>106</cp:revision>
  <dcterms:created xsi:type="dcterms:W3CDTF">2018-03-16T11:18:36Z</dcterms:created>
  <dcterms:modified xsi:type="dcterms:W3CDTF">2022-05-30T10:56:58Z</dcterms:modified>
</cp:coreProperties>
</file>