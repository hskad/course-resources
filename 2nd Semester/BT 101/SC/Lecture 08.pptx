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70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04-04-18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875272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04-04-18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809817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C3FBAEC-2FB7-4AED-827B-739BCD887B3D}" type="datetimeFigureOut">
              <a:rPr lang="en-IN" smtClean="0"/>
              <a:t>04-04-18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785705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C3FBAEC-2FB7-4AED-827B-739BCD887B3D}" type="datetimeFigureOut">
              <a:rPr lang="en-IN" smtClean="0"/>
              <a:t>04-04-18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182709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C3FBAEC-2FB7-4AED-827B-739BCD887B3D}" type="datetimeFigureOut">
              <a:rPr lang="en-IN" smtClean="0"/>
              <a:t>04-04-18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3151255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C3FBAEC-2FB7-4AED-827B-739BCD887B3D}" type="datetimeFigureOut">
              <a:rPr lang="en-IN" smtClean="0"/>
              <a:t>04-04-18</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1262228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3FBAEC-2FB7-4AED-827B-739BCD887B3D}" type="datetimeFigureOut">
              <a:rPr lang="en-IN" smtClean="0"/>
              <a:t>04-04-18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18007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C3FBAEC-2FB7-4AED-827B-739BCD887B3D}" type="datetimeFigureOut">
              <a:rPr lang="en-IN" smtClean="0"/>
              <a:t>04-04-18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520677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C3FBAEC-2FB7-4AED-827B-739BCD887B3D}" type="datetimeFigureOut">
              <a:rPr lang="en-IN" smtClean="0"/>
              <a:t>04-04-18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3342628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04-04-18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1268678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04-04-18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3495595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3FBAEC-2FB7-4AED-827B-739BCD887B3D}" type="datetimeFigureOut">
              <a:rPr lang="en-IN" smtClean="0"/>
              <a:t>04-04-18</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20A4D6-40F8-46D8-8E66-34DE51FED888}" type="slidenum">
              <a:rPr lang="en-IN" smtClean="0"/>
              <a:t>‹#›</a:t>
            </a:fld>
            <a:endParaRPr lang="en-IN"/>
          </a:p>
        </p:txBody>
      </p:sp>
    </p:spTree>
    <p:extLst>
      <p:ext uri="{BB962C8B-B14F-4D97-AF65-F5344CB8AC3E}">
        <p14:creationId xmlns:p14="http://schemas.microsoft.com/office/powerpoint/2010/main" val="901147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93941" y="256480"/>
            <a:ext cx="2275175" cy="523220"/>
          </a:xfrm>
          <a:prstGeom prst="rect">
            <a:avLst/>
          </a:prstGeom>
          <a:noFill/>
        </p:spPr>
        <p:txBody>
          <a:bodyPr wrap="none" rtlCol="0">
            <a:spAutoFit/>
          </a:bodyPr>
          <a:lstStyle/>
          <a:p>
            <a:r>
              <a:rPr lang="en-IN" sz="2800" dirty="0" smtClean="0"/>
              <a:t>Neural circuits</a:t>
            </a:r>
            <a:endParaRPr lang="en-IN" sz="2800" dirty="0"/>
          </a:p>
        </p:txBody>
      </p:sp>
      <p:sp>
        <p:nvSpPr>
          <p:cNvPr id="5" name="TextBox 4"/>
          <p:cNvSpPr txBox="1"/>
          <p:nvPr/>
        </p:nvSpPr>
        <p:spPr>
          <a:xfrm>
            <a:off x="936707" y="930685"/>
            <a:ext cx="10458119" cy="1308050"/>
          </a:xfrm>
          <a:prstGeom prst="rect">
            <a:avLst/>
          </a:prstGeom>
          <a:noFill/>
        </p:spPr>
        <p:txBody>
          <a:bodyPr wrap="none" rtlCol="0">
            <a:spAutoFit/>
          </a:bodyPr>
          <a:lstStyle/>
          <a:p>
            <a:pPr marL="285750" indent="-285750">
              <a:buFont typeface="Arial" panose="020B0604020202020204" pitchFamily="34" charset="0"/>
              <a:buChar char="•"/>
            </a:pPr>
            <a:r>
              <a:rPr lang="en-IN" dirty="0" smtClean="0"/>
              <a:t>CNS contains billions of neurons organized into complicated networks called </a:t>
            </a:r>
            <a:r>
              <a:rPr lang="en-IN" b="1" dirty="0" smtClean="0"/>
              <a:t>neural circuits</a:t>
            </a:r>
            <a:r>
              <a:rPr lang="en-IN" dirty="0" smtClean="0"/>
              <a:t>.</a:t>
            </a:r>
          </a:p>
          <a:p>
            <a:pPr marL="285750" indent="-285750">
              <a:buFont typeface="Arial" panose="020B0604020202020204" pitchFamily="34" charset="0"/>
              <a:buChar char="•"/>
            </a:pPr>
            <a:endParaRPr lang="en-IN" sz="1100" dirty="0"/>
          </a:p>
          <a:p>
            <a:pPr marL="285750" indent="-285750">
              <a:buFont typeface="Arial" panose="020B0604020202020204" pitchFamily="34" charset="0"/>
              <a:buChar char="•"/>
            </a:pPr>
            <a:r>
              <a:rPr lang="en-IN" dirty="0" smtClean="0"/>
              <a:t>These are </a:t>
            </a:r>
            <a:r>
              <a:rPr lang="en-IN" b="1" dirty="0" smtClean="0"/>
              <a:t>functional groups of neurons </a:t>
            </a:r>
            <a:r>
              <a:rPr lang="en-IN" dirty="0" smtClean="0"/>
              <a:t>that process specific types of information.</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dirty="0" smtClean="0"/>
              <a:t>The simplest neural circuit may consist of </a:t>
            </a:r>
            <a:r>
              <a:rPr lang="en-IN" b="1" dirty="0" smtClean="0"/>
              <a:t>one series connection</a:t>
            </a:r>
            <a:r>
              <a:rPr lang="en-IN" dirty="0" smtClean="0"/>
              <a:t>, but in most cases they are </a:t>
            </a:r>
            <a:r>
              <a:rPr lang="en-IN" b="1" dirty="0" smtClean="0"/>
              <a:t>very complex</a:t>
            </a:r>
            <a:r>
              <a:rPr lang="en-IN" dirty="0" smtClean="0"/>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1376" y="2970974"/>
            <a:ext cx="7636726" cy="3545623"/>
          </a:xfrm>
          <a:prstGeom prst="rect">
            <a:avLst/>
          </a:prstGeom>
          <a:ln>
            <a:noFill/>
          </a:ln>
          <a:effectLst>
            <a:outerShdw blurRad="190500" algn="tl" rotWithShape="0">
              <a:srgbClr val="000000">
                <a:alpha val="70000"/>
              </a:srgbClr>
            </a:outerShdw>
          </a:effectLst>
        </p:spPr>
      </p:pic>
      <p:sp>
        <p:nvSpPr>
          <p:cNvPr id="7" name="TextBox 6"/>
          <p:cNvSpPr txBox="1"/>
          <p:nvPr/>
        </p:nvSpPr>
        <p:spPr>
          <a:xfrm>
            <a:off x="1975621" y="2473347"/>
            <a:ext cx="7491759" cy="400110"/>
          </a:xfrm>
          <a:prstGeom prst="rect">
            <a:avLst/>
          </a:prstGeom>
          <a:noFill/>
        </p:spPr>
        <p:txBody>
          <a:bodyPr wrap="square" rtlCol="0">
            <a:spAutoFit/>
          </a:bodyPr>
          <a:lstStyle/>
          <a:p>
            <a:r>
              <a:rPr lang="en-IN" sz="2000" dirty="0" smtClean="0">
                <a:solidFill>
                  <a:srgbClr val="002060"/>
                </a:solidFill>
              </a:rPr>
              <a:t>These are not branches of trees, but neural circuits of our brain …</a:t>
            </a:r>
            <a:endParaRPr lang="en-IN" sz="2000" dirty="0">
              <a:solidFill>
                <a:srgbClr val="002060"/>
              </a:solidFill>
            </a:endParaRPr>
          </a:p>
        </p:txBody>
      </p:sp>
    </p:spTree>
    <p:extLst>
      <p:ext uri="{BB962C8B-B14F-4D97-AF65-F5344CB8AC3E}">
        <p14:creationId xmlns:p14="http://schemas.microsoft.com/office/powerpoint/2010/main" val="241498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8293" b="34472"/>
          <a:stretch/>
        </p:blipFill>
        <p:spPr>
          <a:xfrm>
            <a:off x="698808" y="1260086"/>
            <a:ext cx="10650687" cy="4572002"/>
          </a:xfrm>
          <a:prstGeom prst="rect">
            <a:avLst/>
          </a:prstGeom>
        </p:spPr>
      </p:pic>
      <p:sp>
        <p:nvSpPr>
          <p:cNvPr id="5" name="TextBox 4"/>
          <p:cNvSpPr txBox="1"/>
          <p:nvPr/>
        </p:nvSpPr>
        <p:spPr>
          <a:xfrm>
            <a:off x="4402457" y="356841"/>
            <a:ext cx="3243388" cy="523220"/>
          </a:xfrm>
          <a:prstGeom prst="rect">
            <a:avLst/>
          </a:prstGeom>
          <a:noFill/>
        </p:spPr>
        <p:txBody>
          <a:bodyPr wrap="none" rtlCol="0">
            <a:spAutoFit/>
          </a:bodyPr>
          <a:lstStyle/>
          <a:p>
            <a:r>
              <a:rPr lang="en-IN" sz="2800" dirty="0" smtClean="0"/>
              <a:t>Neural circuits: types</a:t>
            </a:r>
            <a:endParaRPr lang="en-IN" sz="2800" dirty="0"/>
          </a:p>
        </p:txBody>
      </p:sp>
    </p:spTree>
    <p:extLst>
      <p:ext uri="{BB962C8B-B14F-4D97-AF65-F5344CB8AC3E}">
        <p14:creationId xmlns:p14="http://schemas.microsoft.com/office/powerpoint/2010/main" val="39472289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384981" y="1209071"/>
            <a:ext cx="9279209" cy="4524315"/>
          </a:xfrm>
          <a:prstGeom prst="rect">
            <a:avLst/>
          </a:prstGeom>
          <a:noFill/>
        </p:spPr>
        <p:txBody>
          <a:bodyPr wrap="square" rtlCol="0">
            <a:spAutoFit/>
          </a:bodyPr>
          <a:lstStyle/>
          <a:p>
            <a:pPr algn="just"/>
            <a:r>
              <a:rPr lang="en-IN" b="1" dirty="0" smtClean="0">
                <a:solidFill>
                  <a:srgbClr val="7030A0"/>
                </a:solidFill>
              </a:rPr>
              <a:t>Diverging</a:t>
            </a:r>
            <a:r>
              <a:rPr lang="en-IN" dirty="0" smtClean="0"/>
              <a:t> – A single presynaptic neuron may synapse with several postsynaptic neurons. </a:t>
            </a:r>
          </a:p>
          <a:p>
            <a:pPr algn="just"/>
            <a:r>
              <a:rPr lang="en-IN" dirty="0" smtClean="0"/>
              <a:t>Example: Sensory signals are arranged in diverging circuits, allowing a sensory impulse to be relayed to several regions of the brain. This arrangement amplifies the signal.</a:t>
            </a:r>
          </a:p>
          <a:p>
            <a:pPr algn="just"/>
            <a:endParaRPr lang="en-IN" dirty="0"/>
          </a:p>
          <a:p>
            <a:pPr algn="just"/>
            <a:r>
              <a:rPr lang="en-IN" b="1" dirty="0" smtClean="0">
                <a:solidFill>
                  <a:srgbClr val="7030A0"/>
                </a:solidFill>
              </a:rPr>
              <a:t>Converging</a:t>
            </a:r>
            <a:r>
              <a:rPr lang="en-IN" dirty="0" smtClean="0"/>
              <a:t> – Several presynaptic neurons synapse with a single post synaptic neuron. This arrangement permits more effective simulation or inhibition of the postsynaptic neuron.</a:t>
            </a:r>
          </a:p>
          <a:p>
            <a:pPr algn="just"/>
            <a:r>
              <a:rPr lang="en-IN" dirty="0" smtClean="0"/>
              <a:t>Example: A single motor neuron that synapses with skeletal muscle fibres at neuromuscular junctions receives input from several pathways that originate in different brain regions.</a:t>
            </a:r>
          </a:p>
          <a:p>
            <a:pPr algn="just"/>
            <a:endParaRPr lang="en-IN" dirty="0"/>
          </a:p>
          <a:p>
            <a:pPr algn="just"/>
            <a:r>
              <a:rPr lang="en-IN" b="1" dirty="0" smtClean="0">
                <a:solidFill>
                  <a:srgbClr val="7030A0"/>
                </a:solidFill>
              </a:rPr>
              <a:t>Reverberating</a:t>
            </a:r>
            <a:r>
              <a:rPr lang="en-IN" dirty="0" smtClean="0"/>
              <a:t> – Branches from later neurons synapse with earlier ones, thereby sending impulses back through the circuit again and again.</a:t>
            </a:r>
          </a:p>
          <a:p>
            <a:pPr algn="just"/>
            <a:r>
              <a:rPr lang="en-IN" dirty="0" smtClean="0"/>
              <a:t>Example: The activities of breathing and waking up are considered to be a result of such circuit.</a:t>
            </a:r>
          </a:p>
          <a:p>
            <a:pPr algn="just"/>
            <a:endParaRPr lang="en-IN" dirty="0"/>
          </a:p>
          <a:p>
            <a:pPr algn="just"/>
            <a:r>
              <a:rPr lang="en-IN" b="1" dirty="0" smtClean="0">
                <a:solidFill>
                  <a:srgbClr val="7030A0"/>
                </a:solidFill>
              </a:rPr>
              <a:t>Parallel after-discharge </a:t>
            </a:r>
            <a:r>
              <a:rPr lang="en-IN" dirty="0" smtClean="0"/>
              <a:t>– A single presynaptic cell stimulates a group of neurons, each of which synapses with a common postsynaptic cell.</a:t>
            </a:r>
          </a:p>
          <a:p>
            <a:pPr algn="just"/>
            <a:r>
              <a:rPr lang="en-IN" dirty="0" smtClean="0"/>
              <a:t>Example: Mathematical calculations.</a:t>
            </a:r>
            <a:endParaRPr lang="en-IN" dirty="0"/>
          </a:p>
        </p:txBody>
      </p:sp>
      <p:sp>
        <p:nvSpPr>
          <p:cNvPr id="7" name="TextBox 6"/>
          <p:cNvSpPr txBox="1"/>
          <p:nvPr/>
        </p:nvSpPr>
        <p:spPr>
          <a:xfrm>
            <a:off x="4402457" y="402561"/>
            <a:ext cx="1763688" cy="523220"/>
          </a:xfrm>
          <a:prstGeom prst="rect">
            <a:avLst/>
          </a:prstGeom>
          <a:noFill/>
        </p:spPr>
        <p:txBody>
          <a:bodyPr wrap="none" rtlCol="0">
            <a:spAutoFit/>
          </a:bodyPr>
          <a:lstStyle/>
          <a:p>
            <a:r>
              <a:rPr lang="en-IN" sz="2800" dirty="0" smtClean="0"/>
              <a:t>Definitions</a:t>
            </a:r>
            <a:endParaRPr lang="en-IN" sz="2800" dirty="0"/>
          </a:p>
        </p:txBody>
      </p:sp>
    </p:spTree>
    <p:extLst>
      <p:ext uri="{BB962C8B-B14F-4D97-AF65-F5344CB8AC3E}">
        <p14:creationId xmlns:p14="http://schemas.microsoft.com/office/powerpoint/2010/main" val="7500295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16657" y="516861"/>
            <a:ext cx="4136132" cy="523220"/>
          </a:xfrm>
          <a:prstGeom prst="rect">
            <a:avLst/>
          </a:prstGeom>
          <a:noFill/>
        </p:spPr>
        <p:txBody>
          <a:bodyPr wrap="none" rtlCol="0">
            <a:spAutoFit/>
          </a:bodyPr>
          <a:lstStyle/>
          <a:p>
            <a:r>
              <a:rPr lang="en-IN" sz="2800" dirty="0" smtClean="0"/>
              <a:t>Plasticity and Regeneration</a:t>
            </a:r>
            <a:endParaRPr lang="en-IN" sz="2800" dirty="0"/>
          </a:p>
        </p:txBody>
      </p:sp>
      <p:sp>
        <p:nvSpPr>
          <p:cNvPr id="2" name="TextBox 1"/>
          <p:cNvSpPr txBox="1"/>
          <p:nvPr/>
        </p:nvSpPr>
        <p:spPr>
          <a:xfrm>
            <a:off x="1397248" y="1766632"/>
            <a:ext cx="9049772" cy="2862322"/>
          </a:xfrm>
          <a:prstGeom prst="rect">
            <a:avLst/>
          </a:prstGeom>
          <a:noFill/>
        </p:spPr>
        <p:txBody>
          <a:bodyPr wrap="square" rtlCol="0">
            <a:spAutoFit/>
          </a:bodyPr>
          <a:lstStyle/>
          <a:p>
            <a:pPr marL="285750" indent="-285750" algn="just">
              <a:buFont typeface="Wingdings" panose="05000000000000000000" pitchFamily="2" charset="2"/>
              <a:buChar char="q"/>
            </a:pPr>
            <a:r>
              <a:rPr lang="en-IN" dirty="0" smtClean="0"/>
              <a:t>The nervous system exhibits capabilities to change based on experience. This property of the neurons is called </a:t>
            </a:r>
            <a:r>
              <a:rPr lang="en-IN" b="1" dirty="0" smtClean="0">
                <a:solidFill>
                  <a:srgbClr val="C00000"/>
                </a:solidFill>
              </a:rPr>
              <a:t>plasticity</a:t>
            </a:r>
            <a:r>
              <a:rPr lang="en-IN" dirty="0" smtClean="0"/>
              <a:t>. This changes may include sprouting of new dendrites, synthesis of new proteins, and changes in synaptic contacts with other neurons. Both chemical and electrical signals drive these changes.</a:t>
            </a:r>
          </a:p>
          <a:p>
            <a:pPr marL="285750" indent="-285750" algn="just">
              <a:buFont typeface="Wingdings" panose="05000000000000000000" pitchFamily="2" charset="2"/>
              <a:buChar char="q"/>
            </a:pPr>
            <a:endParaRPr lang="en-IN" dirty="0" smtClean="0"/>
          </a:p>
          <a:p>
            <a:pPr marL="285750" indent="-285750" algn="just">
              <a:buFont typeface="Wingdings" panose="05000000000000000000" pitchFamily="2" charset="2"/>
              <a:buChar char="q"/>
            </a:pPr>
            <a:endParaRPr lang="en-IN" dirty="0"/>
          </a:p>
          <a:p>
            <a:pPr marL="285750" indent="-285750" algn="just">
              <a:buFont typeface="Wingdings" panose="05000000000000000000" pitchFamily="2" charset="2"/>
              <a:buChar char="q"/>
            </a:pPr>
            <a:r>
              <a:rPr lang="en-IN" dirty="0" smtClean="0"/>
              <a:t>The </a:t>
            </a:r>
            <a:r>
              <a:rPr lang="en-IN" b="1" dirty="0" smtClean="0">
                <a:solidFill>
                  <a:srgbClr val="C00000"/>
                </a:solidFill>
              </a:rPr>
              <a:t>regeneration</a:t>
            </a:r>
            <a:r>
              <a:rPr lang="en-IN" dirty="0" smtClean="0"/>
              <a:t> of neurons is the capability to replicate or repair themselves. Mammalian neurons have limited capacity to regenerate. In PNS, damage to dendrites and axons may be repaired to certain extent if the cell body and the Schwann cells remain active. However, CNS exhibits little or no repair to the damage.</a:t>
            </a:r>
            <a:endParaRPr lang="en-IN" dirty="0"/>
          </a:p>
        </p:txBody>
      </p:sp>
    </p:spTree>
    <p:extLst>
      <p:ext uri="{BB962C8B-B14F-4D97-AF65-F5344CB8AC3E}">
        <p14:creationId xmlns:p14="http://schemas.microsoft.com/office/powerpoint/2010/main" val="19953117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7449" y="505710"/>
            <a:ext cx="4764638" cy="523220"/>
          </a:xfrm>
          <a:prstGeom prst="rect">
            <a:avLst/>
          </a:prstGeom>
          <a:noFill/>
        </p:spPr>
        <p:txBody>
          <a:bodyPr wrap="none" rtlCol="0">
            <a:spAutoFit/>
          </a:bodyPr>
          <a:lstStyle/>
          <a:p>
            <a:r>
              <a:rPr lang="en-IN" sz="2800" dirty="0" smtClean="0"/>
              <a:t>Artificial Neural Network (ANN)</a:t>
            </a:r>
            <a:endParaRPr lang="en-IN" sz="2800" dirty="0"/>
          </a:p>
        </p:txBody>
      </p:sp>
      <p:sp>
        <p:nvSpPr>
          <p:cNvPr id="5" name="Rectangle 4"/>
          <p:cNvSpPr/>
          <p:nvPr/>
        </p:nvSpPr>
        <p:spPr>
          <a:xfrm>
            <a:off x="1305812" y="1325201"/>
            <a:ext cx="9407912"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IN" b="0" i="0" dirty="0" smtClean="0">
                <a:solidFill>
                  <a:srgbClr val="333333"/>
                </a:solidFill>
                <a:effectLst/>
                <a:latin typeface="Open-sans"/>
              </a:rPr>
              <a:t>An artificial neuron network (ANN) is a computational model based on the structure and functions of biological neural networks. Information that flows through the network affects the structure of the ANN because a neural network changes - or learns, in a sense - based on that input and output.</a:t>
            </a:r>
            <a:endParaRPr lang="en-IN" dirty="0"/>
          </a:p>
        </p:txBody>
      </p:sp>
      <p:sp>
        <p:nvSpPr>
          <p:cNvPr id="6" name="Rectangle 5"/>
          <p:cNvSpPr/>
          <p:nvPr/>
        </p:nvSpPr>
        <p:spPr>
          <a:xfrm>
            <a:off x="1984917" y="2643384"/>
            <a:ext cx="8728807" cy="2862322"/>
          </a:xfrm>
          <a:prstGeom prst="rect">
            <a:avLst/>
          </a:prstGeom>
        </p:spPr>
        <p:txBody>
          <a:bodyPr wrap="square">
            <a:spAutoFit/>
          </a:bodyPr>
          <a:lstStyle/>
          <a:p>
            <a:pPr marL="285750" indent="-285750" algn="just">
              <a:buFont typeface="Wingdings" panose="05000000000000000000" pitchFamily="2" charset="2"/>
              <a:buChar char="ü"/>
            </a:pPr>
            <a:r>
              <a:rPr lang="en-IN" b="0" i="0" dirty="0" smtClean="0">
                <a:solidFill>
                  <a:srgbClr val="333333"/>
                </a:solidFill>
                <a:effectLst/>
                <a:latin typeface="Open-sans"/>
              </a:rPr>
              <a:t>ANNs are considered nonlinear statistical data modelling tools where the complex relationships between inputs and outputs are modelled or patterns are found.</a:t>
            </a:r>
          </a:p>
          <a:p>
            <a:pPr marL="285750" indent="-285750" algn="just">
              <a:buFont typeface="Wingdings" panose="05000000000000000000" pitchFamily="2" charset="2"/>
              <a:buChar char="ü"/>
            </a:pPr>
            <a:endParaRPr lang="en-IN" dirty="0">
              <a:solidFill>
                <a:srgbClr val="333333"/>
              </a:solidFill>
              <a:latin typeface="Open-sans"/>
            </a:endParaRPr>
          </a:p>
          <a:p>
            <a:pPr marL="285750" indent="-285750" algn="just">
              <a:buFont typeface="Wingdings" panose="05000000000000000000" pitchFamily="2" charset="2"/>
              <a:buChar char="ü"/>
            </a:pPr>
            <a:r>
              <a:rPr lang="en-IN" dirty="0" smtClean="0">
                <a:solidFill>
                  <a:srgbClr val="333333"/>
                </a:solidFill>
                <a:latin typeface="Open-sans"/>
              </a:rPr>
              <a:t>ANN can </a:t>
            </a:r>
            <a:r>
              <a:rPr lang="en-IN" dirty="0">
                <a:solidFill>
                  <a:srgbClr val="333333"/>
                </a:solidFill>
                <a:latin typeface="Open-sans"/>
              </a:rPr>
              <a:t>actually learn from observing data sets</a:t>
            </a:r>
            <a:r>
              <a:rPr lang="en-IN" dirty="0" smtClean="0">
                <a:solidFill>
                  <a:srgbClr val="333333"/>
                </a:solidFill>
                <a:latin typeface="Open-sans"/>
              </a:rPr>
              <a:t>. In this way, it </a:t>
            </a:r>
            <a:r>
              <a:rPr lang="en-IN" dirty="0">
                <a:solidFill>
                  <a:srgbClr val="333333"/>
                </a:solidFill>
                <a:latin typeface="Open-sans"/>
              </a:rPr>
              <a:t>is used as a random function approximation tool</a:t>
            </a:r>
            <a:r>
              <a:rPr lang="en-IN" dirty="0" smtClean="0">
                <a:solidFill>
                  <a:srgbClr val="333333"/>
                </a:solidFill>
                <a:latin typeface="Open-sans"/>
              </a:rPr>
              <a:t>.</a:t>
            </a:r>
          </a:p>
          <a:p>
            <a:pPr marL="285750" indent="-285750" algn="just">
              <a:buFont typeface="Wingdings" panose="05000000000000000000" pitchFamily="2" charset="2"/>
              <a:buChar char="ü"/>
            </a:pPr>
            <a:endParaRPr lang="en-IN" dirty="0">
              <a:solidFill>
                <a:srgbClr val="333333"/>
              </a:solidFill>
              <a:latin typeface="Open-sans"/>
            </a:endParaRPr>
          </a:p>
          <a:p>
            <a:pPr marL="285750" indent="-285750" algn="just">
              <a:buFont typeface="Wingdings" panose="05000000000000000000" pitchFamily="2" charset="2"/>
              <a:buChar char="ü"/>
            </a:pPr>
            <a:r>
              <a:rPr lang="en-IN" dirty="0">
                <a:solidFill>
                  <a:srgbClr val="333333"/>
                </a:solidFill>
                <a:latin typeface="Open-sans"/>
              </a:rPr>
              <a:t>Training an artificial neural network involves choosing from allowed models for which there are several associated algorithms</a:t>
            </a:r>
            <a:r>
              <a:rPr lang="en-IN" dirty="0" smtClean="0">
                <a:solidFill>
                  <a:srgbClr val="333333"/>
                </a:solidFill>
                <a:latin typeface="Open-sans"/>
              </a:rPr>
              <a:t>.</a:t>
            </a:r>
          </a:p>
          <a:p>
            <a:pPr marL="285750" indent="-285750" algn="just">
              <a:buFont typeface="Wingdings" panose="05000000000000000000" pitchFamily="2" charset="2"/>
              <a:buChar char="ü"/>
            </a:pPr>
            <a:endParaRPr lang="en-IN" dirty="0">
              <a:solidFill>
                <a:srgbClr val="333333"/>
              </a:solidFill>
              <a:latin typeface="Open-sans"/>
            </a:endParaRPr>
          </a:p>
          <a:p>
            <a:pPr marL="285750" indent="-285750" algn="just">
              <a:buFont typeface="Wingdings" panose="05000000000000000000" pitchFamily="2" charset="2"/>
              <a:buChar char="ü"/>
            </a:pPr>
            <a:r>
              <a:rPr lang="en-IN" dirty="0" smtClean="0">
                <a:solidFill>
                  <a:srgbClr val="333333"/>
                </a:solidFill>
                <a:latin typeface="Open-sans"/>
              </a:rPr>
              <a:t>Usage: Machine Learning, Artificial Intelligence</a:t>
            </a:r>
            <a:endParaRPr lang="en-IN" dirty="0">
              <a:solidFill>
                <a:srgbClr val="333333"/>
              </a:solidFill>
              <a:latin typeface="Open-sans"/>
            </a:endParaRPr>
          </a:p>
        </p:txBody>
      </p:sp>
    </p:spTree>
    <p:extLst>
      <p:ext uri="{BB962C8B-B14F-4D97-AF65-F5344CB8AC3E}">
        <p14:creationId xmlns:p14="http://schemas.microsoft.com/office/powerpoint/2010/main" val="25335464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40766" y="427652"/>
            <a:ext cx="2679003" cy="523220"/>
          </a:xfrm>
          <a:prstGeom prst="rect">
            <a:avLst/>
          </a:prstGeom>
          <a:noFill/>
        </p:spPr>
        <p:txBody>
          <a:bodyPr wrap="none" rtlCol="0">
            <a:spAutoFit/>
          </a:bodyPr>
          <a:lstStyle/>
          <a:p>
            <a:r>
              <a:rPr lang="en-IN" sz="2800" dirty="0" smtClean="0"/>
              <a:t>Structure of ANN</a:t>
            </a:r>
            <a:endParaRPr lang="en-IN" sz="2800" dirty="0"/>
          </a:p>
        </p:txBody>
      </p:sp>
      <p:sp>
        <p:nvSpPr>
          <p:cNvPr id="5" name="Rectangle 4"/>
          <p:cNvSpPr/>
          <p:nvPr/>
        </p:nvSpPr>
        <p:spPr>
          <a:xfrm>
            <a:off x="1862254" y="4830717"/>
            <a:ext cx="8497229"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IN" b="1" dirty="0">
                <a:solidFill>
                  <a:srgbClr val="222222"/>
                </a:solidFill>
                <a:latin typeface="arial" panose="020B0604020202020204" pitchFamily="34" charset="0"/>
              </a:rPr>
              <a:t>Backpropagation</a:t>
            </a:r>
            <a:r>
              <a:rPr lang="en-IN" dirty="0">
                <a:solidFill>
                  <a:srgbClr val="222222"/>
                </a:solidFill>
                <a:latin typeface="arial" panose="020B0604020202020204" pitchFamily="34" charset="0"/>
              </a:rPr>
              <a:t>, short for "backward propagation of errors," is an algorithm for supervised learning of artificial neural networks using gradient descent. Given an artificial neural network and an error function, the method calculates the gradient of the error function with respect to the neural network's weights.</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232" y="1454917"/>
            <a:ext cx="4502502" cy="2871755"/>
          </a:xfrm>
          <a:prstGeom prst="rect">
            <a:avLst/>
          </a:prstGeom>
        </p:spPr>
      </p:pic>
    </p:spTree>
    <p:extLst>
      <p:ext uri="{BB962C8B-B14F-4D97-AF65-F5344CB8AC3E}">
        <p14:creationId xmlns:p14="http://schemas.microsoft.com/office/powerpoint/2010/main" val="328391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57653" y="316140"/>
            <a:ext cx="6286144" cy="523220"/>
          </a:xfrm>
          <a:prstGeom prst="rect">
            <a:avLst/>
          </a:prstGeom>
          <a:noFill/>
        </p:spPr>
        <p:txBody>
          <a:bodyPr wrap="none" rtlCol="0">
            <a:spAutoFit/>
          </a:bodyPr>
          <a:lstStyle/>
          <a:p>
            <a:r>
              <a:rPr lang="en-IN" sz="2800" dirty="0" smtClean="0"/>
              <a:t>Back-propagation Neural Network (BPNN)</a:t>
            </a:r>
            <a:endParaRPr lang="en-IN" sz="28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4785" y="1028931"/>
            <a:ext cx="3870135" cy="5516835"/>
          </a:xfrm>
          <a:prstGeom prst="rect">
            <a:avLst/>
          </a:prstGeom>
        </p:spPr>
      </p:pic>
      <p:sp>
        <p:nvSpPr>
          <p:cNvPr id="7" name="TextBox 6"/>
          <p:cNvSpPr txBox="1"/>
          <p:nvPr/>
        </p:nvSpPr>
        <p:spPr>
          <a:xfrm>
            <a:off x="7657376" y="1479024"/>
            <a:ext cx="3382335" cy="286232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i="1" dirty="0" smtClean="0"/>
              <a:t>a1</a:t>
            </a:r>
            <a:r>
              <a:rPr lang="en-IN" dirty="0" smtClean="0"/>
              <a:t>: constant of activation function for input neurons</a:t>
            </a:r>
          </a:p>
          <a:p>
            <a:endParaRPr lang="en-IN" dirty="0"/>
          </a:p>
          <a:p>
            <a:r>
              <a:rPr lang="en-IN" i="1" dirty="0" smtClean="0"/>
              <a:t>a2</a:t>
            </a:r>
            <a:r>
              <a:rPr lang="en-IN" dirty="0" smtClean="0"/>
              <a:t>: </a:t>
            </a:r>
            <a:r>
              <a:rPr lang="en-IN" dirty="0"/>
              <a:t>constant of activation function for </a:t>
            </a:r>
            <a:r>
              <a:rPr lang="en-IN" dirty="0" smtClean="0"/>
              <a:t>hidden </a:t>
            </a:r>
            <a:r>
              <a:rPr lang="en-IN" dirty="0"/>
              <a:t>neurons</a:t>
            </a:r>
          </a:p>
          <a:p>
            <a:endParaRPr lang="en-IN" dirty="0" smtClean="0"/>
          </a:p>
          <a:p>
            <a:r>
              <a:rPr lang="en-IN" i="1" dirty="0" smtClean="0"/>
              <a:t>a3</a:t>
            </a:r>
            <a:r>
              <a:rPr lang="en-IN" dirty="0" smtClean="0"/>
              <a:t>: </a:t>
            </a:r>
            <a:r>
              <a:rPr lang="en-IN" dirty="0"/>
              <a:t>constant of activation function for </a:t>
            </a:r>
            <a:r>
              <a:rPr lang="en-IN" dirty="0" smtClean="0"/>
              <a:t>output neurons</a:t>
            </a:r>
          </a:p>
          <a:p>
            <a:endParaRPr lang="en-IN" dirty="0"/>
          </a:p>
          <a:p>
            <a:r>
              <a:rPr lang="en-IN" i="1" dirty="0" smtClean="0"/>
              <a:t>b</a:t>
            </a:r>
            <a:r>
              <a:rPr lang="en-IN" dirty="0" smtClean="0"/>
              <a:t>: bias value</a:t>
            </a:r>
            <a:endParaRPr lang="en-IN" dirty="0"/>
          </a:p>
        </p:txBody>
      </p:sp>
    </p:spTree>
    <p:extLst>
      <p:ext uri="{BB962C8B-B14F-4D97-AF65-F5344CB8AC3E}">
        <p14:creationId xmlns:p14="http://schemas.microsoft.com/office/powerpoint/2010/main" val="42905613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5503</TotalTime>
  <Words>567</Words>
  <Application>Microsoft Office PowerPoint</Application>
  <PresentationFormat>Widescreen</PresentationFormat>
  <Paragraphs>44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Arial</vt:lpstr>
      <vt:lpstr>Calibri</vt:lpstr>
      <vt:lpstr>Calibri Light</vt:lpstr>
      <vt:lpstr>Open-sans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lastModifiedBy>IITG</cp:lastModifiedBy>
  <cp:revision>42</cp:revision>
  <dcterms:created xsi:type="dcterms:W3CDTF">2018-03-31T13:22:36Z</dcterms:created>
  <dcterms:modified xsi:type="dcterms:W3CDTF">2018-04-04T14:45:37Z</dcterms:modified>
</cp:coreProperties>
</file>