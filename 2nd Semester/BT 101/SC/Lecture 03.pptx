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9.jpg" ContentType="image/jpeg"/>
  <Override PartName="/ppt/media/image11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39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7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8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48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4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3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57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6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82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76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64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09F41-5945-4234-9782-4AC46266C1C0}" type="datetimeFigureOut">
              <a:rPr lang="en-IN" smtClean="0"/>
              <a:t>13-03-18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41BAF-F059-4F67-9212-76A7914172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12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81667" y="1661534"/>
            <a:ext cx="980192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chemeClr val="accent5"/>
                </a:solidFill>
                <a:latin typeface="CIDFont+F2"/>
              </a:rPr>
              <a:t>Mechanoreceptors</a:t>
            </a:r>
            <a:r>
              <a:rPr lang="en-IN" sz="2000" b="1" dirty="0">
                <a:solidFill>
                  <a:schemeClr val="accent5"/>
                </a:solidFill>
                <a:latin typeface="CIDFont+F2"/>
              </a:rPr>
              <a:t>:</a:t>
            </a:r>
            <a:r>
              <a:rPr lang="en-IN" sz="2000" dirty="0">
                <a:latin typeface="CIDFont+F2"/>
              </a:rPr>
              <a:t> Detect mechanical compression </a:t>
            </a:r>
            <a:r>
              <a:rPr lang="en-IN" sz="2000" dirty="0" smtClean="0">
                <a:latin typeface="CIDFont+F2"/>
              </a:rPr>
              <a:t>or stretching </a:t>
            </a:r>
            <a:r>
              <a:rPr lang="en-IN" sz="2000" dirty="0">
                <a:latin typeface="CIDFont+F2"/>
              </a:rPr>
              <a:t>of the receptor of tissues adjacent to </a:t>
            </a:r>
            <a:r>
              <a:rPr lang="en-IN" sz="2000" dirty="0" smtClean="0">
                <a:latin typeface="CIDFont+F2"/>
              </a:rPr>
              <a:t>the receptor</a:t>
            </a:r>
          </a:p>
          <a:p>
            <a:pPr marL="342900" indent="-342900">
              <a:buAutoNum type="arabicPeriod"/>
            </a:pPr>
            <a:endParaRPr lang="en-IN" sz="2000" dirty="0">
              <a:latin typeface="CIDFont+F2"/>
            </a:endParaRPr>
          </a:p>
          <a:p>
            <a:r>
              <a:rPr lang="en-IN" sz="2000" b="1" dirty="0">
                <a:solidFill>
                  <a:schemeClr val="accent5"/>
                </a:solidFill>
                <a:latin typeface="CIDFont+F2"/>
              </a:rPr>
              <a:t>Thermoreceptors: </a:t>
            </a:r>
            <a:r>
              <a:rPr lang="en-IN" sz="2000" dirty="0">
                <a:latin typeface="CIDFont+F2"/>
              </a:rPr>
              <a:t>Detect changes in </a:t>
            </a:r>
            <a:r>
              <a:rPr lang="en-IN" sz="2000" dirty="0" smtClean="0">
                <a:latin typeface="CIDFont+F2"/>
              </a:rPr>
              <a:t>temperature (cold/warmth)</a:t>
            </a:r>
          </a:p>
          <a:p>
            <a:endParaRPr lang="en-IN" sz="2000" dirty="0">
              <a:latin typeface="CIDFont+F2"/>
            </a:endParaRPr>
          </a:p>
          <a:p>
            <a:r>
              <a:rPr lang="en-IN" sz="2000" b="1" dirty="0">
                <a:solidFill>
                  <a:schemeClr val="accent5"/>
                </a:solidFill>
                <a:latin typeface="CIDFont+F2"/>
              </a:rPr>
              <a:t>Nociceptors: </a:t>
            </a:r>
            <a:r>
              <a:rPr lang="en-IN" sz="2000" dirty="0">
                <a:latin typeface="CIDFont+F2"/>
              </a:rPr>
              <a:t>Pain </a:t>
            </a:r>
            <a:r>
              <a:rPr lang="en-IN" sz="2000" dirty="0" smtClean="0">
                <a:latin typeface="CIDFont+F2"/>
              </a:rPr>
              <a:t>receptors</a:t>
            </a:r>
          </a:p>
          <a:p>
            <a:endParaRPr lang="en-IN" sz="2000" dirty="0">
              <a:latin typeface="CIDFont+F2"/>
            </a:endParaRPr>
          </a:p>
          <a:p>
            <a:r>
              <a:rPr lang="en-IN" sz="2000" b="1" dirty="0">
                <a:solidFill>
                  <a:schemeClr val="accent5"/>
                </a:solidFill>
                <a:latin typeface="CIDFont+F2"/>
              </a:rPr>
              <a:t>Electromagnetic receptors: </a:t>
            </a:r>
            <a:r>
              <a:rPr lang="en-IN" sz="2000" dirty="0">
                <a:latin typeface="CIDFont+F2"/>
              </a:rPr>
              <a:t>Detect </a:t>
            </a:r>
            <a:r>
              <a:rPr lang="en-IN" sz="2000" dirty="0" smtClean="0">
                <a:latin typeface="CIDFont+F2"/>
              </a:rPr>
              <a:t>light</a:t>
            </a:r>
          </a:p>
          <a:p>
            <a:endParaRPr lang="en-IN" sz="2000" dirty="0">
              <a:latin typeface="CIDFont+F2"/>
            </a:endParaRPr>
          </a:p>
          <a:p>
            <a:r>
              <a:rPr lang="en-IN" sz="2000" b="1" dirty="0">
                <a:solidFill>
                  <a:schemeClr val="accent5"/>
                </a:solidFill>
                <a:latin typeface="CIDFont+F2"/>
              </a:rPr>
              <a:t>Chemoreceptors: </a:t>
            </a:r>
            <a:r>
              <a:rPr lang="en-IN" sz="2000" dirty="0">
                <a:latin typeface="CIDFont+F2"/>
              </a:rPr>
              <a:t>Detect taste, smell, oxygen level </a:t>
            </a:r>
            <a:r>
              <a:rPr lang="en-IN" sz="2000" dirty="0" smtClean="0">
                <a:latin typeface="CIDFont+F2"/>
              </a:rPr>
              <a:t>in blood</a:t>
            </a:r>
            <a:r>
              <a:rPr lang="en-IN" sz="2000" dirty="0">
                <a:latin typeface="CIDFont+F2"/>
              </a:rPr>
              <a:t>, </a:t>
            </a:r>
            <a:r>
              <a:rPr lang="en-IN" sz="2000" dirty="0" smtClean="0">
                <a:latin typeface="CIDFont+F2"/>
              </a:rPr>
              <a:t>osmolality (electrolyte-water balance) </a:t>
            </a:r>
            <a:r>
              <a:rPr lang="en-IN" sz="2000" dirty="0">
                <a:latin typeface="CIDFont+F2"/>
              </a:rPr>
              <a:t>of the fluids, CO</a:t>
            </a:r>
            <a:r>
              <a:rPr lang="en-IN" sz="1400" b="0" i="0" u="none" strike="noStrike" baseline="0" dirty="0" smtClean="0">
                <a:latin typeface="CIDFont+F2"/>
              </a:rPr>
              <a:t>2</a:t>
            </a:r>
            <a:r>
              <a:rPr lang="en-IN" sz="2000" b="0" i="0" u="none" strike="noStrike" baseline="0" dirty="0" smtClean="0">
                <a:latin typeface="CIDFont+F2"/>
              </a:rPr>
              <a:t> </a:t>
            </a:r>
            <a:r>
              <a:rPr lang="en-IN" sz="2000" dirty="0">
                <a:latin typeface="CIDFont+F2"/>
              </a:rPr>
              <a:t>concentrations etc.</a:t>
            </a: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482790" y="680227"/>
            <a:ext cx="1876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Receptors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5380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6" y="1317612"/>
            <a:ext cx="795824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rgbClr val="002060"/>
                </a:solidFill>
                <a:latin typeface="CIDFont+F2"/>
              </a:rPr>
              <a:t>Basic </a:t>
            </a:r>
            <a:r>
              <a:rPr lang="en-IN" dirty="0">
                <a:solidFill>
                  <a:srgbClr val="002060"/>
                </a:solidFill>
                <a:latin typeface="CIDFont+F2"/>
              </a:rPr>
              <a:t>structure of the </a:t>
            </a:r>
            <a:r>
              <a:rPr lang="en-IN" dirty="0" smtClean="0">
                <a:solidFill>
                  <a:srgbClr val="002060"/>
                </a:solidFill>
                <a:latin typeface="CIDFont+F2"/>
              </a:rPr>
              <a:t>eye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 smtClean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rgbClr val="002060"/>
                </a:solidFill>
                <a:latin typeface="CIDFont+F2"/>
              </a:rPr>
              <a:t>Blind spot</a:t>
            </a:r>
          </a:p>
          <a:p>
            <a:endParaRPr lang="en-IN" dirty="0" smtClean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002060"/>
                </a:solidFill>
                <a:latin typeface="CIDFont+F2"/>
              </a:rPr>
              <a:t>Formation of an image on retina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002060"/>
                </a:solidFill>
                <a:latin typeface="CIDFont+F2"/>
              </a:rPr>
              <a:t>Farsightedness (hyperopia/</a:t>
            </a:r>
            <a:r>
              <a:rPr lang="en-IN" dirty="0" err="1">
                <a:solidFill>
                  <a:srgbClr val="002060"/>
                </a:solidFill>
                <a:latin typeface="CIDFont+F2"/>
              </a:rPr>
              <a:t>hypermetropia</a:t>
            </a:r>
            <a:r>
              <a:rPr lang="en-IN" dirty="0">
                <a:solidFill>
                  <a:srgbClr val="002060"/>
                </a:solidFill>
                <a:latin typeface="CIDFont+F2"/>
              </a:rPr>
              <a:t>) and </a:t>
            </a:r>
            <a:r>
              <a:rPr lang="en-IN" dirty="0" err="1">
                <a:solidFill>
                  <a:srgbClr val="002060"/>
                </a:solidFill>
                <a:latin typeface="CIDFont+F2"/>
              </a:rPr>
              <a:t>Nearsightedness</a:t>
            </a:r>
            <a:r>
              <a:rPr lang="en-IN" dirty="0">
                <a:solidFill>
                  <a:srgbClr val="002060"/>
                </a:solidFill>
                <a:latin typeface="CIDFont+F2"/>
              </a:rPr>
              <a:t> (myopia</a:t>
            </a:r>
            <a:r>
              <a:rPr lang="en-IN" dirty="0" smtClean="0">
                <a:solidFill>
                  <a:srgbClr val="002060"/>
                </a:solidFill>
                <a:latin typeface="CIDFont+F2"/>
              </a:rPr>
              <a:t>)</a:t>
            </a:r>
            <a:endParaRPr lang="en-IN" dirty="0" smtClean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 smtClean="0">
                <a:solidFill>
                  <a:srgbClr val="002060"/>
                </a:solidFill>
                <a:latin typeface="CIDFont+F2"/>
              </a:rPr>
              <a:t>Intraocular </a:t>
            </a:r>
            <a:r>
              <a:rPr lang="pt-BR" dirty="0">
                <a:solidFill>
                  <a:srgbClr val="002060"/>
                </a:solidFill>
                <a:latin typeface="CIDFont+F2"/>
              </a:rPr>
              <a:t>fluid, tonometer, and </a:t>
            </a:r>
            <a:r>
              <a:rPr lang="pt-BR" dirty="0" smtClean="0">
                <a:solidFill>
                  <a:srgbClr val="002060"/>
                </a:solidFill>
                <a:latin typeface="CIDFont+F2"/>
              </a:rPr>
              <a:t>glucoma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rgbClr val="002060"/>
                </a:solidFill>
                <a:latin typeface="CIDFont+F2"/>
              </a:rPr>
              <a:t>Photochemistry </a:t>
            </a:r>
            <a:r>
              <a:rPr lang="en-IN" dirty="0">
                <a:solidFill>
                  <a:srgbClr val="002060"/>
                </a:solidFill>
                <a:latin typeface="CIDFont+F2"/>
              </a:rPr>
              <a:t>of vision by </a:t>
            </a:r>
            <a:r>
              <a:rPr lang="en-IN" dirty="0" smtClean="0">
                <a:solidFill>
                  <a:srgbClr val="002060"/>
                </a:solidFill>
                <a:latin typeface="CIDFont+F2"/>
              </a:rPr>
              <a:t>rods and cons </a:t>
            </a:r>
            <a:r>
              <a:rPr lang="en-IN" dirty="0" smtClean="0">
                <a:solidFill>
                  <a:srgbClr val="002060"/>
                </a:solidFill>
                <a:latin typeface="CIDFont+F2"/>
              </a:rPr>
              <a:t>cells</a:t>
            </a:r>
          </a:p>
          <a:p>
            <a:endParaRPr lang="en-IN" dirty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002060"/>
                </a:solidFill>
                <a:latin typeface="CIDFont+F2"/>
              </a:rPr>
              <a:t>Night </a:t>
            </a:r>
            <a:r>
              <a:rPr lang="en-IN" dirty="0" smtClean="0">
                <a:solidFill>
                  <a:srgbClr val="002060"/>
                </a:solidFill>
                <a:latin typeface="CIDFont+F2"/>
              </a:rPr>
              <a:t>blindness</a:t>
            </a:r>
            <a:endParaRPr lang="en-IN" dirty="0" smtClean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rgbClr val="002060"/>
              </a:solidFill>
              <a:latin typeface="CIDFont+F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>
                <a:solidFill>
                  <a:srgbClr val="002060"/>
                </a:solidFill>
                <a:latin typeface="CIDFont+F2"/>
              </a:rPr>
              <a:t>Colour </a:t>
            </a:r>
            <a:r>
              <a:rPr lang="en-IN" dirty="0">
                <a:solidFill>
                  <a:srgbClr val="002060"/>
                </a:solidFill>
                <a:latin typeface="CIDFont+F2"/>
              </a:rPr>
              <a:t>vision in reptiles and birds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70559" y="479509"/>
            <a:ext cx="4635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smtClean="0"/>
              <a:t>Vision and visual receptors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7655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tructure of Ey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29" y="687231"/>
            <a:ext cx="6500419" cy="541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148" y="1289203"/>
            <a:ext cx="5591175" cy="425767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577938" y="602166"/>
            <a:ext cx="89210" cy="585439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6729" y="136547"/>
            <a:ext cx="4552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/>
              <a:t>Human Eye: Structure &amp; Functions: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8125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93046" y="448779"/>
            <a:ext cx="3424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/>
              <a:t>Blind Spot (Optic Disc)</a:t>
            </a: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19" y="1416207"/>
            <a:ext cx="4547598" cy="4623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42523" y="2074128"/>
            <a:ext cx="5988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</a:t>
            </a:r>
            <a:r>
              <a:rPr lang="en-IN" dirty="0" smtClean="0"/>
              <a:t>ontains no photoreceptors, i.e. no</a:t>
            </a:r>
            <a:r>
              <a:rPr lang="en-IN" dirty="0"/>
              <a:t> rods or cones overlying the optic </a:t>
            </a:r>
            <a:r>
              <a:rPr lang="en-IN" dirty="0" smtClean="0"/>
              <a:t>disc.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entry point for the major blood vessels that supply the </a:t>
            </a:r>
            <a:r>
              <a:rPr lang="en-IN" dirty="0" smtClean="0"/>
              <a:t>retina.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smtClean="0"/>
              <a:t>represents </a:t>
            </a:r>
            <a:r>
              <a:rPr lang="en-IN" dirty="0"/>
              <a:t>the beginning of the optic </a:t>
            </a:r>
            <a:r>
              <a:rPr lang="en-IN" dirty="0" smtClean="0"/>
              <a:t>nerve.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carries 1–1.2 million afferent nerve </a:t>
            </a:r>
            <a:r>
              <a:rPr lang="en-IN" dirty="0" smtClean="0"/>
              <a:t>fibres</a:t>
            </a:r>
            <a:r>
              <a:rPr lang="en-IN" dirty="0"/>
              <a:t> from the eye </a:t>
            </a:r>
            <a:r>
              <a:rPr lang="en-IN" dirty="0" smtClean="0"/>
              <a:t>towards </a:t>
            </a:r>
            <a:r>
              <a:rPr lang="en-IN" dirty="0"/>
              <a:t>the </a:t>
            </a:r>
            <a:r>
              <a:rPr lang="en-IN" dirty="0" smtClean="0"/>
              <a:t>brain.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1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50488" y="598593"/>
            <a:ext cx="6096000" cy="221599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u="sng" dirty="0">
                <a:latin typeface="CIDFont+F1"/>
              </a:rPr>
              <a:t>The eye as a camera</a:t>
            </a:r>
            <a:r>
              <a:rPr lang="en-IN" sz="2400" u="sng" dirty="0" smtClean="0">
                <a:latin typeface="CIDFont+F1"/>
              </a:rPr>
              <a:t>:</a:t>
            </a:r>
          </a:p>
          <a:p>
            <a:endParaRPr lang="en-IN" sz="2400" dirty="0">
              <a:latin typeface="CIDFont+F1"/>
            </a:endParaRPr>
          </a:p>
          <a:p>
            <a:r>
              <a:rPr lang="en-IN" dirty="0">
                <a:latin typeface="CIDFont+F3"/>
              </a:rPr>
              <a:t> </a:t>
            </a:r>
            <a:r>
              <a:rPr lang="en-IN" dirty="0">
                <a:latin typeface="CIDFont+F2"/>
              </a:rPr>
              <a:t>A lens system</a:t>
            </a:r>
            <a:r>
              <a:rPr lang="en-IN" dirty="0" smtClean="0">
                <a:latin typeface="CIDFont+F2"/>
              </a:rPr>
              <a:t>,</a:t>
            </a:r>
          </a:p>
          <a:p>
            <a:endParaRPr lang="en-IN" dirty="0">
              <a:latin typeface="CIDFont+F2"/>
            </a:endParaRPr>
          </a:p>
          <a:p>
            <a:r>
              <a:rPr lang="en-IN" dirty="0">
                <a:latin typeface="CIDFont+F3"/>
              </a:rPr>
              <a:t> </a:t>
            </a:r>
            <a:r>
              <a:rPr lang="en-IN" dirty="0">
                <a:latin typeface="CIDFont+F2"/>
              </a:rPr>
              <a:t>A variable aperture system (the pupil</a:t>
            </a:r>
            <a:r>
              <a:rPr lang="en-IN" dirty="0" smtClean="0">
                <a:latin typeface="CIDFont+F2"/>
              </a:rPr>
              <a:t>)</a:t>
            </a:r>
          </a:p>
          <a:p>
            <a:endParaRPr lang="en-IN" dirty="0">
              <a:latin typeface="CIDFont+F2"/>
            </a:endParaRPr>
          </a:p>
          <a:p>
            <a:r>
              <a:rPr lang="en-IN" dirty="0">
                <a:latin typeface="CIDFont+F3"/>
              </a:rPr>
              <a:t> </a:t>
            </a:r>
            <a:r>
              <a:rPr lang="en-IN" dirty="0">
                <a:latin typeface="CIDFont+F2"/>
              </a:rPr>
              <a:t>A </a:t>
            </a:r>
            <a:r>
              <a:rPr lang="en-IN" dirty="0" smtClean="0">
                <a:latin typeface="CIDFont+F2"/>
              </a:rPr>
              <a:t>film (the retina)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80" y="1449659"/>
            <a:ext cx="6149471" cy="45207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97" y="3401132"/>
            <a:ext cx="4114354" cy="2352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9369" y="5768393"/>
            <a:ext cx="2505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Pupil works like aperture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421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259" y="390293"/>
            <a:ext cx="11173521" cy="28469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CIDFont+F1"/>
              </a:rPr>
              <a:t>The lens system of eye is composed of </a:t>
            </a:r>
            <a:r>
              <a:rPr lang="en-IN" sz="2400" u="sng" dirty="0" smtClean="0">
                <a:latin typeface="CIDFont+F1"/>
              </a:rPr>
              <a:t>four refractive </a:t>
            </a:r>
            <a:r>
              <a:rPr lang="en-IN" sz="2400" u="sng" dirty="0">
                <a:latin typeface="CIDFont+F1"/>
              </a:rPr>
              <a:t>interfaces</a:t>
            </a:r>
            <a:r>
              <a:rPr lang="en-IN" sz="2400" dirty="0" smtClean="0">
                <a:latin typeface="CIDFont+F1"/>
              </a:rPr>
              <a:t>:</a:t>
            </a:r>
          </a:p>
          <a:p>
            <a:endParaRPr lang="en-IN" sz="900" dirty="0" smtClean="0">
              <a:latin typeface="CIDFont+F1"/>
            </a:endParaRPr>
          </a:p>
          <a:p>
            <a:endParaRPr lang="en-IN" sz="2000" dirty="0">
              <a:latin typeface="CIDFont+F1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IDFont+F2"/>
              </a:rPr>
              <a:t>The </a:t>
            </a:r>
            <a:r>
              <a:rPr lang="en-IN" dirty="0">
                <a:latin typeface="CIDFont+F2"/>
              </a:rPr>
              <a:t>interface between air and the anterior </a:t>
            </a:r>
            <a:r>
              <a:rPr lang="en-IN" dirty="0" smtClean="0">
                <a:latin typeface="CIDFont+F2"/>
              </a:rPr>
              <a:t>surface of </a:t>
            </a:r>
            <a:r>
              <a:rPr lang="en-IN" dirty="0">
                <a:latin typeface="CIDFont+F2"/>
              </a:rPr>
              <a:t>the cornea</a:t>
            </a:r>
            <a:r>
              <a:rPr lang="en-IN" dirty="0" smtClean="0">
                <a:latin typeface="CIDFont+F2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IDFont+F2"/>
              </a:rPr>
              <a:t>The </a:t>
            </a:r>
            <a:r>
              <a:rPr lang="en-IN" dirty="0">
                <a:latin typeface="CIDFont+F2"/>
              </a:rPr>
              <a:t>interface between the posterior surface of </a:t>
            </a:r>
            <a:r>
              <a:rPr lang="en-IN" dirty="0" smtClean="0">
                <a:latin typeface="CIDFont+F2"/>
              </a:rPr>
              <a:t>the cornea </a:t>
            </a:r>
            <a:r>
              <a:rPr lang="en-IN" dirty="0">
                <a:latin typeface="CIDFont+F2"/>
              </a:rPr>
              <a:t>and the aqueous </a:t>
            </a:r>
            <a:r>
              <a:rPr lang="en-IN" dirty="0" err="1">
                <a:latin typeface="CIDFont+F2"/>
              </a:rPr>
              <a:t>humor</a:t>
            </a:r>
            <a:r>
              <a:rPr lang="en-IN" dirty="0" smtClean="0">
                <a:latin typeface="CIDFont+F2"/>
              </a:rPr>
              <a:t>,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IDFont+F2"/>
              </a:rPr>
              <a:t>The </a:t>
            </a:r>
            <a:r>
              <a:rPr lang="en-IN" dirty="0">
                <a:latin typeface="CIDFont+F2"/>
              </a:rPr>
              <a:t>interface between the aqueous </a:t>
            </a:r>
            <a:r>
              <a:rPr lang="en-IN" dirty="0" err="1">
                <a:latin typeface="CIDFont+F2"/>
              </a:rPr>
              <a:t>humor</a:t>
            </a:r>
            <a:r>
              <a:rPr lang="en-IN" dirty="0">
                <a:latin typeface="CIDFont+F2"/>
              </a:rPr>
              <a:t> and </a:t>
            </a:r>
            <a:r>
              <a:rPr lang="en-IN" dirty="0" smtClean="0">
                <a:latin typeface="CIDFont+F2"/>
              </a:rPr>
              <a:t>the anterior </a:t>
            </a:r>
            <a:r>
              <a:rPr lang="en-IN" dirty="0">
                <a:latin typeface="CIDFont+F2"/>
              </a:rPr>
              <a:t>surface of the crystalline lens of the </a:t>
            </a:r>
            <a:r>
              <a:rPr lang="en-IN" dirty="0" smtClean="0">
                <a:latin typeface="CIDFont+F2"/>
              </a:rPr>
              <a:t>eye, and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IDFont+F2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IDFont+F2"/>
              </a:rPr>
              <a:t>The </a:t>
            </a:r>
            <a:r>
              <a:rPr lang="en-IN" dirty="0">
                <a:latin typeface="CIDFont+F2"/>
              </a:rPr>
              <a:t>interface between the posterior surface of </a:t>
            </a:r>
            <a:r>
              <a:rPr lang="en-IN" dirty="0" smtClean="0">
                <a:latin typeface="CIDFont+F2"/>
              </a:rPr>
              <a:t>the lens </a:t>
            </a:r>
            <a:r>
              <a:rPr lang="en-IN" dirty="0">
                <a:latin typeface="CIDFont+F2"/>
              </a:rPr>
              <a:t>and the vitreous </a:t>
            </a:r>
            <a:r>
              <a:rPr lang="en-IN" dirty="0" err="1">
                <a:latin typeface="CIDFont+F2"/>
              </a:rPr>
              <a:t>humor</a:t>
            </a:r>
            <a:r>
              <a:rPr lang="en-IN" dirty="0">
                <a:latin typeface="CIDFont+F2"/>
              </a:rPr>
              <a:t>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696764" y="4034719"/>
            <a:ext cx="399957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 smtClean="0">
                <a:latin typeface="CIDFont+F2"/>
              </a:rPr>
              <a:t>Refractive Index (</a:t>
            </a:r>
            <a:r>
              <a:rPr lang="en-IN" b="1" i="1" dirty="0" smtClean="0">
                <a:latin typeface="CIDFont+F2"/>
              </a:rPr>
              <a:t>RI</a:t>
            </a:r>
            <a:r>
              <a:rPr lang="en-IN" b="1" dirty="0" smtClean="0">
                <a:latin typeface="CIDFont+F2"/>
              </a:rPr>
              <a:t>)</a:t>
            </a:r>
            <a:endParaRPr lang="en-IN" b="1" dirty="0">
              <a:latin typeface="CIDFont+F2"/>
            </a:endParaRPr>
          </a:p>
          <a:p>
            <a:endParaRPr lang="en-IN" dirty="0" smtClean="0">
              <a:latin typeface="CIDFont+F2"/>
            </a:endParaRPr>
          </a:p>
          <a:p>
            <a:pPr algn="ctr"/>
            <a:r>
              <a:rPr lang="en-IN" dirty="0" smtClean="0">
                <a:latin typeface="CIDFont+F2"/>
              </a:rPr>
              <a:t>Air: </a:t>
            </a:r>
            <a:r>
              <a:rPr lang="en-IN" dirty="0">
                <a:latin typeface="CIDFont+F2"/>
              </a:rPr>
              <a:t>1</a:t>
            </a:r>
          </a:p>
          <a:p>
            <a:pPr algn="ctr"/>
            <a:r>
              <a:rPr lang="en-IN" dirty="0" smtClean="0">
                <a:latin typeface="CIDFont+F2"/>
              </a:rPr>
              <a:t>Cornea: </a:t>
            </a:r>
            <a:r>
              <a:rPr lang="en-IN" dirty="0">
                <a:latin typeface="CIDFont+F2"/>
              </a:rPr>
              <a:t>1.38</a:t>
            </a:r>
          </a:p>
          <a:p>
            <a:pPr algn="ctr"/>
            <a:r>
              <a:rPr lang="en-IN" dirty="0" smtClean="0">
                <a:latin typeface="CIDFont+F2"/>
              </a:rPr>
              <a:t>Aqueous </a:t>
            </a:r>
            <a:r>
              <a:rPr lang="en-IN" dirty="0" err="1" smtClean="0">
                <a:latin typeface="CIDFont+F2"/>
              </a:rPr>
              <a:t>humor</a:t>
            </a:r>
            <a:r>
              <a:rPr lang="en-IN" dirty="0" smtClean="0">
                <a:latin typeface="CIDFont+F2"/>
              </a:rPr>
              <a:t>: 1.34</a:t>
            </a:r>
            <a:endParaRPr lang="en-IN" dirty="0">
              <a:latin typeface="CIDFont+F2"/>
            </a:endParaRPr>
          </a:p>
          <a:p>
            <a:pPr algn="ctr"/>
            <a:r>
              <a:rPr lang="en-IN" dirty="0" smtClean="0">
                <a:latin typeface="CIDFont+F2"/>
              </a:rPr>
              <a:t>Crystalline lens (on </a:t>
            </a:r>
            <a:r>
              <a:rPr lang="en-IN" dirty="0">
                <a:latin typeface="CIDFont+F2"/>
              </a:rPr>
              <a:t>average</a:t>
            </a:r>
            <a:r>
              <a:rPr lang="en-IN" dirty="0" smtClean="0">
                <a:latin typeface="CIDFont+F2"/>
              </a:rPr>
              <a:t>): 1.41</a:t>
            </a:r>
            <a:endParaRPr lang="en-IN" dirty="0">
              <a:latin typeface="CIDFont+F2"/>
            </a:endParaRPr>
          </a:p>
          <a:p>
            <a:pPr algn="ctr"/>
            <a:r>
              <a:rPr lang="en-IN" dirty="0" smtClean="0">
                <a:latin typeface="CIDFont+F2"/>
              </a:rPr>
              <a:t>Vitreous </a:t>
            </a:r>
            <a:r>
              <a:rPr lang="en-IN" dirty="0" err="1" smtClean="0">
                <a:latin typeface="CIDFont+F2"/>
              </a:rPr>
              <a:t>humor</a:t>
            </a:r>
            <a:r>
              <a:rPr lang="en-IN" dirty="0" smtClean="0">
                <a:latin typeface="CIDFont+F2"/>
              </a:rPr>
              <a:t>: </a:t>
            </a:r>
            <a:r>
              <a:rPr lang="en-IN" dirty="0">
                <a:latin typeface="CIDFont+F2"/>
              </a:rPr>
              <a:t>1.34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79" y="3746377"/>
            <a:ext cx="3943815" cy="26080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336" y="3668284"/>
            <a:ext cx="28765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8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12389" y="439565"/>
            <a:ext cx="4496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latin typeface="CIDFont+F1"/>
              </a:rPr>
              <a:t>The </a:t>
            </a:r>
            <a:r>
              <a:rPr lang="en-IN" sz="2400" dirty="0" smtClean="0">
                <a:latin typeface="CIDFont+F1"/>
              </a:rPr>
              <a:t>Electromagnetic Spectrum:</a:t>
            </a: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610" y="3347273"/>
            <a:ext cx="2601035" cy="17717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84" y="1654180"/>
            <a:ext cx="7972392" cy="3754163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5" idx="0"/>
          </p:cNvCxnSpPr>
          <p:nvPr/>
        </p:nvCxnSpPr>
        <p:spPr>
          <a:xfrm flipH="1" flipV="1">
            <a:off x="6579219" y="2419815"/>
            <a:ext cx="4063909" cy="9274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2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8039" y="267630"/>
            <a:ext cx="2485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CIDFont+F1"/>
              </a:rPr>
              <a:t>Image formation:</a:t>
            </a:r>
            <a:endParaRPr lang="en-IN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193" y="2190544"/>
            <a:ext cx="5715000" cy="19335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31529" y="914103"/>
            <a:ext cx="89210" cy="585439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76" y="1923939"/>
            <a:ext cx="5615546" cy="26640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8750" y="4719519"/>
            <a:ext cx="1592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Inverted image</a:t>
            </a:r>
            <a:endParaRPr lang="en-IN" dirty="0"/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V="1">
            <a:off x="4465154" y="3528720"/>
            <a:ext cx="251812" cy="1190799"/>
          </a:xfrm>
          <a:prstGeom prst="straightConnector1">
            <a:avLst/>
          </a:prstGeom>
          <a:ln w="50800">
            <a:gradFill flip="none" rotWithShape="1">
              <a:gsLst>
                <a:gs pos="100000">
                  <a:schemeClr val="tx1"/>
                </a:gs>
                <a:gs pos="100000">
                  <a:schemeClr val="accent1">
                    <a:lumMod val="45000"/>
                    <a:lumOff val="55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55838" y="4237463"/>
            <a:ext cx="11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Far object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9207188" y="4218649"/>
            <a:ext cx="135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Near 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32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3273</TotalTime>
  <Words>270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CIDFont+F1</vt:lpstr>
      <vt:lpstr>CIDFont+F2</vt:lpstr>
      <vt:lpstr>CIDFont+F3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IITG</cp:lastModifiedBy>
  <cp:revision>60</cp:revision>
  <dcterms:created xsi:type="dcterms:W3CDTF">2018-03-13T06:27:17Z</dcterms:created>
  <dcterms:modified xsi:type="dcterms:W3CDTF">2018-03-15T13:02:42Z</dcterms:modified>
</cp:coreProperties>
</file>